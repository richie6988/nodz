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46_EBE7314.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72" r:id="rId4"/>
  </p:sldMasterIdLst>
  <p:notesMasterIdLst>
    <p:notesMasterId r:id="rId56"/>
  </p:notesMasterIdLst>
  <p:handoutMasterIdLst>
    <p:handoutMasterId r:id="rId57"/>
  </p:handoutMasterIdLst>
  <p:sldIdLst>
    <p:sldId id="2098412224" r:id="rId5"/>
    <p:sldId id="2147470630" r:id="rId6"/>
    <p:sldId id="727" r:id="rId7"/>
    <p:sldId id="2147197278" r:id="rId8"/>
    <p:sldId id="2098412225" r:id="rId9"/>
    <p:sldId id="392" r:id="rId10"/>
    <p:sldId id="2098412243" r:id="rId11"/>
    <p:sldId id="2147470632" r:id="rId12"/>
    <p:sldId id="2147470633" r:id="rId13"/>
    <p:sldId id="2098412226" r:id="rId14"/>
    <p:sldId id="407" r:id="rId15"/>
    <p:sldId id="315" r:id="rId16"/>
    <p:sldId id="316" r:id="rId17"/>
    <p:sldId id="321" r:id="rId18"/>
    <p:sldId id="322" r:id="rId19"/>
    <p:sldId id="323" r:id="rId20"/>
    <p:sldId id="324" r:id="rId21"/>
    <p:sldId id="325" r:id="rId22"/>
    <p:sldId id="326" r:id="rId23"/>
    <p:sldId id="327" r:id="rId24"/>
    <p:sldId id="328" r:id="rId25"/>
    <p:sldId id="317" r:id="rId26"/>
    <p:sldId id="318" r:id="rId27"/>
    <p:sldId id="319" r:id="rId28"/>
    <p:sldId id="320" r:id="rId29"/>
    <p:sldId id="329" r:id="rId30"/>
    <p:sldId id="330" r:id="rId31"/>
    <p:sldId id="2147470631" r:id="rId32"/>
    <p:sldId id="2147470634" r:id="rId33"/>
    <p:sldId id="2098412227" r:id="rId34"/>
    <p:sldId id="791" r:id="rId35"/>
    <p:sldId id="2098412230" r:id="rId36"/>
    <p:sldId id="2098412231" r:id="rId37"/>
    <p:sldId id="2098412232" r:id="rId38"/>
    <p:sldId id="2098412233" r:id="rId39"/>
    <p:sldId id="2098412234" r:id="rId40"/>
    <p:sldId id="2098412235" r:id="rId41"/>
    <p:sldId id="2098412228" r:id="rId42"/>
    <p:sldId id="408" r:id="rId43"/>
    <p:sldId id="2098412236" r:id="rId44"/>
    <p:sldId id="2098412237" r:id="rId45"/>
    <p:sldId id="2098412238" r:id="rId46"/>
    <p:sldId id="2098412239" r:id="rId47"/>
    <p:sldId id="2098412240" r:id="rId48"/>
    <p:sldId id="2098412241" r:id="rId49"/>
    <p:sldId id="2098412229" r:id="rId50"/>
    <p:sldId id="982" r:id="rId51"/>
    <p:sldId id="2147470635" r:id="rId52"/>
    <p:sldId id="2147470638" r:id="rId53"/>
    <p:sldId id="2147470637" r:id="rId54"/>
    <p:sldId id="2147470636" r:id="rId5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D98A5D7-4746-4815-A3CE-20EC0863719E}">
          <p14:sldIdLst>
            <p14:sldId id="2098412224"/>
            <p14:sldId id="2147470630"/>
            <p14:sldId id="727"/>
            <p14:sldId id="2147197278"/>
            <p14:sldId id="2098412225"/>
            <p14:sldId id="392"/>
            <p14:sldId id="2098412243"/>
            <p14:sldId id="2147470632"/>
            <p14:sldId id="2147470633"/>
          </p14:sldIdLst>
        </p14:section>
        <p14:section name="Sequence Spe Nucleases" id="{3BA4ABAA-027B-4768-BC36-EFEEE4C31B3B}">
          <p14:sldIdLst>
            <p14:sldId id="2098412226"/>
            <p14:sldId id="407"/>
            <p14:sldId id="315"/>
            <p14:sldId id="316"/>
            <p14:sldId id="321"/>
            <p14:sldId id="322"/>
            <p14:sldId id="323"/>
            <p14:sldId id="324"/>
            <p14:sldId id="325"/>
            <p14:sldId id="326"/>
            <p14:sldId id="327"/>
            <p14:sldId id="328"/>
            <p14:sldId id="317"/>
            <p14:sldId id="318"/>
            <p14:sldId id="319"/>
            <p14:sldId id="320"/>
            <p14:sldId id="329"/>
            <p14:sldId id="330"/>
            <p14:sldId id="2147470631"/>
            <p14:sldId id="2147470634"/>
          </p14:sldIdLst>
        </p14:section>
        <p14:section name="Transcription" id="{71B3B57D-41F0-40C4-AA91-2D6F56F935FB}">
          <p14:sldIdLst>
            <p14:sldId id="2098412227"/>
            <p14:sldId id="791"/>
            <p14:sldId id="2098412230"/>
            <p14:sldId id="2098412231"/>
            <p14:sldId id="2098412232"/>
            <p14:sldId id="2098412233"/>
            <p14:sldId id="2098412234"/>
            <p14:sldId id="2098412235"/>
          </p14:sldIdLst>
        </p14:section>
        <p14:section name="Translation" id="{7DBE8C00-B78E-4C26-A6C5-85ADCCBE69C1}">
          <p14:sldIdLst>
            <p14:sldId id="2098412228"/>
            <p14:sldId id="408"/>
            <p14:sldId id="2098412236"/>
            <p14:sldId id="2098412237"/>
            <p14:sldId id="2098412238"/>
            <p14:sldId id="2098412239"/>
            <p14:sldId id="2098412240"/>
            <p14:sldId id="2098412241"/>
          </p14:sldIdLst>
        </p14:section>
        <p14:section name="Conclusion" id="{4A3E7CFB-367C-4D02-9B64-4097A693355B}">
          <p14:sldIdLst>
            <p14:sldId id="2098412229"/>
            <p14:sldId id="982"/>
            <p14:sldId id="2147470635"/>
            <p14:sldId id="2147470638"/>
            <p14:sldId id="2147470637"/>
            <p14:sldId id="21474706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F4911D-6C1D-AB5C-F7C7-3D821D819FCC}" name="Xiaolin LIU" initials="XL" userId="S-1-5-21-3977575021-3210052700-4120833539-2804" providerId="AD"/>
  <p188:author id="{8B08BA71-D8EF-145C-3DBF-50F9F6FF2048}" name="Jessica COULLERAY" initials="JC" userId="S::Jessica.COULLERAY@alcimed.com::d3fd0229-9077-4d70-ac59-da8f0cf42eb5" providerId="AD"/>
  <p188:author id="{FD890B7A-82F8-2B16-0937-8FA9B43F234A}" name="Charles SAGNES" initials="CS" userId="S::Charles.SAGNES@alcimed.com::02d5420d-846c-48b3-aac9-8fb89ef4d214" providerId="AD"/>
  <p188:author id="{39137A9A-2F95-7EE8-F58C-3716925CAAD2}" name="Richard GRONDIN" initials="RG" userId="S::Richard.GRONDIN@alcimed.com::98c41bf6-49a1-4ac5-b743-ecc55b4d15e1" providerId="AD"/>
  <p188:author id="{5E505AF9-F4CA-F5C9-59CC-AB031AC73571}" name="Clémence DAVID" initials="CD" userId="S::Clemence.DAVID@alcimed.com::95f33bdc-077b-428c-b1b3-0a58982f332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DD3FE"/>
    <a:srgbClr val="C3FEE6"/>
    <a:srgbClr val="FF99B4"/>
    <a:srgbClr val="000000"/>
    <a:srgbClr val="FF7DD2"/>
    <a:srgbClr val="2AB4B6"/>
    <a:srgbClr val="D2F0FE"/>
    <a:srgbClr val="ECF8FE"/>
    <a:srgbClr val="5FCAFA"/>
    <a:srgbClr val="03C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9D897-098B-4736-B4DF-42BB446D2111}" v="94" dt="2023-11-14T08:59:57.461"/>
    <p1510:client id="{5019CC92-CFFD-4C76-9960-699D852F71BB}" v="2" dt="2023-11-14T13:24:06.940"/>
  </p1510:revLst>
</p1510:revInfo>
</file>

<file path=ppt/tableStyles.xml><?xml version="1.0" encoding="utf-8"?>
<a:tblStyleLst xmlns:a="http://schemas.openxmlformats.org/drawingml/2006/main" def="{5C22544A-7EE6-4342-B048-85BDC9FD1C3A}">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06799F8-075E-4A3A-A7F6-7FBC6576F1A4}" styleName="Style à thème 2 - Accentuation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4189" autoAdjust="0"/>
  </p:normalViewPr>
  <p:slideViewPr>
    <p:cSldViewPr snapToGrid="0">
      <p:cViewPr varScale="1">
        <p:scale>
          <a:sx n="59" d="100"/>
          <a:sy n="59" d="100"/>
        </p:scale>
        <p:origin x="808" y="5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omments/modernComment_146_EBE7314.xml><?xml version="1.0" encoding="utf-8"?>
<p188:cmLst xmlns:a="http://schemas.openxmlformats.org/drawingml/2006/main" xmlns:r="http://schemas.openxmlformats.org/officeDocument/2006/relationships" xmlns:p188="http://schemas.microsoft.com/office/powerpoint/2018/8/main">
  <p188:cm id="{F69CBB60-207A-474D-B78A-A92264112BD7}" authorId="{8B08BA71-D8EF-145C-3DBF-50F9F6FF2048}" created="2025-01-08T17:05:34.476">
    <ac:txMkLst xmlns:ac="http://schemas.microsoft.com/office/drawing/2013/main/command">
      <pc:docMk xmlns:pc="http://schemas.microsoft.com/office/powerpoint/2013/main/command"/>
      <pc:sldMk xmlns:pc="http://schemas.microsoft.com/office/powerpoint/2013/main/command" cId="247362324" sldId="326"/>
      <ac:spMk id="72" creationId="{9BAB3F36-5E7C-C2CC-B46F-1E23414B2279}"/>
      <ac:txMk cp="437" len="81">
        <ac:context len="750" hash="1909356393"/>
      </ac:txMk>
    </ac:txMkLst>
    <p188:pos x="6464700" y="1000391"/>
    <p188:txBody>
      <a:bodyPr/>
      <a:lstStyle/>
      <a:p>
        <a:r>
          <a:rPr lang="fr-FR"/>
          <a:t>En quoi c’est bien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6BA67F4-18CC-CCDB-0BFB-632A45AD36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97F60BE-1983-C858-EFB1-ED2AD97846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AEFEE7-0BC4-6E41-A4D0-0B949EAC3E61}" type="datetimeFigureOut">
              <a:rPr lang="fr-FR" smtClean="0"/>
              <a:t>09/01/2025</a:t>
            </a:fld>
            <a:endParaRPr lang="fr-FR"/>
          </a:p>
        </p:txBody>
      </p:sp>
      <p:sp>
        <p:nvSpPr>
          <p:cNvPr id="4" name="Espace réservé du pied de page 3">
            <a:extLst>
              <a:ext uri="{FF2B5EF4-FFF2-40B4-BE49-F238E27FC236}">
                <a16:creationId xmlns:a16="http://schemas.microsoft.com/office/drawing/2014/main" id="{86628A12-6A0A-B959-AD00-6E4ACE4447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FE17119C-BC08-CD64-A0B5-5B98586AE60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B38CA3-8EDC-8C4F-87B9-628C5054CABB}" type="slidenum">
              <a:rPr lang="fr-FR" smtClean="0"/>
              <a:t>‹N°›</a:t>
            </a:fld>
            <a:endParaRPr lang="fr-FR"/>
          </a:p>
        </p:txBody>
      </p:sp>
    </p:spTree>
    <p:extLst>
      <p:ext uri="{BB962C8B-B14F-4D97-AF65-F5344CB8AC3E}">
        <p14:creationId xmlns:p14="http://schemas.microsoft.com/office/powerpoint/2010/main" val="516025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89D325-7201-C441-A7B4-8D001A7F3F8D}" type="datetimeFigureOut">
              <a:rPr lang="fr-FR" smtClean="0"/>
              <a:t>09/01/2025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F626E-0C1B-4F41-8C96-08A7974D5AC6}" type="slidenum">
              <a:rPr lang="fr-FR" smtClean="0"/>
              <a:t>‹N°›</a:t>
            </a:fld>
            <a:endParaRPr lang="fr-FR"/>
          </a:p>
        </p:txBody>
      </p:sp>
    </p:spTree>
    <p:extLst>
      <p:ext uri="{BB962C8B-B14F-4D97-AF65-F5344CB8AC3E}">
        <p14:creationId xmlns:p14="http://schemas.microsoft.com/office/powerpoint/2010/main" val="662468241"/>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60DF626E-0C1B-4F41-8C96-08A7974D5AC6}" type="slidenum">
              <a:rPr lang="en-GB" smtClean="0"/>
              <a:t>1</a:t>
            </a:fld>
            <a:endParaRPr lang="en-GB" dirty="0"/>
          </a:p>
        </p:txBody>
      </p:sp>
    </p:spTree>
    <p:extLst>
      <p:ext uri="{BB962C8B-B14F-4D97-AF65-F5344CB8AC3E}">
        <p14:creationId xmlns:p14="http://schemas.microsoft.com/office/powerpoint/2010/main" val="48512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60DF626E-0C1B-4F41-8C96-08A7974D5AC6}" type="slidenum">
              <a:rPr lang="en-GB" smtClean="0"/>
              <a:t>2</a:t>
            </a:fld>
            <a:endParaRPr lang="en-GB" dirty="0"/>
          </a:p>
        </p:txBody>
      </p:sp>
    </p:spTree>
    <p:extLst>
      <p:ext uri="{BB962C8B-B14F-4D97-AF65-F5344CB8AC3E}">
        <p14:creationId xmlns:p14="http://schemas.microsoft.com/office/powerpoint/2010/main" val="2756453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0DF626E-0C1B-4F41-8C96-08A7974D5AC6}" type="slidenum">
              <a:rPr lang="fr-FR" smtClean="0"/>
              <a:t>6</a:t>
            </a:fld>
            <a:endParaRPr lang="fr-FR"/>
          </a:p>
        </p:txBody>
      </p:sp>
    </p:spTree>
    <p:extLst>
      <p:ext uri="{BB962C8B-B14F-4D97-AF65-F5344CB8AC3E}">
        <p14:creationId xmlns:p14="http://schemas.microsoft.com/office/powerpoint/2010/main" val="1907058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60DF626E-0C1B-4F41-8C96-08A7974D5AC6}" type="slidenum">
              <a:rPr lang="fr-FR" smtClean="0"/>
              <a:t>17</a:t>
            </a:fld>
            <a:endParaRPr lang="fr-FR"/>
          </a:p>
        </p:txBody>
      </p:sp>
    </p:spTree>
    <p:extLst>
      <p:ext uri="{BB962C8B-B14F-4D97-AF65-F5344CB8AC3E}">
        <p14:creationId xmlns:p14="http://schemas.microsoft.com/office/powerpoint/2010/main" val="50431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153A-15C2-7DFA-91CA-51DCA2A752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538C1F-E47F-EC1B-E593-F371FF729A7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F829F4-C52F-A39F-6D66-C718FE0496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baseline="0" dirty="0"/>
              <a:t>2- </a:t>
            </a:r>
            <a:r>
              <a:rPr lang="fr-FR" sz="1200" dirty="0"/>
              <a:t>Qasim W., </a:t>
            </a:r>
            <a:r>
              <a:rPr lang="fr-FR" sz="1200" dirty="0" err="1"/>
              <a:t>Zhan</a:t>
            </a:r>
            <a:r>
              <a:rPr lang="fr-FR" sz="1200" dirty="0"/>
              <a:t> H., </a:t>
            </a:r>
            <a:r>
              <a:rPr lang="fr-FR" sz="1200" dirty="0" err="1"/>
              <a:t>Samarasinghe</a:t>
            </a:r>
            <a:r>
              <a:rPr lang="fr-FR" sz="1200" dirty="0"/>
              <a:t> S., Adams S., </a:t>
            </a:r>
            <a:r>
              <a:rPr lang="fr-FR" sz="1200" dirty="0" err="1"/>
              <a:t>Amrolia</a:t>
            </a:r>
            <a:r>
              <a:rPr lang="fr-FR" sz="1200" dirty="0"/>
              <a:t> P., Stafford S., Butler K., </a:t>
            </a:r>
            <a:r>
              <a:rPr lang="fr-FR" sz="1200" dirty="0" err="1"/>
              <a:t>Rivat</a:t>
            </a:r>
            <a:r>
              <a:rPr lang="fr-FR" sz="1200" dirty="0"/>
              <a:t> C., Wright G., </a:t>
            </a:r>
            <a:r>
              <a:rPr lang="fr-FR" sz="1200" dirty="0" err="1"/>
              <a:t>Somana</a:t>
            </a:r>
            <a:r>
              <a:rPr lang="fr-FR" sz="1200" dirty="0"/>
              <a:t> K. and </a:t>
            </a:r>
            <a:r>
              <a:rPr lang="fr-FR" sz="1200" dirty="0" err="1"/>
              <a:t>Ghorashian</a:t>
            </a:r>
            <a:r>
              <a:rPr lang="fr-FR" sz="1200" dirty="0"/>
              <a:t> S., </a:t>
            </a:r>
            <a:r>
              <a:rPr lang="fr-FR" sz="1200" dirty="0" err="1"/>
              <a:t>Molecular</a:t>
            </a:r>
            <a:r>
              <a:rPr lang="fr-FR" sz="1200" dirty="0"/>
              <a:t> </a:t>
            </a:r>
            <a:r>
              <a:rPr lang="fr-FR" sz="1200" dirty="0" err="1"/>
              <a:t>remission</a:t>
            </a:r>
            <a:r>
              <a:rPr lang="fr-FR" sz="1200" dirty="0"/>
              <a:t> of infant B-ALL </a:t>
            </a:r>
            <a:r>
              <a:rPr lang="fr-FR" sz="1200" dirty="0" err="1"/>
              <a:t>after</a:t>
            </a:r>
            <a:r>
              <a:rPr lang="fr-FR" sz="1200" dirty="0"/>
              <a:t> infusion of </a:t>
            </a:r>
            <a:r>
              <a:rPr lang="fr-FR" sz="1200" dirty="0" err="1"/>
              <a:t>universal</a:t>
            </a:r>
            <a:r>
              <a:rPr lang="fr-FR" sz="1200" dirty="0"/>
              <a:t> TALEN </a:t>
            </a:r>
            <a:r>
              <a:rPr lang="fr-FR" sz="1200" dirty="0" err="1"/>
              <a:t>gene-edited</a:t>
            </a:r>
            <a:r>
              <a:rPr lang="fr-FR" sz="1200" dirty="0"/>
              <a:t> CAR T </a:t>
            </a:r>
            <a:r>
              <a:rPr lang="fr-FR" sz="1200" dirty="0" err="1"/>
              <a:t>cells</a:t>
            </a:r>
            <a:r>
              <a:rPr lang="fr-FR" sz="1200" dirty="0"/>
              <a:t>, </a:t>
            </a:r>
            <a:r>
              <a:rPr lang="fr-FR" sz="1200" dirty="0" err="1"/>
              <a:t>Sci</a:t>
            </a:r>
            <a:r>
              <a:rPr lang="fr-FR" sz="1200" dirty="0"/>
              <a:t> </a:t>
            </a:r>
            <a:r>
              <a:rPr lang="fr-FR" sz="1200" dirty="0" err="1"/>
              <a:t>Transl</a:t>
            </a:r>
            <a:r>
              <a:rPr lang="fr-FR" sz="1200" dirty="0"/>
              <a:t> Med, 9, eaaj2013 (2017)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3- Chang Y.Y., Yu L.C., Yu I.S., </a:t>
            </a:r>
            <a:r>
              <a:rPr lang="fr-FR" sz="1200" dirty="0" err="1"/>
              <a:t>Jhuang</a:t>
            </a:r>
            <a:r>
              <a:rPr lang="fr-FR" sz="1200" dirty="0"/>
              <a:t> Y.L., Huang W.J., Yang C.Y. and </a:t>
            </a:r>
            <a:r>
              <a:rPr lang="fr-FR" sz="1200" dirty="0" err="1"/>
              <a:t>Jeng</a:t>
            </a:r>
            <a:r>
              <a:rPr lang="fr-FR" sz="1200" dirty="0"/>
              <a:t> Y.M., </a:t>
            </a:r>
            <a:r>
              <a:rPr lang="fr-FR" sz="1200" dirty="0" err="1"/>
              <a:t>Deletion</a:t>
            </a:r>
            <a:r>
              <a:rPr lang="fr-FR" sz="1200" dirty="0"/>
              <a:t> of cadherin‐17 </a:t>
            </a:r>
            <a:r>
              <a:rPr lang="fr-FR" sz="1200" dirty="0" err="1"/>
              <a:t>enhances</a:t>
            </a:r>
            <a:r>
              <a:rPr lang="fr-FR" sz="1200" dirty="0"/>
              <a:t> intestinal </a:t>
            </a:r>
            <a:r>
              <a:rPr lang="fr-FR" sz="1200" dirty="0" err="1"/>
              <a:t>permeability</a:t>
            </a:r>
            <a:r>
              <a:rPr lang="fr-FR" sz="1200" dirty="0"/>
              <a:t> and </a:t>
            </a:r>
            <a:r>
              <a:rPr lang="fr-FR" sz="1200" dirty="0" err="1"/>
              <a:t>susceptibility</a:t>
            </a:r>
            <a:r>
              <a:rPr lang="fr-FR" sz="1200" dirty="0"/>
              <a:t> to intestinal </a:t>
            </a:r>
            <a:r>
              <a:rPr lang="fr-FR" sz="1200" dirty="0" err="1"/>
              <a:t>tumour</a:t>
            </a:r>
            <a:r>
              <a:rPr lang="fr-FR" sz="1200" dirty="0"/>
              <a:t> formation, J </a:t>
            </a:r>
            <a:r>
              <a:rPr lang="fr-FR" sz="1200" dirty="0" err="1"/>
              <a:t>Pathol</a:t>
            </a:r>
            <a:r>
              <a:rPr lang="fr-FR" sz="1200" dirty="0"/>
              <a:t>, 246, 289-299 (2018)</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4- Ren Y., Qiu L., </a:t>
            </a:r>
            <a:r>
              <a:rPr lang="fr-FR" sz="1200" dirty="0" err="1"/>
              <a:t>Lü</a:t>
            </a:r>
            <a:r>
              <a:rPr lang="fr-FR" sz="1200" dirty="0"/>
              <a:t> F., Ru X., Li S., Xiang Y., Yu S. and Zhang Y., </a:t>
            </a:r>
            <a:r>
              <a:rPr lang="fr-FR" sz="1200" dirty="0" err="1"/>
              <a:t>TALENs-directed</a:t>
            </a:r>
            <a:r>
              <a:rPr lang="fr-FR" sz="1200" dirty="0"/>
              <a:t> knockout of the full-</a:t>
            </a:r>
            <a:r>
              <a:rPr lang="fr-FR" sz="1200" dirty="0" err="1"/>
              <a:t>length</a:t>
            </a:r>
            <a:r>
              <a:rPr lang="fr-FR" sz="1200" dirty="0"/>
              <a:t> transcription factor Nrf1</a:t>
            </a:r>
            <a:r>
              <a:rPr lang="el-GR" sz="1200" dirty="0"/>
              <a:t>α </a:t>
            </a:r>
            <a:r>
              <a:rPr lang="fr-FR" sz="1200" dirty="0" err="1"/>
              <a:t>that</a:t>
            </a:r>
            <a:r>
              <a:rPr lang="fr-FR" sz="1200" dirty="0"/>
              <a:t> represses </a:t>
            </a:r>
            <a:r>
              <a:rPr lang="fr-FR" sz="1200" dirty="0" err="1"/>
              <a:t>malignant</a:t>
            </a:r>
            <a:r>
              <a:rPr lang="fr-FR" sz="1200" dirty="0"/>
              <a:t> </a:t>
            </a:r>
            <a:r>
              <a:rPr lang="fr-FR" sz="1200" dirty="0" err="1"/>
              <a:t>behaviour</a:t>
            </a:r>
            <a:r>
              <a:rPr lang="fr-FR" sz="1200" dirty="0"/>
              <a:t> of </a:t>
            </a:r>
            <a:r>
              <a:rPr lang="fr-FR" sz="1200" dirty="0" err="1"/>
              <a:t>human</a:t>
            </a:r>
            <a:r>
              <a:rPr lang="fr-FR" sz="1200" dirty="0"/>
              <a:t> </a:t>
            </a:r>
            <a:r>
              <a:rPr lang="fr-FR" sz="1200" dirty="0" err="1"/>
              <a:t>hepatocellular</a:t>
            </a:r>
            <a:r>
              <a:rPr lang="fr-FR" sz="1200" dirty="0"/>
              <a:t> </a:t>
            </a:r>
            <a:r>
              <a:rPr lang="fr-FR" sz="1200" dirty="0" err="1"/>
              <a:t>carcinoma</a:t>
            </a:r>
            <a:r>
              <a:rPr lang="fr-FR" sz="1200" dirty="0"/>
              <a:t> (HepG2) </a:t>
            </a:r>
            <a:r>
              <a:rPr lang="fr-FR" sz="1200" dirty="0" err="1"/>
              <a:t>cells</a:t>
            </a:r>
            <a:r>
              <a:rPr lang="fr-FR" sz="1200" dirty="0"/>
              <a:t>, </a:t>
            </a:r>
            <a:r>
              <a:rPr lang="fr-FR" sz="1200" dirty="0" err="1"/>
              <a:t>Sci</a:t>
            </a:r>
            <a:r>
              <a:rPr lang="fr-FR" sz="1200" dirty="0"/>
              <a:t> Rep, 6, 1-32 (2016)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5- Lee J.W., </a:t>
            </a:r>
            <a:r>
              <a:rPr lang="fr-FR" sz="1200" dirty="0" err="1"/>
              <a:t>Ryu</a:t>
            </a:r>
            <a:r>
              <a:rPr lang="fr-FR" sz="1200" dirty="0"/>
              <a:t> Y.K., Ji Y.H., Kang J.H. and Moon E.Y., </a:t>
            </a:r>
            <a:r>
              <a:rPr lang="fr-FR" sz="1200" dirty="0" err="1"/>
              <a:t>Hypoxia</a:t>
            </a:r>
            <a:r>
              <a:rPr lang="fr-FR" sz="1200" dirty="0"/>
              <a:t>/</a:t>
            </a:r>
            <a:r>
              <a:rPr lang="fr-FR" sz="1200" dirty="0" err="1"/>
              <a:t>reoxygenation-experienced</a:t>
            </a:r>
            <a:r>
              <a:rPr lang="fr-FR" sz="1200" dirty="0"/>
              <a:t> cancer </a:t>
            </a:r>
            <a:r>
              <a:rPr lang="fr-FR" sz="1200" dirty="0" err="1"/>
              <a:t>cell</a:t>
            </a:r>
            <a:r>
              <a:rPr lang="fr-FR" sz="1200" dirty="0"/>
              <a:t> migration and </a:t>
            </a:r>
            <a:r>
              <a:rPr lang="fr-FR" sz="1200" dirty="0" err="1"/>
              <a:t>metastasis</a:t>
            </a:r>
            <a:r>
              <a:rPr lang="fr-FR" sz="1200" dirty="0"/>
              <a:t> are </a:t>
            </a:r>
            <a:r>
              <a:rPr lang="fr-FR" sz="1200" dirty="0" err="1"/>
              <a:t>regulated</a:t>
            </a:r>
            <a:r>
              <a:rPr lang="fr-FR" sz="1200" dirty="0"/>
              <a:t> by Rap1-and Rac1-GTPase activation via the expression of </a:t>
            </a:r>
            <a:r>
              <a:rPr lang="fr-FR" sz="1200" dirty="0" err="1"/>
              <a:t>thymosin</a:t>
            </a:r>
            <a:r>
              <a:rPr lang="fr-FR" sz="1200" dirty="0"/>
              <a:t> beta-4, </a:t>
            </a:r>
            <a:r>
              <a:rPr lang="fr-FR" sz="1200" dirty="0" err="1"/>
              <a:t>Oncotarget</a:t>
            </a:r>
            <a:r>
              <a:rPr lang="fr-FR" sz="1200" dirty="0"/>
              <a:t>, 6, 9820-9833 (2015)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6- </a:t>
            </a:r>
            <a:r>
              <a:rPr lang="fr-FR" sz="1200" dirty="0" err="1"/>
              <a:t>Nishiga</a:t>
            </a:r>
            <a:r>
              <a:rPr lang="fr-FR" sz="1200" dirty="0"/>
              <a:t> M., Qi L.S. and Wu J.C., </a:t>
            </a:r>
            <a:r>
              <a:rPr lang="fr-FR" sz="1200" dirty="0" err="1"/>
              <a:t>Therapeutic</a:t>
            </a:r>
            <a:r>
              <a:rPr lang="fr-FR" sz="1200" dirty="0"/>
              <a:t> </a:t>
            </a:r>
            <a:r>
              <a:rPr lang="fr-FR" sz="1200" dirty="0" err="1"/>
              <a:t>genome</a:t>
            </a:r>
            <a:r>
              <a:rPr lang="fr-FR" sz="1200" dirty="0"/>
              <a:t> </a:t>
            </a:r>
            <a:r>
              <a:rPr lang="fr-FR" sz="1200" dirty="0" err="1"/>
              <a:t>editing</a:t>
            </a:r>
            <a:r>
              <a:rPr lang="fr-FR" sz="1200" dirty="0"/>
              <a:t> in </a:t>
            </a:r>
            <a:r>
              <a:rPr lang="fr-FR" sz="1200" dirty="0" err="1"/>
              <a:t>cardiovascular</a:t>
            </a:r>
            <a:r>
              <a:rPr lang="fr-FR" sz="1200" dirty="0"/>
              <a:t> </a:t>
            </a:r>
            <a:r>
              <a:rPr lang="fr-FR" sz="1200" dirty="0" err="1"/>
              <a:t>diseases</a:t>
            </a:r>
            <a:r>
              <a:rPr lang="fr-FR" sz="1200" dirty="0"/>
              <a:t>, Adv Drug </a:t>
            </a:r>
            <a:r>
              <a:rPr lang="fr-FR" sz="1200" dirty="0" err="1"/>
              <a:t>Deliv</a:t>
            </a:r>
            <a:r>
              <a:rPr lang="fr-FR" sz="1200" dirty="0"/>
              <a:t> </a:t>
            </a:r>
            <a:r>
              <a:rPr lang="fr-FR" sz="1200" dirty="0" err="1"/>
              <a:t>Rev</a:t>
            </a:r>
            <a:r>
              <a:rPr lang="fr-FR" sz="1200" dirty="0"/>
              <a:t>, 168, 147-157 (2021</a:t>
            </a:r>
            <a:endParaRPr lang="fr-FR" dirty="0"/>
          </a:p>
        </p:txBody>
      </p:sp>
      <p:sp>
        <p:nvSpPr>
          <p:cNvPr id="4" name="Espace réservé du numéro de diapositive 3">
            <a:extLst>
              <a:ext uri="{FF2B5EF4-FFF2-40B4-BE49-F238E27FC236}">
                <a16:creationId xmlns:a16="http://schemas.microsoft.com/office/drawing/2014/main" id="{87189D79-6AE7-B567-4161-7D3D7419D6F8}"/>
              </a:ext>
            </a:extLst>
          </p:cNvPr>
          <p:cNvSpPr>
            <a:spLocks noGrp="1"/>
          </p:cNvSpPr>
          <p:nvPr>
            <p:ph type="sldNum" sz="quarter" idx="5"/>
          </p:nvPr>
        </p:nvSpPr>
        <p:spPr/>
        <p:txBody>
          <a:bodyPr/>
          <a:lstStyle/>
          <a:p>
            <a:fld id="{60DF626E-0C1B-4F41-8C96-08A7974D5AC6}" type="slidenum">
              <a:rPr lang="fr-FR" smtClean="0"/>
              <a:t>19</a:t>
            </a:fld>
            <a:endParaRPr lang="fr-FR"/>
          </a:p>
        </p:txBody>
      </p:sp>
    </p:spTree>
    <p:extLst>
      <p:ext uri="{BB962C8B-B14F-4D97-AF65-F5344CB8AC3E}">
        <p14:creationId xmlns:p14="http://schemas.microsoft.com/office/powerpoint/2010/main" val="435264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4DF1-9970-804F-BDA0-996ADF7BB9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A56FA-377B-718A-48D1-99298E079E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39E407-80B3-E008-2269-D67DF5B1A816}"/>
              </a:ext>
            </a:extLst>
          </p:cNvPr>
          <p:cNvSpPr>
            <a:spLocks noGrp="1"/>
          </p:cNvSpPr>
          <p:nvPr>
            <p:ph type="body" idx="1"/>
          </p:nvPr>
        </p:nvSpPr>
        <p:spPr/>
        <p:txBody>
          <a:bodyPr/>
          <a:lstStyle/>
          <a:p>
            <a:r>
              <a:rPr lang="fr-FR" dirty="0"/>
              <a:t>1- </a:t>
            </a:r>
          </a:p>
        </p:txBody>
      </p:sp>
      <p:sp>
        <p:nvSpPr>
          <p:cNvPr id="4" name="Espace réservé du numéro de diapositive 3">
            <a:extLst>
              <a:ext uri="{FF2B5EF4-FFF2-40B4-BE49-F238E27FC236}">
                <a16:creationId xmlns:a16="http://schemas.microsoft.com/office/drawing/2014/main" id="{E4C8659B-5B16-329A-DE2C-1E8EE895E8AF}"/>
              </a:ext>
            </a:extLst>
          </p:cNvPr>
          <p:cNvSpPr>
            <a:spLocks noGrp="1"/>
          </p:cNvSpPr>
          <p:nvPr>
            <p:ph type="sldNum" sz="quarter" idx="5"/>
          </p:nvPr>
        </p:nvSpPr>
        <p:spPr/>
        <p:txBody>
          <a:bodyPr/>
          <a:lstStyle/>
          <a:p>
            <a:fld id="{60DF626E-0C1B-4F41-8C96-08A7974D5AC6}" type="slidenum">
              <a:rPr lang="fr-FR" smtClean="0"/>
              <a:t>21</a:t>
            </a:fld>
            <a:endParaRPr lang="fr-FR"/>
          </a:p>
        </p:txBody>
      </p:sp>
    </p:spTree>
    <p:extLst>
      <p:ext uri="{BB962C8B-B14F-4D97-AF65-F5344CB8AC3E}">
        <p14:creationId xmlns:p14="http://schemas.microsoft.com/office/powerpoint/2010/main" val="1422139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a:t>
            </a:r>
          </a:p>
        </p:txBody>
      </p:sp>
      <p:sp>
        <p:nvSpPr>
          <p:cNvPr id="4" name="Espace réservé du numéro de diapositive 3"/>
          <p:cNvSpPr>
            <a:spLocks noGrp="1"/>
          </p:cNvSpPr>
          <p:nvPr>
            <p:ph type="sldNum" sz="quarter" idx="5"/>
          </p:nvPr>
        </p:nvSpPr>
        <p:spPr/>
        <p:txBody>
          <a:bodyPr/>
          <a:lstStyle/>
          <a:p>
            <a:fld id="{60DF626E-0C1B-4F41-8C96-08A7974D5AC6}" type="slidenum">
              <a:rPr lang="fr-FR" smtClean="0"/>
              <a:t>23</a:t>
            </a:fld>
            <a:endParaRPr lang="fr-FR"/>
          </a:p>
        </p:txBody>
      </p:sp>
    </p:spTree>
    <p:extLst>
      <p:ext uri="{BB962C8B-B14F-4D97-AF65-F5344CB8AC3E}">
        <p14:creationId xmlns:p14="http://schemas.microsoft.com/office/powerpoint/2010/main" val="191420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2864B-D334-D1FB-92A1-45D12DF1E4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AA8462-312D-C9AB-D18A-F56994B46C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F4BCF8B-14A1-82FE-5B94-5C9D54D87E33}"/>
              </a:ext>
            </a:extLst>
          </p:cNvPr>
          <p:cNvSpPr>
            <a:spLocks noGrp="1"/>
          </p:cNvSpPr>
          <p:nvPr>
            <p:ph type="body" idx="1"/>
          </p:nvPr>
        </p:nvSpPr>
        <p:spPr/>
        <p:txBody>
          <a:bodyPr/>
          <a:lstStyle/>
          <a:p>
            <a:r>
              <a:rPr lang="fr-FR" dirty="0"/>
              <a:t>1- </a:t>
            </a:r>
          </a:p>
        </p:txBody>
      </p:sp>
      <p:sp>
        <p:nvSpPr>
          <p:cNvPr id="4" name="Espace réservé du numéro de diapositive 3">
            <a:extLst>
              <a:ext uri="{FF2B5EF4-FFF2-40B4-BE49-F238E27FC236}">
                <a16:creationId xmlns:a16="http://schemas.microsoft.com/office/drawing/2014/main" id="{60793345-3BEE-2E93-5F89-3841AE04E406}"/>
              </a:ext>
            </a:extLst>
          </p:cNvPr>
          <p:cNvSpPr>
            <a:spLocks noGrp="1"/>
          </p:cNvSpPr>
          <p:nvPr>
            <p:ph type="sldNum" sz="quarter" idx="5"/>
          </p:nvPr>
        </p:nvSpPr>
        <p:spPr/>
        <p:txBody>
          <a:bodyPr/>
          <a:lstStyle/>
          <a:p>
            <a:fld id="{60DF626E-0C1B-4F41-8C96-08A7974D5AC6}" type="slidenum">
              <a:rPr lang="fr-FR" smtClean="0"/>
              <a:t>25</a:t>
            </a:fld>
            <a:endParaRPr lang="fr-FR"/>
          </a:p>
        </p:txBody>
      </p:sp>
    </p:spTree>
    <p:extLst>
      <p:ext uri="{BB962C8B-B14F-4D97-AF65-F5344CB8AC3E}">
        <p14:creationId xmlns:p14="http://schemas.microsoft.com/office/powerpoint/2010/main" val="583096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79B22-6AD9-C2A1-7C3D-7A40BD77124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7BA45C-0069-8521-FCE2-AB63BDD247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252178-F8F1-1C9B-26D3-2B7139D1037C}"/>
              </a:ext>
            </a:extLst>
          </p:cNvPr>
          <p:cNvSpPr>
            <a:spLocks noGrp="1"/>
          </p:cNvSpPr>
          <p:nvPr>
            <p:ph type="body" idx="1"/>
          </p:nvPr>
        </p:nvSpPr>
        <p:spPr/>
        <p:txBody>
          <a:bodyPr/>
          <a:lstStyle/>
          <a:p>
            <a:r>
              <a:rPr lang="fr-FR" dirty="0"/>
              <a:t>1- </a:t>
            </a:r>
          </a:p>
        </p:txBody>
      </p:sp>
      <p:sp>
        <p:nvSpPr>
          <p:cNvPr id="4" name="Espace réservé du numéro de diapositive 3">
            <a:extLst>
              <a:ext uri="{FF2B5EF4-FFF2-40B4-BE49-F238E27FC236}">
                <a16:creationId xmlns:a16="http://schemas.microsoft.com/office/drawing/2014/main" id="{E517A33A-C421-26AE-C462-0CA23D882DF7}"/>
              </a:ext>
            </a:extLst>
          </p:cNvPr>
          <p:cNvSpPr>
            <a:spLocks noGrp="1"/>
          </p:cNvSpPr>
          <p:nvPr>
            <p:ph type="sldNum" sz="quarter" idx="5"/>
          </p:nvPr>
        </p:nvSpPr>
        <p:spPr/>
        <p:txBody>
          <a:bodyPr/>
          <a:lstStyle/>
          <a:p>
            <a:fld id="{60DF626E-0C1B-4F41-8C96-08A7974D5AC6}" type="slidenum">
              <a:rPr lang="fr-FR" smtClean="0"/>
              <a:t>27</a:t>
            </a:fld>
            <a:endParaRPr lang="fr-FR"/>
          </a:p>
        </p:txBody>
      </p:sp>
    </p:spTree>
    <p:extLst>
      <p:ext uri="{BB962C8B-B14F-4D97-AF65-F5344CB8AC3E}">
        <p14:creationId xmlns:p14="http://schemas.microsoft.com/office/powerpoint/2010/main" val="4016455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1"/>
        </a:solidFill>
        <a:effectLst/>
      </p:bgPr>
    </p:bg>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646C92FF-8F84-8C32-8960-7E7213229F51}"/>
              </a:ext>
            </a:extLst>
          </p:cNvPr>
          <p:cNvSpPr>
            <a:spLocks noChangeAspect="1"/>
          </p:cNvSpPr>
          <p:nvPr/>
        </p:nvSpPr>
        <p:spPr>
          <a:xfrm>
            <a:off x="1368000" y="4129200"/>
            <a:ext cx="1386000" cy="138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space réservé pour une image  17">
            <a:extLst>
              <a:ext uri="{FF2B5EF4-FFF2-40B4-BE49-F238E27FC236}">
                <a16:creationId xmlns:a16="http://schemas.microsoft.com/office/drawing/2014/main" id="{C9F3D101-674B-7956-1246-934BED472E17}"/>
              </a:ext>
            </a:extLst>
          </p:cNvPr>
          <p:cNvSpPr>
            <a:spLocks noGrp="1"/>
          </p:cNvSpPr>
          <p:nvPr>
            <p:ph type="pic" sz="quarter" idx="13"/>
          </p:nvPr>
        </p:nvSpPr>
        <p:spPr>
          <a:xfrm>
            <a:off x="1848343" y="588579"/>
            <a:ext cx="10343658" cy="6269421"/>
          </a:xfrm>
          <a:custGeom>
            <a:avLst/>
            <a:gdLst>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46007 w 10343658"/>
              <a:gd name="connsiteY9" fmla="*/ 3565318 h 6269421"/>
              <a:gd name="connsiteX10" fmla="*/ 22 w 10343658"/>
              <a:gd name="connsiteY10" fmla="*/ 3579592 h 6269421"/>
              <a:gd name="connsiteX11" fmla="*/ 0 w 10343658"/>
              <a:gd name="connsiteY11" fmla="*/ 3571875 h 626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43658" h="6269421">
                <a:moveTo>
                  <a:pt x="10343658" y="0"/>
                </a:moveTo>
                <a:lnTo>
                  <a:pt x="10343658" y="6269421"/>
                </a:lnTo>
                <a:lnTo>
                  <a:pt x="3308169" y="6268197"/>
                </a:lnTo>
                <a:lnTo>
                  <a:pt x="3740" y="4894646"/>
                </a:lnTo>
                <a:lnTo>
                  <a:pt x="3734" y="4892402"/>
                </a:lnTo>
                <a:lnTo>
                  <a:pt x="46007" y="4905525"/>
                </a:lnTo>
                <a:cubicBezTo>
                  <a:pt x="90534" y="4914636"/>
                  <a:pt x="136637" y="4919421"/>
                  <a:pt x="183857" y="4919421"/>
                </a:cubicBezTo>
                <a:cubicBezTo>
                  <a:pt x="561620" y="4919421"/>
                  <a:pt x="867857" y="4613184"/>
                  <a:pt x="867857" y="4235421"/>
                </a:cubicBezTo>
                <a:cubicBezTo>
                  <a:pt x="867857" y="3857658"/>
                  <a:pt x="561620" y="3551421"/>
                  <a:pt x="183857" y="3551421"/>
                </a:cubicBezTo>
                <a:cubicBezTo>
                  <a:pt x="136637" y="3551421"/>
                  <a:pt x="90534" y="3556206"/>
                  <a:pt x="46007" y="3565318"/>
                </a:cubicBezTo>
                <a:lnTo>
                  <a:pt x="22" y="3579592"/>
                </a:lnTo>
                <a:lnTo>
                  <a:pt x="0" y="3571875"/>
                </a:ln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1282391" y="2006857"/>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1282391" y="0"/>
            <a:ext cx="5414961" cy="1920884"/>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1282391" y="2583368"/>
            <a:ext cx="5414960" cy="365125"/>
          </a:xfrm>
          <a:prstGeom prst="rect">
            <a:avLst/>
          </a:prstGeom>
        </p:spPr>
        <p:txBody>
          <a:bodyPr/>
          <a:lstStyle>
            <a:lvl1pPr algn="l">
              <a:defRPr sz="1200">
                <a:solidFill>
                  <a:schemeClr val="tx1"/>
                </a:solidFill>
              </a:defRPr>
            </a:lvl1pPr>
          </a:lstStyle>
          <a:p>
            <a:r>
              <a:rPr lang="fr-FR"/>
              <a:t>Date</a:t>
            </a:r>
          </a:p>
        </p:txBody>
      </p:sp>
      <p:pic>
        <p:nvPicPr>
          <p:cNvPr id="9" name="Image 8" descr="Une image contenant Graphique, Police, logo, cercle&#10;&#10;Description générée automatiquement">
            <a:extLst>
              <a:ext uri="{FF2B5EF4-FFF2-40B4-BE49-F238E27FC236}">
                <a16:creationId xmlns:a16="http://schemas.microsoft.com/office/drawing/2014/main" id="{D227FB27-C07F-56EA-7983-4F239EE886F8}"/>
              </a:ext>
            </a:extLst>
          </p:cNvPr>
          <p:cNvPicPr>
            <a:picLocks noChangeAspect="1"/>
          </p:cNvPicPr>
          <p:nvPr/>
        </p:nvPicPr>
        <p:blipFill>
          <a:blip r:embed="rId2"/>
          <a:stretch>
            <a:fillRect/>
          </a:stretch>
        </p:blipFill>
        <p:spPr>
          <a:xfrm>
            <a:off x="1083600" y="3877200"/>
            <a:ext cx="1893600" cy="1893600"/>
          </a:xfrm>
          <a:prstGeom prst="rect">
            <a:avLst/>
          </a:prstGeom>
        </p:spPr>
      </p:pic>
      <p:sp>
        <p:nvSpPr>
          <p:cNvPr id="3" name="Ellipse 2">
            <a:extLst>
              <a:ext uri="{FF2B5EF4-FFF2-40B4-BE49-F238E27FC236}">
                <a16:creationId xmlns:a16="http://schemas.microsoft.com/office/drawing/2014/main" id="{A67CD0B0-C9C8-F36E-73D3-8A02239BBB38}"/>
              </a:ext>
            </a:extLst>
          </p:cNvPr>
          <p:cNvSpPr>
            <a:spLocks noChangeAspect="1"/>
          </p:cNvSpPr>
          <p:nvPr userDrawn="1"/>
        </p:nvSpPr>
        <p:spPr>
          <a:xfrm>
            <a:off x="1368000" y="4129200"/>
            <a:ext cx="1386000" cy="138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pic>
        <p:nvPicPr>
          <p:cNvPr id="4" name="Image 3" descr="Une image contenant Graphique, Police, logo, cercle&#10;&#10;Description générée automatiquement">
            <a:extLst>
              <a:ext uri="{FF2B5EF4-FFF2-40B4-BE49-F238E27FC236}">
                <a16:creationId xmlns:a16="http://schemas.microsoft.com/office/drawing/2014/main" id="{72A7E6F3-DB34-1257-7972-3A1EF4750427}"/>
              </a:ext>
            </a:extLst>
          </p:cNvPr>
          <p:cNvPicPr>
            <a:picLocks noChangeAspect="1"/>
          </p:cNvPicPr>
          <p:nvPr userDrawn="1"/>
        </p:nvPicPr>
        <p:blipFill>
          <a:blip r:embed="rId2"/>
          <a:stretch>
            <a:fillRect/>
          </a:stretch>
        </p:blipFill>
        <p:spPr>
          <a:xfrm>
            <a:off x="1083600" y="3877200"/>
            <a:ext cx="1893600" cy="1893600"/>
          </a:xfrm>
          <a:prstGeom prst="rect">
            <a:avLst/>
          </a:prstGeom>
        </p:spPr>
      </p:pic>
      <p:sp>
        <p:nvSpPr>
          <p:cNvPr id="5" name="Rectangle 4">
            <a:extLst>
              <a:ext uri="{FF2B5EF4-FFF2-40B4-BE49-F238E27FC236}">
                <a16:creationId xmlns:a16="http://schemas.microsoft.com/office/drawing/2014/main" id="{6EAE624B-0F5C-7F77-2AE1-ABFEFA85791F}"/>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098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1"/>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5A462851-C260-A446-615C-BBC6B1E2E279}"/>
              </a:ext>
            </a:extLst>
          </p:cNvPr>
          <p:cNvSpPr>
            <a:spLocks noChangeAspect="1"/>
          </p:cNvSpPr>
          <p:nvPr/>
        </p:nvSpPr>
        <p:spPr>
          <a:xfrm>
            <a:off x="1339200" y="1317600"/>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space réservé pour une image  21">
            <a:extLst>
              <a:ext uri="{FF2B5EF4-FFF2-40B4-BE49-F238E27FC236}">
                <a16:creationId xmlns:a16="http://schemas.microsoft.com/office/drawing/2014/main" id="{4F182A8D-EFAB-0631-64FE-0D0826B44129}"/>
              </a:ext>
            </a:extLst>
          </p:cNvPr>
          <p:cNvSpPr>
            <a:spLocks noGrp="1"/>
          </p:cNvSpPr>
          <p:nvPr>
            <p:ph type="pic" sz="quarter" idx="13"/>
          </p:nvPr>
        </p:nvSpPr>
        <p:spPr>
          <a:xfrm>
            <a:off x="1" y="1378224"/>
            <a:ext cx="12191999" cy="5479777"/>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99" h="5479777">
                <a:moveTo>
                  <a:pt x="2322000" y="0"/>
                </a:moveTo>
                <a:lnTo>
                  <a:pt x="12191999" y="3767569"/>
                </a:lnTo>
                <a:lnTo>
                  <a:pt x="12191999" y="5479777"/>
                </a:lnTo>
                <a:lnTo>
                  <a:pt x="0" y="5479777"/>
                </a:lnTo>
                <a:lnTo>
                  <a:pt x="0" y="4290599"/>
                </a:lnTo>
                <a:lnTo>
                  <a:pt x="1353372" y="505898"/>
                </a:lnTo>
                <a:lnTo>
                  <a:pt x="1340999" y="628633"/>
                </a:lnTo>
                <a:cubicBezTo>
                  <a:pt x="1340999" y="1011366"/>
                  <a:pt x="1651266" y="1321633"/>
                  <a:pt x="2033999" y="1321633"/>
                </a:cubicBezTo>
                <a:cubicBezTo>
                  <a:pt x="2416732" y="1321633"/>
                  <a:pt x="2726999" y="1011366"/>
                  <a:pt x="2726999" y="628633"/>
                </a:cubicBezTo>
                <a:cubicBezTo>
                  <a:pt x="2726999" y="389425"/>
                  <a:pt x="2605801" y="178524"/>
                  <a:pt x="2421462" y="53987"/>
                </a:cubicBez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5506503" y="2006857"/>
            <a:ext cx="5414962" cy="490538"/>
          </a:xfrm>
        </p:spPr>
        <p:txBody>
          <a:bodyPr>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5506503" y="0"/>
            <a:ext cx="5414961" cy="1920884"/>
          </a:xfrm>
        </p:spPr>
        <p:txBody>
          <a:bodyPr anchor="b" anchorCtr="0">
            <a:noAutofit/>
          </a:bodyPr>
          <a:lstStyle>
            <a:lvl1pPr algn="r">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506503" y="2583368"/>
            <a:ext cx="5414960" cy="365125"/>
          </a:xfrm>
          <a:prstGeom prst="rect">
            <a:avLst/>
          </a:prstGeom>
        </p:spPr>
        <p:txBody>
          <a:bodyPr/>
          <a:lstStyle>
            <a:lvl1pPr algn="r">
              <a:defRPr sz="1200">
                <a:solidFill>
                  <a:schemeClr val="tx1"/>
                </a:solidFill>
              </a:defRPr>
            </a:lvl1pPr>
          </a:lstStyle>
          <a:p>
            <a:r>
              <a:rPr lang="fr-FR"/>
              <a:t>Date</a:t>
            </a:r>
          </a:p>
        </p:txBody>
      </p:sp>
      <p:pic>
        <p:nvPicPr>
          <p:cNvPr id="5" name="Image 4" descr="Une image contenant Graphique, Police, logo, cercle&#10;&#10;Description générée automatiquement">
            <a:extLst>
              <a:ext uri="{FF2B5EF4-FFF2-40B4-BE49-F238E27FC236}">
                <a16:creationId xmlns:a16="http://schemas.microsoft.com/office/drawing/2014/main" id="{F9B88D65-7B76-D35B-AF6F-C1BBFFE3B25C}"/>
              </a:ext>
            </a:extLst>
          </p:cNvPr>
          <p:cNvPicPr>
            <a:picLocks noChangeAspect="1"/>
          </p:cNvPicPr>
          <p:nvPr/>
        </p:nvPicPr>
        <p:blipFill>
          <a:blip r:embed="rId2"/>
          <a:stretch>
            <a:fillRect/>
          </a:stretch>
        </p:blipFill>
        <p:spPr>
          <a:xfrm>
            <a:off x="1076399" y="1051200"/>
            <a:ext cx="1918800" cy="1918800"/>
          </a:xfrm>
          <a:prstGeom prst="rect">
            <a:avLst/>
          </a:prstGeom>
        </p:spPr>
      </p:pic>
      <p:sp>
        <p:nvSpPr>
          <p:cNvPr id="2" name="Ellipse 1">
            <a:extLst>
              <a:ext uri="{FF2B5EF4-FFF2-40B4-BE49-F238E27FC236}">
                <a16:creationId xmlns:a16="http://schemas.microsoft.com/office/drawing/2014/main" id="{4D49CB23-91D6-B52C-F90F-363FE3EDE253}"/>
              </a:ext>
            </a:extLst>
          </p:cNvPr>
          <p:cNvSpPr>
            <a:spLocks noChangeAspect="1"/>
          </p:cNvSpPr>
          <p:nvPr userDrawn="1"/>
        </p:nvSpPr>
        <p:spPr>
          <a:xfrm>
            <a:off x="1339200" y="1317600"/>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pic>
        <p:nvPicPr>
          <p:cNvPr id="3" name="Image 2" descr="Une image contenant Graphique, Police, logo, cercle&#10;&#10;Description générée automatiquement">
            <a:extLst>
              <a:ext uri="{FF2B5EF4-FFF2-40B4-BE49-F238E27FC236}">
                <a16:creationId xmlns:a16="http://schemas.microsoft.com/office/drawing/2014/main" id="{7522A10F-786A-DEC3-EE29-0BE5824C59B1}"/>
              </a:ext>
            </a:extLst>
          </p:cNvPr>
          <p:cNvPicPr>
            <a:picLocks noChangeAspect="1"/>
          </p:cNvPicPr>
          <p:nvPr userDrawn="1"/>
        </p:nvPicPr>
        <p:blipFill>
          <a:blip r:embed="rId2"/>
          <a:stretch>
            <a:fillRect/>
          </a:stretch>
        </p:blipFill>
        <p:spPr>
          <a:xfrm>
            <a:off x="1076399" y="1051200"/>
            <a:ext cx="1918800" cy="1918800"/>
          </a:xfrm>
          <a:prstGeom prst="rect">
            <a:avLst/>
          </a:prstGeom>
        </p:spPr>
      </p:pic>
    </p:spTree>
    <p:extLst>
      <p:ext uri="{BB962C8B-B14F-4D97-AF65-F5344CB8AC3E}">
        <p14:creationId xmlns:p14="http://schemas.microsoft.com/office/powerpoint/2010/main" val="2190178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1"/>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4726066A-9ABF-7855-FC84-2C283A0D6692}"/>
              </a:ext>
            </a:extLst>
          </p:cNvPr>
          <p:cNvSpPr>
            <a:spLocks noChangeAspect="1"/>
          </p:cNvSpPr>
          <p:nvPr/>
        </p:nvSpPr>
        <p:spPr>
          <a:xfrm>
            <a:off x="1350249" y="2728800"/>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pour une image  18">
            <a:extLst>
              <a:ext uri="{FF2B5EF4-FFF2-40B4-BE49-F238E27FC236}">
                <a16:creationId xmlns:a16="http://schemas.microsoft.com/office/drawing/2014/main" id="{0D1CE3B0-6341-80CF-0202-2B94B7CD5DDB}"/>
              </a:ext>
            </a:extLst>
          </p:cNvPr>
          <p:cNvSpPr>
            <a:spLocks noGrp="1"/>
          </p:cNvSpPr>
          <p:nvPr>
            <p:ph type="pic" sz="quarter" idx="13"/>
          </p:nvPr>
        </p:nvSpPr>
        <p:spPr>
          <a:xfrm>
            <a:off x="1350249" y="0"/>
            <a:ext cx="10841751" cy="4105383"/>
          </a:xfrm>
          <a:custGeom>
            <a:avLst/>
            <a:gdLst>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683751 w 10841751"/>
              <a:gd name="connsiteY6" fmla="*/ 2736000 h 4105383"/>
              <a:gd name="connsiteX7" fmla="*/ 4830 w 10841751"/>
              <a:gd name="connsiteY7" fmla="*/ 3289336 h 4105383"/>
              <a:gd name="connsiteX8" fmla="*/ 0 w 10841751"/>
              <a:gd name="connsiteY8" fmla="*/ 3337246 h 41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41751" h="4105383">
                <a:moveTo>
                  <a:pt x="205083" y="0"/>
                </a:moveTo>
                <a:lnTo>
                  <a:pt x="10841751" y="0"/>
                </a:lnTo>
                <a:lnTo>
                  <a:pt x="10841751" y="2147111"/>
                </a:lnTo>
                <a:lnTo>
                  <a:pt x="831593" y="4105383"/>
                </a:lnTo>
                <a:lnTo>
                  <a:pt x="953498" y="4067541"/>
                </a:lnTo>
                <a:cubicBezTo>
                  <a:pt x="1202226" y="3962338"/>
                  <a:pt x="1376751" y="3716050"/>
                  <a:pt x="1376751" y="3429000"/>
                </a:cubicBezTo>
                <a:cubicBezTo>
                  <a:pt x="1376751" y="3046267"/>
                  <a:pt x="1066484" y="2736000"/>
                  <a:pt x="683751" y="2736000"/>
                </a:cubicBezTo>
                <a:cubicBezTo>
                  <a:pt x="348860" y="2736000"/>
                  <a:pt x="69450" y="2973548"/>
                  <a:pt x="4830" y="3289336"/>
                </a:cubicBezTo>
                <a:lnTo>
                  <a:pt x="0" y="3337246"/>
                </a:ln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5962675" y="4776802"/>
            <a:ext cx="5414962" cy="490538"/>
          </a:xfrm>
        </p:spPr>
        <p:txBody>
          <a:bodyPr>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5962675" y="2769945"/>
            <a:ext cx="5414961" cy="1920884"/>
          </a:xfrm>
        </p:spPr>
        <p:txBody>
          <a:bodyPr anchor="b" anchorCtr="0">
            <a:noAutofit/>
          </a:bodyPr>
          <a:lstStyle>
            <a:lvl1pPr algn="r">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962675" y="5353313"/>
            <a:ext cx="5414960" cy="365125"/>
          </a:xfrm>
          <a:prstGeom prst="rect">
            <a:avLst/>
          </a:prstGeom>
        </p:spPr>
        <p:txBody>
          <a:bodyPr/>
          <a:lstStyle>
            <a:lvl1pPr algn="r">
              <a:defRPr sz="1200">
                <a:solidFill>
                  <a:schemeClr val="tx1"/>
                </a:solidFill>
              </a:defRPr>
            </a:lvl1pPr>
          </a:lstStyle>
          <a:p>
            <a:r>
              <a:rPr lang="fr-FR"/>
              <a:t>Date</a:t>
            </a:r>
          </a:p>
          <a:p>
            <a:endParaRPr lang="fr-FR"/>
          </a:p>
        </p:txBody>
      </p:sp>
      <p:pic>
        <p:nvPicPr>
          <p:cNvPr id="6" name="Image 5" descr="Une image contenant Graphique, Police, logo, cercle&#10;&#10;Description générée automatiquement">
            <a:extLst>
              <a:ext uri="{FF2B5EF4-FFF2-40B4-BE49-F238E27FC236}">
                <a16:creationId xmlns:a16="http://schemas.microsoft.com/office/drawing/2014/main" id="{1EA603A2-F925-11FD-FADB-19AE7682E7F1}"/>
              </a:ext>
            </a:extLst>
          </p:cNvPr>
          <p:cNvPicPr>
            <a:picLocks noChangeAspect="1"/>
          </p:cNvPicPr>
          <p:nvPr/>
        </p:nvPicPr>
        <p:blipFill>
          <a:blip r:embed="rId2"/>
          <a:stretch>
            <a:fillRect/>
          </a:stretch>
        </p:blipFill>
        <p:spPr>
          <a:xfrm>
            <a:off x="1072800" y="2473200"/>
            <a:ext cx="1918800" cy="1918800"/>
          </a:xfrm>
          <a:prstGeom prst="rect">
            <a:avLst/>
          </a:prstGeom>
        </p:spPr>
      </p:pic>
      <p:sp>
        <p:nvSpPr>
          <p:cNvPr id="2" name="Ellipse 1">
            <a:extLst>
              <a:ext uri="{FF2B5EF4-FFF2-40B4-BE49-F238E27FC236}">
                <a16:creationId xmlns:a16="http://schemas.microsoft.com/office/drawing/2014/main" id="{8066CF6C-9351-44A5-C6A0-2C02949C9F0A}"/>
              </a:ext>
            </a:extLst>
          </p:cNvPr>
          <p:cNvSpPr>
            <a:spLocks noChangeAspect="1"/>
          </p:cNvSpPr>
          <p:nvPr userDrawn="1"/>
        </p:nvSpPr>
        <p:spPr>
          <a:xfrm>
            <a:off x="1350249" y="2728800"/>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pic>
        <p:nvPicPr>
          <p:cNvPr id="3" name="Image 2" descr="Une image contenant Graphique, Police, logo, cercle&#10;&#10;Description générée automatiquement">
            <a:extLst>
              <a:ext uri="{FF2B5EF4-FFF2-40B4-BE49-F238E27FC236}">
                <a16:creationId xmlns:a16="http://schemas.microsoft.com/office/drawing/2014/main" id="{087E7E04-B8FB-1A98-F4FD-2D9AB36A0989}"/>
              </a:ext>
            </a:extLst>
          </p:cNvPr>
          <p:cNvPicPr>
            <a:picLocks noChangeAspect="1"/>
          </p:cNvPicPr>
          <p:nvPr userDrawn="1"/>
        </p:nvPicPr>
        <p:blipFill>
          <a:blip r:embed="rId2"/>
          <a:stretch>
            <a:fillRect/>
          </a:stretch>
        </p:blipFill>
        <p:spPr>
          <a:xfrm>
            <a:off x="1072800" y="2473200"/>
            <a:ext cx="1918800" cy="1918800"/>
          </a:xfrm>
          <a:prstGeom prst="rect">
            <a:avLst/>
          </a:prstGeom>
        </p:spPr>
      </p:pic>
      <p:sp>
        <p:nvSpPr>
          <p:cNvPr id="5" name="Rectangle 4">
            <a:extLst>
              <a:ext uri="{FF2B5EF4-FFF2-40B4-BE49-F238E27FC236}">
                <a16:creationId xmlns:a16="http://schemas.microsoft.com/office/drawing/2014/main" id="{95822EFD-3D80-3874-59AE-ECC8A8556821}"/>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7F38F0E8-EAF4-684B-87C6-E2FE449AB5B8}"/>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147012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p:bg>
      <p:bgPr>
        <a:solidFill>
          <a:schemeClr val="bg1"/>
        </a:solidFill>
        <a:effectLst/>
      </p:bgPr>
    </p:bg>
    <p:spTree>
      <p:nvGrpSpPr>
        <p:cNvPr id="1" name=""/>
        <p:cNvGrpSpPr/>
        <p:nvPr/>
      </p:nvGrpSpPr>
      <p:grpSpPr>
        <a:xfrm>
          <a:off x="0" y="0"/>
          <a:ext cx="0" cy="0"/>
          <a:chOff x="0" y="0"/>
          <a:chExt cx="0" cy="0"/>
        </a:xfrm>
      </p:grpSpPr>
      <p:sp>
        <p:nvSpPr>
          <p:cNvPr id="8" name="Ellipse 7">
            <a:extLst>
              <a:ext uri="{FF2B5EF4-FFF2-40B4-BE49-F238E27FC236}">
                <a16:creationId xmlns:a16="http://schemas.microsoft.com/office/drawing/2014/main" id="{4B2FD082-B611-AD99-AFF4-11A7A6A1C746}"/>
              </a:ext>
            </a:extLst>
          </p:cNvPr>
          <p:cNvSpPr>
            <a:spLocks noChangeAspect="1"/>
          </p:cNvSpPr>
          <p:nvPr/>
        </p:nvSpPr>
        <p:spPr>
          <a:xfrm>
            <a:off x="5398199" y="4076601"/>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pour une image  5">
            <a:extLst>
              <a:ext uri="{FF2B5EF4-FFF2-40B4-BE49-F238E27FC236}">
                <a16:creationId xmlns:a16="http://schemas.microsoft.com/office/drawing/2014/main" id="{35738A8E-F949-9732-3424-B6817BC58E8C}"/>
              </a:ext>
            </a:extLst>
          </p:cNvPr>
          <p:cNvSpPr>
            <a:spLocks noGrp="1"/>
          </p:cNvSpPr>
          <p:nvPr>
            <p:ph type="pic" sz="quarter" idx="13"/>
          </p:nvPr>
        </p:nvSpPr>
        <p:spPr>
          <a:xfrm>
            <a:off x="434162" y="2008"/>
            <a:ext cx="11323675" cy="5287603"/>
          </a:xfrm>
          <a:custGeom>
            <a:avLst/>
            <a:gdLst>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5661836 w 11323675"/>
              <a:gd name="connsiteY5" fmla="*/ 4081794 h 5287603"/>
              <a:gd name="connsiteX6" fmla="*/ 4968836 w 11323675"/>
              <a:gd name="connsiteY6" fmla="*/ 4774794 h 5287603"/>
              <a:gd name="connsiteX7" fmla="*/ 5171811 w 11323675"/>
              <a:gd name="connsiteY7" fmla="*/ 5264819 h 5287603"/>
              <a:gd name="connsiteX8" fmla="*/ 5193264 w 11323675"/>
              <a:gd name="connsiteY8" fmla="*/ 5282519 h 5287603"/>
              <a:gd name="connsiteX9" fmla="*/ 5193264 w 11323675"/>
              <a:gd name="connsiteY9" fmla="*/ 5287603 h 528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23675" h="5287603">
                <a:moveTo>
                  <a:pt x="0" y="0"/>
                </a:moveTo>
                <a:lnTo>
                  <a:pt x="11323675" y="0"/>
                </a:lnTo>
                <a:lnTo>
                  <a:pt x="6159392" y="5255691"/>
                </a:lnTo>
                <a:lnTo>
                  <a:pt x="6236482" y="5162257"/>
                </a:lnTo>
                <a:cubicBezTo>
                  <a:pt x="6311205" y="5051653"/>
                  <a:pt x="6354836" y="4918319"/>
                  <a:pt x="6354836" y="4774794"/>
                </a:cubicBezTo>
                <a:cubicBezTo>
                  <a:pt x="6354836" y="4392061"/>
                  <a:pt x="6044569" y="4081794"/>
                  <a:pt x="5661836" y="4081794"/>
                </a:cubicBezTo>
                <a:cubicBezTo>
                  <a:pt x="5279103" y="4081794"/>
                  <a:pt x="4968836" y="4392061"/>
                  <a:pt x="4968836" y="4774794"/>
                </a:cubicBezTo>
                <a:cubicBezTo>
                  <a:pt x="4968836" y="4966160"/>
                  <a:pt x="5046403" y="5139410"/>
                  <a:pt x="5171811" y="5264819"/>
                </a:cubicBezTo>
                <a:lnTo>
                  <a:pt x="5193264" y="5282519"/>
                </a:lnTo>
                <a:lnTo>
                  <a:pt x="5193264" y="5287603"/>
                </a:ln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sp>
        <p:nvSpPr>
          <p:cNvPr id="4" name="Espace réservé du texte 5">
            <a:extLst>
              <a:ext uri="{FF2B5EF4-FFF2-40B4-BE49-F238E27FC236}">
                <a16:creationId xmlns:a16="http://schemas.microsoft.com/office/drawing/2014/main" id="{F3F46F07-A726-E407-CA20-82F2A3154994}"/>
              </a:ext>
            </a:extLst>
          </p:cNvPr>
          <p:cNvSpPr>
            <a:spLocks noGrp="1"/>
          </p:cNvSpPr>
          <p:nvPr>
            <p:ph type="body" sz="quarter" idx="10" hasCustomPrompt="1"/>
          </p:nvPr>
        </p:nvSpPr>
        <p:spPr>
          <a:xfrm>
            <a:off x="7484161" y="3835165"/>
            <a:ext cx="3893475" cy="1183538"/>
          </a:xfrm>
        </p:spPr>
        <p:txBody>
          <a:bodyPr anchor="b" anchorCtr="0">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5" name="Espace réservé du texte 8">
            <a:extLst>
              <a:ext uri="{FF2B5EF4-FFF2-40B4-BE49-F238E27FC236}">
                <a16:creationId xmlns:a16="http://schemas.microsoft.com/office/drawing/2014/main" id="{E01D2CE3-2F50-3A98-A824-2FA60F978D33}"/>
              </a:ext>
            </a:extLst>
          </p:cNvPr>
          <p:cNvSpPr>
            <a:spLocks noGrp="1"/>
          </p:cNvSpPr>
          <p:nvPr>
            <p:ph type="body" sz="quarter" idx="11" hasCustomPrompt="1"/>
          </p:nvPr>
        </p:nvSpPr>
        <p:spPr>
          <a:xfrm>
            <a:off x="1279910" y="2769944"/>
            <a:ext cx="3427928" cy="2699857"/>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6" name="Espace réservé de la date 14">
            <a:extLst>
              <a:ext uri="{FF2B5EF4-FFF2-40B4-BE49-F238E27FC236}">
                <a16:creationId xmlns:a16="http://schemas.microsoft.com/office/drawing/2014/main" id="{BA56BAC2-DFD0-9CAA-26C2-B9FEC1ECF3DC}"/>
              </a:ext>
            </a:extLst>
          </p:cNvPr>
          <p:cNvSpPr>
            <a:spLocks noGrp="1"/>
          </p:cNvSpPr>
          <p:nvPr>
            <p:ph type="dt" sz="half" idx="12"/>
          </p:nvPr>
        </p:nvSpPr>
        <p:spPr>
          <a:xfrm>
            <a:off x="7484159" y="5104676"/>
            <a:ext cx="3893475" cy="365125"/>
          </a:xfrm>
          <a:prstGeom prst="rect">
            <a:avLst/>
          </a:prstGeom>
        </p:spPr>
        <p:txBody>
          <a:bodyPr/>
          <a:lstStyle>
            <a:lvl1pPr algn="r">
              <a:defRPr sz="1200">
                <a:solidFill>
                  <a:schemeClr val="tx1"/>
                </a:solidFill>
              </a:defRPr>
            </a:lvl1pPr>
          </a:lstStyle>
          <a:p>
            <a:r>
              <a:rPr lang="fr-FR"/>
              <a:t>Date</a:t>
            </a:r>
          </a:p>
          <a:p>
            <a:endParaRPr lang="fr-FR"/>
          </a:p>
        </p:txBody>
      </p:sp>
      <p:pic>
        <p:nvPicPr>
          <p:cNvPr id="7" name="Image 6" descr="Une image contenant Graphique, Police, logo, cercle&#10;&#10;Description générée automatiquement">
            <a:extLst>
              <a:ext uri="{FF2B5EF4-FFF2-40B4-BE49-F238E27FC236}">
                <a16:creationId xmlns:a16="http://schemas.microsoft.com/office/drawing/2014/main" id="{40E9BFCB-8B56-6F08-3859-A08B96ACF143}"/>
              </a:ext>
            </a:extLst>
          </p:cNvPr>
          <p:cNvPicPr>
            <a:picLocks noChangeAspect="1"/>
          </p:cNvPicPr>
          <p:nvPr/>
        </p:nvPicPr>
        <p:blipFill>
          <a:blip r:embed="rId2"/>
          <a:stretch>
            <a:fillRect/>
          </a:stretch>
        </p:blipFill>
        <p:spPr>
          <a:xfrm>
            <a:off x="5137199" y="3823200"/>
            <a:ext cx="1915200" cy="1915200"/>
          </a:xfrm>
          <a:prstGeom prst="rect">
            <a:avLst/>
          </a:prstGeom>
        </p:spPr>
      </p:pic>
      <p:sp>
        <p:nvSpPr>
          <p:cNvPr id="2" name="Ellipse 1">
            <a:extLst>
              <a:ext uri="{FF2B5EF4-FFF2-40B4-BE49-F238E27FC236}">
                <a16:creationId xmlns:a16="http://schemas.microsoft.com/office/drawing/2014/main" id="{8154F389-57ED-C79E-23DE-A81D2C66A6D0}"/>
              </a:ext>
            </a:extLst>
          </p:cNvPr>
          <p:cNvSpPr>
            <a:spLocks noChangeAspect="1"/>
          </p:cNvSpPr>
          <p:nvPr userDrawn="1"/>
        </p:nvSpPr>
        <p:spPr>
          <a:xfrm>
            <a:off x="5398199" y="4076601"/>
            <a:ext cx="1393200" cy="1393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pic>
        <p:nvPicPr>
          <p:cNvPr id="9" name="Image 8" descr="Une image contenant Graphique, Police, logo, cercle&#10;&#10;Description générée automatiquement">
            <a:extLst>
              <a:ext uri="{FF2B5EF4-FFF2-40B4-BE49-F238E27FC236}">
                <a16:creationId xmlns:a16="http://schemas.microsoft.com/office/drawing/2014/main" id="{210D2609-6B4C-5D18-3509-4418FA7F0559}"/>
              </a:ext>
            </a:extLst>
          </p:cNvPr>
          <p:cNvPicPr>
            <a:picLocks noChangeAspect="1"/>
          </p:cNvPicPr>
          <p:nvPr userDrawn="1"/>
        </p:nvPicPr>
        <p:blipFill>
          <a:blip r:embed="rId2"/>
          <a:stretch>
            <a:fillRect/>
          </a:stretch>
        </p:blipFill>
        <p:spPr>
          <a:xfrm>
            <a:off x="5137199" y="3823200"/>
            <a:ext cx="1915200" cy="1915200"/>
          </a:xfrm>
          <a:prstGeom prst="rect">
            <a:avLst/>
          </a:prstGeom>
        </p:spPr>
      </p:pic>
      <p:sp>
        <p:nvSpPr>
          <p:cNvPr id="10" name="Rectangle 9">
            <a:extLst>
              <a:ext uri="{FF2B5EF4-FFF2-40B4-BE49-F238E27FC236}">
                <a16:creationId xmlns:a16="http://schemas.microsoft.com/office/drawing/2014/main" id="{2CC4EB34-2602-72E2-0326-042EFA09C442}"/>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E8D3FE5E-5835-C7DF-0517-E670D76FF297}"/>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97247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p:bg>
      <p:bgPr>
        <a:solidFill>
          <a:schemeClr val="bg1"/>
        </a:solidFill>
        <a:effectLst/>
      </p:bgPr>
    </p:bg>
    <p:spTree>
      <p:nvGrpSpPr>
        <p:cNvPr id="1" name=""/>
        <p:cNvGrpSpPr/>
        <p:nvPr/>
      </p:nvGrpSpPr>
      <p:grpSpPr>
        <a:xfrm>
          <a:off x="0" y="0"/>
          <a:ext cx="0" cy="0"/>
          <a:chOff x="0" y="0"/>
          <a:chExt cx="0" cy="0"/>
        </a:xfrm>
      </p:grpSpPr>
      <p:sp>
        <p:nvSpPr>
          <p:cNvPr id="18" name="Espace réservé pour une image  17">
            <a:extLst>
              <a:ext uri="{FF2B5EF4-FFF2-40B4-BE49-F238E27FC236}">
                <a16:creationId xmlns:a16="http://schemas.microsoft.com/office/drawing/2014/main" id="{12934E8F-D619-90A4-F9BA-6DE82A814527}"/>
              </a:ext>
            </a:extLst>
          </p:cNvPr>
          <p:cNvSpPr>
            <a:spLocks noGrp="1"/>
          </p:cNvSpPr>
          <p:nvPr>
            <p:ph type="pic" sz="quarter" idx="10"/>
          </p:nvPr>
        </p:nvSpPr>
        <p:spPr>
          <a:xfrm>
            <a:off x="5621012" y="240802"/>
            <a:ext cx="6570988" cy="6617198"/>
          </a:xfrm>
          <a:custGeom>
            <a:avLst/>
            <a:gdLst>
              <a:gd name="connsiteX0" fmla="*/ 4536000 w 6570988"/>
              <a:gd name="connsiteY0" fmla="*/ 3852000 h 6617198"/>
              <a:gd name="connsiteX1" fmla="*/ 3852000 w 6570988"/>
              <a:gd name="connsiteY1" fmla="*/ 4536000 h 6617198"/>
              <a:gd name="connsiteX2" fmla="*/ 4536000 w 6570988"/>
              <a:gd name="connsiteY2" fmla="*/ 5220000 h 6617198"/>
              <a:gd name="connsiteX3" fmla="*/ 5220000 w 6570988"/>
              <a:gd name="connsiteY3" fmla="*/ 4536000 h 6617198"/>
              <a:gd name="connsiteX4" fmla="*/ 4536000 w 6570988"/>
              <a:gd name="connsiteY4" fmla="*/ 3852000 h 6617198"/>
              <a:gd name="connsiteX5" fmla="*/ 4536000 w 6570988"/>
              <a:gd name="connsiteY5" fmla="*/ 0 h 6617198"/>
              <a:gd name="connsiteX6" fmla="*/ 6502544 w 6570988"/>
              <a:gd name="connsiteY6" fmla="*/ 447299 h 6617198"/>
              <a:gd name="connsiteX7" fmla="*/ 6570988 w 6570988"/>
              <a:gd name="connsiteY7" fmla="*/ 482354 h 6617198"/>
              <a:gd name="connsiteX8" fmla="*/ 6570988 w 6570988"/>
              <a:gd name="connsiteY8" fmla="*/ 6617198 h 6617198"/>
              <a:gd name="connsiteX9" fmla="*/ 506022 w 6570988"/>
              <a:gd name="connsiteY9" fmla="*/ 6617198 h 6617198"/>
              <a:gd name="connsiteX10" fmla="*/ 447299 w 6570988"/>
              <a:gd name="connsiteY10" fmla="*/ 6502544 h 6617198"/>
              <a:gd name="connsiteX11" fmla="*/ 0 w 6570988"/>
              <a:gd name="connsiteY11" fmla="*/ 4536000 h 6617198"/>
              <a:gd name="connsiteX12" fmla="*/ 4536000 w 6570988"/>
              <a:gd name="connsiteY12" fmla="*/ 0 h 66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70988" h="6617198">
                <a:moveTo>
                  <a:pt x="4536000" y="3852000"/>
                </a:moveTo>
                <a:cubicBezTo>
                  <a:pt x="4158237" y="3852000"/>
                  <a:pt x="3852000" y="4158237"/>
                  <a:pt x="3852000" y="4536000"/>
                </a:cubicBezTo>
                <a:cubicBezTo>
                  <a:pt x="3852000" y="4913763"/>
                  <a:pt x="4158237" y="5220000"/>
                  <a:pt x="4536000" y="5220000"/>
                </a:cubicBezTo>
                <a:cubicBezTo>
                  <a:pt x="4913763" y="5220000"/>
                  <a:pt x="5220000" y="4913763"/>
                  <a:pt x="5220000" y="4536000"/>
                </a:cubicBezTo>
                <a:cubicBezTo>
                  <a:pt x="5220000" y="4158237"/>
                  <a:pt x="4913763" y="3852000"/>
                  <a:pt x="4536000" y="3852000"/>
                </a:cubicBezTo>
                <a:close/>
                <a:moveTo>
                  <a:pt x="4536000" y="0"/>
                </a:moveTo>
                <a:cubicBezTo>
                  <a:pt x="5240577" y="0"/>
                  <a:pt x="5907635" y="160642"/>
                  <a:pt x="6502544" y="447299"/>
                </a:cubicBezTo>
                <a:lnTo>
                  <a:pt x="6570988" y="482354"/>
                </a:lnTo>
                <a:lnTo>
                  <a:pt x="6570988" y="6617198"/>
                </a:lnTo>
                <a:lnTo>
                  <a:pt x="506022" y="6617198"/>
                </a:lnTo>
                <a:lnTo>
                  <a:pt x="447299" y="6502544"/>
                </a:lnTo>
                <a:cubicBezTo>
                  <a:pt x="160643" y="5907635"/>
                  <a:pt x="0" y="5240578"/>
                  <a:pt x="0" y="4536000"/>
                </a:cubicBezTo>
                <a:cubicBezTo>
                  <a:pt x="0" y="2030836"/>
                  <a:pt x="2030836" y="0"/>
                  <a:pt x="4536000" y="0"/>
                </a:cubicBez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sp>
        <p:nvSpPr>
          <p:cNvPr id="19" name="Espace réservé du texte 5">
            <a:extLst>
              <a:ext uri="{FF2B5EF4-FFF2-40B4-BE49-F238E27FC236}">
                <a16:creationId xmlns:a16="http://schemas.microsoft.com/office/drawing/2014/main" id="{B2619398-34B0-5D93-C00F-D74CB42FD6BD}"/>
              </a:ext>
            </a:extLst>
          </p:cNvPr>
          <p:cNvSpPr>
            <a:spLocks noGrp="1"/>
          </p:cNvSpPr>
          <p:nvPr>
            <p:ph type="body" sz="quarter" idx="11" hasCustomPrompt="1"/>
          </p:nvPr>
        </p:nvSpPr>
        <p:spPr>
          <a:xfrm>
            <a:off x="1282391" y="2881166"/>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20" name="Espace réservé du texte 8">
            <a:extLst>
              <a:ext uri="{FF2B5EF4-FFF2-40B4-BE49-F238E27FC236}">
                <a16:creationId xmlns:a16="http://schemas.microsoft.com/office/drawing/2014/main" id="{456182EE-9FB6-F964-3FD2-E24B56219D11}"/>
              </a:ext>
            </a:extLst>
          </p:cNvPr>
          <p:cNvSpPr>
            <a:spLocks noGrp="1"/>
          </p:cNvSpPr>
          <p:nvPr>
            <p:ph type="body" sz="quarter" idx="12" hasCustomPrompt="1"/>
          </p:nvPr>
        </p:nvSpPr>
        <p:spPr>
          <a:xfrm>
            <a:off x="1282391" y="0"/>
            <a:ext cx="5414961" cy="2795193"/>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21" name="Espace réservé de la date 14">
            <a:extLst>
              <a:ext uri="{FF2B5EF4-FFF2-40B4-BE49-F238E27FC236}">
                <a16:creationId xmlns:a16="http://schemas.microsoft.com/office/drawing/2014/main" id="{F0310FE3-1826-0DBA-66E2-D931A0A79364}"/>
              </a:ext>
            </a:extLst>
          </p:cNvPr>
          <p:cNvSpPr>
            <a:spLocks noGrp="1"/>
          </p:cNvSpPr>
          <p:nvPr>
            <p:ph type="dt" sz="half" idx="13"/>
          </p:nvPr>
        </p:nvSpPr>
        <p:spPr>
          <a:xfrm>
            <a:off x="1282391" y="3457677"/>
            <a:ext cx="5414960" cy="365125"/>
          </a:xfrm>
          <a:prstGeom prst="rect">
            <a:avLst/>
          </a:prstGeom>
        </p:spPr>
        <p:txBody>
          <a:bodyPr/>
          <a:lstStyle>
            <a:lvl1pPr algn="l">
              <a:defRPr sz="1200">
                <a:solidFill>
                  <a:schemeClr val="tx1"/>
                </a:solidFill>
              </a:defRPr>
            </a:lvl1pPr>
          </a:lstStyle>
          <a:p>
            <a:r>
              <a:rPr lang="fr-FR"/>
              <a:t>Date</a:t>
            </a:r>
          </a:p>
        </p:txBody>
      </p:sp>
      <p:pic>
        <p:nvPicPr>
          <p:cNvPr id="6" name="Image 5" descr="Une image contenant Graphique, Police, logo, cercle&#10;&#10;Description générée automatiquement">
            <a:extLst>
              <a:ext uri="{FF2B5EF4-FFF2-40B4-BE49-F238E27FC236}">
                <a16:creationId xmlns:a16="http://schemas.microsoft.com/office/drawing/2014/main" id="{B3F11F0A-5F9C-8462-D0A3-BA91D2D2FEEF}"/>
              </a:ext>
            </a:extLst>
          </p:cNvPr>
          <p:cNvPicPr>
            <a:picLocks noChangeAspect="1"/>
          </p:cNvPicPr>
          <p:nvPr/>
        </p:nvPicPr>
        <p:blipFill>
          <a:blip r:embed="rId2"/>
          <a:stretch>
            <a:fillRect/>
          </a:stretch>
        </p:blipFill>
        <p:spPr>
          <a:xfrm>
            <a:off x="9201212" y="3821002"/>
            <a:ext cx="1911599" cy="1911599"/>
          </a:xfrm>
          <a:prstGeom prst="rect">
            <a:avLst/>
          </a:prstGeom>
        </p:spPr>
      </p:pic>
      <p:pic>
        <p:nvPicPr>
          <p:cNvPr id="2" name="Image 1" descr="Une image contenant Graphique, Police, logo, cercle&#10;&#10;Description générée automatiquement">
            <a:extLst>
              <a:ext uri="{FF2B5EF4-FFF2-40B4-BE49-F238E27FC236}">
                <a16:creationId xmlns:a16="http://schemas.microsoft.com/office/drawing/2014/main" id="{746232AE-0FA6-D4B9-AF78-2319F69E2B52}"/>
              </a:ext>
            </a:extLst>
          </p:cNvPr>
          <p:cNvPicPr>
            <a:picLocks noChangeAspect="1"/>
          </p:cNvPicPr>
          <p:nvPr userDrawn="1"/>
        </p:nvPicPr>
        <p:blipFill>
          <a:blip r:embed="rId2"/>
          <a:stretch>
            <a:fillRect/>
          </a:stretch>
        </p:blipFill>
        <p:spPr>
          <a:xfrm>
            <a:off x="9201215" y="3821005"/>
            <a:ext cx="1911599" cy="1911599"/>
          </a:xfrm>
          <a:prstGeom prst="rect">
            <a:avLst/>
          </a:prstGeom>
        </p:spPr>
      </p:pic>
      <p:sp>
        <p:nvSpPr>
          <p:cNvPr id="3" name="Rectangle 2">
            <a:extLst>
              <a:ext uri="{FF2B5EF4-FFF2-40B4-BE49-F238E27FC236}">
                <a16:creationId xmlns:a16="http://schemas.microsoft.com/office/drawing/2014/main" id="{30AA79F9-F041-9FF5-1FAC-B05EB5EEE2D1}"/>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79570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1"/>
        </a:solidFill>
        <a:effectLst/>
      </p:bgPr>
    </p:bg>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0FA99528-DB92-88C1-70DC-A8BA7360FB47}"/>
              </a:ext>
            </a:extLst>
          </p:cNvPr>
          <p:cNvSpPr>
            <a:spLocks noChangeAspect="1"/>
          </p:cNvSpPr>
          <p:nvPr/>
        </p:nvSpPr>
        <p:spPr>
          <a:xfrm>
            <a:off x="9453600" y="1350000"/>
            <a:ext cx="1396800" cy="13968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du texte 5">
            <a:extLst>
              <a:ext uri="{FF2B5EF4-FFF2-40B4-BE49-F238E27FC236}">
                <a16:creationId xmlns:a16="http://schemas.microsoft.com/office/drawing/2014/main" id="{B2619398-34B0-5D93-C00F-D74CB42FD6BD}"/>
              </a:ext>
            </a:extLst>
          </p:cNvPr>
          <p:cNvSpPr>
            <a:spLocks noGrp="1"/>
          </p:cNvSpPr>
          <p:nvPr>
            <p:ph type="body" sz="quarter" idx="11" hasCustomPrompt="1"/>
          </p:nvPr>
        </p:nvSpPr>
        <p:spPr>
          <a:xfrm>
            <a:off x="1282391" y="2059413"/>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20" name="Espace réservé du texte 8">
            <a:extLst>
              <a:ext uri="{FF2B5EF4-FFF2-40B4-BE49-F238E27FC236}">
                <a16:creationId xmlns:a16="http://schemas.microsoft.com/office/drawing/2014/main" id="{456182EE-9FB6-F964-3FD2-E24B56219D11}"/>
              </a:ext>
            </a:extLst>
          </p:cNvPr>
          <p:cNvSpPr>
            <a:spLocks noGrp="1"/>
          </p:cNvSpPr>
          <p:nvPr>
            <p:ph type="body" sz="quarter" idx="12" hasCustomPrompt="1"/>
          </p:nvPr>
        </p:nvSpPr>
        <p:spPr>
          <a:xfrm>
            <a:off x="1282391" y="0"/>
            <a:ext cx="5414961" cy="1973440"/>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21" name="Espace réservé de la date 14">
            <a:extLst>
              <a:ext uri="{FF2B5EF4-FFF2-40B4-BE49-F238E27FC236}">
                <a16:creationId xmlns:a16="http://schemas.microsoft.com/office/drawing/2014/main" id="{F0310FE3-1826-0DBA-66E2-D931A0A79364}"/>
              </a:ext>
            </a:extLst>
          </p:cNvPr>
          <p:cNvSpPr>
            <a:spLocks noGrp="1"/>
          </p:cNvSpPr>
          <p:nvPr>
            <p:ph type="dt" sz="half" idx="13"/>
          </p:nvPr>
        </p:nvSpPr>
        <p:spPr>
          <a:xfrm>
            <a:off x="1282391" y="2635924"/>
            <a:ext cx="5414960" cy="365125"/>
          </a:xfrm>
          <a:prstGeom prst="rect">
            <a:avLst/>
          </a:prstGeom>
        </p:spPr>
        <p:txBody>
          <a:bodyPr/>
          <a:lstStyle>
            <a:lvl1pPr algn="l">
              <a:defRPr sz="1200">
                <a:solidFill>
                  <a:schemeClr val="tx1"/>
                </a:solidFill>
              </a:defRPr>
            </a:lvl1pPr>
          </a:lstStyle>
          <a:p>
            <a:r>
              <a:rPr lang="fr-FR"/>
              <a:t>Date</a:t>
            </a:r>
          </a:p>
          <a:p>
            <a:endParaRPr lang="fr-FR"/>
          </a:p>
        </p:txBody>
      </p:sp>
      <p:sp>
        <p:nvSpPr>
          <p:cNvPr id="14" name="Espace réservé pour une image  13">
            <a:extLst>
              <a:ext uri="{FF2B5EF4-FFF2-40B4-BE49-F238E27FC236}">
                <a16:creationId xmlns:a16="http://schemas.microsoft.com/office/drawing/2014/main" id="{719390CA-80CB-D56B-7A64-A26BE94FD325}"/>
              </a:ext>
            </a:extLst>
          </p:cNvPr>
          <p:cNvSpPr>
            <a:spLocks noGrp="1"/>
          </p:cNvSpPr>
          <p:nvPr>
            <p:ph type="pic" sz="quarter" idx="14"/>
          </p:nvPr>
        </p:nvSpPr>
        <p:spPr>
          <a:xfrm>
            <a:off x="0" y="1403068"/>
            <a:ext cx="12192000" cy="5454933"/>
          </a:xfrm>
          <a:custGeom>
            <a:avLst/>
            <a:gdLst>
              <a:gd name="connsiteX0" fmla="*/ 9882962 w 12192000"/>
              <a:gd name="connsiteY0" fmla="*/ 0 h 5454933"/>
              <a:gd name="connsiteX1" fmla="*/ 9882962 w 12192000"/>
              <a:gd name="connsiteY1" fmla="*/ 7776 h 5454933"/>
              <a:gd name="connsiteX2" fmla="*/ 9769548 w 12192000"/>
              <a:gd name="connsiteY2" fmla="*/ 69335 h 5454933"/>
              <a:gd name="connsiteX3" fmla="*/ 9464011 w 12192000"/>
              <a:gd name="connsiteY3" fmla="*/ 643981 h 5454933"/>
              <a:gd name="connsiteX4" fmla="*/ 10157011 w 12192000"/>
              <a:gd name="connsiteY4" fmla="*/ 1336981 h 5454933"/>
              <a:gd name="connsiteX5" fmla="*/ 10850011 w 12192000"/>
              <a:gd name="connsiteY5" fmla="*/ 643981 h 5454933"/>
              <a:gd name="connsiteX6" fmla="*/ 10835932 w 12192000"/>
              <a:gd name="connsiteY6" fmla="*/ 504317 h 5454933"/>
              <a:gd name="connsiteX7" fmla="*/ 10826390 w 12192000"/>
              <a:gd name="connsiteY7" fmla="*/ 473579 h 5454933"/>
              <a:gd name="connsiteX8" fmla="*/ 10829416 w 12192000"/>
              <a:gd name="connsiteY8" fmla="*/ 473579 h 5454933"/>
              <a:gd name="connsiteX9" fmla="*/ 12192000 w 12192000"/>
              <a:gd name="connsiteY9" fmla="*/ 5400264 h 5454933"/>
              <a:gd name="connsiteX10" fmla="*/ 12192000 w 12192000"/>
              <a:gd name="connsiteY10" fmla="*/ 5454933 h 5454933"/>
              <a:gd name="connsiteX11" fmla="*/ 0 w 12192000"/>
              <a:gd name="connsiteY11" fmla="*/ 5454933 h 5454933"/>
              <a:gd name="connsiteX12" fmla="*/ 0 w 12192000"/>
              <a:gd name="connsiteY12" fmla="*/ 4076943 h 545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454933">
                <a:moveTo>
                  <a:pt x="9882962" y="0"/>
                </a:moveTo>
                <a:lnTo>
                  <a:pt x="9882962" y="7776"/>
                </a:lnTo>
                <a:lnTo>
                  <a:pt x="9769548" y="69335"/>
                </a:lnTo>
                <a:cubicBezTo>
                  <a:pt x="9585209" y="193872"/>
                  <a:pt x="9464011" y="404773"/>
                  <a:pt x="9464011" y="643981"/>
                </a:cubicBezTo>
                <a:cubicBezTo>
                  <a:pt x="9464011" y="1026714"/>
                  <a:pt x="9774278" y="1336981"/>
                  <a:pt x="10157011" y="1336981"/>
                </a:cubicBezTo>
                <a:cubicBezTo>
                  <a:pt x="10539744" y="1336981"/>
                  <a:pt x="10850011" y="1026714"/>
                  <a:pt x="10850011" y="643981"/>
                </a:cubicBezTo>
                <a:cubicBezTo>
                  <a:pt x="10850011" y="596139"/>
                  <a:pt x="10845163" y="549430"/>
                  <a:pt x="10835932" y="504317"/>
                </a:cubicBezTo>
                <a:lnTo>
                  <a:pt x="10826390" y="473579"/>
                </a:lnTo>
                <a:lnTo>
                  <a:pt x="10829416" y="473579"/>
                </a:lnTo>
                <a:lnTo>
                  <a:pt x="12192000" y="5400264"/>
                </a:lnTo>
                <a:lnTo>
                  <a:pt x="12192000" y="5454933"/>
                </a:lnTo>
                <a:lnTo>
                  <a:pt x="0" y="5454933"/>
                </a:lnTo>
                <a:lnTo>
                  <a:pt x="0" y="4076943"/>
                </a:ln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pic>
        <p:nvPicPr>
          <p:cNvPr id="7" name="Image 6" descr="Une image contenant Graphique, Police, logo, cercle&#10;&#10;Description générée automatiquement">
            <a:extLst>
              <a:ext uri="{FF2B5EF4-FFF2-40B4-BE49-F238E27FC236}">
                <a16:creationId xmlns:a16="http://schemas.microsoft.com/office/drawing/2014/main" id="{821CBB4C-A07C-F956-89CA-32E4453B36D8}"/>
              </a:ext>
            </a:extLst>
          </p:cNvPr>
          <p:cNvPicPr>
            <a:picLocks noChangeAspect="1"/>
          </p:cNvPicPr>
          <p:nvPr/>
        </p:nvPicPr>
        <p:blipFill>
          <a:blip r:embed="rId2"/>
          <a:stretch>
            <a:fillRect/>
          </a:stretch>
        </p:blipFill>
        <p:spPr>
          <a:xfrm>
            <a:off x="9190800" y="1080000"/>
            <a:ext cx="1925999" cy="1925999"/>
          </a:xfrm>
          <a:prstGeom prst="rect">
            <a:avLst/>
          </a:prstGeom>
        </p:spPr>
      </p:pic>
      <p:sp>
        <p:nvSpPr>
          <p:cNvPr id="3" name="Ellipse 2">
            <a:extLst>
              <a:ext uri="{FF2B5EF4-FFF2-40B4-BE49-F238E27FC236}">
                <a16:creationId xmlns:a16="http://schemas.microsoft.com/office/drawing/2014/main" id="{0BA813D4-FE2B-3888-E297-24B124ED97FE}"/>
              </a:ext>
            </a:extLst>
          </p:cNvPr>
          <p:cNvSpPr>
            <a:spLocks noChangeAspect="1"/>
          </p:cNvSpPr>
          <p:nvPr userDrawn="1"/>
        </p:nvSpPr>
        <p:spPr>
          <a:xfrm>
            <a:off x="9453600" y="1350000"/>
            <a:ext cx="1396800" cy="13968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pic>
        <p:nvPicPr>
          <p:cNvPr id="4" name="Image 3" descr="Une image contenant Graphique, Police, logo, cercle&#10;&#10;Description générée automatiquement">
            <a:extLst>
              <a:ext uri="{FF2B5EF4-FFF2-40B4-BE49-F238E27FC236}">
                <a16:creationId xmlns:a16="http://schemas.microsoft.com/office/drawing/2014/main" id="{9773799C-304A-8C0B-258D-283FDD689C59}"/>
              </a:ext>
            </a:extLst>
          </p:cNvPr>
          <p:cNvPicPr>
            <a:picLocks noChangeAspect="1"/>
          </p:cNvPicPr>
          <p:nvPr userDrawn="1"/>
        </p:nvPicPr>
        <p:blipFill>
          <a:blip r:embed="rId2"/>
          <a:stretch>
            <a:fillRect/>
          </a:stretch>
        </p:blipFill>
        <p:spPr>
          <a:xfrm>
            <a:off x="9190803" y="1080003"/>
            <a:ext cx="1925999" cy="1925999"/>
          </a:xfrm>
          <a:prstGeom prst="rect">
            <a:avLst/>
          </a:prstGeom>
        </p:spPr>
      </p:pic>
    </p:spTree>
    <p:extLst>
      <p:ext uri="{BB962C8B-B14F-4D97-AF65-F5344CB8AC3E}">
        <p14:creationId xmlns:p14="http://schemas.microsoft.com/office/powerpoint/2010/main" val="269847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4B94336-40AF-95E7-3FDF-62F2E43DC597}"/>
              </a:ext>
            </a:extLst>
          </p:cNvPr>
          <p:cNvSpPr/>
          <p:nvPr/>
        </p:nvSpPr>
        <p:spPr>
          <a:xfrm>
            <a:off x="1848342" y="588579"/>
            <a:ext cx="10343658" cy="6269421"/>
          </a:xfrm>
          <a:custGeom>
            <a:avLst/>
            <a:gdLst>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46007 w 10343658"/>
              <a:gd name="connsiteY9" fmla="*/ 3565318 h 6269421"/>
              <a:gd name="connsiteX10" fmla="*/ 22 w 10343658"/>
              <a:gd name="connsiteY10" fmla="*/ 3579592 h 6269421"/>
              <a:gd name="connsiteX11" fmla="*/ 0 w 10343658"/>
              <a:gd name="connsiteY11" fmla="*/ 3571875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867857 w 10343658"/>
              <a:gd name="connsiteY6" fmla="*/ 4235421 h 6269421"/>
              <a:gd name="connsiteX7" fmla="*/ 183857 w 10343658"/>
              <a:gd name="connsiteY7" fmla="*/ 3551421 h 6269421"/>
              <a:gd name="connsiteX8" fmla="*/ 46007 w 10343658"/>
              <a:gd name="connsiteY8" fmla="*/ 3565318 h 6269421"/>
              <a:gd name="connsiteX9" fmla="*/ 22 w 10343658"/>
              <a:gd name="connsiteY9" fmla="*/ 3579592 h 6269421"/>
              <a:gd name="connsiteX10" fmla="*/ 0 w 10343658"/>
              <a:gd name="connsiteY10" fmla="*/ 3571875 h 6269421"/>
              <a:gd name="connsiteX11" fmla="*/ 10343658 w 10343658"/>
              <a:gd name="connsiteY11"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867857 w 10343658"/>
              <a:gd name="connsiteY5" fmla="*/ 4235421 h 6269421"/>
              <a:gd name="connsiteX6" fmla="*/ 183857 w 10343658"/>
              <a:gd name="connsiteY6" fmla="*/ 3551421 h 6269421"/>
              <a:gd name="connsiteX7" fmla="*/ 46007 w 10343658"/>
              <a:gd name="connsiteY7" fmla="*/ 3565318 h 6269421"/>
              <a:gd name="connsiteX8" fmla="*/ 22 w 10343658"/>
              <a:gd name="connsiteY8" fmla="*/ 3579592 h 6269421"/>
              <a:gd name="connsiteX9" fmla="*/ 0 w 10343658"/>
              <a:gd name="connsiteY9" fmla="*/ 3571875 h 6269421"/>
              <a:gd name="connsiteX10" fmla="*/ 10343658 w 10343658"/>
              <a:gd name="connsiteY10"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183857 w 10343658"/>
              <a:gd name="connsiteY5" fmla="*/ 3551421 h 6269421"/>
              <a:gd name="connsiteX6" fmla="*/ 46007 w 10343658"/>
              <a:gd name="connsiteY6" fmla="*/ 3565318 h 6269421"/>
              <a:gd name="connsiteX7" fmla="*/ 22 w 10343658"/>
              <a:gd name="connsiteY7" fmla="*/ 3579592 h 6269421"/>
              <a:gd name="connsiteX8" fmla="*/ 0 w 10343658"/>
              <a:gd name="connsiteY8" fmla="*/ 3571875 h 6269421"/>
              <a:gd name="connsiteX9" fmla="*/ 10343658 w 10343658"/>
              <a:gd name="connsiteY9"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3565318 h 6269421"/>
              <a:gd name="connsiteX6" fmla="*/ 22 w 10343658"/>
              <a:gd name="connsiteY6" fmla="*/ 3579592 h 6269421"/>
              <a:gd name="connsiteX7" fmla="*/ 0 w 10343658"/>
              <a:gd name="connsiteY7" fmla="*/ 3571875 h 6269421"/>
              <a:gd name="connsiteX8" fmla="*/ 10343658 w 10343658"/>
              <a:gd name="connsiteY8"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22 w 10343658"/>
              <a:gd name="connsiteY5" fmla="*/ 3579592 h 6269421"/>
              <a:gd name="connsiteX6" fmla="*/ 0 w 10343658"/>
              <a:gd name="connsiteY6" fmla="*/ 3571875 h 6269421"/>
              <a:gd name="connsiteX7" fmla="*/ 10343658 w 10343658"/>
              <a:gd name="connsiteY7" fmla="*/ 0 h 626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8" h="6269421">
                <a:moveTo>
                  <a:pt x="10343658" y="0"/>
                </a:moveTo>
                <a:lnTo>
                  <a:pt x="10343658" y="6269421"/>
                </a:lnTo>
                <a:lnTo>
                  <a:pt x="3308169" y="6268197"/>
                </a:lnTo>
                <a:lnTo>
                  <a:pt x="3740" y="4894646"/>
                </a:lnTo>
                <a:lnTo>
                  <a:pt x="3734" y="4892402"/>
                </a:lnTo>
                <a:cubicBezTo>
                  <a:pt x="2497" y="4454799"/>
                  <a:pt x="1259" y="4017195"/>
                  <a:pt x="22" y="3579592"/>
                </a:cubicBezTo>
                <a:cubicBezTo>
                  <a:pt x="15" y="3577020"/>
                  <a:pt x="7" y="3574447"/>
                  <a:pt x="0" y="3571875"/>
                </a:cubicBezTo>
                <a:lnTo>
                  <a:pt x="1034365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p:nvPr>
        </p:nvSpPr>
        <p:spPr>
          <a:xfrm>
            <a:off x="5506504" y="4576665"/>
            <a:ext cx="5414962" cy="490538"/>
          </a:xfrm>
        </p:spPr>
        <p:txBody>
          <a:bodyPr>
            <a:noAutofit/>
          </a:bodyPr>
          <a:lstStyle>
            <a:lvl1pPr algn="r">
              <a:defRPr sz="1400">
                <a:solidFill>
                  <a:schemeClr val="bg1"/>
                </a:solidFill>
              </a:defRPr>
            </a:lvl1pPr>
            <a:lvl2pPr algn="r">
              <a:defRPr sz="1400"/>
            </a:lvl2pPr>
            <a:lvl3pPr algn="r">
              <a:defRPr sz="1400"/>
            </a:lvl3pPr>
            <a:lvl4pPr algn="r">
              <a:defRPr sz="1400"/>
            </a:lvl4pPr>
            <a:lvl5pPr algn="r">
              <a:defRPr sz="1400"/>
            </a:lvl5pPr>
          </a:lstStyle>
          <a:p>
            <a:pPr lvl="0"/>
            <a:r>
              <a:rPr lang="fr-FR"/>
              <a:t>Cliquez pour modifier les styles du texte du masque</a:t>
            </a: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506504" y="5153176"/>
            <a:ext cx="5414960" cy="365125"/>
          </a:xfrm>
          <a:prstGeom prst="rect">
            <a:avLst/>
          </a:prstGeom>
        </p:spPr>
        <p:txBody>
          <a:bodyPr/>
          <a:lstStyle>
            <a:lvl1pPr algn="r">
              <a:defRPr sz="1200">
                <a:solidFill>
                  <a:schemeClr val="bg1"/>
                </a:solidFill>
              </a:defRPr>
            </a:lvl1pPr>
          </a:lstStyle>
          <a:p>
            <a:fld id="{175B3E88-EDEE-8048-AD0F-4440EE687B4C}" type="datetime4">
              <a:rPr lang="fr-FR" smtClean="0"/>
              <a:pPr/>
              <a:t>9 janvier 2025</a:t>
            </a:fld>
            <a:endParaRPr lang="fr-FR"/>
          </a:p>
        </p:txBody>
      </p:sp>
      <p:pic>
        <p:nvPicPr>
          <p:cNvPr id="9" name="Image 8" descr="Une image contenant Graphique, Police, logo, cercle&#10;&#10;Description générée automatiquement">
            <a:extLst>
              <a:ext uri="{FF2B5EF4-FFF2-40B4-BE49-F238E27FC236}">
                <a16:creationId xmlns:a16="http://schemas.microsoft.com/office/drawing/2014/main" id="{D227FB27-C07F-56EA-7983-4F239EE886F8}"/>
              </a:ext>
            </a:extLst>
          </p:cNvPr>
          <p:cNvPicPr>
            <a:picLocks noChangeAspect="1"/>
          </p:cNvPicPr>
          <p:nvPr/>
        </p:nvPicPr>
        <p:blipFill>
          <a:blip r:embed="rId2"/>
          <a:stretch>
            <a:fillRect/>
          </a:stretch>
        </p:blipFill>
        <p:spPr>
          <a:xfrm>
            <a:off x="1076399" y="3868562"/>
            <a:ext cx="1911599" cy="1911599"/>
          </a:xfrm>
          <a:prstGeom prst="rect">
            <a:avLst/>
          </a:prstGeom>
        </p:spPr>
      </p:pic>
      <p:sp>
        <p:nvSpPr>
          <p:cNvPr id="4" name="Espace réservé du texte 1">
            <a:extLst>
              <a:ext uri="{FF2B5EF4-FFF2-40B4-BE49-F238E27FC236}">
                <a16:creationId xmlns:a16="http://schemas.microsoft.com/office/drawing/2014/main" id="{11C8C490-258C-742E-5624-74852D0D76B7}"/>
              </a:ext>
            </a:extLst>
          </p:cNvPr>
          <p:cNvSpPr txBox="1">
            <a:spLocks/>
          </p:cNvSpPr>
          <p:nvPr/>
        </p:nvSpPr>
        <p:spPr>
          <a:xfrm>
            <a:off x="5506503" y="6072761"/>
            <a:ext cx="5414962"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0" b="1">
                <a:solidFill>
                  <a:schemeClr val="bg1"/>
                </a:solidFill>
              </a:rPr>
              <a:t>EXPLORE AND DEVELOP UNCHARTED TERRITORIES</a:t>
            </a:r>
          </a:p>
        </p:txBody>
      </p:sp>
      <p:sp>
        <p:nvSpPr>
          <p:cNvPr id="2" name="Forme libre 2">
            <a:extLst>
              <a:ext uri="{FF2B5EF4-FFF2-40B4-BE49-F238E27FC236}">
                <a16:creationId xmlns:a16="http://schemas.microsoft.com/office/drawing/2014/main" id="{D5F43442-09F1-8FDA-F9B6-055AE740FACB}"/>
              </a:ext>
            </a:extLst>
          </p:cNvPr>
          <p:cNvSpPr/>
          <p:nvPr userDrawn="1"/>
        </p:nvSpPr>
        <p:spPr>
          <a:xfrm>
            <a:off x="1848341" y="588580"/>
            <a:ext cx="10343659" cy="6269421"/>
          </a:xfrm>
          <a:custGeom>
            <a:avLst/>
            <a:gdLst>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46007 w 10343658"/>
              <a:gd name="connsiteY9" fmla="*/ 3565318 h 6269421"/>
              <a:gd name="connsiteX10" fmla="*/ 22 w 10343658"/>
              <a:gd name="connsiteY10" fmla="*/ 3579592 h 6269421"/>
              <a:gd name="connsiteX11" fmla="*/ 0 w 10343658"/>
              <a:gd name="connsiteY11" fmla="*/ 3571875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867857 w 10343658"/>
              <a:gd name="connsiteY6" fmla="*/ 4235421 h 6269421"/>
              <a:gd name="connsiteX7" fmla="*/ 183857 w 10343658"/>
              <a:gd name="connsiteY7" fmla="*/ 3551421 h 6269421"/>
              <a:gd name="connsiteX8" fmla="*/ 46007 w 10343658"/>
              <a:gd name="connsiteY8" fmla="*/ 3565318 h 6269421"/>
              <a:gd name="connsiteX9" fmla="*/ 22 w 10343658"/>
              <a:gd name="connsiteY9" fmla="*/ 3579592 h 6269421"/>
              <a:gd name="connsiteX10" fmla="*/ 0 w 10343658"/>
              <a:gd name="connsiteY10" fmla="*/ 3571875 h 6269421"/>
              <a:gd name="connsiteX11" fmla="*/ 10343658 w 10343658"/>
              <a:gd name="connsiteY11"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867857 w 10343658"/>
              <a:gd name="connsiteY5" fmla="*/ 4235421 h 6269421"/>
              <a:gd name="connsiteX6" fmla="*/ 183857 w 10343658"/>
              <a:gd name="connsiteY6" fmla="*/ 3551421 h 6269421"/>
              <a:gd name="connsiteX7" fmla="*/ 46007 w 10343658"/>
              <a:gd name="connsiteY7" fmla="*/ 3565318 h 6269421"/>
              <a:gd name="connsiteX8" fmla="*/ 22 w 10343658"/>
              <a:gd name="connsiteY8" fmla="*/ 3579592 h 6269421"/>
              <a:gd name="connsiteX9" fmla="*/ 0 w 10343658"/>
              <a:gd name="connsiteY9" fmla="*/ 3571875 h 6269421"/>
              <a:gd name="connsiteX10" fmla="*/ 10343658 w 10343658"/>
              <a:gd name="connsiteY10"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183857 w 10343658"/>
              <a:gd name="connsiteY5" fmla="*/ 3551421 h 6269421"/>
              <a:gd name="connsiteX6" fmla="*/ 46007 w 10343658"/>
              <a:gd name="connsiteY6" fmla="*/ 3565318 h 6269421"/>
              <a:gd name="connsiteX7" fmla="*/ 22 w 10343658"/>
              <a:gd name="connsiteY7" fmla="*/ 3579592 h 6269421"/>
              <a:gd name="connsiteX8" fmla="*/ 0 w 10343658"/>
              <a:gd name="connsiteY8" fmla="*/ 3571875 h 6269421"/>
              <a:gd name="connsiteX9" fmla="*/ 10343658 w 10343658"/>
              <a:gd name="connsiteY9"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3565318 h 6269421"/>
              <a:gd name="connsiteX6" fmla="*/ 22 w 10343658"/>
              <a:gd name="connsiteY6" fmla="*/ 3579592 h 6269421"/>
              <a:gd name="connsiteX7" fmla="*/ 0 w 10343658"/>
              <a:gd name="connsiteY7" fmla="*/ 3571875 h 6269421"/>
              <a:gd name="connsiteX8" fmla="*/ 10343658 w 10343658"/>
              <a:gd name="connsiteY8"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22 w 10343658"/>
              <a:gd name="connsiteY5" fmla="*/ 3579592 h 6269421"/>
              <a:gd name="connsiteX6" fmla="*/ 0 w 10343658"/>
              <a:gd name="connsiteY6" fmla="*/ 3571875 h 6269421"/>
              <a:gd name="connsiteX7" fmla="*/ 10343658 w 10343658"/>
              <a:gd name="connsiteY7" fmla="*/ 0 h 626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8" h="6269421">
                <a:moveTo>
                  <a:pt x="10343658" y="0"/>
                </a:moveTo>
                <a:lnTo>
                  <a:pt x="10343658" y="6269421"/>
                </a:lnTo>
                <a:lnTo>
                  <a:pt x="3308169" y="6268197"/>
                </a:lnTo>
                <a:lnTo>
                  <a:pt x="3740" y="4894646"/>
                </a:lnTo>
                <a:lnTo>
                  <a:pt x="3734" y="4892402"/>
                </a:lnTo>
                <a:cubicBezTo>
                  <a:pt x="2497" y="4454799"/>
                  <a:pt x="1259" y="4017195"/>
                  <a:pt x="22" y="3579592"/>
                </a:cubicBezTo>
                <a:cubicBezTo>
                  <a:pt x="15" y="3577020"/>
                  <a:pt x="7" y="3574447"/>
                  <a:pt x="0" y="3571875"/>
                </a:cubicBezTo>
                <a:lnTo>
                  <a:pt x="1034365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5" name="Image 4" descr="Une image contenant Graphique, Police, logo, cercle&#10;&#10;Description générée automatiquement">
            <a:extLst>
              <a:ext uri="{FF2B5EF4-FFF2-40B4-BE49-F238E27FC236}">
                <a16:creationId xmlns:a16="http://schemas.microsoft.com/office/drawing/2014/main" id="{016C4F5D-7B17-8122-0CA2-0C4AB3B8D6CF}"/>
              </a:ext>
            </a:extLst>
          </p:cNvPr>
          <p:cNvPicPr>
            <a:picLocks noChangeAspect="1"/>
          </p:cNvPicPr>
          <p:nvPr userDrawn="1"/>
        </p:nvPicPr>
        <p:blipFill>
          <a:blip r:embed="rId2"/>
          <a:stretch>
            <a:fillRect/>
          </a:stretch>
        </p:blipFill>
        <p:spPr>
          <a:xfrm>
            <a:off x="1076402" y="3868565"/>
            <a:ext cx="1911599" cy="1911599"/>
          </a:xfrm>
          <a:prstGeom prst="rect">
            <a:avLst/>
          </a:prstGeom>
        </p:spPr>
      </p:pic>
      <p:sp>
        <p:nvSpPr>
          <p:cNvPr id="6" name="Espace réservé du texte 1">
            <a:extLst>
              <a:ext uri="{FF2B5EF4-FFF2-40B4-BE49-F238E27FC236}">
                <a16:creationId xmlns:a16="http://schemas.microsoft.com/office/drawing/2014/main" id="{03A37F2B-6801-F19C-C815-F01915D8C137}"/>
              </a:ext>
            </a:extLst>
          </p:cNvPr>
          <p:cNvSpPr txBox="1">
            <a:spLocks/>
          </p:cNvSpPr>
          <p:nvPr userDrawn="1"/>
        </p:nvSpPr>
        <p:spPr>
          <a:xfrm>
            <a:off x="5506504" y="6072763"/>
            <a:ext cx="5414963"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1" b="1">
                <a:solidFill>
                  <a:schemeClr val="bg1"/>
                </a:solidFill>
              </a:rPr>
              <a:t>EXPLORE AND DEVELOP UNCHARTED TERRITORIES</a:t>
            </a:r>
          </a:p>
        </p:txBody>
      </p:sp>
      <p:sp>
        <p:nvSpPr>
          <p:cNvPr id="7" name="Rectangle 6">
            <a:extLst>
              <a:ext uri="{FF2B5EF4-FFF2-40B4-BE49-F238E27FC236}">
                <a16:creationId xmlns:a16="http://schemas.microsoft.com/office/drawing/2014/main" id="{38DFA887-3299-1089-B79B-83182C6BC41E}"/>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5">
            <a:extLst>
              <a:ext uri="{FF2B5EF4-FFF2-40B4-BE49-F238E27FC236}">
                <a16:creationId xmlns:a16="http://schemas.microsoft.com/office/drawing/2014/main" id="{05105DA5-B0CD-FD65-B15A-28F30D97E71C}"/>
              </a:ext>
            </a:extLst>
          </p:cNvPr>
          <p:cNvSpPr>
            <a:spLocks noGrp="1"/>
          </p:cNvSpPr>
          <p:nvPr>
            <p:ph type="body" sz="quarter" idx="13" hasCustomPrompt="1"/>
          </p:nvPr>
        </p:nvSpPr>
        <p:spPr>
          <a:xfrm>
            <a:off x="1026072" y="1744206"/>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0" name="Espace réservé du texte 8">
            <a:extLst>
              <a:ext uri="{FF2B5EF4-FFF2-40B4-BE49-F238E27FC236}">
                <a16:creationId xmlns:a16="http://schemas.microsoft.com/office/drawing/2014/main" id="{20675A66-B5C4-9E70-7BC8-5C2E18E8ECBE}"/>
              </a:ext>
            </a:extLst>
          </p:cNvPr>
          <p:cNvSpPr>
            <a:spLocks noGrp="1"/>
          </p:cNvSpPr>
          <p:nvPr>
            <p:ph type="body" sz="quarter" idx="11" hasCustomPrompt="1"/>
          </p:nvPr>
        </p:nvSpPr>
        <p:spPr>
          <a:xfrm>
            <a:off x="1026072" y="831081"/>
            <a:ext cx="5414961" cy="827151"/>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1" name="Espace réservé de la date 14">
            <a:extLst>
              <a:ext uri="{FF2B5EF4-FFF2-40B4-BE49-F238E27FC236}">
                <a16:creationId xmlns:a16="http://schemas.microsoft.com/office/drawing/2014/main" id="{8F3FE528-7F90-8F4C-790A-289FCB8A0292}"/>
              </a:ext>
            </a:extLst>
          </p:cNvPr>
          <p:cNvSpPr txBox="1">
            <a:spLocks/>
          </p:cNvSpPr>
          <p:nvPr userDrawn="1"/>
        </p:nvSpPr>
        <p:spPr>
          <a:xfrm>
            <a:off x="1026072" y="2320717"/>
            <a:ext cx="5414960" cy="365125"/>
          </a:xfrm>
          <a:prstGeom prst="rect">
            <a:avLst/>
          </a:prstGeom>
        </p:spPr>
        <p:txBody>
          <a:bodyPr/>
          <a:lstStyle>
            <a:defPPr>
              <a:defRPr lang="fr-FR"/>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Date</a:t>
            </a:r>
          </a:p>
          <a:p>
            <a:pPr algn="l"/>
            <a:endParaRPr lang="fr-FR"/>
          </a:p>
        </p:txBody>
      </p:sp>
    </p:spTree>
    <p:extLst>
      <p:ext uri="{BB962C8B-B14F-4D97-AF65-F5344CB8AC3E}">
        <p14:creationId xmlns:p14="http://schemas.microsoft.com/office/powerpoint/2010/main" val="2980811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8">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6E526EA-E4EC-524C-689F-F503562A1BEC}"/>
              </a:ext>
            </a:extLst>
          </p:cNvPr>
          <p:cNvSpPr/>
          <p:nvPr/>
        </p:nvSpPr>
        <p:spPr>
          <a:xfrm>
            <a:off x="1" y="1378224"/>
            <a:ext cx="12191999" cy="5479777"/>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5479777">
                <a:moveTo>
                  <a:pt x="2322000" y="0"/>
                </a:moveTo>
                <a:lnTo>
                  <a:pt x="12191999" y="3767569"/>
                </a:lnTo>
                <a:lnTo>
                  <a:pt x="12191999" y="5479777"/>
                </a:lnTo>
                <a:lnTo>
                  <a:pt x="0" y="5479777"/>
                </a:lnTo>
                <a:lnTo>
                  <a:pt x="0" y="4290599"/>
                </a:lnTo>
                <a:lnTo>
                  <a:pt x="1353372" y="505898"/>
                </a:lnTo>
                <a:lnTo>
                  <a:pt x="232200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p:nvPr>
        </p:nvSpPr>
        <p:spPr>
          <a:xfrm>
            <a:off x="1358253" y="4707229"/>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Cliquez pour modifier les styles du texte du masque</a:t>
            </a: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1358253" y="5283740"/>
            <a:ext cx="5414960" cy="365125"/>
          </a:xfrm>
          <a:prstGeom prst="rect">
            <a:avLst/>
          </a:prstGeom>
        </p:spPr>
        <p:txBody>
          <a:bodyPr/>
          <a:lstStyle>
            <a:lvl1pPr algn="l">
              <a:defRPr sz="1200">
                <a:solidFill>
                  <a:schemeClr val="tx1"/>
                </a:solidFill>
              </a:defRPr>
            </a:lvl1pPr>
          </a:lstStyle>
          <a:p>
            <a:fld id="{175B3E88-EDEE-8048-AD0F-4440EE687B4C}" type="datetime4">
              <a:rPr lang="fr-FR" smtClean="0"/>
              <a:pPr/>
              <a:t>9 janvier 2025</a:t>
            </a:fld>
            <a:endParaRPr lang="fr-FR"/>
          </a:p>
        </p:txBody>
      </p:sp>
      <p:pic>
        <p:nvPicPr>
          <p:cNvPr id="5" name="Image 4" descr="Une image contenant Graphique, Police, logo, cercle&#10;&#10;Description générée automatiquement">
            <a:extLst>
              <a:ext uri="{FF2B5EF4-FFF2-40B4-BE49-F238E27FC236}">
                <a16:creationId xmlns:a16="http://schemas.microsoft.com/office/drawing/2014/main" id="{F9B88D65-7B76-D35B-AF6F-C1BBFFE3B25C}"/>
              </a:ext>
            </a:extLst>
          </p:cNvPr>
          <p:cNvPicPr>
            <a:picLocks noChangeAspect="1"/>
          </p:cNvPicPr>
          <p:nvPr/>
        </p:nvPicPr>
        <p:blipFill>
          <a:blip r:embed="rId2"/>
          <a:stretch>
            <a:fillRect/>
          </a:stretch>
        </p:blipFill>
        <p:spPr>
          <a:xfrm>
            <a:off x="1078200" y="1051057"/>
            <a:ext cx="1911599" cy="1911599"/>
          </a:xfrm>
          <a:prstGeom prst="rect">
            <a:avLst/>
          </a:prstGeom>
        </p:spPr>
      </p:pic>
      <p:sp>
        <p:nvSpPr>
          <p:cNvPr id="4" name="Espace réservé du texte 1">
            <a:extLst>
              <a:ext uri="{FF2B5EF4-FFF2-40B4-BE49-F238E27FC236}">
                <a16:creationId xmlns:a16="http://schemas.microsoft.com/office/drawing/2014/main" id="{34D27024-14D6-D74B-9955-BA689C28152B}"/>
              </a:ext>
            </a:extLst>
          </p:cNvPr>
          <p:cNvSpPr txBox="1">
            <a:spLocks/>
          </p:cNvSpPr>
          <p:nvPr/>
        </p:nvSpPr>
        <p:spPr>
          <a:xfrm>
            <a:off x="1358252" y="6072761"/>
            <a:ext cx="5414962"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010" b="1">
                <a:solidFill>
                  <a:schemeClr val="accent1"/>
                </a:solidFill>
              </a:rPr>
              <a:t>EXPLORE AND DEVELOP UNCHARTED TERRITORIES</a:t>
            </a:r>
          </a:p>
        </p:txBody>
      </p:sp>
      <p:sp>
        <p:nvSpPr>
          <p:cNvPr id="2" name="Forme libre 2">
            <a:extLst>
              <a:ext uri="{FF2B5EF4-FFF2-40B4-BE49-F238E27FC236}">
                <a16:creationId xmlns:a16="http://schemas.microsoft.com/office/drawing/2014/main" id="{7855DF4D-DF85-4C9E-B53C-C3C00C9CFC60}"/>
              </a:ext>
            </a:extLst>
          </p:cNvPr>
          <p:cNvSpPr/>
          <p:nvPr userDrawn="1"/>
        </p:nvSpPr>
        <p:spPr>
          <a:xfrm>
            <a:off x="3" y="1378226"/>
            <a:ext cx="12191999" cy="5479777"/>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5479777">
                <a:moveTo>
                  <a:pt x="2322000" y="0"/>
                </a:moveTo>
                <a:lnTo>
                  <a:pt x="12191999" y="3767569"/>
                </a:lnTo>
                <a:lnTo>
                  <a:pt x="12191999" y="5479777"/>
                </a:lnTo>
                <a:lnTo>
                  <a:pt x="0" y="5479777"/>
                </a:lnTo>
                <a:lnTo>
                  <a:pt x="0" y="4290599"/>
                </a:lnTo>
                <a:lnTo>
                  <a:pt x="1353372" y="505898"/>
                </a:lnTo>
                <a:lnTo>
                  <a:pt x="232200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6" name="Image 5" descr="Une image contenant Graphique, Police, logo, cercle&#10;&#10;Description générée automatiquement">
            <a:extLst>
              <a:ext uri="{FF2B5EF4-FFF2-40B4-BE49-F238E27FC236}">
                <a16:creationId xmlns:a16="http://schemas.microsoft.com/office/drawing/2014/main" id="{817709A0-A610-820F-6E82-B9AC427B792F}"/>
              </a:ext>
            </a:extLst>
          </p:cNvPr>
          <p:cNvPicPr>
            <a:picLocks noChangeAspect="1"/>
          </p:cNvPicPr>
          <p:nvPr userDrawn="1"/>
        </p:nvPicPr>
        <p:blipFill>
          <a:blip r:embed="rId2"/>
          <a:stretch>
            <a:fillRect/>
          </a:stretch>
        </p:blipFill>
        <p:spPr>
          <a:xfrm>
            <a:off x="1078203" y="1051059"/>
            <a:ext cx="1911599" cy="1911599"/>
          </a:xfrm>
          <a:prstGeom prst="rect">
            <a:avLst/>
          </a:prstGeom>
        </p:spPr>
      </p:pic>
      <p:sp>
        <p:nvSpPr>
          <p:cNvPr id="7" name="Espace réservé du texte 1">
            <a:extLst>
              <a:ext uri="{FF2B5EF4-FFF2-40B4-BE49-F238E27FC236}">
                <a16:creationId xmlns:a16="http://schemas.microsoft.com/office/drawing/2014/main" id="{6C9A526D-FF17-5CDC-221D-D8CA2C6FC8CE}"/>
              </a:ext>
            </a:extLst>
          </p:cNvPr>
          <p:cNvSpPr txBox="1">
            <a:spLocks/>
          </p:cNvSpPr>
          <p:nvPr userDrawn="1"/>
        </p:nvSpPr>
        <p:spPr>
          <a:xfrm>
            <a:off x="1358253" y="6072763"/>
            <a:ext cx="5414963"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011" b="1">
                <a:solidFill>
                  <a:schemeClr val="accent1"/>
                </a:solidFill>
              </a:rPr>
              <a:t>EXPLORE AND DEVELOP UNCHARTED TERRITORIES</a:t>
            </a:r>
          </a:p>
        </p:txBody>
      </p:sp>
      <p:sp>
        <p:nvSpPr>
          <p:cNvPr id="8" name="Espace réservé du texte 5">
            <a:extLst>
              <a:ext uri="{FF2B5EF4-FFF2-40B4-BE49-F238E27FC236}">
                <a16:creationId xmlns:a16="http://schemas.microsoft.com/office/drawing/2014/main" id="{99D623B6-D3BF-97AF-F703-3A05D2BC9187}"/>
              </a:ext>
            </a:extLst>
          </p:cNvPr>
          <p:cNvSpPr>
            <a:spLocks noGrp="1"/>
          </p:cNvSpPr>
          <p:nvPr>
            <p:ph type="body" sz="quarter" idx="13" hasCustomPrompt="1"/>
          </p:nvPr>
        </p:nvSpPr>
        <p:spPr>
          <a:xfrm>
            <a:off x="5962675" y="1706825"/>
            <a:ext cx="5414962" cy="490538"/>
          </a:xfrm>
        </p:spPr>
        <p:txBody>
          <a:bodyPr>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9" name="Espace réservé du texte 8">
            <a:extLst>
              <a:ext uri="{FF2B5EF4-FFF2-40B4-BE49-F238E27FC236}">
                <a16:creationId xmlns:a16="http://schemas.microsoft.com/office/drawing/2014/main" id="{7641E1BE-A3CC-B334-D883-18D2260FB881}"/>
              </a:ext>
            </a:extLst>
          </p:cNvPr>
          <p:cNvSpPr>
            <a:spLocks noGrp="1"/>
          </p:cNvSpPr>
          <p:nvPr>
            <p:ph type="body" sz="quarter" idx="11" hasCustomPrompt="1"/>
          </p:nvPr>
        </p:nvSpPr>
        <p:spPr>
          <a:xfrm>
            <a:off x="5962675" y="793700"/>
            <a:ext cx="5414961" cy="827151"/>
          </a:xfrm>
        </p:spPr>
        <p:txBody>
          <a:bodyPr anchor="b" anchorCtr="0">
            <a:noAutofit/>
          </a:bodyPr>
          <a:lstStyle>
            <a:lvl1pPr algn="r">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0" name="Espace réservé de la date 14">
            <a:extLst>
              <a:ext uri="{FF2B5EF4-FFF2-40B4-BE49-F238E27FC236}">
                <a16:creationId xmlns:a16="http://schemas.microsoft.com/office/drawing/2014/main" id="{297AA6E8-1023-B367-C26D-019B795CFCF6}"/>
              </a:ext>
            </a:extLst>
          </p:cNvPr>
          <p:cNvSpPr txBox="1">
            <a:spLocks/>
          </p:cNvSpPr>
          <p:nvPr userDrawn="1"/>
        </p:nvSpPr>
        <p:spPr>
          <a:xfrm>
            <a:off x="5962675" y="2283336"/>
            <a:ext cx="5414960" cy="365125"/>
          </a:xfrm>
          <a:prstGeom prst="rect">
            <a:avLst/>
          </a:prstGeom>
        </p:spPr>
        <p:txBody>
          <a:bodyPr/>
          <a:lstStyle>
            <a:defPPr>
              <a:defRPr lang="fr-FR"/>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a:t>Date</a:t>
            </a:r>
          </a:p>
          <a:p>
            <a:endParaRPr lang="fr-FR"/>
          </a:p>
        </p:txBody>
      </p:sp>
    </p:spTree>
    <p:extLst>
      <p:ext uri="{BB962C8B-B14F-4D97-AF65-F5344CB8AC3E}">
        <p14:creationId xmlns:p14="http://schemas.microsoft.com/office/powerpoint/2010/main" val="667433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 9">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3D5F0B32-3014-3F89-4476-22EECA9E35DF}"/>
              </a:ext>
            </a:extLst>
          </p:cNvPr>
          <p:cNvSpPr/>
          <p:nvPr/>
        </p:nvSpPr>
        <p:spPr>
          <a:xfrm>
            <a:off x="1350249" y="0"/>
            <a:ext cx="10841751" cy="4105383"/>
          </a:xfrm>
          <a:custGeom>
            <a:avLst/>
            <a:gdLst>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683751 w 10841751"/>
              <a:gd name="connsiteY6" fmla="*/ 2736000 h 4105383"/>
              <a:gd name="connsiteX7" fmla="*/ 4830 w 10841751"/>
              <a:gd name="connsiteY7" fmla="*/ 3289336 h 4105383"/>
              <a:gd name="connsiteX8" fmla="*/ 0 w 10841751"/>
              <a:gd name="connsiteY8" fmla="*/ 3337246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4830 w 10841751"/>
              <a:gd name="connsiteY6" fmla="*/ 3289336 h 4105383"/>
              <a:gd name="connsiteX7" fmla="*/ 0 w 10841751"/>
              <a:gd name="connsiteY7" fmla="*/ 3337246 h 4105383"/>
              <a:gd name="connsiteX8" fmla="*/ 205083 w 10841751"/>
              <a:gd name="connsiteY8"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4830 w 10841751"/>
              <a:gd name="connsiteY5" fmla="*/ 3289336 h 4105383"/>
              <a:gd name="connsiteX6" fmla="*/ 0 w 10841751"/>
              <a:gd name="connsiteY6" fmla="*/ 3337246 h 4105383"/>
              <a:gd name="connsiteX7" fmla="*/ 205083 w 10841751"/>
              <a:gd name="connsiteY7"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0 w 10841751"/>
              <a:gd name="connsiteY5" fmla="*/ 3337246 h 4105383"/>
              <a:gd name="connsiteX6" fmla="*/ 205083 w 10841751"/>
              <a:gd name="connsiteY6"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0 w 10841751"/>
              <a:gd name="connsiteY4" fmla="*/ 3337246 h 4105383"/>
              <a:gd name="connsiteX5" fmla="*/ 205083 w 10841751"/>
              <a:gd name="connsiteY5" fmla="*/ 0 h 41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1751" h="4105383">
                <a:moveTo>
                  <a:pt x="205083" y="0"/>
                </a:moveTo>
                <a:lnTo>
                  <a:pt x="10841751" y="0"/>
                </a:lnTo>
                <a:lnTo>
                  <a:pt x="10841751" y="2147111"/>
                </a:lnTo>
                <a:lnTo>
                  <a:pt x="831593" y="4105383"/>
                </a:lnTo>
                <a:lnTo>
                  <a:pt x="0" y="3337246"/>
                </a:lnTo>
                <a:lnTo>
                  <a:pt x="20508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5962675" y="4776802"/>
            <a:ext cx="5414962" cy="490538"/>
          </a:xfrm>
        </p:spPr>
        <p:txBody>
          <a:bodyPr>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5962675" y="2769945"/>
            <a:ext cx="5414961" cy="1920884"/>
          </a:xfrm>
        </p:spPr>
        <p:txBody>
          <a:bodyPr anchor="b" anchorCtr="0">
            <a:noAutofit/>
          </a:bodyPr>
          <a:lstStyle>
            <a:lvl1pPr algn="r">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962675" y="5353313"/>
            <a:ext cx="5414960" cy="365125"/>
          </a:xfrm>
          <a:prstGeom prst="rect">
            <a:avLst/>
          </a:prstGeom>
        </p:spPr>
        <p:txBody>
          <a:bodyPr/>
          <a:lstStyle>
            <a:lvl1pPr algn="r">
              <a:defRPr sz="1200">
                <a:solidFill>
                  <a:schemeClr val="tx1"/>
                </a:solidFill>
              </a:defRPr>
            </a:lvl1pPr>
          </a:lstStyle>
          <a:p>
            <a:r>
              <a:rPr lang="fr-FR"/>
              <a:t>Date</a:t>
            </a:r>
          </a:p>
          <a:p>
            <a:endParaRPr lang="fr-FR"/>
          </a:p>
        </p:txBody>
      </p:sp>
      <p:pic>
        <p:nvPicPr>
          <p:cNvPr id="5" name="Image 4" descr="Une image contenant Graphique, Police, logo, cercle&#10;&#10;Description générée automatiquement">
            <a:extLst>
              <a:ext uri="{FF2B5EF4-FFF2-40B4-BE49-F238E27FC236}">
                <a16:creationId xmlns:a16="http://schemas.microsoft.com/office/drawing/2014/main" id="{F6C28004-028D-CAA5-F94F-3F83D696E7E1}"/>
              </a:ext>
            </a:extLst>
          </p:cNvPr>
          <p:cNvPicPr>
            <a:picLocks noChangeAspect="1"/>
          </p:cNvPicPr>
          <p:nvPr/>
        </p:nvPicPr>
        <p:blipFill>
          <a:blip r:embed="rId2"/>
          <a:stretch>
            <a:fillRect/>
          </a:stretch>
        </p:blipFill>
        <p:spPr>
          <a:xfrm>
            <a:off x="1078199" y="2470305"/>
            <a:ext cx="1915200" cy="1915200"/>
          </a:xfrm>
          <a:prstGeom prst="rect">
            <a:avLst/>
          </a:prstGeom>
        </p:spPr>
      </p:pic>
      <p:sp>
        <p:nvSpPr>
          <p:cNvPr id="4" name="Espace réservé du texte 1">
            <a:extLst>
              <a:ext uri="{FF2B5EF4-FFF2-40B4-BE49-F238E27FC236}">
                <a16:creationId xmlns:a16="http://schemas.microsoft.com/office/drawing/2014/main" id="{E1C7D2BE-DFB9-7C31-9D5D-732D55AF6FE2}"/>
              </a:ext>
            </a:extLst>
          </p:cNvPr>
          <p:cNvSpPr txBox="1">
            <a:spLocks/>
          </p:cNvSpPr>
          <p:nvPr/>
        </p:nvSpPr>
        <p:spPr>
          <a:xfrm>
            <a:off x="5962675" y="6072761"/>
            <a:ext cx="5414962"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0" b="1">
                <a:solidFill>
                  <a:schemeClr val="accent1"/>
                </a:solidFill>
              </a:rPr>
              <a:t>EXPLORE AND DEVELOP UNCHARTED TERRITORIES</a:t>
            </a:r>
          </a:p>
        </p:txBody>
      </p:sp>
      <p:sp>
        <p:nvSpPr>
          <p:cNvPr id="2" name="Forme libre 2">
            <a:extLst>
              <a:ext uri="{FF2B5EF4-FFF2-40B4-BE49-F238E27FC236}">
                <a16:creationId xmlns:a16="http://schemas.microsoft.com/office/drawing/2014/main" id="{7D3CDD58-D796-2A64-36FD-8F9C39CBA3D5}"/>
              </a:ext>
            </a:extLst>
          </p:cNvPr>
          <p:cNvSpPr/>
          <p:nvPr userDrawn="1"/>
        </p:nvSpPr>
        <p:spPr>
          <a:xfrm>
            <a:off x="1350251" y="3"/>
            <a:ext cx="10841751" cy="4105383"/>
          </a:xfrm>
          <a:custGeom>
            <a:avLst/>
            <a:gdLst>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683751 w 10841751"/>
              <a:gd name="connsiteY6" fmla="*/ 2736000 h 4105383"/>
              <a:gd name="connsiteX7" fmla="*/ 4830 w 10841751"/>
              <a:gd name="connsiteY7" fmla="*/ 3289336 h 4105383"/>
              <a:gd name="connsiteX8" fmla="*/ 0 w 10841751"/>
              <a:gd name="connsiteY8" fmla="*/ 3337246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4830 w 10841751"/>
              <a:gd name="connsiteY6" fmla="*/ 3289336 h 4105383"/>
              <a:gd name="connsiteX7" fmla="*/ 0 w 10841751"/>
              <a:gd name="connsiteY7" fmla="*/ 3337246 h 4105383"/>
              <a:gd name="connsiteX8" fmla="*/ 205083 w 10841751"/>
              <a:gd name="connsiteY8"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4830 w 10841751"/>
              <a:gd name="connsiteY5" fmla="*/ 3289336 h 4105383"/>
              <a:gd name="connsiteX6" fmla="*/ 0 w 10841751"/>
              <a:gd name="connsiteY6" fmla="*/ 3337246 h 4105383"/>
              <a:gd name="connsiteX7" fmla="*/ 205083 w 10841751"/>
              <a:gd name="connsiteY7"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0 w 10841751"/>
              <a:gd name="connsiteY5" fmla="*/ 3337246 h 4105383"/>
              <a:gd name="connsiteX6" fmla="*/ 205083 w 10841751"/>
              <a:gd name="connsiteY6"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0 w 10841751"/>
              <a:gd name="connsiteY4" fmla="*/ 3337246 h 4105383"/>
              <a:gd name="connsiteX5" fmla="*/ 205083 w 10841751"/>
              <a:gd name="connsiteY5" fmla="*/ 0 h 41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1751" h="4105383">
                <a:moveTo>
                  <a:pt x="205083" y="0"/>
                </a:moveTo>
                <a:lnTo>
                  <a:pt x="10841751" y="0"/>
                </a:lnTo>
                <a:lnTo>
                  <a:pt x="10841751" y="2147111"/>
                </a:lnTo>
                <a:lnTo>
                  <a:pt x="831593" y="4105383"/>
                </a:lnTo>
                <a:lnTo>
                  <a:pt x="0" y="3337246"/>
                </a:lnTo>
                <a:lnTo>
                  <a:pt x="20508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6" name="Image 5" descr="Une image contenant Graphique, Police, logo, cercle&#10;&#10;Description générée automatiquement">
            <a:extLst>
              <a:ext uri="{FF2B5EF4-FFF2-40B4-BE49-F238E27FC236}">
                <a16:creationId xmlns:a16="http://schemas.microsoft.com/office/drawing/2014/main" id="{5BD863C4-8948-540E-7FA0-2308C993210D}"/>
              </a:ext>
            </a:extLst>
          </p:cNvPr>
          <p:cNvPicPr>
            <a:picLocks noChangeAspect="1"/>
          </p:cNvPicPr>
          <p:nvPr userDrawn="1"/>
        </p:nvPicPr>
        <p:blipFill>
          <a:blip r:embed="rId2"/>
          <a:stretch>
            <a:fillRect/>
          </a:stretch>
        </p:blipFill>
        <p:spPr>
          <a:xfrm>
            <a:off x="1078199" y="2470305"/>
            <a:ext cx="1915200" cy="1915200"/>
          </a:xfrm>
          <a:prstGeom prst="rect">
            <a:avLst/>
          </a:prstGeom>
        </p:spPr>
      </p:pic>
      <p:sp>
        <p:nvSpPr>
          <p:cNvPr id="7" name="Espace réservé du texte 1">
            <a:extLst>
              <a:ext uri="{FF2B5EF4-FFF2-40B4-BE49-F238E27FC236}">
                <a16:creationId xmlns:a16="http://schemas.microsoft.com/office/drawing/2014/main" id="{372F2B52-DAC8-3212-8D25-7C90E59C1D4E}"/>
              </a:ext>
            </a:extLst>
          </p:cNvPr>
          <p:cNvSpPr txBox="1">
            <a:spLocks/>
          </p:cNvSpPr>
          <p:nvPr userDrawn="1"/>
        </p:nvSpPr>
        <p:spPr>
          <a:xfrm>
            <a:off x="5962676" y="6072763"/>
            <a:ext cx="5414963"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1" b="1">
                <a:solidFill>
                  <a:schemeClr val="accent1"/>
                </a:solidFill>
              </a:rPr>
              <a:t>EXPLORE AND DEVELOP UNCHARTED TERRITORIES</a:t>
            </a:r>
          </a:p>
        </p:txBody>
      </p:sp>
      <p:sp>
        <p:nvSpPr>
          <p:cNvPr id="8" name="Rectangle 7">
            <a:extLst>
              <a:ext uri="{FF2B5EF4-FFF2-40B4-BE49-F238E27FC236}">
                <a16:creationId xmlns:a16="http://schemas.microsoft.com/office/drawing/2014/main" id="{BF4C1049-880D-A40B-0EB9-BC7515EEA597}"/>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D96309CE-EBEB-E8E3-9052-783070D01010}"/>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9691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ver 10">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41B0C891-256F-42C6-8821-EB00538CA323}"/>
              </a:ext>
            </a:extLst>
          </p:cNvPr>
          <p:cNvSpPr/>
          <p:nvPr/>
        </p:nvSpPr>
        <p:spPr>
          <a:xfrm>
            <a:off x="434162" y="2009"/>
            <a:ext cx="11323675" cy="5265378"/>
          </a:xfrm>
          <a:custGeom>
            <a:avLst/>
            <a:gdLst>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5661836 w 11323675"/>
              <a:gd name="connsiteY5" fmla="*/ 4081794 h 5287603"/>
              <a:gd name="connsiteX6" fmla="*/ 4968836 w 11323675"/>
              <a:gd name="connsiteY6" fmla="*/ 4774794 h 5287603"/>
              <a:gd name="connsiteX7" fmla="*/ 5171811 w 11323675"/>
              <a:gd name="connsiteY7" fmla="*/ 5264819 h 5287603"/>
              <a:gd name="connsiteX8" fmla="*/ 5193264 w 11323675"/>
              <a:gd name="connsiteY8" fmla="*/ 5282519 h 5287603"/>
              <a:gd name="connsiteX9" fmla="*/ 5193264 w 11323675"/>
              <a:gd name="connsiteY9" fmla="*/ 5287603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4968836 w 11323675"/>
              <a:gd name="connsiteY5" fmla="*/ 4774794 h 5287603"/>
              <a:gd name="connsiteX6" fmla="*/ 5171811 w 11323675"/>
              <a:gd name="connsiteY6" fmla="*/ 5264819 h 5287603"/>
              <a:gd name="connsiteX7" fmla="*/ 5193264 w 11323675"/>
              <a:gd name="connsiteY7" fmla="*/ 5282519 h 5287603"/>
              <a:gd name="connsiteX8" fmla="*/ 5193264 w 11323675"/>
              <a:gd name="connsiteY8" fmla="*/ 5287603 h 5287603"/>
              <a:gd name="connsiteX9" fmla="*/ 0 w 11323675"/>
              <a:gd name="connsiteY9"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4968836 w 11323675"/>
              <a:gd name="connsiteY4" fmla="*/ 4774794 h 5287603"/>
              <a:gd name="connsiteX5" fmla="*/ 5171811 w 11323675"/>
              <a:gd name="connsiteY5" fmla="*/ 5264819 h 5287603"/>
              <a:gd name="connsiteX6" fmla="*/ 5193264 w 11323675"/>
              <a:gd name="connsiteY6" fmla="*/ 5282519 h 5287603"/>
              <a:gd name="connsiteX7" fmla="*/ 5193264 w 11323675"/>
              <a:gd name="connsiteY7" fmla="*/ 5287603 h 5287603"/>
              <a:gd name="connsiteX8" fmla="*/ 0 w 11323675"/>
              <a:gd name="connsiteY8"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4968836 w 11323675"/>
              <a:gd name="connsiteY3" fmla="*/ 4774794 h 5287603"/>
              <a:gd name="connsiteX4" fmla="*/ 5171811 w 11323675"/>
              <a:gd name="connsiteY4" fmla="*/ 5264819 h 5287603"/>
              <a:gd name="connsiteX5" fmla="*/ 5193264 w 11323675"/>
              <a:gd name="connsiteY5" fmla="*/ 5282519 h 5287603"/>
              <a:gd name="connsiteX6" fmla="*/ 5193264 w 11323675"/>
              <a:gd name="connsiteY6" fmla="*/ 5287603 h 5287603"/>
              <a:gd name="connsiteX7" fmla="*/ 0 w 11323675"/>
              <a:gd name="connsiteY7"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71811 w 11323675"/>
              <a:gd name="connsiteY3" fmla="*/ 5264819 h 5287603"/>
              <a:gd name="connsiteX4" fmla="*/ 5193264 w 11323675"/>
              <a:gd name="connsiteY4" fmla="*/ 5282519 h 5287603"/>
              <a:gd name="connsiteX5" fmla="*/ 5193264 w 11323675"/>
              <a:gd name="connsiteY5" fmla="*/ 5287603 h 5287603"/>
              <a:gd name="connsiteX6" fmla="*/ 0 w 11323675"/>
              <a:gd name="connsiteY6"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93264 w 11323675"/>
              <a:gd name="connsiteY3" fmla="*/ 5282519 h 5287603"/>
              <a:gd name="connsiteX4" fmla="*/ 5193264 w 11323675"/>
              <a:gd name="connsiteY4" fmla="*/ 5287603 h 5287603"/>
              <a:gd name="connsiteX5" fmla="*/ 0 w 11323675"/>
              <a:gd name="connsiteY5" fmla="*/ 0 h 5287603"/>
              <a:gd name="connsiteX0" fmla="*/ 0 w 11323675"/>
              <a:gd name="connsiteY0" fmla="*/ 0 h 5297128"/>
              <a:gd name="connsiteX1" fmla="*/ 11323675 w 11323675"/>
              <a:gd name="connsiteY1" fmla="*/ 0 h 5297128"/>
              <a:gd name="connsiteX2" fmla="*/ 6159392 w 11323675"/>
              <a:gd name="connsiteY2" fmla="*/ 5255691 h 5297128"/>
              <a:gd name="connsiteX3" fmla="*/ 5193264 w 11323675"/>
              <a:gd name="connsiteY3" fmla="*/ 5282519 h 5297128"/>
              <a:gd name="connsiteX4" fmla="*/ 5132939 w 11323675"/>
              <a:gd name="connsiteY4" fmla="*/ 5297128 h 5297128"/>
              <a:gd name="connsiteX5" fmla="*/ 0 w 11323675"/>
              <a:gd name="connsiteY5" fmla="*/ 0 h 5297128"/>
              <a:gd name="connsiteX0" fmla="*/ 0 w 11323675"/>
              <a:gd name="connsiteY0" fmla="*/ 0 h 5297128"/>
              <a:gd name="connsiteX1" fmla="*/ 11323675 w 11323675"/>
              <a:gd name="connsiteY1" fmla="*/ 0 h 5297128"/>
              <a:gd name="connsiteX2" fmla="*/ 6159392 w 11323675"/>
              <a:gd name="connsiteY2" fmla="*/ 5255691 h 5297128"/>
              <a:gd name="connsiteX3" fmla="*/ 5132939 w 11323675"/>
              <a:gd name="connsiteY3" fmla="*/ 5297128 h 5297128"/>
              <a:gd name="connsiteX4" fmla="*/ 0 w 11323675"/>
              <a:gd name="connsiteY4" fmla="*/ 0 h 5297128"/>
              <a:gd name="connsiteX0" fmla="*/ 0 w 11323675"/>
              <a:gd name="connsiteY0" fmla="*/ 0 h 5300303"/>
              <a:gd name="connsiteX1" fmla="*/ 11323675 w 11323675"/>
              <a:gd name="connsiteY1" fmla="*/ 0 h 5300303"/>
              <a:gd name="connsiteX2" fmla="*/ 6159392 w 11323675"/>
              <a:gd name="connsiteY2" fmla="*/ 5255691 h 5300303"/>
              <a:gd name="connsiteX3" fmla="*/ 5167864 w 11323675"/>
              <a:gd name="connsiteY3" fmla="*/ 5300303 h 5300303"/>
              <a:gd name="connsiteX4" fmla="*/ 0 w 11323675"/>
              <a:gd name="connsiteY4" fmla="*/ 0 h 53003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65378"/>
              <a:gd name="connsiteX1" fmla="*/ 11323675 w 11323675"/>
              <a:gd name="connsiteY1" fmla="*/ 0 h 5265378"/>
              <a:gd name="connsiteX2" fmla="*/ 6159392 w 11323675"/>
              <a:gd name="connsiteY2" fmla="*/ 5255691 h 5265378"/>
              <a:gd name="connsiteX3" fmla="*/ 5174214 w 11323675"/>
              <a:gd name="connsiteY3" fmla="*/ 5265378 h 5265378"/>
              <a:gd name="connsiteX4" fmla="*/ 0 w 11323675"/>
              <a:gd name="connsiteY4" fmla="*/ 0 h 526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675" h="5265378">
                <a:moveTo>
                  <a:pt x="0" y="0"/>
                </a:moveTo>
                <a:lnTo>
                  <a:pt x="11323675" y="0"/>
                </a:lnTo>
                <a:lnTo>
                  <a:pt x="6159392" y="5255691"/>
                </a:lnTo>
                <a:lnTo>
                  <a:pt x="5174214" y="5265378"/>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7484161" y="3835165"/>
            <a:ext cx="3893475" cy="1183538"/>
          </a:xfrm>
        </p:spPr>
        <p:txBody>
          <a:bodyPr anchor="b" anchorCtr="0">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1279910" y="2769944"/>
            <a:ext cx="3427928" cy="2699857"/>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7484159" y="5104676"/>
            <a:ext cx="3893475" cy="365125"/>
          </a:xfrm>
          <a:prstGeom prst="rect">
            <a:avLst/>
          </a:prstGeom>
        </p:spPr>
        <p:txBody>
          <a:bodyPr/>
          <a:lstStyle>
            <a:lvl1pPr algn="r">
              <a:defRPr sz="1200">
                <a:solidFill>
                  <a:schemeClr val="tx1"/>
                </a:solidFill>
              </a:defRPr>
            </a:lvl1pPr>
          </a:lstStyle>
          <a:p>
            <a:r>
              <a:rPr lang="fr-FR"/>
              <a:t>Date</a:t>
            </a:r>
          </a:p>
          <a:p>
            <a:endParaRPr lang="fr-FR"/>
          </a:p>
        </p:txBody>
      </p:sp>
      <p:pic>
        <p:nvPicPr>
          <p:cNvPr id="7" name="Image 6" descr="Une image contenant Graphique, Police, logo, cercle&#10;&#10;Description générée automatiquement">
            <a:extLst>
              <a:ext uri="{FF2B5EF4-FFF2-40B4-BE49-F238E27FC236}">
                <a16:creationId xmlns:a16="http://schemas.microsoft.com/office/drawing/2014/main" id="{E2ECE821-B0A4-BA1A-3A2F-F4A5BB32AB27}"/>
              </a:ext>
            </a:extLst>
          </p:cNvPr>
          <p:cNvPicPr>
            <a:picLocks noChangeAspect="1"/>
          </p:cNvPicPr>
          <p:nvPr/>
        </p:nvPicPr>
        <p:blipFill>
          <a:blip r:embed="rId2"/>
          <a:stretch>
            <a:fillRect/>
          </a:stretch>
        </p:blipFill>
        <p:spPr>
          <a:xfrm>
            <a:off x="5140800" y="3819600"/>
            <a:ext cx="1911599" cy="1911599"/>
          </a:xfrm>
          <a:prstGeom prst="rect">
            <a:avLst/>
          </a:prstGeom>
        </p:spPr>
      </p:pic>
      <p:sp>
        <p:nvSpPr>
          <p:cNvPr id="2" name="Forme libre 2">
            <a:extLst>
              <a:ext uri="{FF2B5EF4-FFF2-40B4-BE49-F238E27FC236}">
                <a16:creationId xmlns:a16="http://schemas.microsoft.com/office/drawing/2014/main" id="{BD04D599-4BDD-1278-6735-40A9BFE54F8B}"/>
              </a:ext>
            </a:extLst>
          </p:cNvPr>
          <p:cNvSpPr/>
          <p:nvPr userDrawn="1"/>
        </p:nvSpPr>
        <p:spPr>
          <a:xfrm>
            <a:off x="434164" y="2009"/>
            <a:ext cx="11323675" cy="5265379"/>
          </a:xfrm>
          <a:custGeom>
            <a:avLst/>
            <a:gdLst>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5661836 w 11323675"/>
              <a:gd name="connsiteY5" fmla="*/ 4081794 h 5287603"/>
              <a:gd name="connsiteX6" fmla="*/ 4968836 w 11323675"/>
              <a:gd name="connsiteY6" fmla="*/ 4774794 h 5287603"/>
              <a:gd name="connsiteX7" fmla="*/ 5171811 w 11323675"/>
              <a:gd name="connsiteY7" fmla="*/ 5264819 h 5287603"/>
              <a:gd name="connsiteX8" fmla="*/ 5193264 w 11323675"/>
              <a:gd name="connsiteY8" fmla="*/ 5282519 h 5287603"/>
              <a:gd name="connsiteX9" fmla="*/ 5193264 w 11323675"/>
              <a:gd name="connsiteY9" fmla="*/ 5287603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4968836 w 11323675"/>
              <a:gd name="connsiteY5" fmla="*/ 4774794 h 5287603"/>
              <a:gd name="connsiteX6" fmla="*/ 5171811 w 11323675"/>
              <a:gd name="connsiteY6" fmla="*/ 5264819 h 5287603"/>
              <a:gd name="connsiteX7" fmla="*/ 5193264 w 11323675"/>
              <a:gd name="connsiteY7" fmla="*/ 5282519 h 5287603"/>
              <a:gd name="connsiteX8" fmla="*/ 5193264 w 11323675"/>
              <a:gd name="connsiteY8" fmla="*/ 5287603 h 5287603"/>
              <a:gd name="connsiteX9" fmla="*/ 0 w 11323675"/>
              <a:gd name="connsiteY9"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4968836 w 11323675"/>
              <a:gd name="connsiteY4" fmla="*/ 4774794 h 5287603"/>
              <a:gd name="connsiteX5" fmla="*/ 5171811 w 11323675"/>
              <a:gd name="connsiteY5" fmla="*/ 5264819 h 5287603"/>
              <a:gd name="connsiteX6" fmla="*/ 5193264 w 11323675"/>
              <a:gd name="connsiteY6" fmla="*/ 5282519 h 5287603"/>
              <a:gd name="connsiteX7" fmla="*/ 5193264 w 11323675"/>
              <a:gd name="connsiteY7" fmla="*/ 5287603 h 5287603"/>
              <a:gd name="connsiteX8" fmla="*/ 0 w 11323675"/>
              <a:gd name="connsiteY8"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4968836 w 11323675"/>
              <a:gd name="connsiteY3" fmla="*/ 4774794 h 5287603"/>
              <a:gd name="connsiteX4" fmla="*/ 5171811 w 11323675"/>
              <a:gd name="connsiteY4" fmla="*/ 5264819 h 5287603"/>
              <a:gd name="connsiteX5" fmla="*/ 5193264 w 11323675"/>
              <a:gd name="connsiteY5" fmla="*/ 5282519 h 5287603"/>
              <a:gd name="connsiteX6" fmla="*/ 5193264 w 11323675"/>
              <a:gd name="connsiteY6" fmla="*/ 5287603 h 5287603"/>
              <a:gd name="connsiteX7" fmla="*/ 0 w 11323675"/>
              <a:gd name="connsiteY7"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71811 w 11323675"/>
              <a:gd name="connsiteY3" fmla="*/ 5264819 h 5287603"/>
              <a:gd name="connsiteX4" fmla="*/ 5193264 w 11323675"/>
              <a:gd name="connsiteY4" fmla="*/ 5282519 h 5287603"/>
              <a:gd name="connsiteX5" fmla="*/ 5193264 w 11323675"/>
              <a:gd name="connsiteY5" fmla="*/ 5287603 h 5287603"/>
              <a:gd name="connsiteX6" fmla="*/ 0 w 11323675"/>
              <a:gd name="connsiteY6"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93264 w 11323675"/>
              <a:gd name="connsiteY3" fmla="*/ 5282519 h 5287603"/>
              <a:gd name="connsiteX4" fmla="*/ 5193264 w 11323675"/>
              <a:gd name="connsiteY4" fmla="*/ 5287603 h 5287603"/>
              <a:gd name="connsiteX5" fmla="*/ 0 w 11323675"/>
              <a:gd name="connsiteY5" fmla="*/ 0 h 5287603"/>
              <a:gd name="connsiteX0" fmla="*/ 0 w 11323675"/>
              <a:gd name="connsiteY0" fmla="*/ 0 h 5297128"/>
              <a:gd name="connsiteX1" fmla="*/ 11323675 w 11323675"/>
              <a:gd name="connsiteY1" fmla="*/ 0 h 5297128"/>
              <a:gd name="connsiteX2" fmla="*/ 6159392 w 11323675"/>
              <a:gd name="connsiteY2" fmla="*/ 5255691 h 5297128"/>
              <a:gd name="connsiteX3" fmla="*/ 5193264 w 11323675"/>
              <a:gd name="connsiteY3" fmla="*/ 5282519 h 5297128"/>
              <a:gd name="connsiteX4" fmla="*/ 5132939 w 11323675"/>
              <a:gd name="connsiteY4" fmla="*/ 5297128 h 5297128"/>
              <a:gd name="connsiteX5" fmla="*/ 0 w 11323675"/>
              <a:gd name="connsiteY5" fmla="*/ 0 h 5297128"/>
              <a:gd name="connsiteX0" fmla="*/ 0 w 11323675"/>
              <a:gd name="connsiteY0" fmla="*/ 0 h 5297128"/>
              <a:gd name="connsiteX1" fmla="*/ 11323675 w 11323675"/>
              <a:gd name="connsiteY1" fmla="*/ 0 h 5297128"/>
              <a:gd name="connsiteX2" fmla="*/ 6159392 w 11323675"/>
              <a:gd name="connsiteY2" fmla="*/ 5255691 h 5297128"/>
              <a:gd name="connsiteX3" fmla="*/ 5132939 w 11323675"/>
              <a:gd name="connsiteY3" fmla="*/ 5297128 h 5297128"/>
              <a:gd name="connsiteX4" fmla="*/ 0 w 11323675"/>
              <a:gd name="connsiteY4" fmla="*/ 0 h 5297128"/>
              <a:gd name="connsiteX0" fmla="*/ 0 w 11323675"/>
              <a:gd name="connsiteY0" fmla="*/ 0 h 5300303"/>
              <a:gd name="connsiteX1" fmla="*/ 11323675 w 11323675"/>
              <a:gd name="connsiteY1" fmla="*/ 0 h 5300303"/>
              <a:gd name="connsiteX2" fmla="*/ 6159392 w 11323675"/>
              <a:gd name="connsiteY2" fmla="*/ 5255691 h 5300303"/>
              <a:gd name="connsiteX3" fmla="*/ 5167864 w 11323675"/>
              <a:gd name="connsiteY3" fmla="*/ 5300303 h 5300303"/>
              <a:gd name="connsiteX4" fmla="*/ 0 w 11323675"/>
              <a:gd name="connsiteY4" fmla="*/ 0 h 53003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65378"/>
              <a:gd name="connsiteX1" fmla="*/ 11323675 w 11323675"/>
              <a:gd name="connsiteY1" fmla="*/ 0 h 5265378"/>
              <a:gd name="connsiteX2" fmla="*/ 6159392 w 11323675"/>
              <a:gd name="connsiteY2" fmla="*/ 5255691 h 5265378"/>
              <a:gd name="connsiteX3" fmla="*/ 5174214 w 11323675"/>
              <a:gd name="connsiteY3" fmla="*/ 5265378 h 5265378"/>
              <a:gd name="connsiteX4" fmla="*/ 0 w 11323675"/>
              <a:gd name="connsiteY4" fmla="*/ 0 h 526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675" h="5265378">
                <a:moveTo>
                  <a:pt x="0" y="0"/>
                </a:moveTo>
                <a:lnTo>
                  <a:pt x="11323675" y="0"/>
                </a:lnTo>
                <a:lnTo>
                  <a:pt x="6159392" y="5255691"/>
                </a:lnTo>
                <a:lnTo>
                  <a:pt x="5174214" y="5265378"/>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4" name="Image 3" descr="Une image contenant Graphique, Police, logo, cercle&#10;&#10;Description générée automatiquement">
            <a:extLst>
              <a:ext uri="{FF2B5EF4-FFF2-40B4-BE49-F238E27FC236}">
                <a16:creationId xmlns:a16="http://schemas.microsoft.com/office/drawing/2014/main" id="{8A2C2979-4F3A-6CCA-EA98-CA9EC03AD690}"/>
              </a:ext>
            </a:extLst>
          </p:cNvPr>
          <p:cNvPicPr>
            <a:picLocks noChangeAspect="1"/>
          </p:cNvPicPr>
          <p:nvPr userDrawn="1"/>
        </p:nvPicPr>
        <p:blipFill>
          <a:blip r:embed="rId2"/>
          <a:stretch>
            <a:fillRect/>
          </a:stretch>
        </p:blipFill>
        <p:spPr>
          <a:xfrm>
            <a:off x="5140803" y="3819603"/>
            <a:ext cx="1911599" cy="1911599"/>
          </a:xfrm>
          <a:prstGeom prst="rect">
            <a:avLst/>
          </a:prstGeom>
        </p:spPr>
      </p:pic>
      <p:sp>
        <p:nvSpPr>
          <p:cNvPr id="5" name="Rectangle 4">
            <a:extLst>
              <a:ext uri="{FF2B5EF4-FFF2-40B4-BE49-F238E27FC236}">
                <a16:creationId xmlns:a16="http://schemas.microsoft.com/office/drawing/2014/main" id="{193F6D1A-26E2-C305-E623-CEA9EF451A10}"/>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2603A0D7-DA60-6A01-43F5-39DDB22E2A72}"/>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3615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ver 11">
    <p:bg>
      <p:bgPr>
        <a:solidFill>
          <a:schemeClr val="bg1"/>
        </a:solidFill>
        <a:effectLst/>
      </p:bgPr>
    </p:bg>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AF79EBF8-BA70-8FA2-63AA-A990D493027C}"/>
              </a:ext>
            </a:extLst>
          </p:cNvPr>
          <p:cNvSpPr/>
          <p:nvPr/>
        </p:nvSpPr>
        <p:spPr>
          <a:xfrm>
            <a:off x="5621011" y="240801"/>
            <a:ext cx="6570988" cy="6617198"/>
          </a:xfrm>
          <a:custGeom>
            <a:avLst/>
            <a:gdLst>
              <a:gd name="connsiteX0" fmla="*/ 4536000 w 6570988"/>
              <a:gd name="connsiteY0" fmla="*/ 3852000 h 6617198"/>
              <a:gd name="connsiteX1" fmla="*/ 3852000 w 6570988"/>
              <a:gd name="connsiteY1" fmla="*/ 4536000 h 6617198"/>
              <a:gd name="connsiteX2" fmla="*/ 4536000 w 6570988"/>
              <a:gd name="connsiteY2" fmla="*/ 5220000 h 6617198"/>
              <a:gd name="connsiteX3" fmla="*/ 5220000 w 6570988"/>
              <a:gd name="connsiteY3" fmla="*/ 4536000 h 6617198"/>
              <a:gd name="connsiteX4" fmla="*/ 4536000 w 6570988"/>
              <a:gd name="connsiteY4" fmla="*/ 3852000 h 6617198"/>
              <a:gd name="connsiteX5" fmla="*/ 4536000 w 6570988"/>
              <a:gd name="connsiteY5" fmla="*/ 0 h 6617198"/>
              <a:gd name="connsiteX6" fmla="*/ 6502544 w 6570988"/>
              <a:gd name="connsiteY6" fmla="*/ 447299 h 6617198"/>
              <a:gd name="connsiteX7" fmla="*/ 6570988 w 6570988"/>
              <a:gd name="connsiteY7" fmla="*/ 482354 h 6617198"/>
              <a:gd name="connsiteX8" fmla="*/ 6570988 w 6570988"/>
              <a:gd name="connsiteY8" fmla="*/ 6617198 h 6617198"/>
              <a:gd name="connsiteX9" fmla="*/ 506022 w 6570988"/>
              <a:gd name="connsiteY9" fmla="*/ 6617198 h 6617198"/>
              <a:gd name="connsiteX10" fmla="*/ 447299 w 6570988"/>
              <a:gd name="connsiteY10" fmla="*/ 6502544 h 6617198"/>
              <a:gd name="connsiteX11" fmla="*/ 0 w 6570988"/>
              <a:gd name="connsiteY11" fmla="*/ 4536000 h 6617198"/>
              <a:gd name="connsiteX12" fmla="*/ 4536000 w 6570988"/>
              <a:gd name="connsiteY12" fmla="*/ 0 h 66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70988" h="6617198">
                <a:moveTo>
                  <a:pt x="4536000" y="3852000"/>
                </a:moveTo>
                <a:cubicBezTo>
                  <a:pt x="4158237" y="3852000"/>
                  <a:pt x="3852000" y="4158237"/>
                  <a:pt x="3852000" y="4536000"/>
                </a:cubicBezTo>
                <a:cubicBezTo>
                  <a:pt x="3852000" y="4913763"/>
                  <a:pt x="4158237" y="5220000"/>
                  <a:pt x="4536000" y="5220000"/>
                </a:cubicBezTo>
                <a:cubicBezTo>
                  <a:pt x="4913763" y="5220000"/>
                  <a:pt x="5220000" y="4913763"/>
                  <a:pt x="5220000" y="4536000"/>
                </a:cubicBezTo>
                <a:cubicBezTo>
                  <a:pt x="5220000" y="4158237"/>
                  <a:pt x="4913763" y="3852000"/>
                  <a:pt x="4536000" y="3852000"/>
                </a:cubicBezTo>
                <a:close/>
                <a:moveTo>
                  <a:pt x="4536000" y="0"/>
                </a:moveTo>
                <a:cubicBezTo>
                  <a:pt x="5240577" y="0"/>
                  <a:pt x="5907635" y="160642"/>
                  <a:pt x="6502544" y="447299"/>
                </a:cubicBezTo>
                <a:lnTo>
                  <a:pt x="6570988" y="482354"/>
                </a:lnTo>
                <a:lnTo>
                  <a:pt x="6570988" y="6617198"/>
                </a:lnTo>
                <a:lnTo>
                  <a:pt x="506022" y="6617198"/>
                </a:lnTo>
                <a:lnTo>
                  <a:pt x="447299" y="6502544"/>
                </a:lnTo>
                <a:cubicBezTo>
                  <a:pt x="160643" y="5907635"/>
                  <a:pt x="0" y="5240578"/>
                  <a:pt x="0" y="4536000"/>
                </a:cubicBezTo>
                <a:cubicBezTo>
                  <a:pt x="0" y="2030836"/>
                  <a:pt x="2030836" y="0"/>
                  <a:pt x="453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Espace réservé du texte 5">
            <a:extLst>
              <a:ext uri="{FF2B5EF4-FFF2-40B4-BE49-F238E27FC236}">
                <a16:creationId xmlns:a16="http://schemas.microsoft.com/office/drawing/2014/main" id="{B2619398-34B0-5D93-C00F-D74CB42FD6BD}"/>
              </a:ext>
            </a:extLst>
          </p:cNvPr>
          <p:cNvSpPr>
            <a:spLocks noGrp="1"/>
          </p:cNvSpPr>
          <p:nvPr>
            <p:ph type="body" sz="quarter" idx="11" hasCustomPrompt="1"/>
          </p:nvPr>
        </p:nvSpPr>
        <p:spPr>
          <a:xfrm>
            <a:off x="1282391" y="2881166"/>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20" name="Espace réservé du texte 8">
            <a:extLst>
              <a:ext uri="{FF2B5EF4-FFF2-40B4-BE49-F238E27FC236}">
                <a16:creationId xmlns:a16="http://schemas.microsoft.com/office/drawing/2014/main" id="{456182EE-9FB6-F964-3FD2-E24B56219D11}"/>
              </a:ext>
            </a:extLst>
          </p:cNvPr>
          <p:cNvSpPr>
            <a:spLocks noGrp="1"/>
          </p:cNvSpPr>
          <p:nvPr>
            <p:ph type="body" sz="quarter" idx="12" hasCustomPrompt="1"/>
          </p:nvPr>
        </p:nvSpPr>
        <p:spPr>
          <a:xfrm>
            <a:off x="1282391" y="0"/>
            <a:ext cx="5414961" cy="2795193"/>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21" name="Espace réservé de la date 14">
            <a:extLst>
              <a:ext uri="{FF2B5EF4-FFF2-40B4-BE49-F238E27FC236}">
                <a16:creationId xmlns:a16="http://schemas.microsoft.com/office/drawing/2014/main" id="{F0310FE3-1826-0DBA-66E2-D931A0A79364}"/>
              </a:ext>
            </a:extLst>
          </p:cNvPr>
          <p:cNvSpPr>
            <a:spLocks noGrp="1"/>
          </p:cNvSpPr>
          <p:nvPr>
            <p:ph type="dt" sz="half" idx="13"/>
          </p:nvPr>
        </p:nvSpPr>
        <p:spPr>
          <a:xfrm>
            <a:off x="1282391" y="3457677"/>
            <a:ext cx="5414960" cy="365125"/>
          </a:xfrm>
          <a:prstGeom prst="rect">
            <a:avLst/>
          </a:prstGeom>
        </p:spPr>
        <p:txBody>
          <a:bodyPr/>
          <a:lstStyle>
            <a:lvl1pPr algn="l">
              <a:defRPr sz="1200">
                <a:solidFill>
                  <a:schemeClr val="tx1"/>
                </a:solidFill>
              </a:defRPr>
            </a:lvl1pPr>
          </a:lstStyle>
          <a:p>
            <a:r>
              <a:rPr lang="fr-FR"/>
              <a:t>Date</a:t>
            </a:r>
          </a:p>
          <a:p>
            <a:endParaRPr lang="fr-FR"/>
          </a:p>
        </p:txBody>
      </p:sp>
      <p:pic>
        <p:nvPicPr>
          <p:cNvPr id="6" name="Image 5" descr="Une image contenant Graphique, Police, logo, cercle&#10;&#10;Description générée automatiquement">
            <a:extLst>
              <a:ext uri="{FF2B5EF4-FFF2-40B4-BE49-F238E27FC236}">
                <a16:creationId xmlns:a16="http://schemas.microsoft.com/office/drawing/2014/main" id="{B3F11F0A-5F9C-8462-D0A3-BA91D2D2FEEF}"/>
              </a:ext>
            </a:extLst>
          </p:cNvPr>
          <p:cNvPicPr>
            <a:picLocks noChangeAspect="1"/>
          </p:cNvPicPr>
          <p:nvPr/>
        </p:nvPicPr>
        <p:blipFill>
          <a:blip r:embed="rId2"/>
          <a:stretch>
            <a:fillRect/>
          </a:stretch>
        </p:blipFill>
        <p:spPr>
          <a:xfrm>
            <a:off x="9201212" y="3821002"/>
            <a:ext cx="1911599" cy="1911599"/>
          </a:xfrm>
          <a:prstGeom prst="rect">
            <a:avLst/>
          </a:prstGeom>
        </p:spPr>
      </p:pic>
      <p:sp>
        <p:nvSpPr>
          <p:cNvPr id="2" name="Forme libre 6">
            <a:extLst>
              <a:ext uri="{FF2B5EF4-FFF2-40B4-BE49-F238E27FC236}">
                <a16:creationId xmlns:a16="http://schemas.microsoft.com/office/drawing/2014/main" id="{6FE8E412-16DC-D3DB-E220-AC7FD13C7DF3}"/>
              </a:ext>
            </a:extLst>
          </p:cNvPr>
          <p:cNvSpPr/>
          <p:nvPr userDrawn="1"/>
        </p:nvSpPr>
        <p:spPr>
          <a:xfrm>
            <a:off x="5621011" y="240800"/>
            <a:ext cx="6570988" cy="6617199"/>
          </a:xfrm>
          <a:custGeom>
            <a:avLst/>
            <a:gdLst>
              <a:gd name="connsiteX0" fmla="*/ 4536000 w 6570988"/>
              <a:gd name="connsiteY0" fmla="*/ 3852000 h 6617198"/>
              <a:gd name="connsiteX1" fmla="*/ 3852000 w 6570988"/>
              <a:gd name="connsiteY1" fmla="*/ 4536000 h 6617198"/>
              <a:gd name="connsiteX2" fmla="*/ 4536000 w 6570988"/>
              <a:gd name="connsiteY2" fmla="*/ 5220000 h 6617198"/>
              <a:gd name="connsiteX3" fmla="*/ 5220000 w 6570988"/>
              <a:gd name="connsiteY3" fmla="*/ 4536000 h 6617198"/>
              <a:gd name="connsiteX4" fmla="*/ 4536000 w 6570988"/>
              <a:gd name="connsiteY4" fmla="*/ 3852000 h 6617198"/>
              <a:gd name="connsiteX5" fmla="*/ 4536000 w 6570988"/>
              <a:gd name="connsiteY5" fmla="*/ 0 h 6617198"/>
              <a:gd name="connsiteX6" fmla="*/ 6502544 w 6570988"/>
              <a:gd name="connsiteY6" fmla="*/ 447299 h 6617198"/>
              <a:gd name="connsiteX7" fmla="*/ 6570988 w 6570988"/>
              <a:gd name="connsiteY7" fmla="*/ 482354 h 6617198"/>
              <a:gd name="connsiteX8" fmla="*/ 6570988 w 6570988"/>
              <a:gd name="connsiteY8" fmla="*/ 6617198 h 6617198"/>
              <a:gd name="connsiteX9" fmla="*/ 506022 w 6570988"/>
              <a:gd name="connsiteY9" fmla="*/ 6617198 h 6617198"/>
              <a:gd name="connsiteX10" fmla="*/ 447299 w 6570988"/>
              <a:gd name="connsiteY10" fmla="*/ 6502544 h 6617198"/>
              <a:gd name="connsiteX11" fmla="*/ 0 w 6570988"/>
              <a:gd name="connsiteY11" fmla="*/ 4536000 h 6617198"/>
              <a:gd name="connsiteX12" fmla="*/ 4536000 w 6570988"/>
              <a:gd name="connsiteY12" fmla="*/ 0 h 66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70988" h="6617198">
                <a:moveTo>
                  <a:pt x="4536000" y="3852000"/>
                </a:moveTo>
                <a:cubicBezTo>
                  <a:pt x="4158237" y="3852000"/>
                  <a:pt x="3852000" y="4158237"/>
                  <a:pt x="3852000" y="4536000"/>
                </a:cubicBezTo>
                <a:cubicBezTo>
                  <a:pt x="3852000" y="4913763"/>
                  <a:pt x="4158237" y="5220000"/>
                  <a:pt x="4536000" y="5220000"/>
                </a:cubicBezTo>
                <a:cubicBezTo>
                  <a:pt x="4913763" y="5220000"/>
                  <a:pt x="5220000" y="4913763"/>
                  <a:pt x="5220000" y="4536000"/>
                </a:cubicBezTo>
                <a:cubicBezTo>
                  <a:pt x="5220000" y="4158237"/>
                  <a:pt x="4913763" y="3852000"/>
                  <a:pt x="4536000" y="3852000"/>
                </a:cubicBezTo>
                <a:close/>
                <a:moveTo>
                  <a:pt x="4536000" y="0"/>
                </a:moveTo>
                <a:cubicBezTo>
                  <a:pt x="5240577" y="0"/>
                  <a:pt x="5907635" y="160642"/>
                  <a:pt x="6502544" y="447299"/>
                </a:cubicBezTo>
                <a:lnTo>
                  <a:pt x="6570988" y="482354"/>
                </a:lnTo>
                <a:lnTo>
                  <a:pt x="6570988" y="6617198"/>
                </a:lnTo>
                <a:lnTo>
                  <a:pt x="506022" y="6617198"/>
                </a:lnTo>
                <a:lnTo>
                  <a:pt x="447299" y="6502544"/>
                </a:lnTo>
                <a:cubicBezTo>
                  <a:pt x="160643" y="5907635"/>
                  <a:pt x="0" y="5240578"/>
                  <a:pt x="0" y="4536000"/>
                </a:cubicBezTo>
                <a:cubicBezTo>
                  <a:pt x="0" y="2030836"/>
                  <a:pt x="2030836" y="0"/>
                  <a:pt x="453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3" name="Image 2" descr="Une image contenant Graphique, Police, logo, cercle&#10;&#10;Description générée automatiquement">
            <a:extLst>
              <a:ext uri="{FF2B5EF4-FFF2-40B4-BE49-F238E27FC236}">
                <a16:creationId xmlns:a16="http://schemas.microsoft.com/office/drawing/2014/main" id="{6DD797FE-3308-85F2-A62C-EA4C40E4771E}"/>
              </a:ext>
            </a:extLst>
          </p:cNvPr>
          <p:cNvPicPr>
            <a:picLocks noChangeAspect="1"/>
          </p:cNvPicPr>
          <p:nvPr userDrawn="1"/>
        </p:nvPicPr>
        <p:blipFill>
          <a:blip r:embed="rId2"/>
          <a:stretch>
            <a:fillRect/>
          </a:stretch>
        </p:blipFill>
        <p:spPr>
          <a:xfrm>
            <a:off x="9201215" y="3821005"/>
            <a:ext cx="1911599" cy="1911599"/>
          </a:xfrm>
          <a:prstGeom prst="rect">
            <a:avLst/>
          </a:prstGeom>
        </p:spPr>
      </p:pic>
      <p:sp>
        <p:nvSpPr>
          <p:cNvPr id="4" name="Rectangle 3">
            <a:extLst>
              <a:ext uri="{FF2B5EF4-FFF2-40B4-BE49-F238E27FC236}">
                <a16:creationId xmlns:a16="http://schemas.microsoft.com/office/drawing/2014/main" id="{83C938B9-5F59-1B54-7237-9063542801FF}"/>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18143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ver 12">
    <p:bg>
      <p:bgPr>
        <a:solidFill>
          <a:schemeClr val="bg1"/>
        </a:solidFill>
        <a:effectLst/>
      </p:bgPr>
    </p:bg>
    <p:spTree>
      <p:nvGrpSpPr>
        <p:cNvPr id="1" name=""/>
        <p:cNvGrpSpPr/>
        <p:nvPr/>
      </p:nvGrpSpPr>
      <p:grpSpPr>
        <a:xfrm>
          <a:off x="0" y="0"/>
          <a:ext cx="0" cy="0"/>
          <a:chOff x="0" y="0"/>
          <a:chExt cx="0" cy="0"/>
        </a:xfrm>
      </p:grpSpPr>
      <p:sp>
        <p:nvSpPr>
          <p:cNvPr id="19" name="Espace réservé du texte 5">
            <a:extLst>
              <a:ext uri="{FF2B5EF4-FFF2-40B4-BE49-F238E27FC236}">
                <a16:creationId xmlns:a16="http://schemas.microsoft.com/office/drawing/2014/main" id="{B2619398-34B0-5D93-C00F-D74CB42FD6BD}"/>
              </a:ext>
            </a:extLst>
          </p:cNvPr>
          <p:cNvSpPr>
            <a:spLocks noGrp="1"/>
          </p:cNvSpPr>
          <p:nvPr>
            <p:ph type="body" sz="quarter" idx="11" hasCustomPrompt="1"/>
          </p:nvPr>
        </p:nvSpPr>
        <p:spPr>
          <a:xfrm>
            <a:off x="1282391" y="2059413"/>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20" name="Espace réservé du texte 8">
            <a:extLst>
              <a:ext uri="{FF2B5EF4-FFF2-40B4-BE49-F238E27FC236}">
                <a16:creationId xmlns:a16="http://schemas.microsoft.com/office/drawing/2014/main" id="{456182EE-9FB6-F964-3FD2-E24B56219D11}"/>
              </a:ext>
            </a:extLst>
          </p:cNvPr>
          <p:cNvSpPr>
            <a:spLocks noGrp="1"/>
          </p:cNvSpPr>
          <p:nvPr>
            <p:ph type="body" sz="quarter" idx="12" hasCustomPrompt="1"/>
          </p:nvPr>
        </p:nvSpPr>
        <p:spPr>
          <a:xfrm>
            <a:off x="1282391" y="0"/>
            <a:ext cx="5414961" cy="1973440"/>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21" name="Espace réservé de la date 14">
            <a:extLst>
              <a:ext uri="{FF2B5EF4-FFF2-40B4-BE49-F238E27FC236}">
                <a16:creationId xmlns:a16="http://schemas.microsoft.com/office/drawing/2014/main" id="{F0310FE3-1826-0DBA-66E2-D931A0A79364}"/>
              </a:ext>
            </a:extLst>
          </p:cNvPr>
          <p:cNvSpPr>
            <a:spLocks noGrp="1"/>
          </p:cNvSpPr>
          <p:nvPr>
            <p:ph type="dt" sz="half" idx="13"/>
          </p:nvPr>
        </p:nvSpPr>
        <p:spPr>
          <a:xfrm>
            <a:off x="1282391" y="2635924"/>
            <a:ext cx="5414960" cy="365125"/>
          </a:xfrm>
          <a:prstGeom prst="rect">
            <a:avLst/>
          </a:prstGeom>
        </p:spPr>
        <p:txBody>
          <a:bodyPr/>
          <a:lstStyle>
            <a:lvl1pPr algn="l">
              <a:defRPr sz="1200">
                <a:solidFill>
                  <a:schemeClr val="tx1"/>
                </a:solidFill>
              </a:defRPr>
            </a:lvl1pPr>
          </a:lstStyle>
          <a:p>
            <a:r>
              <a:rPr lang="fr-FR"/>
              <a:t>Date</a:t>
            </a:r>
          </a:p>
          <a:p>
            <a:endParaRPr lang="fr-FR"/>
          </a:p>
        </p:txBody>
      </p:sp>
      <p:sp>
        <p:nvSpPr>
          <p:cNvPr id="3" name="Forme libre 2">
            <a:extLst>
              <a:ext uri="{FF2B5EF4-FFF2-40B4-BE49-F238E27FC236}">
                <a16:creationId xmlns:a16="http://schemas.microsoft.com/office/drawing/2014/main" id="{AE76F565-BE5E-9290-ACDB-6D64D60A9B5C}"/>
              </a:ext>
            </a:extLst>
          </p:cNvPr>
          <p:cNvSpPr/>
          <p:nvPr/>
        </p:nvSpPr>
        <p:spPr>
          <a:xfrm>
            <a:off x="0" y="1403068"/>
            <a:ext cx="12192000" cy="5454933"/>
          </a:xfrm>
          <a:custGeom>
            <a:avLst/>
            <a:gdLst>
              <a:gd name="connsiteX0" fmla="*/ 9882962 w 12192000"/>
              <a:gd name="connsiteY0" fmla="*/ 0 h 5454933"/>
              <a:gd name="connsiteX1" fmla="*/ 9882962 w 12192000"/>
              <a:gd name="connsiteY1" fmla="*/ 7776 h 5454933"/>
              <a:gd name="connsiteX2" fmla="*/ 9769548 w 12192000"/>
              <a:gd name="connsiteY2" fmla="*/ 69335 h 5454933"/>
              <a:gd name="connsiteX3" fmla="*/ 9464011 w 12192000"/>
              <a:gd name="connsiteY3" fmla="*/ 643981 h 5454933"/>
              <a:gd name="connsiteX4" fmla="*/ 10157011 w 12192000"/>
              <a:gd name="connsiteY4" fmla="*/ 1336981 h 5454933"/>
              <a:gd name="connsiteX5" fmla="*/ 10850011 w 12192000"/>
              <a:gd name="connsiteY5" fmla="*/ 643981 h 5454933"/>
              <a:gd name="connsiteX6" fmla="*/ 10835932 w 12192000"/>
              <a:gd name="connsiteY6" fmla="*/ 504317 h 5454933"/>
              <a:gd name="connsiteX7" fmla="*/ 10826390 w 12192000"/>
              <a:gd name="connsiteY7" fmla="*/ 473579 h 5454933"/>
              <a:gd name="connsiteX8" fmla="*/ 10829416 w 12192000"/>
              <a:gd name="connsiteY8" fmla="*/ 473579 h 5454933"/>
              <a:gd name="connsiteX9" fmla="*/ 12192000 w 12192000"/>
              <a:gd name="connsiteY9" fmla="*/ 5400264 h 5454933"/>
              <a:gd name="connsiteX10" fmla="*/ 12192000 w 12192000"/>
              <a:gd name="connsiteY10" fmla="*/ 5454933 h 5454933"/>
              <a:gd name="connsiteX11" fmla="*/ 0 w 12192000"/>
              <a:gd name="connsiteY11" fmla="*/ 5454933 h 5454933"/>
              <a:gd name="connsiteX12" fmla="*/ 0 w 12192000"/>
              <a:gd name="connsiteY12" fmla="*/ 4076943 h 5454933"/>
              <a:gd name="connsiteX0" fmla="*/ 9882962 w 12192000"/>
              <a:gd name="connsiteY0" fmla="*/ 0 h 5454933"/>
              <a:gd name="connsiteX1" fmla="*/ 9882962 w 12192000"/>
              <a:gd name="connsiteY1" fmla="*/ 7776 h 5454933"/>
              <a:gd name="connsiteX2" fmla="*/ 9464011 w 12192000"/>
              <a:gd name="connsiteY2" fmla="*/ 643981 h 5454933"/>
              <a:gd name="connsiteX3" fmla="*/ 10157011 w 12192000"/>
              <a:gd name="connsiteY3" fmla="*/ 1336981 h 5454933"/>
              <a:gd name="connsiteX4" fmla="*/ 10850011 w 12192000"/>
              <a:gd name="connsiteY4" fmla="*/ 643981 h 5454933"/>
              <a:gd name="connsiteX5" fmla="*/ 10835932 w 12192000"/>
              <a:gd name="connsiteY5" fmla="*/ 504317 h 5454933"/>
              <a:gd name="connsiteX6" fmla="*/ 10826390 w 12192000"/>
              <a:gd name="connsiteY6" fmla="*/ 473579 h 5454933"/>
              <a:gd name="connsiteX7" fmla="*/ 10829416 w 12192000"/>
              <a:gd name="connsiteY7" fmla="*/ 473579 h 5454933"/>
              <a:gd name="connsiteX8" fmla="*/ 12192000 w 12192000"/>
              <a:gd name="connsiteY8" fmla="*/ 5400264 h 5454933"/>
              <a:gd name="connsiteX9" fmla="*/ 12192000 w 12192000"/>
              <a:gd name="connsiteY9" fmla="*/ 5454933 h 5454933"/>
              <a:gd name="connsiteX10" fmla="*/ 0 w 12192000"/>
              <a:gd name="connsiteY10" fmla="*/ 5454933 h 5454933"/>
              <a:gd name="connsiteX11" fmla="*/ 0 w 12192000"/>
              <a:gd name="connsiteY11" fmla="*/ 4076943 h 5454933"/>
              <a:gd name="connsiteX12" fmla="*/ 9882962 w 12192000"/>
              <a:gd name="connsiteY12" fmla="*/ 0 h 5454933"/>
              <a:gd name="connsiteX0" fmla="*/ 9882962 w 12192000"/>
              <a:gd name="connsiteY0" fmla="*/ 0 h 5454933"/>
              <a:gd name="connsiteX1" fmla="*/ 9882962 w 12192000"/>
              <a:gd name="connsiteY1" fmla="*/ 7776 h 5454933"/>
              <a:gd name="connsiteX2" fmla="*/ 10157011 w 12192000"/>
              <a:gd name="connsiteY2" fmla="*/ 1336981 h 5454933"/>
              <a:gd name="connsiteX3" fmla="*/ 10850011 w 12192000"/>
              <a:gd name="connsiteY3" fmla="*/ 643981 h 5454933"/>
              <a:gd name="connsiteX4" fmla="*/ 10835932 w 12192000"/>
              <a:gd name="connsiteY4" fmla="*/ 504317 h 5454933"/>
              <a:gd name="connsiteX5" fmla="*/ 10826390 w 12192000"/>
              <a:gd name="connsiteY5" fmla="*/ 473579 h 5454933"/>
              <a:gd name="connsiteX6" fmla="*/ 10829416 w 12192000"/>
              <a:gd name="connsiteY6" fmla="*/ 473579 h 5454933"/>
              <a:gd name="connsiteX7" fmla="*/ 12192000 w 12192000"/>
              <a:gd name="connsiteY7" fmla="*/ 5400264 h 5454933"/>
              <a:gd name="connsiteX8" fmla="*/ 12192000 w 12192000"/>
              <a:gd name="connsiteY8" fmla="*/ 5454933 h 5454933"/>
              <a:gd name="connsiteX9" fmla="*/ 0 w 12192000"/>
              <a:gd name="connsiteY9" fmla="*/ 5454933 h 5454933"/>
              <a:gd name="connsiteX10" fmla="*/ 0 w 12192000"/>
              <a:gd name="connsiteY10" fmla="*/ 4076943 h 5454933"/>
              <a:gd name="connsiteX11" fmla="*/ 9882962 w 12192000"/>
              <a:gd name="connsiteY11" fmla="*/ 0 h 5454933"/>
              <a:gd name="connsiteX0" fmla="*/ 9882962 w 12192000"/>
              <a:gd name="connsiteY0" fmla="*/ 0 h 5454933"/>
              <a:gd name="connsiteX1" fmla="*/ 9882962 w 12192000"/>
              <a:gd name="connsiteY1" fmla="*/ 7776 h 5454933"/>
              <a:gd name="connsiteX2" fmla="*/ 10850011 w 12192000"/>
              <a:gd name="connsiteY2" fmla="*/ 643981 h 5454933"/>
              <a:gd name="connsiteX3" fmla="*/ 10835932 w 12192000"/>
              <a:gd name="connsiteY3" fmla="*/ 504317 h 5454933"/>
              <a:gd name="connsiteX4" fmla="*/ 10826390 w 12192000"/>
              <a:gd name="connsiteY4" fmla="*/ 473579 h 5454933"/>
              <a:gd name="connsiteX5" fmla="*/ 10829416 w 12192000"/>
              <a:gd name="connsiteY5" fmla="*/ 473579 h 5454933"/>
              <a:gd name="connsiteX6" fmla="*/ 12192000 w 12192000"/>
              <a:gd name="connsiteY6" fmla="*/ 5400264 h 5454933"/>
              <a:gd name="connsiteX7" fmla="*/ 12192000 w 12192000"/>
              <a:gd name="connsiteY7" fmla="*/ 5454933 h 5454933"/>
              <a:gd name="connsiteX8" fmla="*/ 0 w 12192000"/>
              <a:gd name="connsiteY8" fmla="*/ 5454933 h 5454933"/>
              <a:gd name="connsiteX9" fmla="*/ 0 w 12192000"/>
              <a:gd name="connsiteY9" fmla="*/ 4076943 h 5454933"/>
              <a:gd name="connsiteX10" fmla="*/ 9882962 w 12192000"/>
              <a:gd name="connsiteY10" fmla="*/ 0 h 5454933"/>
              <a:gd name="connsiteX0" fmla="*/ 9882962 w 12192000"/>
              <a:gd name="connsiteY0" fmla="*/ 0 h 5454933"/>
              <a:gd name="connsiteX1" fmla="*/ 9882962 w 12192000"/>
              <a:gd name="connsiteY1" fmla="*/ 7776 h 5454933"/>
              <a:gd name="connsiteX2" fmla="*/ 10850011 w 12192000"/>
              <a:gd name="connsiteY2" fmla="*/ 643981 h 5454933"/>
              <a:gd name="connsiteX3" fmla="*/ 10826390 w 12192000"/>
              <a:gd name="connsiteY3" fmla="*/ 473579 h 5454933"/>
              <a:gd name="connsiteX4" fmla="*/ 10829416 w 12192000"/>
              <a:gd name="connsiteY4" fmla="*/ 473579 h 5454933"/>
              <a:gd name="connsiteX5" fmla="*/ 12192000 w 12192000"/>
              <a:gd name="connsiteY5" fmla="*/ 5400264 h 5454933"/>
              <a:gd name="connsiteX6" fmla="*/ 12192000 w 12192000"/>
              <a:gd name="connsiteY6" fmla="*/ 5454933 h 5454933"/>
              <a:gd name="connsiteX7" fmla="*/ 0 w 12192000"/>
              <a:gd name="connsiteY7" fmla="*/ 5454933 h 5454933"/>
              <a:gd name="connsiteX8" fmla="*/ 0 w 12192000"/>
              <a:gd name="connsiteY8" fmla="*/ 4076943 h 5454933"/>
              <a:gd name="connsiteX9" fmla="*/ 9882962 w 12192000"/>
              <a:gd name="connsiteY9" fmla="*/ 0 h 5454933"/>
              <a:gd name="connsiteX0" fmla="*/ 9882962 w 12192000"/>
              <a:gd name="connsiteY0" fmla="*/ 0 h 5454933"/>
              <a:gd name="connsiteX1" fmla="*/ 9882962 w 12192000"/>
              <a:gd name="connsiteY1" fmla="*/ 7776 h 5454933"/>
              <a:gd name="connsiteX2" fmla="*/ 10826390 w 12192000"/>
              <a:gd name="connsiteY2" fmla="*/ 473579 h 5454933"/>
              <a:gd name="connsiteX3" fmla="*/ 10829416 w 12192000"/>
              <a:gd name="connsiteY3" fmla="*/ 473579 h 5454933"/>
              <a:gd name="connsiteX4" fmla="*/ 12192000 w 12192000"/>
              <a:gd name="connsiteY4" fmla="*/ 5400264 h 5454933"/>
              <a:gd name="connsiteX5" fmla="*/ 12192000 w 12192000"/>
              <a:gd name="connsiteY5" fmla="*/ 5454933 h 5454933"/>
              <a:gd name="connsiteX6" fmla="*/ 0 w 12192000"/>
              <a:gd name="connsiteY6" fmla="*/ 5454933 h 5454933"/>
              <a:gd name="connsiteX7" fmla="*/ 0 w 12192000"/>
              <a:gd name="connsiteY7" fmla="*/ 4076943 h 5454933"/>
              <a:gd name="connsiteX8" fmla="*/ 9882962 w 12192000"/>
              <a:gd name="connsiteY8" fmla="*/ 0 h 545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454933">
                <a:moveTo>
                  <a:pt x="9882962" y="0"/>
                </a:moveTo>
                <a:lnTo>
                  <a:pt x="9882962" y="7776"/>
                </a:lnTo>
                <a:lnTo>
                  <a:pt x="10826390" y="473579"/>
                </a:lnTo>
                <a:lnTo>
                  <a:pt x="10829416" y="473579"/>
                </a:lnTo>
                <a:lnTo>
                  <a:pt x="12192000" y="5400264"/>
                </a:lnTo>
                <a:lnTo>
                  <a:pt x="12192000" y="5454933"/>
                </a:lnTo>
                <a:lnTo>
                  <a:pt x="0" y="5454933"/>
                </a:lnTo>
                <a:lnTo>
                  <a:pt x="0" y="4076943"/>
                </a:lnTo>
                <a:lnTo>
                  <a:pt x="988296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6" name="Image 5" descr="Une image contenant Graphique, Police, logo, cercle&#10;&#10;Description générée automatiquement">
            <a:extLst>
              <a:ext uri="{FF2B5EF4-FFF2-40B4-BE49-F238E27FC236}">
                <a16:creationId xmlns:a16="http://schemas.microsoft.com/office/drawing/2014/main" id="{6DE877C1-14D4-BC93-A017-6375A63B821D}"/>
              </a:ext>
            </a:extLst>
          </p:cNvPr>
          <p:cNvPicPr>
            <a:picLocks noChangeAspect="1"/>
          </p:cNvPicPr>
          <p:nvPr/>
        </p:nvPicPr>
        <p:blipFill>
          <a:blip r:embed="rId2"/>
          <a:stretch>
            <a:fillRect/>
          </a:stretch>
        </p:blipFill>
        <p:spPr>
          <a:xfrm>
            <a:off x="9198000" y="1080000"/>
            <a:ext cx="1918800" cy="1918800"/>
          </a:xfrm>
          <a:prstGeom prst="rect">
            <a:avLst/>
          </a:prstGeom>
        </p:spPr>
      </p:pic>
      <p:sp>
        <p:nvSpPr>
          <p:cNvPr id="2" name="Forme libre 2">
            <a:extLst>
              <a:ext uri="{FF2B5EF4-FFF2-40B4-BE49-F238E27FC236}">
                <a16:creationId xmlns:a16="http://schemas.microsoft.com/office/drawing/2014/main" id="{1F310C85-522D-E563-F694-7817C069D833}"/>
              </a:ext>
            </a:extLst>
          </p:cNvPr>
          <p:cNvSpPr/>
          <p:nvPr userDrawn="1"/>
        </p:nvSpPr>
        <p:spPr>
          <a:xfrm>
            <a:off x="0" y="1403068"/>
            <a:ext cx="12192000" cy="5454933"/>
          </a:xfrm>
          <a:custGeom>
            <a:avLst/>
            <a:gdLst>
              <a:gd name="connsiteX0" fmla="*/ 9882962 w 12192000"/>
              <a:gd name="connsiteY0" fmla="*/ 0 h 5454933"/>
              <a:gd name="connsiteX1" fmla="*/ 9882962 w 12192000"/>
              <a:gd name="connsiteY1" fmla="*/ 7776 h 5454933"/>
              <a:gd name="connsiteX2" fmla="*/ 9769548 w 12192000"/>
              <a:gd name="connsiteY2" fmla="*/ 69335 h 5454933"/>
              <a:gd name="connsiteX3" fmla="*/ 9464011 w 12192000"/>
              <a:gd name="connsiteY3" fmla="*/ 643981 h 5454933"/>
              <a:gd name="connsiteX4" fmla="*/ 10157011 w 12192000"/>
              <a:gd name="connsiteY4" fmla="*/ 1336981 h 5454933"/>
              <a:gd name="connsiteX5" fmla="*/ 10850011 w 12192000"/>
              <a:gd name="connsiteY5" fmla="*/ 643981 h 5454933"/>
              <a:gd name="connsiteX6" fmla="*/ 10835932 w 12192000"/>
              <a:gd name="connsiteY6" fmla="*/ 504317 h 5454933"/>
              <a:gd name="connsiteX7" fmla="*/ 10826390 w 12192000"/>
              <a:gd name="connsiteY7" fmla="*/ 473579 h 5454933"/>
              <a:gd name="connsiteX8" fmla="*/ 10829416 w 12192000"/>
              <a:gd name="connsiteY8" fmla="*/ 473579 h 5454933"/>
              <a:gd name="connsiteX9" fmla="*/ 12192000 w 12192000"/>
              <a:gd name="connsiteY9" fmla="*/ 5400264 h 5454933"/>
              <a:gd name="connsiteX10" fmla="*/ 12192000 w 12192000"/>
              <a:gd name="connsiteY10" fmla="*/ 5454933 h 5454933"/>
              <a:gd name="connsiteX11" fmla="*/ 0 w 12192000"/>
              <a:gd name="connsiteY11" fmla="*/ 5454933 h 5454933"/>
              <a:gd name="connsiteX12" fmla="*/ 0 w 12192000"/>
              <a:gd name="connsiteY12" fmla="*/ 4076943 h 5454933"/>
              <a:gd name="connsiteX0" fmla="*/ 9882962 w 12192000"/>
              <a:gd name="connsiteY0" fmla="*/ 0 h 5454933"/>
              <a:gd name="connsiteX1" fmla="*/ 9882962 w 12192000"/>
              <a:gd name="connsiteY1" fmla="*/ 7776 h 5454933"/>
              <a:gd name="connsiteX2" fmla="*/ 9464011 w 12192000"/>
              <a:gd name="connsiteY2" fmla="*/ 643981 h 5454933"/>
              <a:gd name="connsiteX3" fmla="*/ 10157011 w 12192000"/>
              <a:gd name="connsiteY3" fmla="*/ 1336981 h 5454933"/>
              <a:gd name="connsiteX4" fmla="*/ 10850011 w 12192000"/>
              <a:gd name="connsiteY4" fmla="*/ 643981 h 5454933"/>
              <a:gd name="connsiteX5" fmla="*/ 10835932 w 12192000"/>
              <a:gd name="connsiteY5" fmla="*/ 504317 h 5454933"/>
              <a:gd name="connsiteX6" fmla="*/ 10826390 w 12192000"/>
              <a:gd name="connsiteY6" fmla="*/ 473579 h 5454933"/>
              <a:gd name="connsiteX7" fmla="*/ 10829416 w 12192000"/>
              <a:gd name="connsiteY7" fmla="*/ 473579 h 5454933"/>
              <a:gd name="connsiteX8" fmla="*/ 12192000 w 12192000"/>
              <a:gd name="connsiteY8" fmla="*/ 5400264 h 5454933"/>
              <a:gd name="connsiteX9" fmla="*/ 12192000 w 12192000"/>
              <a:gd name="connsiteY9" fmla="*/ 5454933 h 5454933"/>
              <a:gd name="connsiteX10" fmla="*/ 0 w 12192000"/>
              <a:gd name="connsiteY10" fmla="*/ 5454933 h 5454933"/>
              <a:gd name="connsiteX11" fmla="*/ 0 w 12192000"/>
              <a:gd name="connsiteY11" fmla="*/ 4076943 h 5454933"/>
              <a:gd name="connsiteX12" fmla="*/ 9882962 w 12192000"/>
              <a:gd name="connsiteY12" fmla="*/ 0 h 5454933"/>
              <a:gd name="connsiteX0" fmla="*/ 9882962 w 12192000"/>
              <a:gd name="connsiteY0" fmla="*/ 0 h 5454933"/>
              <a:gd name="connsiteX1" fmla="*/ 9882962 w 12192000"/>
              <a:gd name="connsiteY1" fmla="*/ 7776 h 5454933"/>
              <a:gd name="connsiteX2" fmla="*/ 10157011 w 12192000"/>
              <a:gd name="connsiteY2" fmla="*/ 1336981 h 5454933"/>
              <a:gd name="connsiteX3" fmla="*/ 10850011 w 12192000"/>
              <a:gd name="connsiteY3" fmla="*/ 643981 h 5454933"/>
              <a:gd name="connsiteX4" fmla="*/ 10835932 w 12192000"/>
              <a:gd name="connsiteY4" fmla="*/ 504317 h 5454933"/>
              <a:gd name="connsiteX5" fmla="*/ 10826390 w 12192000"/>
              <a:gd name="connsiteY5" fmla="*/ 473579 h 5454933"/>
              <a:gd name="connsiteX6" fmla="*/ 10829416 w 12192000"/>
              <a:gd name="connsiteY6" fmla="*/ 473579 h 5454933"/>
              <a:gd name="connsiteX7" fmla="*/ 12192000 w 12192000"/>
              <a:gd name="connsiteY7" fmla="*/ 5400264 h 5454933"/>
              <a:gd name="connsiteX8" fmla="*/ 12192000 w 12192000"/>
              <a:gd name="connsiteY8" fmla="*/ 5454933 h 5454933"/>
              <a:gd name="connsiteX9" fmla="*/ 0 w 12192000"/>
              <a:gd name="connsiteY9" fmla="*/ 5454933 h 5454933"/>
              <a:gd name="connsiteX10" fmla="*/ 0 w 12192000"/>
              <a:gd name="connsiteY10" fmla="*/ 4076943 h 5454933"/>
              <a:gd name="connsiteX11" fmla="*/ 9882962 w 12192000"/>
              <a:gd name="connsiteY11" fmla="*/ 0 h 5454933"/>
              <a:gd name="connsiteX0" fmla="*/ 9882962 w 12192000"/>
              <a:gd name="connsiteY0" fmla="*/ 0 h 5454933"/>
              <a:gd name="connsiteX1" fmla="*/ 9882962 w 12192000"/>
              <a:gd name="connsiteY1" fmla="*/ 7776 h 5454933"/>
              <a:gd name="connsiteX2" fmla="*/ 10850011 w 12192000"/>
              <a:gd name="connsiteY2" fmla="*/ 643981 h 5454933"/>
              <a:gd name="connsiteX3" fmla="*/ 10835932 w 12192000"/>
              <a:gd name="connsiteY3" fmla="*/ 504317 h 5454933"/>
              <a:gd name="connsiteX4" fmla="*/ 10826390 w 12192000"/>
              <a:gd name="connsiteY4" fmla="*/ 473579 h 5454933"/>
              <a:gd name="connsiteX5" fmla="*/ 10829416 w 12192000"/>
              <a:gd name="connsiteY5" fmla="*/ 473579 h 5454933"/>
              <a:gd name="connsiteX6" fmla="*/ 12192000 w 12192000"/>
              <a:gd name="connsiteY6" fmla="*/ 5400264 h 5454933"/>
              <a:gd name="connsiteX7" fmla="*/ 12192000 w 12192000"/>
              <a:gd name="connsiteY7" fmla="*/ 5454933 h 5454933"/>
              <a:gd name="connsiteX8" fmla="*/ 0 w 12192000"/>
              <a:gd name="connsiteY8" fmla="*/ 5454933 h 5454933"/>
              <a:gd name="connsiteX9" fmla="*/ 0 w 12192000"/>
              <a:gd name="connsiteY9" fmla="*/ 4076943 h 5454933"/>
              <a:gd name="connsiteX10" fmla="*/ 9882962 w 12192000"/>
              <a:gd name="connsiteY10" fmla="*/ 0 h 5454933"/>
              <a:gd name="connsiteX0" fmla="*/ 9882962 w 12192000"/>
              <a:gd name="connsiteY0" fmla="*/ 0 h 5454933"/>
              <a:gd name="connsiteX1" fmla="*/ 9882962 w 12192000"/>
              <a:gd name="connsiteY1" fmla="*/ 7776 h 5454933"/>
              <a:gd name="connsiteX2" fmla="*/ 10850011 w 12192000"/>
              <a:gd name="connsiteY2" fmla="*/ 643981 h 5454933"/>
              <a:gd name="connsiteX3" fmla="*/ 10826390 w 12192000"/>
              <a:gd name="connsiteY3" fmla="*/ 473579 h 5454933"/>
              <a:gd name="connsiteX4" fmla="*/ 10829416 w 12192000"/>
              <a:gd name="connsiteY4" fmla="*/ 473579 h 5454933"/>
              <a:gd name="connsiteX5" fmla="*/ 12192000 w 12192000"/>
              <a:gd name="connsiteY5" fmla="*/ 5400264 h 5454933"/>
              <a:gd name="connsiteX6" fmla="*/ 12192000 w 12192000"/>
              <a:gd name="connsiteY6" fmla="*/ 5454933 h 5454933"/>
              <a:gd name="connsiteX7" fmla="*/ 0 w 12192000"/>
              <a:gd name="connsiteY7" fmla="*/ 5454933 h 5454933"/>
              <a:gd name="connsiteX8" fmla="*/ 0 w 12192000"/>
              <a:gd name="connsiteY8" fmla="*/ 4076943 h 5454933"/>
              <a:gd name="connsiteX9" fmla="*/ 9882962 w 12192000"/>
              <a:gd name="connsiteY9" fmla="*/ 0 h 5454933"/>
              <a:gd name="connsiteX0" fmla="*/ 9882962 w 12192000"/>
              <a:gd name="connsiteY0" fmla="*/ 0 h 5454933"/>
              <a:gd name="connsiteX1" fmla="*/ 9882962 w 12192000"/>
              <a:gd name="connsiteY1" fmla="*/ 7776 h 5454933"/>
              <a:gd name="connsiteX2" fmla="*/ 10826390 w 12192000"/>
              <a:gd name="connsiteY2" fmla="*/ 473579 h 5454933"/>
              <a:gd name="connsiteX3" fmla="*/ 10829416 w 12192000"/>
              <a:gd name="connsiteY3" fmla="*/ 473579 h 5454933"/>
              <a:gd name="connsiteX4" fmla="*/ 12192000 w 12192000"/>
              <a:gd name="connsiteY4" fmla="*/ 5400264 h 5454933"/>
              <a:gd name="connsiteX5" fmla="*/ 12192000 w 12192000"/>
              <a:gd name="connsiteY5" fmla="*/ 5454933 h 5454933"/>
              <a:gd name="connsiteX6" fmla="*/ 0 w 12192000"/>
              <a:gd name="connsiteY6" fmla="*/ 5454933 h 5454933"/>
              <a:gd name="connsiteX7" fmla="*/ 0 w 12192000"/>
              <a:gd name="connsiteY7" fmla="*/ 4076943 h 5454933"/>
              <a:gd name="connsiteX8" fmla="*/ 9882962 w 12192000"/>
              <a:gd name="connsiteY8" fmla="*/ 0 h 545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454933">
                <a:moveTo>
                  <a:pt x="9882962" y="0"/>
                </a:moveTo>
                <a:lnTo>
                  <a:pt x="9882962" y="7776"/>
                </a:lnTo>
                <a:lnTo>
                  <a:pt x="10826390" y="473579"/>
                </a:lnTo>
                <a:lnTo>
                  <a:pt x="10829416" y="473579"/>
                </a:lnTo>
                <a:lnTo>
                  <a:pt x="12192000" y="5400264"/>
                </a:lnTo>
                <a:lnTo>
                  <a:pt x="12192000" y="5454933"/>
                </a:lnTo>
                <a:lnTo>
                  <a:pt x="0" y="5454933"/>
                </a:lnTo>
                <a:lnTo>
                  <a:pt x="0" y="4076943"/>
                </a:lnTo>
                <a:lnTo>
                  <a:pt x="988296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4" name="Image 3" descr="Une image contenant Graphique, Police, logo, cercle&#10;&#10;Description générée automatiquement">
            <a:extLst>
              <a:ext uri="{FF2B5EF4-FFF2-40B4-BE49-F238E27FC236}">
                <a16:creationId xmlns:a16="http://schemas.microsoft.com/office/drawing/2014/main" id="{7643A21B-6F88-BF1F-4098-86F78192E9D3}"/>
              </a:ext>
            </a:extLst>
          </p:cNvPr>
          <p:cNvPicPr>
            <a:picLocks noChangeAspect="1"/>
          </p:cNvPicPr>
          <p:nvPr userDrawn="1"/>
        </p:nvPicPr>
        <p:blipFill>
          <a:blip r:embed="rId2"/>
          <a:stretch>
            <a:fillRect/>
          </a:stretch>
        </p:blipFill>
        <p:spPr>
          <a:xfrm>
            <a:off x="9198000" y="1080000"/>
            <a:ext cx="1918800" cy="1918800"/>
          </a:xfrm>
          <a:prstGeom prst="rect">
            <a:avLst/>
          </a:prstGeom>
        </p:spPr>
      </p:pic>
    </p:spTree>
    <p:extLst>
      <p:ext uri="{BB962C8B-B14F-4D97-AF65-F5344CB8AC3E}">
        <p14:creationId xmlns:p14="http://schemas.microsoft.com/office/powerpoint/2010/main" val="3631652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13">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4B94336-40AF-95E7-3FDF-62F2E43DC597}"/>
              </a:ext>
            </a:extLst>
          </p:cNvPr>
          <p:cNvSpPr/>
          <p:nvPr/>
        </p:nvSpPr>
        <p:spPr>
          <a:xfrm>
            <a:off x="1848342" y="588579"/>
            <a:ext cx="10343658" cy="6269421"/>
          </a:xfrm>
          <a:custGeom>
            <a:avLst/>
            <a:gdLst>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46007 w 10343658"/>
              <a:gd name="connsiteY9" fmla="*/ 3565318 h 6269421"/>
              <a:gd name="connsiteX10" fmla="*/ 22 w 10343658"/>
              <a:gd name="connsiteY10" fmla="*/ 3579592 h 6269421"/>
              <a:gd name="connsiteX11" fmla="*/ 0 w 10343658"/>
              <a:gd name="connsiteY11" fmla="*/ 3571875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22 w 10343658"/>
              <a:gd name="connsiteY9" fmla="*/ 3579592 h 6269421"/>
              <a:gd name="connsiteX10" fmla="*/ 0 w 10343658"/>
              <a:gd name="connsiteY10" fmla="*/ 3571875 h 6269421"/>
              <a:gd name="connsiteX11" fmla="*/ 10343658 w 10343658"/>
              <a:gd name="connsiteY11"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22 w 10343658"/>
              <a:gd name="connsiteY8" fmla="*/ 3579592 h 6269421"/>
              <a:gd name="connsiteX9" fmla="*/ 0 w 10343658"/>
              <a:gd name="connsiteY9" fmla="*/ 3571875 h 6269421"/>
              <a:gd name="connsiteX10" fmla="*/ 10343658 w 10343658"/>
              <a:gd name="connsiteY10"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22 w 10343658"/>
              <a:gd name="connsiteY7" fmla="*/ 3579592 h 6269421"/>
              <a:gd name="connsiteX8" fmla="*/ 0 w 10343658"/>
              <a:gd name="connsiteY8" fmla="*/ 3571875 h 6269421"/>
              <a:gd name="connsiteX9" fmla="*/ 10343658 w 10343658"/>
              <a:gd name="connsiteY9"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183857 w 10343658"/>
              <a:gd name="connsiteY5" fmla="*/ 4919421 h 6269421"/>
              <a:gd name="connsiteX6" fmla="*/ 22 w 10343658"/>
              <a:gd name="connsiteY6" fmla="*/ 3579592 h 6269421"/>
              <a:gd name="connsiteX7" fmla="*/ 0 w 10343658"/>
              <a:gd name="connsiteY7" fmla="*/ 3571875 h 6269421"/>
              <a:gd name="connsiteX8" fmla="*/ 10343658 w 10343658"/>
              <a:gd name="connsiteY8"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901927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50067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900996 h 6269421"/>
              <a:gd name="connsiteX4" fmla="*/ 3734 w 10343658"/>
              <a:gd name="connsiteY4" fmla="*/ 50067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34 w 10343658"/>
              <a:gd name="connsiteY3" fmla="*/ 5006702 h 6269421"/>
              <a:gd name="connsiteX4" fmla="*/ 22 w 10343658"/>
              <a:gd name="connsiteY4" fmla="*/ 3579592 h 6269421"/>
              <a:gd name="connsiteX5" fmla="*/ 0 w 10343658"/>
              <a:gd name="connsiteY5" fmla="*/ 3571875 h 6269421"/>
              <a:gd name="connsiteX6" fmla="*/ 10343658 w 10343658"/>
              <a:gd name="connsiteY6"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34 w 10343658"/>
              <a:gd name="connsiteY3" fmla="*/ 4905102 h 6269421"/>
              <a:gd name="connsiteX4" fmla="*/ 22 w 10343658"/>
              <a:gd name="connsiteY4" fmla="*/ 3579592 h 6269421"/>
              <a:gd name="connsiteX5" fmla="*/ 0 w 10343658"/>
              <a:gd name="connsiteY5" fmla="*/ 3571875 h 6269421"/>
              <a:gd name="connsiteX6" fmla="*/ 10343658 w 10343658"/>
              <a:gd name="connsiteY6" fmla="*/ 0 h 626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43658" h="6269421">
                <a:moveTo>
                  <a:pt x="10343658" y="0"/>
                </a:moveTo>
                <a:lnTo>
                  <a:pt x="10343658" y="6269421"/>
                </a:lnTo>
                <a:lnTo>
                  <a:pt x="3308169" y="6268197"/>
                </a:lnTo>
                <a:lnTo>
                  <a:pt x="3734" y="4905102"/>
                </a:lnTo>
                <a:cubicBezTo>
                  <a:pt x="2497" y="4467499"/>
                  <a:pt x="1259" y="4017195"/>
                  <a:pt x="22" y="3579592"/>
                </a:cubicBezTo>
                <a:cubicBezTo>
                  <a:pt x="15" y="3577020"/>
                  <a:pt x="7" y="3574447"/>
                  <a:pt x="0" y="3571875"/>
                </a:cubicBezTo>
                <a:lnTo>
                  <a:pt x="10343658"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p:nvPr>
        </p:nvSpPr>
        <p:spPr>
          <a:xfrm>
            <a:off x="5506504" y="4576665"/>
            <a:ext cx="5414962" cy="490538"/>
          </a:xfrm>
        </p:spPr>
        <p:txBody>
          <a:bodyPr>
            <a:noAutofit/>
          </a:bodyPr>
          <a:lstStyle>
            <a:lvl1pPr algn="r">
              <a:defRPr sz="1400">
                <a:solidFill>
                  <a:schemeClr val="bg1"/>
                </a:solidFill>
              </a:defRPr>
            </a:lvl1pPr>
            <a:lvl2pPr algn="r">
              <a:defRPr sz="1400"/>
            </a:lvl2pPr>
            <a:lvl3pPr algn="r">
              <a:defRPr sz="1400"/>
            </a:lvl3pPr>
            <a:lvl4pPr algn="r">
              <a:defRPr sz="1400"/>
            </a:lvl4pPr>
            <a:lvl5pPr algn="r">
              <a:defRPr sz="1400"/>
            </a:lvl5pPr>
          </a:lstStyle>
          <a:p>
            <a:pPr lvl="0"/>
            <a:r>
              <a:rPr lang="fr-FR"/>
              <a:t>Cliquez pour modifier les styles du texte du masque</a:t>
            </a: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506504" y="5153176"/>
            <a:ext cx="5414960" cy="365125"/>
          </a:xfrm>
          <a:prstGeom prst="rect">
            <a:avLst/>
          </a:prstGeom>
        </p:spPr>
        <p:txBody>
          <a:bodyPr/>
          <a:lstStyle>
            <a:lvl1pPr algn="r">
              <a:defRPr sz="1200">
                <a:solidFill>
                  <a:schemeClr val="bg1"/>
                </a:solidFill>
              </a:defRPr>
            </a:lvl1pPr>
          </a:lstStyle>
          <a:p>
            <a:fld id="{175B3E88-EDEE-8048-AD0F-4440EE687B4C}" type="datetime4">
              <a:rPr lang="fr-FR" smtClean="0"/>
              <a:pPr/>
              <a:t>9 janvier 2025</a:t>
            </a:fld>
            <a:endParaRPr lang="fr-FR"/>
          </a:p>
        </p:txBody>
      </p:sp>
      <p:pic>
        <p:nvPicPr>
          <p:cNvPr id="9" name="Image 8" descr="Une image contenant Graphique, Police, logo, cercle&#10;&#10;Description générée automatiquement">
            <a:extLst>
              <a:ext uri="{FF2B5EF4-FFF2-40B4-BE49-F238E27FC236}">
                <a16:creationId xmlns:a16="http://schemas.microsoft.com/office/drawing/2014/main" id="{D227FB27-C07F-56EA-7983-4F239EE886F8}"/>
              </a:ext>
            </a:extLst>
          </p:cNvPr>
          <p:cNvPicPr>
            <a:picLocks noChangeAspect="1"/>
          </p:cNvPicPr>
          <p:nvPr/>
        </p:nvPicPr>
        <p:blipFill>
          <a:blip r:embed="rId2"/>
          <a:stretch>
            <a:fillRect/>
          </a:stretch>
        </p:blipFill>
        <p:spPr>
          <a:xfrm>
            <a:off x="1076399" y="3868562"/>
            <a:ext cx="1911599" cy="1911599"/>
          </a:xfrm>
          <a:prstGeom prst="rect">
            <a:avLst/>
          </a:prstGeom>
        </p:spPr>
      </p:pic>
      <p:sp>
        <p:nvSpPr>
          <p:cNvPr id="4" name="Espace réservé du texte 1">
            <a:extLst>
              <a:ext uri="{FF2B5EF4-FFF2-40B4-BE49-F238E27FC236}">
                <a16:creationId xmlns:a16="http://schemas.microsoft.com/office/drawing/2014/main" id="{11C8C490-258C-742E-5624-74852D0D76B7}"/>
              </a:ext>
            </a:extLst>
          </p:cNvPr>
          <p:cNvSpPr txBox="1">
            <a:spLocks/>
          </p:cNvSpPr>
          <p:nvPr/>
        </p:nvSpPr>
        <p:spPr>
          <a:xfrm>
            <a:off x="5506503" y="6072761"/>
            <a:ext cx="5414962"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0" b="1">
                <a:solidFill>
                  <a:schemeClr val="bg1"/>
                </a:solidFill>
              </a:rPr>
              <a:t>EXPLORE AND DEVELOP UNCHARTED TERRITORIES</a:t>
            </a:r>
          </a:p>
        </p:txBody>
      </p:sp>
      <p:sp>
        <p:nvSpPr>
          <p:cNvPr id="2" name="Forme libre 2">
            <a:extLst>
              <a:ext uri="{FF2B5EF4-FFF2-40B4-BE49-F238E27FC236}">
                <a16:creationId xmlns:a16="http://schemas.microsoft.com/office/drawing/2014/main" id="{D5132B88-179A-9340-1066-F7138FC636C9}"/>
              </a:ext>
            </a:extLst>
          </p:cNvPr>
          <p:cNvSpPr/>
          <p:nvPr userDrawn="1"/>
        </p:nvSpPr>
        <p:spPr>
          <a:xfrm>
            <a:off x="1848341" y="588580"/>
            <a:ext cx="10343659" cy="6269421"/>
          </a:xfrm>
          <a:custGeom>
            <a:avLst/>
            <a:gdLst>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46007 w 10343658"/>
              <a:gd name="connsiteY9" fmla="*/ 3565318 h 6269421"/>
              <a:gd name="connsiteX10" fmla="*/ 22 w 10343658"/>
              <a:gd name="connsiteY10" fmla="*/ 3579592 h 6269421"/>
              <a:gd name="connsiteX11" fmla="*/ 0 w 10343658"/>
              <a:gd name="connsiteY11" fmla="*/ 3571875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183857 w 10343658"/>
              <a:gd name="connsiteY8" fmla="*/ 3551421 h 6269421"/>
              <a:gd name="connsiteX9" fmla="*/ 22 w 10343658"/>
              <a:gd name="connsiteY9" fmla="*/ 3579592 h 6269421"/>
              <a:gd name="connsiteX10" fmla="*/ 0 w 10343658"/>
              <a:gd name="connsiteY10" fmla="*/ 3571875 h 6269421"/>
              <a:gd name="connsiteX11" fmla="*/ 10343658 w 10343658"/>
              <a:gd name="connsiteY11"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867857 w 10343658"/>
              <a:gd name="connsiteY7" fmla="*/ 4235421 h 6269421"/>
              <a:gd name="connsiteX8" fmla="*/ 22 w 10343658"/>
              <a:gd name="connsiteY8" fmla="*/ 3579592 h 6269421"/>
              <a:gd name="connsiteX9" fmla="*/ 0 w 10343658"/>
              <a:gd name="connsiteY9" fmla="*/ 3571875 h 6269421"/>
              <a:gd name="connsiteX10" fmla="*/ 10343658 w 10343658"/>
              <a:gd name="connsiteY10"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46007 w 10343658"/>
              <a:gd name="connsiteY5" fmla="*/ 4905525 h 6269421"/>
              <a:gd name="connsiteX6" fmla="*/ 183857 w 10343658"/>
              <a:gd name="connsiteY6" fmla="*/ 4919421 h 6269421"/>
              <a:gd name="connsiteX7" fmla="*/ 22 w 10343658"/>
              <a:gd name="connsiteY7" fmla="*/ 3579592 h 6269421"/>
              <a:gd name="connsiteX8" fmla="*/ 0 w 10343658"/>
              <a:gd name="connsiteY8" fmla="*/ 3571875 h 6269421"/>
              <a:gd name="connsiteX9" fmla="*/ 10343658 w 10343658"/>
              <a:gd name="connsiteY9"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183857 w 10343658"/>
              <a:gd name="connsiteY5" fmla="*/ 4919421 h 6269421"/>
              <a:gd name="connsiteX6" fmla="*/ 22 w 10343658"/>
              <a:gd name="connsiteY6" fmla="*/ 3579592 h 6269421"/>
              <a:gd name="connsiteX7" fmla="*/ 0 w 10343658"/>
              <a:gd name="connsiteY7" fmla="*/ 3571875 h 6269421"/>
              <a:gd name="connsiteX8" fmla="*/ 10343658 w 10343658"/>
              <a:gd name="connsiteY8"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8924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4901927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894646 h 6269421"/>
              <a:gd name="connsiteX4" fmla="*/ 3734 w 10343658"/>
              <a:gd name="connsiteY4" fmla="*/ 50067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40 w 10343658"/>
              <a:gd name="connsiteY3" fmla="*/ 4900996 h 6269421"/>
              <a:gd name="connsiteX4" fmla="*/ 3734 w 10343658"/>
              <a:gd name="connsiteY4" fmla="*/ 5006702 h 6269421"/>
              <a:gd name="connsiteX5" fmla="*/ 22 w 10343658"/>
              <a:gd name="connsiteY5" fmla="*/ 3579592 h 6269421"/>
              <a:gd name="connsiteX6" fmla="*/ 0 w 10343658"/>
              <a:gd name="connsiteY6" fmla="*/ 3571875 h 6269421"/>
              <a:gd name="connsiteX7" fmla="*/ 10343658 w 10343658"/>
              <a:gd name="connsiteY7"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34 w 10343658"/>
              <a:gd name="connsiteY3" fmla="*/ 5006702 h 6269421"/>
              <a:gd name="connsiteX4" fmla="*/ 22 w 10343658"/>
              <a:gd name="connsiteY4" fmla="*/ 3579592 h 6269421"/>
              <a:gd name="connsiteX5" fmla="*/ 0 w 10343658"/>
              <a:gd name="connsiteY5" fmla="*/ 3571875 h 6269421"/>
              <a:gd name="connsiteX6" fmla="*/ 10343658 w 10343658"/>
              <a:gd name="connsiteY6" fmla="*/ 0 h 6269421"/>
              <a:gd name="connsiteX0" fmla="*/ 10343658 w 10343658"/>
              <a:gd name="connsiteY0" fmla="*/ 0 h 6269421"/>
              <a:gd name="connsiteX1" fmla="*/ 10343658 w 10343658"/>
              <a:gd name="connsiteY1" fmla="*/ 6269421 h 6269421"/>
              <a:gd name="connsiteX2" fmla="*/ 3308169 w 10343658"/>
              <a:gd name="connsiteY2" fmla="*/ 6268197 h 6269421"/>
              <a:gd name="connsiteX3" fmla="*/ 3734 w 10343658"/>
              <a:gd name="connsiteY3" fmla="*/ 4905102 h 6269421"/>
              <a:gd name="connsiteX4" fmla="*/ 22 w 10343658"/>
              <a:gd name="connsiteY4" fmla="*/ 3579592 h 6269421"/>
              <a:gd name="connsiteX5" fmla="*/ 0 w 10343658"/>
              <a:gd name="connsiteY5" fmla="*/ 3571875 h 6269421"/>
              <a:gd name="connsiteX6" fmla="*/ 10343658 w 10343658"/>
              <a:gd name="connsiteY6" fmla="*/ 0 h 626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43658" h="6269421">
                <a:moveTo>
                  <a:pt x="10343658" y="0"/>
                </a:moveTo>
                <a:lnTo>
                  <a:pt x="10343658" y="6269421"/>
                </a:lnTo>
                <a:lnTo>
                  <a:pt x="3308169" y="6268197"/>
                </a:lnTo>
                <a:lnTo>
                  <a:pt x="3734" y="4905102"/>
                </a:lnTo>
                <a:cubicBezTo>
                  <a:pt x="2497" y="4467499"/>
                  <a:pt x="1259" y="4017195"/>
                  <a:pt x="22" y="3579592"/>
                </a:cubicBezTo>
                <a:cubicBezTo>
                  <a:pt x="15" y="3577020"/>
                  <a:pt x="7" y="3574447"/>
                  <a:pt x="0" y="3571875"/>
                </a:cubicBezTo>
                <a:lnTo>
                  <a:pt x="10343658"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5" name="Image 4" descr="Une image contenant Graphique, Police, logo, cercle&#10;&#10;Description générée automatiquement">
            <a:extLst>
              <a:ext uri="{FF2B5EF4-FFF2-40B4-BE49-F238E27FC236}">
                <a16:creationId xmlns:a16="http://schemas.microsoft.com/office/drawing/2014/main" id="{1F0D9B37-97C6-7806-30E0-74B456463165}"/>
              </a:ext>
            </a:extLst>
          </p:cNvPr>
          <p:cNvPicPr>
            <a:picLocks noChangeAspect="1"/>
          </p:cNvPicPr>
          <p:nvPr userDrawn="1"/>
        </p:nvPicPr>
        <p:blipFill>
          <a:blip r:embed="rId2"/>
          <a:stretch>
            <a:fillRect/>
          </a:stretch>
        </p:blipFill>
        <p:spPr>
          <a:xfrm>
            <a:off x="1076402" y="3868565"/>
            <a:ext cx="1911599" cy="1911599"/>
          </a:xfrm>
          <a:prstGeom prst="rect">
            <a:avLst/>
          </a:prstGeom>
        </p:spPr>
      </p:pic>
      <p:sp>
        <p:nvSpPr>
          <p:cNvPr id="6" name="Espace réservé du texte 1">
            <a:extLst>
              <a:ext uri="{FF2B5EF4-FFF2-40B4-BE49-F238E27FC236}">
                <a16:creationId xmlns:a16="http://schemas.microsoft.com/office/drawing/2014/main" id="{E82967C5-C73E-FA7C-38CB-E6790AE6CC9F}"/>
              </a:ext>
            </a:extLst>
          </p:cNvPr>
          <p:cNvSpPr txBox="1">
            <a:spLocks/>
          </p:cNvSpPr>
          <p:nvPr userDrawn="1"/>
        </p:nvSpPr>
        <p:spPr>
          <a:xfrm>
            <a:off x="5506504" y="6072763"/>
            <a:ext cx="5414963"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1" b="1">
                <a:solidFill>
                  <a:schemeClr val="bg1"/>
                </a:solidFill>
              </a:rPr>
              <a:t>EXPLORE AND DEVELOP UNCHARTED TERRITORIES</a:t>
            </a:r>
          </a:p>
        </p:txBody>
      </p:sp>
      <p:sp>
        <p:nvSpPr>
          <p:cNvPr id="7" name="Rectangle 6">
            <a:extLst>
              <a:ext uri="{FF2B5EF4-FFF2-40B4-BE49-F238E27FC236}">
                <a16:creationId xmlns:a16="http://schemas.microsoft.com/office/drawing/2014/main" id="{A131CED7-3EDF-D25E-AA2A-BBAF6D9323D6}"/>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5">
            <a:extLst>
              <a:ext uri="{FF2B5EF4-FFF2-40B4-BE49-F238E27FC236}">
                <a16:creationId xmlns:a16="http://schemas.microsoft.com/office/drawing/2014/main" id="{9E6CEAD4-6C52-3A4B-C92A-4C22C8B48543}"/>
              </a:ext>
            </a:extLst>
          </p:cNvPr>
          <p:cNvSpPr>
            <a:spLocks noGrp="1"/>
          </p:cNvSpPr>
          <p:nvPr>
            <p:ph type="body" sz="quarter" idx="13" hasCustomPrompt="1"/>
          </p:nvPr>
        </p:nvSpPr>
        <p:spPr>
          <a:xfrm>
            <a:off x="1282391" y="2059413"/>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0" name="Espace réservé du texte 8">
            <a:extLst>
              <a:ext uri="{FF2B5EF4-FFF2-40B4-BE49-F238E27FC236}">
                <a16:creationId xmlns:a16="http://schemas.microsoft.com/office/drawing/2014/main" id="{FFFB1326-B849-6246-080B-DACEBE0783D3}"/>
              </a:ext>
            </a:extLst>
          </p:cNvPr>
          <p:cNvSpPr>
            <a:spLocks noGrp="1"/>
          </p:cNvSpPr>
          <p:nvPr>
            <p:ph type="body" sz="quarter" idx="14" hasCustomPrompt="1"/>
          </p:nvPr>
        </p:nvSpPr>
        <p:spPr>
          <a:xfrm>
            <a:off x="1282391" y="0"/>
            <a:ext cx="5414961" cy="1973440"/>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1" name="Espace réservé de la date 14">
            <a:extLst>
              <a:ext uri="{FF2B5EF4-FFF2-40B4-BE49-F238E27FC236}">
                <a16:creationId xmlns:a16="http://schemas.microsoft.com/office/drawing/2014/main" id="{AC6F1423-C7D9-90F1-7524-B253B57868E6}"/>
              </a:ext>
            </a:extLst>
          </p:cNvPr>
          <p:cNvSpPr txBox="1">
            <a:spLocks/>
          </p:cNvSpPr>
          <p:nvPr userDrawn="1"/>
        </p:nvSpPr>
        <p:spPr>
          <a:xfrm>
            <a:off x="1282391" y="2635924"/>
            <a:ext cx="5414960" cy="365125"/>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Date</a:t>
            </a:r>
          </a:p>
          <a:p>
            <a:endParaRPr lang="fr-FR"/>
          </a:p>
        </p:txBody>
      </p:sp>
    </p:spTree>
    <p:extLst>
      <p:ext uri="{BB962C8B-B14F-4D97-AF65-F5344CB8AC3E}">
        <p14:creationId xmlns:p14="http://schemas.microsoft.com/office/powerpoint/2010/main" val="2533264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 14">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3D5F0B32-3014-3F89-4476-22EECA9E35DF}"/>
              </a:ext>
            </a:extLst>
          </p:cNvPr>
          <p:cNvSpPr/>
          <p:nvPr/>
        </p:nvSpPr>
        <p:spPr>
          <a:xfrm>
            <a:off x="1350249" y="0"/>
            <a:ext cx="10841751" cy="4105383"/>
          </a:xfrm>
          <a:custGeom>
            <a:avLst/>
            <a:gdLst>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683751 w 10841751"/>
              <a:gd name="connsiteY6" fmla="*/ 2736000 h 4105383"/>
              <a:gd name="connsiteX7" fmla="*/ 4830 w 10841751"/>
              <a:gd name="connsiteY7" fmla="*/ 3289336 h 4105383"/>
              <a:gd name="connsiteX8" fmla="*/ 0 w 10841751"/>
              <a:gd name="connsiteY8" fmla="*/ 3337246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4830 w 10841751"/>
              <a:gd name="connsiteY6" fmla="*/ 3289336 h 4105383"/>
              <a:gd name="connsiteX7" fmla="*/ 0 w 10841751"/>
              <a:gd name="connsiteY7" fmla="*/ 3337246 h 4105383"/>
              <a:gd name="connsiteX8" fmla="*/ 205083 w 10841751"/>
              <a:gd name="connsiteY8"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4830 w 10841751"/>
              <a:gd name="connsiteY5" fmla="*/ 3289336 h 4105383"/>
              <a:gd name="connsiteX6" fmla="*/ 0 w 10841751"/>
              <a:gd name="connsiteY6" fmla="*/ 3337246 h 4105383"/>
              <a:gd name="connsiteX7" fmla="*/ 205083 w 10841751"/>
              <a:gd name="connsiteY7"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0 w 10841751"/>
              <a:gd name="connsiteY5" fmla="*/ 3337246 h 4105383"/>
              <a:gd name="connsiteX6" fmla="*/ 205083 w 10841751"/>
              <a:gd name="connsiteY6"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0 w 10841751"/>
              <a:gd name="connsiteY4" fmla="*/ 3337246 h 4105383"/>
              <a:gd name="connsiteX5" fmla="*/ 205083 w 10841751"/>
              <a:gd name="connsiteY5" fmla="*/ 0 h 41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1751" h="4105383">
                <a:moveTo>
                  <a:pt x="205083" y="0"/>
                </a:moveTo>
                <a:lnTo>
                  <a:pt x="10841751" y="0"/>
                </a:lnTo>
                <a:lnTo>
                  <a:pt x="10841751" y="2147111"/>
                </a:lnTo>
                <a:lnTo>
                  <a:pt x="831593" y="4105383"/>
                </a:lnTo>
                <a:lnTo>
                  <a:pt x="0" y="3337246"/>
                </a:lnTo>
                <a:lnTo>
                  <a:pt x="205083" y="0"/>
                </a:lnTo>
                <a:close/>
              </a:path>
            </a:pathLst>
          </a:custGeom>
          <a:solidFill>
            <a:srgbClr val="5FC8F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5962675" y="4776802"/>
            <a:ext cx="5414962" cy="490538"/>
          </a:xfrm>
        </p:spPr>
        <p:txBody>
          <a:bodyPr>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5962675" y="2769945"/>
            <a:ext cx="5414961" cy="1920884"/>
          </a:xfrm>
        </p:spPr>
        <p:txBody>
          <a:bodyPr anchor="b" anchorCtr="0">
            <a:noAutofit/>
          </a:bodyPr>
          <a:lstStyle>
            <a:lvl1pPr algn="r">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5962675" y="5353313"/>
            <a:ext cx="5414960" cy="365125"/>
          </a:xfrm>
          <a:prstGeom prst="rect">
            <a:avLst/>
          </a:prstGeom>
        </p:spPr>
        <p:txBody>
          <a:bodyPr/>
          <a:lstStyle>
            <a:lvl1pPr algn="r">
              <a:defRPr sz="1200">
                <a:solidFill>
                  <a:schemeClr val="tx1"/>
                </a:solidFill>
              </a:defRPr>
            </a:lvl1pPr>
          </a:lstStyle>
          <a:p>
            <a:r>
              <a:rPr lang="fr-FR"/>
              <a:t>Date</a:t>
            </a:r>
          </a:p>
        </p:txBody>
      </p:sp>
      <p:pic>
        <p:nvPicPr>
          <p:cNvPr id="5" name="Image 4" descr="Une image contenant Graphique, Police, logo, cercle&#10;&#10;Description générée automatiquement">
            <a:extLst>
              <a:ext uri="{FF2B5EF4-FFF2-40B4-BE49-F238E27FC236}">
                <a16:creationId xmlns:a16="http://schemas.microsoft.com/office/drawing/2014/main" id="{F6C28004-028D-CAA5-F94F-3F83D696E7E1}"/>
              </a:ext>
            </a:extLst>
          </p:cNvPr>
          <p:cNvPicPr>
            <a:picLocks noChangeAspect="1"/>
          </p:cNvPicPr>
          <p:nvPr/>
        </p:nvPicPr>
        <p:blipFill>
          <a:blip r:embed="rId2"/>
          <a:stretch>
            <a:fillRect/>
          </a:stretch>
        </p:blipFill>
        <p:spPr>
          <a:xfrm>
            <a:off x="1078199" y="2470305"/>
            <a:ext cx="1915200" cy="1915200"/>
          </a:xfrm>
          <a:prstGeom prst="rect">
            <a:avLst/>
          </a:prstGeom>
        </p:spPr>
      </p:pic>
      <p:sp>
        <p:nvSpPr>
          <p:cNvPr id="4" name="Espace réservé du texte 1">
            <a:extLst>
              <a:ext uri="{FF2B5EF4-FFF2-40B4-BE49-F238E27FC236}">
                <a16:creationId xmlns:a16="http://schemas.microsoft.com/office/drawing/2014/main" id="{E1C7D2BE-DFB9-7C31-9D5D-732D55AF6FE2}"/>
              </a:ext>
            </a:extLst>
          </p:cNvPr>
          <p:cNvSpPr txBox="1">
            <a:spLocks/>
          </p:cNvSpPr>
          <p:nvPr/>
        </p:nvSpPr>
        <p:spPr>
          <a:xfrm>
            <a:off x="5962675" y="6072761"/>
            <a:ext cx="5414962" cy="2414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fr-FR" sz="1010" b="1">
                <a:solidFill>
                  <a:schemeClr val="accent1"/>
                </a:solidFill>
              </a:rPr>
              <a:t>EXPLORE AND DEVELOP UNCHARTED TERRITORIES</a:t>
            </a:r>
          </a:p>
        </p:txBody>
      </p:sp>
      <p:sp>
        <p:nvSpPr>
          <p:cNvPr id="2" name="Forme libre 2">
            <a:extLst>
              <a:ext uri="{FF2B5EF4-FFF2-40B4-BE49-F238E27FC236}">
                <a16:creationId xmlns:a16="http://schemas.microsoft.com/office/drawing/2014/main" id="{B3206AC3-F554-3DFA-0C62-10606BBF3054}"/>
              </a:ext>
            </a:extLst>
          </p:cNvPr>
          <p:cNvSpPr/>
          <p:nvPr userDrawn="1"/>
        </p:nvSpPr>
        <p:spPr>
          <a:xfrm>
            <a:off x="1350251" y="3"/>
            <a:ext cx="10841751" cy="4105383"/>
          </a:xfrm>
          <a:custGeom>
            <a:avLst/>
            <a:gdLst>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683751 w 10841751"/>
              <a:gd name="connsiteY6" fmla="*/ 2736000 h 4105383"/>
              <a:gd name="connsiteX7" fmla="*/ 4830 w 10841751"/>
              <a:gd name="connsiteY7" fmla="*/ 3289336 h 4105383"/>
              <a:gd name="connsiteX8" fmla="*/ 0 w 10841751"/>
              <a:gd name="connsiteY8" fmla="*/ 3337246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1376751 w 10841751"/>
              <a:gd name="connsiteY5" fmla="*/ 3429000 h 4105383"/>
              <a:gd name="connsiteX6" fmla="*/ 4830 w 10841751"/>
              <a:gd name="connsiteY6" fmla="*/ 3289336 h 4105383"/>
              <a:gd name="connsiteX7" fmla="*/ 0 w 10841751"/>
              <a:gd name="connsiteY7" fmla="*/ 3337246 h 4105383"/>
              <a:gd name="connsiteX8" fmla="*/ 205083 w 10841751"/>
              <a:gd name="connsiteY8"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4830 w 10841751"/>
              <a:gd name="connsiteY5" fmla="*/ 3289336 h 4105383"/>
              <a:gd name="connsiteX6" fmla="*/ 0 w 10841751"/>
              <a:gd name="connsiteY6" fmla="*/ 3337246 h 4105383"/>
              <a:gd name="connsiteX7" fmla="*/ 205083 w 10841751"/>
              <a:gd name="connsiteY7"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953498 w 10841751"/>
              <a:gd name="connsiteY4" fmla="*/ 4067541 h 4105383"/>
              <a:gd name="connsiteX5" fmla="*/ 0 w 10841751"/>
              <a:gd name="connsiteY5" fmla="*/ 3337246 h 4105383"/>
              <a:gd name="connsiteX6" fmla="*/ 205083 w 10841751"/>
              <a:gd name="connsiteY6" fmla="*/ 0 h 4105383"/>
              <a:gd name="connsiteX0" fmla="*/ 205083 w 10841751"/>
              <a:gd name="connsiteY0" fmla="*/ 0 h 4105383"/>
              <a:gd name="connsiteX1" fmla="*/ 10841751 w 10841751"/>
              <a:gd name="connsiteY1" fmla="*/ 0 h 4105383"/>
              <a:gd name="connsiteX2" fmla="*/ 10841751 w 10841751"/>
              <a:gd name="connsiteY2" fmla="*/ 2147111 h 4105383"/>
              <a:gd name="connsiteX3" fmla="*/ 831593 w 10841751"/>
              <a:gd name="connsiteY3" fmla="*/ 4105383 h 4105383"/>
              <a:gd name="connsiteX4" fmla="*/ 0 w 10841751"/>
              <a:gd name="connsiteY4" fmla="*/ 3337246 h 4105383"/>
              <a:gd name="connsiteX5" fmla="*/ 205083 w 10841751"/>
              <a:gd name="connsiteY5" fmla="*/ 0 h 410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1751" h="4105383">
                <a:moveTo>
                  <a:pt x="205083" y="0"/>
                </a:moveTo>
                <a:lnTo>
                  <a:pt x="10841751" y="0"/>
                </a:lnTo>
                <a:lnTo>
                  <a:pt x="10841751" y="2147111"/>
                </a:lnTo>
                <a:lnTo>
                  <a:pt x="831593" y="4105383"/>
                </a:lnTo>
                <a:lnTo>
                  <a:pt x="0" y="3337246"/>
                </a:lnTo>
                <a:lnTo>
                  <a:pt x="205083" y="0"/>
                </a:lnTo>
                <a:close/>
              </a:path>
            </a:pathLst>
          </a:custGeom>
          <a:solidFill>
            <a:srgbClr val="5FC8F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6" name="Image 5" descr="Une image contenant Graphique, Police, logo, cercle&#10;&#10;Description générée automatiquement">
            <a:extLst>
              <a:ext uri="{FF2B5EF4-FFF2-40B4-BE49-F238E27FC236}">
                <a16:creationId xmlns:a16="http://schemas.microsoft.com/office/drawing/2014/main" id="{BFCB02E5-177B-F47B-9E34-9C7A4C0FE517}"/>
              </a:ext>
            </a:extLst>
          </p:cNvPr>
          <p:cNvPicPr>
            <a:picLocks noChangeAspect="1"/>
          </p:cNvPicPr>
          <p:nvPr userDrawn="1"/>
        </p:nvPicPr>
        <p:blipFill>
          <a:blip r:embed="rId2"/>
          <a:stretch>
            <a:fillRect/>
          </a:stretch>
        </p:blipFill>
        <p:spPr>
          <a:xfrm>
            <a:off x="1078199" y="2470305"/>
            <a:ext cx="1915200" cy="1915200"/>
          </a:xfrm>
          <a:prstGeom prst="rect">
            <a:avLst/>
          </a:prstGeom>
        </p:spPr>
      </p:pic>
      <p:sp>
        <p:nvSpPr>
          <p:cNvPr id="8" name="Rectangle 7">
            <a:extLst>
              <a:ext uri="{FF2B5EF4-FFF2-40B4-BE49-F238E27FC236}">
                <a16:creationId xmlns:a16="http://schemas.microsoft.com/office/drawing/2014/main" id="{B4A5984A-4119-3F61-7718-EFC1C5C7A7C5}"/>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5C497FC-6BBA-1450-E8E2-A8C89C0D1018}"/>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93623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15">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41B0C891-256F-42C6-8821-EB00538CA323}"/>
              </a:ext>
            </a:extLst>
          </p:cNvPr>
          <p:cNvSpPr/>
          <p:nvPr/>
        </p:nvSpPr>
        <p:spPr>
          <a:xfrm>
            <a:off x="434162" y="2009"/>
            <a:ext cx="11323675" cy="5265378"/>
          </a:xfrm>
          <a:custGeom>
            <a:avLst/>
            <a:gdLst>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5661836 w 11323675"/>
              <a:gd name="connsiteY5" fmla="*/ 4081794 h 5287603"/>
              <a:gd name="connsiteX6" fmla="*/ 4968836 w 11323675"/>
              <a:gd name="connsiteY6" fmla="*/ 4774794 h 5287603"/>
              <a:gd name="connsiteX7" fmla="*/ 5171811 w 11323675"/>
              <a:gd name="connsiteY7" fmla="*/ 5264819 h 5287603"/>
              <a:gd name="connsiteX8" fmla="*/ 5193264 w 11323675"/>
              <a:gd name="connsiteY8" fmla="*/ 5282519 h 5287603"/>
              <a:gd name="connsiteX9" fmla="*/ 5193264 w 11323675"/>
              <a:gd name="connsiteY9" fmla="*/ 5287603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4968836 w 11323675"/>
              <a:gd name="connsiteY5" fmla="*/ 4774794 h 5287603"/>
              <a:gd name="connsiteX6" fmla="*/ 5171811 w 11323675"/>
              <a:gd name="connsiteY6" fmla="*/ 5264819 h 5287603"/>
              <a:gd name="connsiteX7" fmla="*/ 5193264 w 11323675"/>
              <a:gd name="connsiteY7" fmla="*/ 5282519 h 5287603"/>
              <a:gd name="connsiteX8" fmla="*/ 5193264 w 11323675"/>
              <a:gd name="connsiteY8" fmla="*/ 5287603 h 5287603"/>
              <a:gd name="connsiteX9" fmla="*/ 0 w 11323675"/>
              <a:gd name="connsiteY9"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4968836 w 11323675"/>
              <a:gd name="connsiteY4" fmla="*/ 4774794 h 5287603"/>
              <a:gd name="connsiteX5" fmla="*/ 5171811 w 11323675"/>
              <a:gd name="connsiteY5" fmla="*/ 5264819 h 5287603"/>
              <a:gd name="connsiteX6" fmla="*/ 5193264 w 11323675"/>
              <a:gd name="connsiteY6" fmla="*/ 5282519 h 5287603"/>
              <a:gd name="connsiteX7" fmla="*/ 5193264 w 11323675"/>
              <a:gd name="connsiteY7" fmla="*/ 5287603 h 5287603"/>
              <a:gd name="connsiteX8" fmla="*/ 0 w 11323675"/>
              <a:gd name="connsiteY8"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4968836 w 11323675"/>
              <a:gd name="connsiteY3" fmla="*/ 4774794 h 5287603"/>
              <a:gd name="connsiteX4" fmla="*/ 5171811 w 11323675"/>
              <a:gd name="connsiteY4" fmla="*/ 5264819 h 5287603"/>
              <a:gd name="connsiteX5" fmla="*/ 5193264 w 11323675"/>
              <a:gd name="connsiteY5" fmla="*/ 5282519 h 5287603"/>
              <a:gd name="connsiteX6" fmla="*/ 5193264 w 11323675"/>
              <a:gd name="connsiteY6" fmla="*/ 5287603 h 5287603"/>
              <a:gd name="connsiteX7" fmla="*/ 0 w 11323675"/>
              <a:gd name="connsiteY7"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71811 w 11323675"/>
              <a:gd name="connsiteY3" fmla="*/ 5264819 h 5287603"/>
              <a:gd name="connsiteX4" fmla="*/ 5193264 w 11323675"/>
              <a:gd name="connsiteY4" fmla="*/ 5282519 h 5287603"/>
              <a:gd name="connsiteX5" fmla="*/ 5193264 w 11323675"/>
              <a:gd name="connsiteY5" fmla="*/ 5287603 h 5287603"/>
              <a:gd name="connsiteX6" fmla="*/ 0 w 11323675"/>
              <a:gd name="connsiteY6"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93264 w 11323675"/>
              <a:gd name="connsiteY3" fmla="*/ 5282519 h 5287603"/>
              <a:gd name="connsiteX4" fmla="*/ 5193264 w 11323675"/>
              <a:gd name="connsiteY4" fmla="*/ 5287603 h 5287603"/>
              <a:gd name="connsiteX5" fmla="*/ 0 w 11323675"/>
              <a:gd name="connsiteY5" fmla="*/ 0 h 5287603"/>
              <a:gd name="connsiteX0" fmla="*/ 0 w 11323675"/>
              <a:gd name="connsiteY0" fmla="*/ 0 h 5297128"/>
              <a:gd name="connsiteX1" fmla="*/ 11323675 w 11323675"/>
              <a:gd name="connsiteY1" fmla="*/ 0 h 5297128"/>
              <a:gd name="connsiteX2" fmla="*/ 6159392 w 11323675"/>
              <a:gd name="connsiteY2" fmla="*/ 5255691 h 5297128"/>
              <a:gd name="connsiteX3" fmla="*/ 5193264 w 11323675"/>
              <a:gd name="connsiteY3" fmla="*/ 5282519 h 5297128"/>
              <a:gd name="connsiteX4" fmla="*/ 5132939 w 11323675"/>
              <a:gd name="connsiteY4" fmla="*/ 5297128 h 5297128"/>
              <a:gd name="connsiteX5" fmla="*/ 0 w 11323675"/>
              <a:gd name="connsiteY5" fmla="*/ 0 h 5297128"/>
              <a:gd name="connsiteX0" fmla="*/ 0 w 11323675"/>
              <a:gd name="connsiteY0" fmla="*/ 0 h 5297128"/>
              <a:gd name="connsiteX1" fmla="*/ 11323675 w 11323675"/>
              <a:gd name="connsiteY1" fmla="*/ 0 h 5297128"/>
              <a:gd name="connsiteX2" fmla="*/ 6159392 w 11323675"/>
              <a:gd name="connsiteY2" fmla="*/ 5255691 h 5297128"/>
              <a:gd name="connsiteX3" fmla="*/ 5132939 w 11323675"/>
              <a:gd name="connsiteY3" fmla="*/ 5297128 h 5297128"/>
              <a:gd name="connsiteX4" fmla="*/ 0 w 11323675"/>
              <a:gd name="connsiteY4" fmla="*/ 0 h 5297128"/>
              <a:gd name="connsiteX0" fmla="*/ 0 w 11323675"/>
              <a:gd name="connsiteY0" fmla="*/ 0 h 5300303"/>
              <a:gd name="connsiteX1" fmla="*/ 11323675 w 11323675"/>
              <a:gd name="connsiteY1" fmla="*/ 0 h 5300303"/>
              <a:gd name="connsiteX2" fmla="*/ 6159392 w 11323675"/>
              <a:gd name="connsiteY2" fmla="*/ 5255691 h 5300303"/>
              <a:gd name="connsiteX3" fmla="*/ 5167864 w 11323675"/>
              <a:gd name="connsiteY3" fmla="*/ 5300303 h 5300303"/>
              <a:gd name="connsiteX4" fmla="*/ 0 w 11323675"/>
              <a:gd name="connsiteY4" fmla="*/ 0 h 53003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65378"/>
              <a:gd name="connsiteX1" fmla="*/ 11323675 w 11323675"/>
              <a:gd name="connsiteY1" fmla="*/ 0 h 5265378"/>
              <a:gd name="connsiteX2" fmla="*/ 6159392 w 11323675"/>
              <a:gd name="connsiteY2" fmla="*/ 5255691 h 5265378"/>
              <a:gd name="connsiteX3" fmla="*/ 5174214 w 11323675"/>
              <a:gd name="connsiteY3" fmla="*/ 5265378 h 5265378"/>
              <a:gd name="connsiteX4" fmla="*/ 0 w 11323675"/>
              <a:gd name="connsiteY4" fmla="*/ 0 h 526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675" h="5265378">
                <a:moveTo>
                  <a:pt x="0" y="0"/>
                </a:moveTo>
                <a:lnTo>
                  <a:pt x="11323675" y="0"/>
                </a:lnTo>
                <a:lnTo>
                  <a:pt x="6159392" y="5255691"/>
                </a:lnTo>
                <a:lnTo>
                  <a:pt x="5174214" y="5265378"/>
                </a:lnTo>
                <a:lnTo>
                  <a:pt x="0" y="0"/>
                </a:lnTo>
                <a:close/>
              </a:path>
            </a:pathLst>
          </a:custGeom>
          <a:solidFill>
            <a:srgbClr val="FF7DD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Espace réservé du texte 5">
            <a:extLst>
              <a:ext uri="{FF2B5EF4-FFF2-40B4-BE49-F238E27FC236}">
                <a16:creationId xmlns:a16="http://schemas.microsoft.com/office/drawing/2014/main" id="{B0C1113B-1D29-17C3-3713-A3F33777B43E}"/>
              </a:ext>
            </a:extLst>
          </p:cNvPr>
          <p:cNvSpPr>
            <a:spLocks noGrp="1"/>
          </p:cNvSpPr>
          <p:nvPr>
            <p:ph type="body" sz="quarter" idx="10" hasCustomPrompt="1"/>
          </p:nvPr>
        </p:nvSpPr>
        <p:spPr>
          <a:xfrm>
            <a:off x="7484161" y="3835165"/>
            <a:ext cx="3893475" cy="1183538"/>
          </a:xfrm>
        </p:spPr>
        <p:txBody>
          <a:bodyPr anchor="b" anchorCtr="0">
            <a:noAutofit/>
          </a:bodyPr>
          <a:lstStyle>
            <a:lvl1pPr algn="r">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14" name="Espace réservé du texte 8">
            <a:extLst>
              <a:ext uri="{FF2B5EF4-FFF2-40B4-BE49-F238E27FC236}">
                <a16:creationId xmlns:a16="http://schemas.microsoft.com/office/drawing/2014/main" id="{26FA281A-2757-28B9-7FB1-115EC2F221DF}"/>
              </a:ext>
            </a:extLst>
          </p:cNvPr>
          <p:cNvSpPr>
            <a:spLocks noGrp="1"/>
          </p:cNvSpPr>
          <p:nvPr>
            <p:ph type="body" sz="quarter" idx="11" hasCustomPrompt="1"/>
          </p:nvPr>
        </p:nvSpPr>
        <p:spPr>
          <a:xfrm>
            <a:off x="1279910" y="2769944"/>
            <a:ext cx="3427928" cy="2699857"/>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a:t>
            </a:r>
          </a:p>
          <a:p>
            <a:pPr lvl="0"/>
            <a:r>
              <a:rPr lang="fr-FR" err="1"/>
              <a:t>title</a:t>
            </a:r>
            <a:endParaRPr lang="fr-FR"/>
          </a:p>
        </p:txBody>
      </p:sp>
      <p:sp>
        <p:nvSpPr>
          <p:cNvPr id="15" name="Espace réservé de la date 14">
            <a:extLst>
              <a:ext uri="{FF2B5EF4-FFF2-40B4-BE49-F238E27FC236}">
                <a16:creationId xmlns:a16="http://schemas.microsoft.com/office/drawing/2014/main" id="{6279A4F9-9727-5437-07B2-6DA2EC601AD1}"/>
              </a:ext>
            </a:extLst>
          </p:cNvPr>
          <p:cNvSpPr>
            <a:spLocks noGrp="1"/>
          </p:cNvSpPr>
          <p:nvPr>
            <p:ph type="dt" sz="half" idx="12"/>
          </p:nvPr>
        </p:nvSpPr>
        <p:spPr>
          <a:xfrm>
            <a:off x="7484159" y="5104676"/>
            <a:ext cx="3893475" cy="365125"/>
          </a:xfrm>
          <a:prstGeom prst="rect">
            <a:avLst/>
          </a:prstGeom>
        </p:spPr>
        <p:txBody>
          <a:bodyPr/>
          <a:lstStyle>
            <a:lvl1pPr algn="r">
              <a:defRPr sz="1200">
                <a:solidFill>
                  <a:schemeClr val="tx1"/>
                </a:solidFill>
              </a:defRPr>
            </a:lvl1pPr>
          </a:lstStyle>
          <a:p>
            <a:r>
              <a:rPr lang="fr-FR"/>
              <a:t>Date</a:t>
            </a:r>
          </a:p>
        </p:txBody>
      </p:sp>
      <p:pic>
        <p:nvPicPr>
          <p:cNvPr id="7" name="Image 6" descr="Une image contenant Graphique, Police, logo, cercle&#10;&#10;Description générée automatiquement">
            <a:extLst>
              <a:ext uri="{FF2B5EF4-FFF2-40B4-BE49-F238E27FC236}">
                <a16:creationId xmlns:a16="http://schemas.microsoft.com/office/drawing/2014/main" id="{E2ECE821-B0A4-BA1A-3A2F-F4A5BB32AB27}"/>
              </a:ext>
            </a:extLst>
          </p:cNvPr>
          <p:cNvPicPr>
            <a:picLocks noChangeAspect="1"/>
          </p:cNvPicPr>
          <p:nvPr/>
        </p:nvPicPr>
        <p:blipFill>
          <a:blip r:embed="rId2"/>
          <a:stretch>
            <a:fillRect/>
          </a:stretch>
        </p:blipFill>
        <p:spPr>
          <a:xfrm>
            <a:off x="5140800" y="3819600"/>
            <a:ext cx="1911599" cy="1911599"/>
          </a:xfrm>
          <a:prstGeom prst="rect">
            <a:avLst/>
          </a:prstGeom>
        </p:spPr>
      </p:pic>
      <p:sp>
        <p:nvSpPr>
          <p:cNvPr id="2" name="Forme libre 2">
            <a:extLst>
              <a:ext uri="{FF2B5EF4-FFF2-40B4-BE49-F238E27FC236}">
                <a16:creationId xmlns:a16="http://schemas.microsoft.com/office/drawing/2014/main" id="{5AEC0601-992B-1761-928D-D4DE786EF538}"/>
              </a:ext>
            </a:extLst>
          </p:cNvPr>
          <p:cNvSpPr/>
          <p:nvPr userDrawn="1"/>
        </p:nvSpPr>
        <p:spPr>
          <a:xfrm>
            <a:off x="434164" y="2009"/>
            <a:ext cx="11323675" cy="5265379"/>
          </a:xfrm>
          <a:custGeom>
            <a:avLst/>
            <a:gdLst>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5661836 w 11323675"/>
              <a:gd name="connsiteY5" fmla="*/ 4081794 h 5287603"/>
              <a:gd name="connsiteX6" fmla="*/ 4968836 w 11323675"/>
              <a:gd name="connsiteY6" fmla="*/ 4774794 h 5287603"/>
              <a:gd name="connsiteX7" fmla="*/ 5171811 w 11323675"/>
              <a:gd name="connsiteY7" fmla="*/ 5264819 h 5287603"/>
              <a:gd name="connsiteX8" fmla="*/ 5193264 w 11323675"/>
              <a:gd name="connsiteY8" fmla="*/ 5282519 h 5287603"/>
              <a:gd name="connsiteX9" fmla="*/ 5193264 w 11323675"/>
              <a:gd name="connsiteY9" fmla="*/ 5287603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6354836 w 11323675"/>
              <a:gd name="connsiteY4" fmla="*/ 4774794 h 5287603"/>
              <a:gd name="connsiteX5" fmla="*/ 4968836 w 11323675"/>
              <a:gd name="connsiteY5" fmla="*/ 4774794 h 5287603"/>
              <a:gd name="connsiteX6" fmla="*/ 5171811 w 11323675"/>
              <a:gd name="connsiteY6" fmla="*/ 5264819 h 5287603"/>
              <a:gd name="connsiteX7" fmla="*/ 5193264 w 11323675"/>
              <a:gd name="connsiteY7" fmla="*/ 5282519 h 5287603"/>
              <a:gd name="connsiteX8" fmla="*/ 5193264 w 11323675"/>
              <a:gd name="connsiteY8" fmla="*/ 5287603 h 5287603"/>
              <a:gd name="connsiteX9" fmla="*/ 0 w 11323675"/>
              <a:gd name="connsiteY9"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6236482 w 11323675"/>
              <a:gd name="connsiteY3" fmla="*/ 5162257 h 5287603"/>
              <a:gd name="connsiteX4" fmla="*/ 4968836 w 11323675"/>
              <a:gd name="connsiteY4" fmla="*/ 4774794 h 5287603"/>
              <a:gd name="connsiteX5" fmla="*/ 5171811 w 11323675"/>
              <a:gd name="connsiteY5" fmla="*/ 5264819 h 5287603"/>
              <a:gd name="connsiteX6" fmla="*/ 5193264 w 11323675"/>
              <a:gd name="connsiteY6" fmla="*/ 5282519 h 5287603"/>
              <a:gd name="connsiteX7" fmla="*/ 5193264 w 11323675"/>
              <a:gd name="connsiteY7" fmla="*/ 5287603 h 5287603"/>
              <a:gd name="connsiteX8" fmla="*/ 0 w 11323675"/>
              <a:gd name="connsiteY8"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4968836 w 11323675"/>
              <a:gd name="connsiteY3" fmla="*/ 4774794 h 5287603"/>
              <a:gd name="connsiteX4" fmla="*/ 5171811 w 11323675"/>
              <a:gd name="connsiteY4" fmla="*/ 5264819 h 5287603"/>
              <a:gd name="connsiteX5" fmla="*/ 5193264 w 11323675"/>
              <a:gd name="connsiteY5" fmla="*/ 5282519 h 5287603"/>
              <a:gd name="connsiteX6" fmla="*/ 5193264 w 11323675"/>
              <a:gd name="connsiteY6" fmla="*/ 5287603 h 5287603"/>
              <a:gd name="connsiteX7" fmla="*/ 0 w 11323675"/>
              <a:gd name="connsiteY7"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71811 w 11323675"/>
              <a:gd name="connsiteY3" fmla="*/ 5264819 h 5287603"/>
              <a:gd name="connsiteX4" fmla="*/ 5193264 w 11323675"/>
              <a:gd name="connsiteY4" fmla="*/ 5282519 h 5287603"/>
              <a:gd name="connsiteX5" fmla="*/ 5193264 w 11323675"/>
              <a:gd name="connsiteY5" fmla="*/ 5287603 h 5287603"/>
              <a:gd name="connsiteX6" fmla="*/ 0 w 11323675"/>
              <a:gd name="connsiteY6" fmla="*/ 0 h 5287603"/>
              <a:gd name="connsiteX0" fmla="*/ 0 w 11323675"/>
              <a:gd name="connsiteY0" fmla="*/ 0 h 5287603"/>
              <a:gd name="connsiteX1" fmla="*/ 11323675 w 11323675"/>
              <a:gd name="connsiteY1" fmla="*/ 0 h 5287603"/>
              <a:gd name="connsiteX2" fmla="*/ 6159392 w 11323675"/>
              <a:gd name="connsiteY2" fmla="*/ 5255691 h 5287603"/>
              <a:gd name="connsiteX3" fmla="*/ 5193264 w 11323675"/>
              <a:gd name="connsiteY3" fmla="*/ 5282519 h 5287603"/>
              <a:gd name="connsiteX4" fmla="*/ 5193264 w 11323675"/>
              <a:gd name="connsiteY4" fmla="*/ 5287603 h 5287603"/>
              <a:gd name="connsiteX5" fmla="*/ 0 w 11323675"/>
              <a:gd name="connsiteY5" fmla="*/ 0 h 5287603"/>
              <a:gd name="connsiteX0" fmla="*/ 0 w 11323675"/>
              <a:gd name="connsiteY0" fmla="*/ 0 h 5297128"/>
              <a:gd name="connsiteX1" fmla="*/ 11323675 w 11323675"/>
              <a:gd name="connsiteY1" fmla="*/ 0 h 5297128"/>
              <a:gd name="connsiteX2" fmla="*/ 6159392 w 11323675"/>
              <a:gd name="connsiteY2" fmla="*/ 5255691 h 5297128"/>
              <a:gd name="connsiteX3" fmla="*/ 5193264 w 11323675"/>
              <a:gd name="connsiteY3" fmla="*/ 5282519 h 5297128"/>
              <a:gd name="connsiteX4" fmla="*/ 5132939 w 11323675"/>
              <a:gd name="connsiteY4" fmla="*/ 5297128 h 5297128"/>
              <a:gd name="connsiteX5" fmla="*/ 0 w 11323675"/>
              <a:gd name="connsiteY5" fmla="*/ 0 h 5297128"/>
              <a:gd name="connsiteX0" fmla="*/ 0 w 11323675"/>
              <a:gd name="connsiteY0" fmla="*/ 0 h 5297128"/>
              <a:gd name="connsiteX1" fmla="*/ 11323675 w 11323675"/>
              <a:gd name="connsiteY1" fmla="*/ 0 h 5297128"/>
              <a:gd name="connsiteX2" fmla="*/ 6159392 w 11323675"/>
              <a:gd name="connsiteY2" fmla="*/ 5255691 h 5297128"/>
              <a:gd name="connsiteX3" fmla="*/ 5132939 w 11323675"/>
              <a:gd name="connsiteY3" fmla="*/ 5297128 h 5297128"/>
              <a:gd name="connsiteX4" fmla="*/ 0 w 11323675"/>
              <a:gd name="connsiteY4" fmla="*/ 0 h 5297128"/>
              <a:gd name="connsiteX0" fmla="*/ 0 w 11323675"/>
              <a:gd name="connsiteY0" fmla="*/ 0 h 5300303"/>
              <a:gd name="connsiteX1" fmla="*/ 11323675 w 11323675"/>
              <a:gd name="connsiteY1" fmla="*/ 0 h 5300303"/>
              <a:gd name="connsiteX2" fmla="*/ 6159392 w 11323675"/>
              <a:gd name="connsiteY2" fmla="*/ 5255691 h 5300303"/>
              <a:gd name="connsiteX3" fmla="*/ 5167864 w 11323675"/>
              <a:gd name="connsiteY3" fmla="*/ 5300303 h 5300303"/>
              <a:gd name="connsiteX4" fmla="*/ 0 w 11323675"/>
              <a:gd name="connsiteY4" fmla="*/ 0 h 53003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74903"/>
              <a:gd name="connsiteX1" fmla="*/ 11323675 w 11323675"/>
              <a:gd name="connsiteY1" fmla="*/ 0 h 5274903"/>
              <a:gd name="connsiteX2" fmla="*/ 6159392 w 11323675"/>
              <a:gd name="connsiteY2" fmla="*/ 5255691 h 5274903"/>
              <a:gd name="connsiteX3" fmla="*/ 5183739 w 11323675"/>
              <a:gd name="connsiteY3" fmla="*/ 5274903 h 5274903"/>
              <a:gd name="connsiteX4" fmla="*/ 0 w 11323675"/>
              <a:gd name="connsiteY4" fmla="*/ 0 h 5274903"/>
              <a:gd name="connsiteX0" fmla="*/ 0 w 11323675"/>
              <a:gd name="connsiteY0" fmla="*/ 0 h 5265378"/>
              <a:gd name="connsiteX1" fmla="*/ 11323675 w 11323675"/>
              <a:gd name="connsiteY1" fmla="*/ 0 h 5265378"/>
              <a:gd name="connsiteX2" fmla="*/ 6159392 w 11323675"/>
              <a:gd name="connsiteY2" fmla="*/ 5255691 h 5265378"/>
              <a:gd name="connsiteX3" fmla="*/ 5174214 w 11323675"/>
              <a:gd name="connsiteY3" fmla="*/ 5265378 h 5265378"/>
              <a:gd name="connsiteX4" fmla="*/ 0 w 11323675"/>
              <a:gd name="connsiteY4" fmla="*/ 0 h 526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675" h="5265378">
                <a:moveTo>
                  <a:pt x="0" y="0"/>
                </a:moveTo>
                <a:lnTo>
                  <a:pt x="11323675" y="0"/>
                </a:lnTo>
                <a:lnTo>
                  <a:pt x="6159392" y="5255691"/>
                </a:lnTo>
                <a:lnTo>
                  <a:pt x="5174214" y="5265378"/>
                </a:lnTo>
                <a:lnTo>
                  <a:pt x="0" y="0"/>
                </a:lnTo>
                <a:close/>
              </a:path>
            </a:pathLst>
          </a:custGeom>
          <a:solidFill>
            <a:srgbClr val="FF7DD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4" name="Image 3" descr="Une image contenant Graphique, Police, logo, cercle&#10;&#10;Description générée automatiquement">
            <a:extLst>
              <a:ext uri="{FF2B5EF4-FFF2-40B4-BE49-F238E27FC236}">
                <a16:creationId xmlns:a16="http://schemas.microsoft.com/office/drawing/2014/main" id="{788E074E-B453-86D9-7B90-49B6AE965872}"/>
              </a:ext>
            </a:extLst>
          </p:cNvPr>
          <p:cNvPicPr>
            <a:picLocks noChangeAspect="1"/>
          </p:cNvPicPr>
          <p:nvPr userDrawn="1"/>
        </p:nvPicPr>
        <p:blipFill>
          <a:blip r:embed="rId2"/>
          <a:stretch>
            <a:fillRect/>
          </a:stretch>
        </p:blipFill>
        <p:spPr>
          <a:xfrm>
            <a:off x="5140803" y="3819603"/>
            <a:ext cx="1911599" cy="1911599"/>
          </a:xfrm>
          <a:prstGeom prst="rect">
            <a:avLst/>
          </a:prstGeom>
        </p:spPr>
      </p:pic>
      <p:sp>
        <p:nvSpPr>
          <p:cNvPr id="5" name="Rectangle 4">
            <a:extLst>
              <a:ext uri="{FF2B5EF4-FFF2-40B4-BE49-F238E27FC236}">
                <a16:creationId xmlns:a16="http://schemas.microsoft.com/office/drawing/2014/main" id="{F32CCB37-366D-618F-EF83-6379C3D10798}"/>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8018172A-3275-595A-DA1E-E0D81A57EE50}"/>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21663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 16">
    <p:bg>
      <p:bgPr>
        <a:solidFill>
          <a:schemeClr val="bg1"/>
        </a:solidFill>
        <a:effectLst/>
      </p:bgPr>
    </p:bg>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AF79EBF8-BA70-8FA2-63AA-A990D493027C}"/>
              </a:ext>
            </a:extLst>
          </p:cNvPr>
          <p:cNvSpPr/>
          <p:nvPr/>
        </p:nvSpPr>
        <p:spPr>
          <a:xfrm>
            <a:off x="5621011" y="240801"/>
            <a:ext cx="6570988" cy="6617198"/>
          </a:xfrm>
          <a:custGeom>
            <a:avLst/>
            <a:gdLst>
              <a:gd name="connsiteX0" fmla="*/ 4536000 w 6570988"/>
              <a:gd name="connsiteY0" fmla="*/ 3852000 h 6617198"/>
              <a:gd name="connsiteX1" fmla="*/ 3852000 w 6570988"/>
              <a:gd name="connsiteY1" fmla="*/ 4536000 h 6617198"/>
              <a:gd name="connsiteX2" fmla="*/ 4536000 w 6570988"/>
              <a:gd name="connsiteY2" fmla="*/ 5220000 h 6617198"/>
              <a:gd name="connsiteX3" fmla="*/ 5220000 w 6570988"/>
              <a:gd name="connsiteY3" fmla="*/ 4536000 h 6617198"/>
              <a:gd name="connsiteX4" fmla="*/ 4536000 w 6570988"/>
              <a:gd name="connsiteY4" fmla="*/ 3852000 h 6617198"/>
              <a:gd name="connsiteX5" fmla="*/ 4536000 w 6570988"/>
              <a:gd name="connsiteY5" fmla="*/ 0 h 6617198"/>
              <a:gd name="connsiteX6" fmla="*/ 6502544 w 6570988"/>
              <a:gd name="connsiteY6" fmla="*/ 447299 h 6617198"/>
              <a:gd name="connsiteX7" fmla="*/ 6570988 w 6570988"/>
              <a:gd name="connsiteY7" fmla="*/ 482354 h 6617198"/>
              <a:gd name="connsiteX8" fmla="*/ 6570988 w 6570988"/>
              <a:gd name="connsiteY8" fmla="*/ 6617198 h 6617198"/>
              <a:gd name="connsiteX9" fmla="*/ 506022 w 6570988"/>
              <a:gd name="connsiteY9" fmla="*/ 6617198 h 6617198"/>
              <a:gd name="connsiteX10" fmla="*/ 447299 w 6570988"/>
              <a:gd name="connsiteY10" fmla="*/ 6502544 h 6617198"/>
              <a:gd name="connsiteX11" fmla="*/ 0 w 6570988"/>
              <a:gd name="connsiteY11" fmla="*/ 4536000 h 6617198"/>
              <a:gd name="connsiteX12" fmla="*/ 4536000 w 6570988"/>
              <a:gd name="connsiteY12" fmla="*/ 0 h 66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70988" h="6617198">
                <a:moveTo>
                  <a:pt x="4536000" y="3852000"/>
                </a:moveTo>
                <a:cubicBezTo>
                  <a:pt x="4158237" y="3852000"/>
                  <a:pt x="3852000" y="4158237"/>
                  <a:pt x="3852000" y="4536000"/>
                </a:cubicBezTo>
                <a:cubicBezTo>
                  <a:pt x="3852000" y="4913763"/>
                  <a:pt x="4158237" y="5220000"/>
                  <a:pt x="4536000" y="5220000"/>
                </a:cubicBezTo>
                <a:cubicBezTo>
                  <a:pt x="4913763" y="5220000"/>
                  <a:pt x="5220000" y="4913763"/>
                  <a:pt x="5220000" y="4536000"/>
                </a:cubicBezTo>
                <a:cubicBezTo>
                  <a:pt x="5220000" y="4158237"/>
                  <a:pt x="4913763" y="3852000"/>
                  <a:pt x="4536000" y="3852000"/>
                </a:cubicBezTo>
                <a:close/>
                <a:moveTo>
                  <a:pt x="4536000" y="0"/>
                </a:moveTo>
                <a:cubicBezTo>
                  <a:pt x="5240577" y="0"/>
                  <a:pt x="5907635" y="160642"/>
                  <a:pt x="6502544" y="447299"/>
                </a:cubicBezTo>
                <a:lnTo>
                  <a:pt x="6570988" y="482354"/>
                </a:lnTo>
                <a:lnTo>
                  <a:pt x="6570988" y="6617198"/>
                </a:lnTo>
                <a:lnTo>
                  <a:pt x="506022" y="6617198"/>
                </a:lnTo>
                <a:lnTo>
                  <a:pt x="447299" y="6502544"/>
                </a:lnTo>
                <a:cubicBezTo>
                  <a:pt x="160643" y="5907635"/>
                  <a:pt x="0" y="5240578"/>
                  <a:pt x="0" y="4536000"/>
                </a:cubicBezTo>
                <a:cubicBezTo>
                  <a:pt x="0" y="2030836"/>
                  <a:pt x="2030836" y="0"/>
                  <a:pt x="4536000" y="0"/>
                </a:cubicBez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Espace réservé du texte 5">
            <a:extLst>
              <a:ext uri="{FF2B5EF4-FFF2-40B4-BE49-F238E27FC236}">
                <a16:creationId xmlns:a16="http://schemas.microsoft.com/office/drawing/2014/main" id="{B2619398-34B0-5D93-C00F-D74CB42FD6BD}"/>
              </a:ext>
            </a:extLst>
          </p:cNvPr>
          <p:cNvSpPr>
            <a:spLocks noGrp="1"/>
          </p:cNvSpPr>
          <p:nvPr>
            <p:ph type="body" sz="quarter" idx="11" hasCustomPrompt="1"/>
          </p:nvPr>
        </p:nvSpPr>
        <p:spPr>
          <a:xfrm>
            <a:off x="1282391" y="2881166"/>
            <a:ext cx="5414962" cy="490538"/>
          </a:xfrm>
        </p:spPr>
        <p:txBody>
          <a:bodyPr>
            <a:noAutofit/>
          </a:bodyPr>
          <a:lstStyle>
            <a:lvl1pPr algn="l">
              <a:defRPr sz="1400"/>
            </a:lvl1pPr>
            <a:lvl2pPr algn="r">
              <a:defRPr sz="1400"/>
            </a:lvl2pPr>
            <a:lvl3pPr algn="r">
              <a:defRPr sz="1400"/>
            </a:lvl3pPr>
            <a:lvl4pPr algn="r">
              <a:defRPr sz="1400"/>
            </a:lvl4pPr>
            <a:lvl5pPr algn="r">
              <a:defRPr sz="1400"/>
            </a:lvl5pPr>
          </a:lstStyle>
          <a:p>
            <a:pPr lvl="0"/>
            <a:r>
              <a:rPr lang="fr-FR"/>
              <a:t>Click to </a:t>
            </a:r>
            <a:r>
              <a:rPr lang="fr-FR" err="1"/>
              <a:t>add</a:t>
            </a:r>
            <a:r>
              <a:rPr lang="fr-FR"/>
              <a:t> </a:t>
            </a:r>
            <a:r>
              <a:rPr lang="fr-FR" err="1"/>
              <a:t>text</a:t>
            </a:r>
            <a:endParaRPr lang="fr-FR"/>
          </a:p>
        </p:txBody>
      </p:sp>
      <p:sp>
        <p:nvSpPr>
          <p:cNvPr id="20" name="Espace réservé du texte 8">
            <a:extLst>
              <a:ext uri="{FF2B5EF4-FFF2-40B4-BE49-F238E27FC236}">
                <a16:creationId xmlns:a16="http://schemas.microsoft.com/office/drawing/2014/main" id="{456182EE-9FB6-F964-3FD2-E24B56219D11}"/>
              </a:ext>
            </a:extLst>
          </p:cNvPr>
          <p:cNvSpPr>
            <a:spLocks noGrp="1"/>
          </p:cNvSpPr>
          <p:nvPr>
            <p:ph type="body" sz="quarter" idx="12" hasCustomPrompt="1"/>
          </p:nvPr>
        </p:nvSpPr>
        <p:spPr>
          <a:xfrm>
            <a:off x="1282391" y="0"/>
            <a:ext cx="5414961" cy="2795193"/>
          </a:xfrm>
        </p:spPr>
        <p:txBody>
          <a:bodyPr anchor="b" anchorCtr="0">
            <a:noAutofit/>
          </a:bodyPr>
          <a:lstStyle>
            <a:lvl1pPr algn="l">
              <a:defRPr sz="4400"/>
            </a:lvl1pPr>
            <a:lvl2pPr algn="l">
              <a:defRPr/>
            </a:lvl2pPr>
            <a:lvl3pPr algn="l">
              <a:defRPr/>
            </a:lvl3pPr>
            <a:lvl4pPr algn="l">
              <a:defRPr/>
            </a:lvl4pPr>
            <a:lvl5pPr algn="l">
              <a:defRPr/>
            </a:lvl5pPr>
          </a:lstStyle>
          <a:p>
            <a:pPr lvl="0"/>
            <a:r>
              <a:rPr lang="fr-FR"/>
              <a:t>Project </a:t>
            </a:r>
            <a:r>
              <a:rPr lang="fr-FR" err="1"/>
              <a:t>title</a:t>
            </a:r>
            <a:endParaRPr lang="fr-FR"/>
          </a:p>
        </p:txBody>
      </p:sp>
      <p:sp>
        <p:nvSpPr>
          <p:cNvPr id="21" name="Espace réservé de la date 14">
            <a:extLst>
              <a:ext uri="{FF2B5EF4-FFF2-40B4-BE49-F238E27FC236}">
                <a16:creationId xmlns:a16="http://schemas.microsoft.com/office/drawing/2014/main" id="{F0310FE3-1826-0DBA-66E2-D931A0A79364}"/>
              </a:ext>
            </a:extLst>
          </p:cNvPr>
          <p:cNvSpPr>
            <a:spLocks noGrp="1"/>
          </p:cNvSpPr>
          <p:nvPr>
            <p:ph type="dt" sz="half" idx="13"/>
          </p:nvPr>
        </p:nvSpPr>
        <p:spPr>
          <a:xfrm>
            <a:off x="1282391" y="3457677"/>
            <a:ext cx="5414960" cy="365125"/>
          </a:xfrm>
          <a:prstGeom prst="rect">
            <a:avLst/>
          </a:prstGeom>
        </p:spPr>
        <p:txBody>
          <a:bodyPr/>
          <a:lstStyle>
            <a:lvl1pPr algn="l">
              <a:defRPr sz="1200">
                <a:solidFill>
                  <a:schemeClr val="tx1"/>
                </a:solidFill>
              </a:defRPr>
            </a:lvl1pPr>
          </a:lstStyle>
          <a:p>
            <a:r>
              <a:rPr lang="fr-FR"/>
              <a:t>Date</a:t>
            </a:r>
          </a:p>
        </p:txBody>
      </p:sp>
      <p:pic>
        <p:nvPicPr>
          <p:cNvPr id="6" name="Image 5" descr="Une image contenant Graphique, Police, logo, cercle&#10;&#10;Description générée automatiquement">
            <a:extLst>
              <a:ext uri="{FF2B5EF4-FFF2-40B4-BE49-F238E27FC236}">
                <a16:creationId xmlns:a16="http://schemas.microsoft.com/office/drawing/2014/main" id="{B3F11F0A-5F9C-8462-D0A3-BA91D2D2FEEF}"/>
              </a:ext>
            </a:extLst>
          </p:cNvPr>
          <p:cNvPicPr>
            <a:picLocks noChangeAspect="1"/>
          </p:cNvPicPr>
          <p:nvPr/>
        </p:nvPicPr>
        <p:blipFill>
          <a:blip r:embed="rId2"/>
          <a:stretch>
            <a:fillRect/>
          </a:stretch>
        </p:blipFill>
        <p:spPr>
          <a:xfrm>
            <a:off x="9201212" y="3821002"/>
            <a:ext cx="1911599" cy="1911599"/>
          </a:xfrm>
          <a:prstGeom prst="rect">
            <a:avLst/>
          </a:prstGeom>
        </p:spPr>
      </p:pic>
      <p:sp>
        <p:nvSpPr>
          <p:cNvPr id="2" name="Forme libre 6">
            <a:extLst>
              <a:ext uri="{FF2B5EF4-FFF2-40B4-BE49-F238E27FC236}">
                <a16:creationId xmlns:a16="http://schemas.microsoft.com/office/drawing/2014/main" id="{07F672C8-006A-ABEC-AD58-5E0C371E2281}"/>
              </a:ext>
            </a:extLst>
          </p:cNvPr>
          <p:cNvSpPr/>
          <p:nvPr userDrawn="1"/>
        </p:nvSpPr>
        <p:spPr>
          <a:xfrm>
            <a:off x="5621011" y="240800"/>
            <a:ext cx="6570988" cy="6617199"/>
          </a:xfrm>
          <a:custGeom>
            <a:avLst/>
            <a:gdLst>
              <a:gd name="connsiteX0" fmla="*/ 4536000 w 6570988"/>
              <a:gd name="connsiteY0" fmla="*/ 3852000 h 6617198"/>
              <a:gd name="connsiteX1" fmla="*/ 3852000 w 6570988"/>
              <a:gd name="connsiteY1" fmla="*/ 4536000 h 6617198"/>
              <a:gd name="connsiteX2" fmla="*/ 4536000 w 6570988"/>
              <a:gd name="connsiteY2" fmla="*/ 5220000 h 6617198"/>
              <a:gd name="connsiteX3" fmla="*/ 5220000 w 6570988"/>
              <a:gd name="connsiteY3" fmla="*/ 4536000 h 6617198"/>
              <a:gd name="connsiteX4" fmla="*/ 4536000 w 6570988"/>
              <a:gd name="connsiteY4" fmla="*/ 3852000 h 6617198"/>
              <a:gd name="connsiteX5" fmla="*/ 4536000 w 6570988"/>
              <a:gd name="connsiteY5" fmla="*/ 0 h 6617198"/>
              <a:gd name="connsiteX6" fmla="*/ 6502544 w 6570988"/>
              <a:gd name="connsiteY6" fmla="*/ 447299 h 6617198"/>
              <a:gd name="connsiteX7" fmla="*/ 6570988 w 6570988"/>
              <a:gd name="connsiteY7" fmla="*/ 482354 h 6617198"/>
              <a:gd name="connsiteX8" fmla="*/ 6570988 w 6570988"/>
              <a:gd name="connsiteY8" fmla="*/ 6617198 h 6617198"/>
              <a:gd name="connsiteX9" fmla="*/ 506022 w 6570988"/>
              <a:gd name="connsiteY9" fmla="*/ 6617198 h 6617198"/>
              <a:gd name="connsiteX10" fmla="*/ 447299 w 6570988"/>
              <a:gd name="connsiteY10" fmla="*/ 6502544 h 6617198"/>
              <a:gd name="connsiteX11" fmla="*/ 0 w 6570988"/>
              <a:gd name="connsiteY11" fmla="*/ 4536000 h 6617198"/>
              <a:gd name="connsiteX12" fmla="*/ 4536000 w 6570988"/>
              <a:gd name="connsiteY12" fmla="*/ 0 h 66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70988" h="6617198">
                <a:moveTo>
                  <a:pt x="4536000" y="3852000"/>
                </a:moveTo>
                <a:cubicBezTo>
                  <a:pt x="4158237" y="3852000"/>
                  <a:pt x="3852000" y="4158237"/>
                  <a:pt x="3852000" y="4536000"/>
                </a:cubicBezTo>
                <a:cubicBezTo>
                  <a:pt x="3852000" y="4913763"/>
                  <a:pt x="4158237" y="5220000"/>
                  <a:pt x="4536000" y="5220000"/>
                </a:cubicBezTo>
                <a:cubicBezTo>
                  <a:pt x="4913763" y="5220000"/>
                  <a:pt x="5220000" y="4913763"/>
                  <a:pt x="5220000" y="4536000"/>
                </a:cubicBezTo>
                <a:cubicBezTo>
                  <a:pt x="5220000" y="4158237"/>
                  <a:pt x="4913763" y="3852000"/>
                  <a:pt x="4536000" y="3852000"/>
                </a:cubicBezTo>
                <a:close/>
                <a:moveTo>
                  <a:pt x="4536000" y="0"/>
                </a:moveTo>
                <a:cubicBezTo>
                  <a:pt x="5240577" y="0"/>
                  <a:pt x="5907635" y="160642"/>
                  <a:pt x="6502544" y="447299"/>
                </a:cubicBezTo>
                <a:lnTo>
                  <a:pt x="6570988" y="482354"/>
                </a:lnTo>
                <a:lnTo>
                  <a:pt x="6570988" y="6617198"/>
                </a:lnTo>
                <a:lnTo>
                  <a:pt x="506022" y="6617198"/>
                </a:lnTo>
                <a:lnTo>
                  <a:pt x="447299" y="6502544"/>
                </a:lnTo>
                <a:cubicBezTo>
                  <a:pt x="160643" y="5907635"/>
                  <a:pt x="0" y="5240578"/>
                  <a:pt x="0" y="4536000"/>
                </a:cubicBezTo>
                <a:cubicBezTo>
                  <a:pt x="0" y="2030836"/>
                  <a:pt x="2030836" y="0"/>
                  <a:pt x="4536000" y="0"/>
                </a:cubicBez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pic>
        <p:nvPicPr>
          <p:cNvPr id="3" name="Image 2" descr="Une image contenant Graphique, Police, logo, cercle&#10;&#10;Description générée automatiquement">
            <a:extLst>
              <a:ext uri="{FF2B5EF4-FFF2-40B4-BE49-F238E27FC236}">
                <a16:creationId xmlns:a16="http://schemas.microsoft.com/office/drawing/2014/main" id="{8F10D9B2-3E1C-7D27-BF81-C6CF6139E8B6}"/>
              </a:ext>
            </a:extLst>
          </p:cNvPr>
          <p:cNvPicPr>
            <a:picLocks noChangeAspect="1"/>
          </p:cNvPicPr>
          <p:nvPr userDrawn="1"/>
        </p:nvPicPr>
        <p:blipFill>
          <a:blip r:embed="rId2"/>
          <a:stretch>
            <a:fillRect/>
          </a:stretch>
        </p:blipFill>
        <p:spPr>
          <a:xfrm>
            <a:off x="9201215" y="3821005"/>
            <a:ext cx="1911599" cy="1911599"/>
          </a:xfrm>
          <a:prstGeom prst="rect">
            <a:avLst/>
          </a:prstGeom>
        </p:spPr>
      </p:pic>
      <p:sp>
        <p:nvSpPr>
          <p:cNvPr id="4" name="Rectangle 3">
            <a:extLst>
              <a:ext uri="{FF2B5EF4-FFF2-40B4-BE49-F238E27FC236}">
                <a16:creationId xmlns:a16="http://schemas.microsoft.com/office/drawing/2014/main" id="{0C042AC1-1475-2465-9A29-C1A54F7DAEB5}"/>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7542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1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lvl1pPr>
              <a:defRPr/>
            </a:lvl1p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07A173D4-2E18-6871-2A11-853F7FFC6017}"/>
              </a:ext>
            </a:extLst>
          </p:cNvPr>
          <p:cNvSpPr/>
          <p:nvPr/>
        </p:nvSpPr>
        <p:spPr>
          <a:xfrm>
            <a:off x="11582400" y="864153"/>
            <a:ext cx="609600" cy="5129694"/>
          </a:xfrm>
          <a:custGeom>
            <a:avLst/>
            <a:gdLst>
              <a:gd name="connsiteX0" fmla="*/ 609600 w 609600"/>
              <a:gd name="connsiteY0" fmla="*/ 0 h 5129694"/>
              <a:gd name="connsiteX1" fmla="*/ 609600 w 609600"/>
              <a:gd name="connsiteY1" fmla="*/ 5129694 h 5129694"/>
              <a:gd name="connsiteX2" fmla="*/ 562443 w 609600"/>
              <a:gd name="connsiteY2" fmla="*/ 5037622 h 5129694"/>
              <a:gd name="connsiteX3" fmla="*/ 0 w 609600"/>
              <a:gd name="connsiteY3" fmla="*/ 2564847 h 5129694"/>
              <a:gd name="connsiteX4" fmla="*/ 562443 w 609600"/>
              <a:gd name="connsiteY4" fmla="*/ 92072 h 5129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5129694">
                <a:moveTo>
                  <a:pt x="609600" y="0"/>
                </a:moveTo>
                <a:lnTo>
                  <a:pt x="609600" y="5129694"/>
                </a:lnTo>
                <a:lnTo>
                  <a:pt x="562443" y="5037622"/>
                </a:lnTo>
                <a:cubicBezTo>
                  <a:pt x="201995" y="4289570"/>
                  <a:pt x="0" y="3450798"/>
                  <a:pt x="0" y="2564847"/>
                </a:cubicBezTo>
                <a:cubicBezTo>
                  <a:pt x="0" y="1678896"/>
                  <a:pt x="201995" y="840124"/>
                  <a:pt x="562443" y="9207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Espace réservé du texte 2">
            <a:extLst>
              <a:ext uri="{FF2B5EF4-FFF2-40B4-BE49-F238E27FC236}">
                <a16:creationId xmlns:a16="http://schemas.microsoft.com/office/drawing/2014/main" id="{C9B24776-86DA-A023-7F32-8434B143D7AB}"/>
              </a:ext>
            </a:extLst>
          </p:cNvPr>
          <p:cNvSpPr>
            <a:spLocks noGrp="1"/>
          </p:cNvSpPr>
          <p:nvPr>
            <p:ph idx="1"/>
          </p:nvPr>
        </p:nvSpPr>
        <p:spPr>
          <a:xfrm>
            <a:off x="609600" y="1900800"/>
            <a:ext cx="10972798"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llipse 8">
            <a:extLst>
              <a:ext uri="{FF2B5EF4-FFF2-40B4-BE49-F238E27FC236}">
                <a16:creationId xmlns:a16="http://schemas.microsoft.com/office/drawing/2014/main" id="{A45719E8-D9A7-986D-1608-294098ED13B2}"/>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10">
            <a:extLst>
              <a:ext uri="{FF2B5EF4-FFF2-40B4-BE49-F238E27FC236}">
                <a16:creationId xmlns:a16="http://schemas.microsoft.com/office/drawing/2014/main" id="{06D8B5FB-2C2E-F625-6FDE-4E8F6F06DDEF}"/>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space réservé du texte 12">
            <a:extLst>
              <a:ext uri="{FF2B5EF4-FFF2-40B4-BE49-F238E27FC236}">
                <a16:creationId xmlns:a16="http://schemas.microsoft.com/office/drawing/2014/main" id="{788D074C-2AE5-7D40-1C32-EA41F11C15F4}"/>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249588402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2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Forme libre 7">
            <a:extLst>
              <a:ext uri="{FF2B5EF4-FFF2-40B4-BE49-F238E27FC236}">
                <a16:creationId xmlns:a16="http://schemas.microsoft.com/office/drawing/2014/main" id="{9151C266-CEE8-C442-58D8-9B48D8ADA60C}"/>
              </a:ext>
            </a:extLst>
          </p:cNvPr>
          <p:cNvSpPr/>
          <p:nvPr/>
        </p:nvSpPr>
        <p:spPr>
          <a:xfrm>
            <a:off x="6370388" y="0"/>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6" name="Espace réservé du texte 2">
            <a:extLst>
              <a:ext uri="{FF2B5EF4-FFF2-40B4-BE49-F238E27FC236}">
                <a16:creationId xmlns:a16="http://schemas.microsoft.com/office/drawing/2014/main" id="{2731F802-287C-4783-20CD-B763892D7B31}"/>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11" name="Connecteur droit 10">
            <a:extLst>
              <a:ext uri="{FF2B5EF4-FFF2-40B4-BE49-F238E27FC236}">
                <a16:creationId xmlns:a16="http://schemas.microsoft.com/office/drawing/2014/main" id="{CE6BDEAD-8B36-D3A2-9809-960FBF718575}"/>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181B42DD-D2FD-9FB4-C352-20D1B8E7BBF6}"/>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D3D18AD0-3BC6-2088-DEE7-151CAD2033A2}"/>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420336854"/>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3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A7CCCCFA-131C-F459-DADB-EE5719D7B119}"/>
              </a:ext>
            </a:extLst>
          </p:cNvPr>
          <p:cNvSpPr/>
          <p:nvPr/>
        </p:nvSpPr>
        <p:spPr>
          <a:xfrm>
            <a:off x="1" y="1607232"/>
            <a:ext cx="357477" cy="3643537"/>
          </a:xfrm>
          <a:custGeom>
            <a:avLst/>
            <a:gdLst>
              <a:gd name="connsiteX0" fmla="*/ 0 w 357477"/>
              <a:gd name="connsiteY0" fmla="*/ 0 h 3643537"/>
              <a:gd name="connsiteX1" fmla="*/ 65117 w 357477"/>
              <a:gd name="connsiteY1" fmla="*/ 165151 h 3643537"/>
              <a:gd name="connsiteX2" fmla="*/ 357477 w 357477"/>
              <a:gd name="connsiteY2" fmla="*/ 1821768 h 3643537"/>
              <a:gd name="connsiteX3" fmla="*/ 65117 w 357477"/>
              <a:gd name="connsiteY3" fmla="*/ 3478385 h 3643537"/>
              <a:gd name="connsiteX4" fmla="*/ 0 w 357477"/>
              <a:gd name="connsiteY4" fmla="*/ 3643537 h 364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77" h="3643537">
                <a:moveTo>
                  <a:pt x="0" y="0"/>
                </a:moveTo>
                <a:lnTo>
                  <a:pt x="65117" y="165151"/>
                </a:lnTo>
                <a:cubicBezTo>
                  <a:pt x="254255" y="681711"/>
                  <a:pt x="357477" y="1239685"/>
                  <a:pt x="357477" y="1821768"/>
                </a:cubicBezTo>
                <a:cubicBezTo>
                  <a:pt x="357477" y="2403851"/>
                  <a:pt x="254255" y="2961825"/>
                  <a:pt x="65117" y="3478385"/>
                </a:cubicBezTo>
                <a:lnTo>
                  <a:pt x="0" y="364353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DA88B092-4F85-2FDC-2695-1CEDC6077623}"/>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2305BD5B-5550-8369-12F2-945798E53F73}"/>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401B82D1-EED0-B89E-A0B7-BF3AF6B11A59}"/>
              </a:ext>
            </a:extLst>
          </p:cNvPr>
          <p:cNvSpPr>
            <a:spLocks noGrp="1"/>
          </p:cNvSpPr>
          <p:nvPr>
            <p:ph type="body" sz="quarter" idx="15" hasCustomPrompt="1"/>
          </p:nvPr>
        </p:nvSpPr>
        <p:spPr>
          <a:xfrm>
            <a:off x="933449" y="1186452"/>
            <a:ext cx="10648800" cy="565150"/>
          </a:xfrm>
          <a:noFill/>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B83397C6-8C8B-271F-71F9-D87A469FCEF2}"/>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1019070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4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Forme libre 7">
            <a:extLst>
              <a:ext uri="{FF2B5EF4-FFF2-40B4-BE49-F238E27FC236}">
                <a16:creationId xmlns:a16="http://schemas.microsoft.com/office/drawing/2014/main" id="{9151C266-CEE8-C442-58D8-9B48D8ADA60C}"/>
              </a:ext>
            </a:extLst>
          </p:cNvPr>
          <p:cNvSpPr/>
          <p:nvPr/>
        </p:nvSpPr>
        <p:spPr>
          <a:xfrm rot="10800000">
            <a:off x="6095998" y="6359526"/>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BD61F69B-4BE4-A4D8-D47B-E49D0BF59105}"/>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5AF1306D-F2DD-516C-12D8-DD7596DD7576}"/>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7145BA98-CE24-E3A8-51E2-E825EBB4CE32}"/>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C6D35A7D-44D0-56C9-A403-AD7C554A86DD}"/>
              </a:ext>
            </a:extLst>
          </p:cNvPr>
          <p:cNvSpPr>
            <a:spLocks noGrp="1"/>
          </p:cNvSpPr>
          <p:nvPr>
            <p:ph idx="1"/>
          </p:nvPr>
        </p:nvSpPr>
        <p:spPr>
          <a:xfrm>
            <a:off x="608399" y="1899126"/>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Forme libre 7">
            <a:extLst>
              <a:ext uri="{FF2B5EF4-FFF2-40B4-BE49-F238E27FC236}">
                <a16:creationId xmlns:a16="http://schemas.microsoft.com/office/drawing/2014/main" id="{8B496411-9A5E-80B2-CA01-B682C9D77E1A}"/>
              </a:ext>
            </a:extLst>
          </p:cNvPr>
          <p:cNvSpPr/>
          <p:nvPr userDrawn="1"/>
        </p:nvSpPr>
        <p:spPr>
          <a:xfrm rot="10800000">
            <a:off x="5583250" y="6359525"/>
            <a:ext cx="4662556" cy="498475"/>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spTree>
    <p:extLst>
      <p:ext uri="{BB962C8B-B14F-4D97-AF65-F5344CB8AC3E}">
        <p14:creationId xmlns:p14="http://schemas.microsoft.com/office/powerpoint/2010/main" val="2646687429"/>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5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07A173D4-2E18-6871-2A11-853F7FFC6017}"/>
              </a:ext>
            </a:extLst>
          </p:cNvPr>
          <p:cNvSpPr/>
          <p:nvPr/>
        </p:nvSpPr>
        <p:spPr>
          <a:xfrm>
            <a:off x="11582400" y="864153"/>
            <a:ext cx="609600" cy="5129694"/>
          </a:xfrm>
          <a:custGeom>
            <a:avLst/>
            <a:gdLst>
              <a:gd name="connsiteX0" fmla="*/ 609600 w 609600"/>
              <a:gd name="connsiteY0" fmla="*/ 0 h 5129694"/>
              <a:gd name="connsiteX1" fmla="*/ 609600 w 609600"/>
              <a:gd name="connsiteY1" fmla="*/ 5129694 h 5129694"/>
              <a:gd name="connsiteX2" fmla="*/ 562443 w 609600"/>
              <a:gd name="connsiteY2" fmla="*/ 5037622 h 5129694"/>
              <a:gd name="connsiteX3" fmla="*/ 0 w 609600"/>
              <a:gd name="connsiteY3" fmla="*/ 2564847 h 5129694"/>
              <a:gd name="connsiteX4" fmla="*/ 562443 w 609600"/>
              <a:gd name="connsiteY4" fmla="*/ 92072 h 5129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5129694">
                <a:moveTo>
                  <a:pt x="609600" y="0"/>
                </a:moveTo>
                <a:lnTo>
                  <a:pt x="609600" y="5129694"/>
                </a:lnTo>
                <a:lnTo>
                  <a:pt x="562443" y="5037622"/>
                </a:lnTo>
                <a:cubicBezTo>
                  <a:pt x="201995" y="4289570"/>
                  <a:pt x="0" y="3450798"/>
                  <a:pt x="0" y="2564847"/>
                </a:cubicBezTo>
                <a:cubicBezTo>
                  <a:pt x="0" y="1678896"/>
                  <a:pt x="201995" y="840124"/>
                  <a:pt x="562443" y="9207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E6D68EE2-FB51-E06A-FE34-2B6F3AA97FB6}"/>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A6FCC5F1-9DA3-2210-203B-970276B0D0BB}"/>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89A053B9-3756-04BD-F47C-7823567A7423}"/>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222A8625-283D-E310-7F57-13A73B585708}"/>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7247225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6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Forme libre 7">
            <a:extLst>
              <a:ext uri="{FF2B5EF4-FFF2-40B4-BE49-F238E27FC236}">
                <a16:creationId xmlns:a16="http://schemas.microsoft.com/office/drawing/2014/main" id="{9151C266-CEE8-C442-58D8-9B48D8ADA60C}"/>
              </a:ext>
            </a:extLst>
          </p:cNvPr>
          <p:cNvSpPr/>
          <p:nvPr/>
        </p:nvSpPr>
        <p:spPr>
          <a:xfrm>
            <a:off x="6370388" y="0"/>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7DE2725E-C302-7E30-EE46-395D03E50416}"/>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399258B3-4B3A-4111-F8AC-E94320BA8FC0}"/>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227E1E6D-A411-9011-44B3-9335A9007835}"/>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89BE922B-1E78-D93E-4867-55CC6FC9DCCE}"/>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11594632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7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A7CCCCFA-131C-F459-DADB-EE5719D7B119}"/>
              </a:ext>
            </a:extLst>
          </p:cNvPr>
          <p:cNvSpPr/>
          <p:nvPr/>
        </p:nvSpPr>
        <p:spPr>
          <a:xfrm>
            <a:off x="1" y="1607232"/>
            <a:ext cx="357477" cy="3643537"/>
          </a:xfrm>
          <a:custGeom>
            <a:avLst/>
            <a:gdLst>
              <a:gd name="connsiteX0" fmla="*/ 0 w 357477"/>
              <a:gd name="connsiteY0" fmla="*/ 0 h 3643537"/>
              <a:gd name="connsiteX1" fmla="*/ 65117 w 357477"/>
              <a:gd name="connsiteY1" fmla="*/ 165151 h 3643537"/>
              <a:gd name="connsiteX2" fmla="*/ 357477 w 357477"/>
              <a:gd name="connsiteY2" fmla="*/ 1821768 h 3643537"/>
              <a:gd name="connsiteX3" fmla="*/ 65117 w 357477"/>
              <a:gd name="connsiteY3" fmla="*/ 3478385 h 3643537"/>
              <a:gd name="connsiteX4" fmla="*/ 0 w 357477"/>
              <a:gd name="connsiteY4" fmla="*/ 3643537 h 364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77" h="3643537">
                <a:moveTo>
                  <a:pt x="0" y="0"/>
                </a:moveTo>
                <a:lnTo>
                  <a:pt x="65117" y="165151"/>
                </a:lnTo>
                <a:cubicBezTo>
                  <a:pt x="254255" y="681711"/>
                  <a:pt x="357477" y="1239685"/>
                  <a:pt x="357477" y="1821768"/>
                </a:cubicBezTo>
                <a:cubicBezTo>
                  <a:pt x="357477" y="2403851"/>
                  <a:pt x="254255" y="2961825"/>
                  <a:pt x="65117" y="3478385"/>
                </a:cubicBezTo>
                <a:lnTo>
                  <a:pt x="0" y="364353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9E921A67-D866-17C4-660F-8A856D4F5ACD}"/>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7325063D-AA95-114C-DAFC-96FB3E02F809}"/>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BF3CF40F-FFBC-4672-D15B-D0C3676B72C3}"/>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3282F55F-3BE1-95C0-64E9-5D34FADEB3FF}"/>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numéro de diapositive 3">
            <a:extLst>
              <a:ext uri="{FF2B5EF4-FFF2-40B4-BE49-F238E27FC236}">
                <a16:creationId xmlns:a16="http://schemas.microsoft.com/office/drawing/2014/main" id="{C8CE38DA-434B-EFFA-0D2B-D3EE72B71867}"/>
              </a:ext>
            </a:extLst>
          </p:cNvPr>
          <p:cNvSpPr txBox="1">
            <a:spLocks/>
          </p:cNvSpPr>
          <p:nvPr/>
        </p:nvSpPr>
        <p:spPr>
          <a:xfrm>
            <a:off x="11124000" y="6392753"/>
            <a:ext cx="413999" cy="365125"/>
          </a:xfrm>
          <a:prstGeom prst="rect">
            <a:avLst/>
          </a:prstGeom>
        </p:spPr>
        <p:txBody>
          <a:bodyPr vert="horz" lIns="91440" tIns="45720" rIns="91440" bIns="45720" rtlCol="0" anchor="ctr"/>
          <a:lstStyle>
            <a:defPPr>
              <a:defRPr lang="fr-FR"/>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8F0B10-35F2-374B-9DF7-046A0F270644}" type="slidenum">
              <a:rPr lang="fr-FR" smtClean="0"/>
              <a:pPr/>
              <a:t>‹N°›</a:t>
            </a:fld>
            <a:endParaRPr lang="fr-FR"/>
          </a:p>
        </p:txBody>
      </p:sp>
    </p:spTree>
    <p:extLst>
      <p:ext uri="{BB962C8B-B14F-4D97-AF65-F5344CB8AC3E}">
        <p14:creationId xmlns:p14="http://schemas.microsoft.com/office/powerpoint/2010/main" val="3853556519"/>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9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Forme libre 7">
            <a:extLst>
              <a:ext uri="{FF2B5EF4-FFF2-40B4-BE49-F238E27FC236}">
                <a16:creationId xmlns:a16="http://schemas.microsoft.com/office/drawing/2014/main" id="{9151C266-CEE8-C442-58D8-9B48D8ADA60C}"/>
              </a:ext>
            </a:extLst>
          </p:cNvPr>
          <p:cNvSpPr/>
          <p:nvPr/>
        </p:nvSpPr>
        <p:spPr>
          <a:xfrm>
            <a:off x="6370388" y="0"/>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rgbClr val="5FC8F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C29D779B-7263-F86E-8417-63B0B361D4AC}"/>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B445BE18-E390-5A75-5926-0C0D98B68A4E}"/>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A29C40A0-036B-A50A-F731-8A6D3A057DCD}"/>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F37058CB-91D3-9E34-A2AE-FC6F88E8D8A7}"/>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21866229"/>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10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A7CCCCFA-131C-F459-DADB-EE5719D7B119}"/>
              </a:ext>
            </a:extLst>
          </p:cNvPr>
          <p:cNvSpPr/>
          <p:nvPr/>
        </p:nvSpPr>
        <p:spPr>
          <a:xfrm>
            <a:off x="1" y="1607232"/>
            <a:ext cx="357477" cy="3643537"/>
          </a:xfrm>
          <a:custGeom>
            <a:avLst/>
            <a:gdLst>
              <a:gd name="connsiteX0" fmla="*/ 0 w 357477"/>
              <a:gd name="connsiteY0" fmla="*/ 0 h 3643537"/>
              <a:gd name="connsiteX1" fmla="*/ 65117 w 357477"/>
              <a:gd name="connsiteY1" fmla="*/ 165151 h 3643537"/>
              <a:gd name="connsiteX2" fmla="*/ 357477 w 357477"/>
              <a:gd name="connsiteY2" fmla="*/ 1821768 h 3643537"/>
              <a:gd name="connsiteX3" fmla="*/ 65117 w 357477"/>
              <a:gd name="connsiteY3" fmla="*/ 3478385 h 3643537"/>
              <a:gd name="connsiteX4" fmla="*/ 0 w 357477"/>
              <a:gd name="connsiteY4" fmla="*/ 3643537 h 364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77" h="3643537">
                <a:moveTo>
                  <a:pt x="0" y="0"/>
                </a:moveTo>
                <a:lnTo>
                  <a:pt x="65117" y="165151"/>
                </a:lnTo>
                <a:cubicBezTo>
                  <a:pt x="254255" y="681711"/>
                  <a:pt x="357477" y="1239685"/>
                  <a:pt x="357477" y="1821768"/>
                </a:cubicBezTo>
                <a:cubicBezTo>
                  <a:pt x="357477" y="2403851"/>
                  <a:pt x="254255" y="2961825"/>
                  <a:pt x="65117" y="3478385"/>
                </a:cubicBezTo>
                <a:lnTo>
                  <a:pt x="0" y="3643537"/>
                </a:lnTo>
                <a:close/>
              </a:path>
            </a:pathLst>
          </a:custGeom>
          <a:solidFill>
            <a:srgbClr val="FF7DD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0D3F9000-08DD-BC33-FDA2-2EF9413C4A03}"/>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0128E72D-71AF-56CC-066F-F99F2BA5CFAB}"/>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5741638F-F5AD-E038-D69D-DE3BD2B0CA16}"/>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13CD6B0F-AF85-A6C8-F4B7-3093EAC7A533}"/>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7786046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12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7" name="Forme libre 6">
            <a:extLst>
              <a:ext uri="{FF2B5EF4-FFF2-40B4-BE49-F238E27FC236}">
                <a16:creationId xmlns:a16="http://schemas.microsoft.com/office/drawing/2014/main" id="{A7CCCCFA-131C-F459-DADB-EE5719D7B119}"/>
              </a:ext>
            </a:extLst>
          </p:cNvPr>
          <p:cNvSpPr/>
          <p:nvPr/>
        </p:nvSpPr>
        <p:spPr>
          <a:xfrm>
            <a:off x="1" y="1607232"/>
            <a:ext cx="357477" cy="3643537"/>
          </a:xfrm>
          <a:custGeom>
            <a:avLst/>
            <a:gdLst>
              <a:gd name="connsiteX0" fmla="*/ 0 w 357477"/>
              <a:gd name="connsiteY0" fmla="*/ 0 h 3643537"/>
              <a:gd name="connsiteX1" fmla="*/ 65117 w 357477"/>
              <a:gd name="connsiteY1" fmla="*/ 165151 h 3643537"/>
              <a:gd name="connsiteX2" fmla="*/ 357477 w 357477"/>
              <a:gd name="connsiteY2" fmla="*/ 1821768 h 3643537"/>
              <a:gd name="connsiteX3" fmla="*/ 65117 w 357477"/>
              <a:gd name="connsiteY3" fmla="*/ 3478385 h 3643537"/>
              <a:gd name="connsiteX4" fmla="*/ 0 w 357477"/>
              <a:gd name="connsiteY4" fmla="*/ 3643537 h 364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77" h="3643537">
                <a:moveTo>
                  <a:pt x="0" y="0"/>
                </a:moveTo>
                <a:lnTo>
                  <a:pt x="65117" y="165151"/>
                </a:lnTo>
                <a:cubicBezTo>
                  <a:pt x="254255" y="681711"/>
                  <a:pt x="357477" y="1239685"/>
                  <a:pt x="357477" y="1821768"/>
                </a:cubicBezTo>
                <a:cubicBezTo>
                  <a:pt x="357477" y="2403851"/>
                  <a:pt x="254255" y="2961825"/>
                  <a:pt x="65117" y="3478385"/>
                </a:cubicBezTo>
                <a:lnTo>
                  <a:pt x="0" y="3643537"/>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0D3F9000-08DD-BC33-FDA2-2EF9413C4A03}"/>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0128E72D-71AF-56CC-066F-F99F2BA5CFAB}"/>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5741638F-F5AD-E038-D69D-DE3BD2B0CA16}"/>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13CD6B0F-AF85-A6C8-F4B7-3093EAC7A533}"/>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32215872"/>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11 arch">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3" name="Espace réservé de la date 2">
            <a:extLst>
              <a:ext uri="{FF2B5EF4-FFF2-40B4-BE49-F238E27FC236}">
                <a16:creationId xmlns:a16="http://schemas.microsoft.com/office/drawing/2014/main" id="{AA116833-8BD8-B3D1-78F1-20464BDE6A68}"/>
              </a:ext>
            </a:extLst>
          </p:cNvPr>
          <p:cNvSpPr>
            <a:spLocks noGrp="1"/>
          </p:cNvSpPr>
          <p:nvPr>
            <p:ph type="dt" sz="half" idx="10"/>
          </p:nvPr>
        </p:nvSpPr>
        <p:spPr>
          <a:xfrm>
            <a:off x="8352000" y="6383748"/>
            <a:ext cx="2743200" cy="365125"/>
          </a:xfrm>
          <a:prstGeom prst="rect">
            <a:avLst/>
          </a:prstGeom>
        </p:spPr>
        <p:txBody>
          <a:bodyPr/>
          <a:lstStyle/>
          <a:p>
            <a:fld id="{367F6347-6A04-204C-8F3D-3EF8A8ED41F3}" type="datetime4">
              <a:rPr lang="fr-FR" smtClean="0"/>
              <a:pPr/>
              <a:t>9 janvier 2025</a:t>
            </a:fld>
            <a:endParaRPr lang="fr-FR"/>
          </a:p>
        </p:txBody>
      </p:sp>
      <p:sp>
        <p:nvSpPr>
          <p:cNvPr id="8" name="Forme libre 7">
            <a:extLst>
              <a:ext uri="{FF2B5EF4-FFF2-40B4-BE49-F238E27FC236}">
                <a16:creationId xmlns:a16="http://schemas.microsoft.com/office/drawing/2014/main" id="{9151C266-CEE8-C442-58D8-9B48D8ADA60C}"/>
              </a:ext>
            </a:extLst>
          </p:cNvPr>
          <p:cNvSpPr/>
          <p:nvPr/>
        </p:nvSpPr>
        <p:spPr>
          <a:xfrm rot="10800000">
            <a:off x="6095998" y="6359526"/>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1" name="Connecteur droit 10">
            <a:extLst>
              <a:ext uri="{FF2B5EF4-FFF2-40B4-BE49-F238E27FC236}">
                <a16:creationId xmlns:a16="http://schemas.microsoft.com/office/drawing/2014/main" id="{881AC244-86AC-8DE7-8D24-19B826E446D1}"/>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EE32E619-B5D0-9D32-3157-5AB76E22B58E}"/>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BA7B040C-663A-7960-FA58-E11A1B64FD21}"/>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4" name="Espace réservé du texte 2">
            <a:extLst>
              <a:ext uri="{FF2B5EF4-FFF2-40B4-BE49-F238E27FC236}">
                <a16:creationId xmlns:a16="http://schemas.microsoft.com/office/drawing/2014/main" id="{C1F12B7C-E706-7F62-B0DE-798DE1F474A1}"/>
              </a:ext>
            </a:extLst>
          </p:cNvPr>
          <p:cNvSpPr>
            <a:spLocks noGrp="1"/>
          </p:cNvSpPr>
          <p:nvPr>
            <p:ph idx="1"/>
          </p:nvPr>
        </p:nvSpPr>
        <p:spPr>
          <a:xfrm>
            <a:off x="608400" y="1900800"/>
            <a:ext cx="10972800" cy="4460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030113721"/>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r 1">
    <p:bg>
      <p:bgPr>
        <a:solidFill>
          <a:schemeClr val="bg1"/>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4BAE325-C39F-AEB9-C00F-F4E12C7DF22A}"/>
              </a:ext>
            </a:extLst>
          </p:cNvPr>
          <p:cNvSpPr/>
          <p:nvPr userDrawn="1"/>
        </p:nvSpPr>
        <p:spPr>
          <a:xfrm>
            <a:off x="1353115" y="1"/>
            <a:ext cx="10838887" cy="5488451"/>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6" name="Rectangle 5">
            <a:extLst>
              <a:ext uri="{FF2B5EF4-FFF2-40B4-BE49-F238E27FC236}">
                <a16:creationId xmlns:a16="http://schemas.microsoft.com/office/drawing/2014/main" id="{6C92F262-6EF6-2009-C191-D5A68D1B3BCC}"/>
              </a:ext>
            </a:extLst>
          </p:cNvPr>
          <p:cNvSpPr/>
          <p:nvPr/>
        </p:nvSpPr>
        <p:spPr>
          <a:xfrm>
            <a:off x="1353113" y="0"/>
            <a:ext cx="10838886" cy="5488450"/>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6445404" y="1282390"/>
            <a:ext cx="4908396"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11" name="Titre 10">
            <a:extLst>
              <a:ext uri="{FF2B5EF4-FFF2-40B4-BE49-F238E27FC236}">
                <a16:creationId xmlns:a16="http://schemas.microsoft.com/office/drawing/2014/main" id="{E6011F6F-3060-F409-5A15-66D812D4195D}"/>
              </a:ext>
            </a:extLst>
          </p:cNvPr>
          <p:cNvSpPr>
            <a:spLocks noGrp="1"/>
          </p:cNvSpPr>
          <p:nvPr>
            <p:ph type="title" hasCustomPrompt="1"/>
          </p:nvPr>
        </p:nvSpPr>
        <p:spPr>
          <a:xfrm>
            <a:off x="6445404" y="1658666"/>
            <a:ext cx="4908396" cy="1718016"/>
          </a:xfrm>
        </p:spPr>
        <p:txBody>
          <a:bodyPr>
            <a:normAutofit/>
          </a:bodyPr>
          <a:lstStyle>
            <a:lvl1pPr>
              <a:defRPr sz="4700">
                <a:solidFill>
                  <a:schemeClr val="bg1"/>
                </a:solidFill>
              </a:defRPr>
            </a:lvl1pPr>
          </a:lstStyle>
          <a:p>
            <a:r>
              <a:rPr lang="en-US"/>
              <a:t>Part title</a:t>
            </a:r>
            <a:br>
              <a:rPr lang="en-US"/>
            </a:br>
            <a:r>
              <a:rPr lang="en-US"/>
              <a:t>on two lines</a:t>
            </a:r>
            <a:endParaRPr lang="fr-FR"/>
          </a:p>
        </p:txBody>
      </p:sp>
      <p:sp>
        <p:nvSpPr>
          <p:cNvPr id="5" name="Ellipse 4">
            <a:extLst>
              <a:ext uri="{FF2B5EF4-FFF2-40B4-BE49-F238E27FC236}">
                <a16:creationId xmlns:a16="http://schemas.microsoft.com/office/drawing/2014/main" id="{D5B9C777-7272-BBF1-C78F-F2FA22D4C299}"/>
              </a:ext>
            </a:extLst>
          </p:cNvPr>
          <p:cNvSpPr/>
          <p:nvPr/>
        </p:nvSpPr>
        <p:spPr>
          <a:xfrm>
            <a:off x="1346790"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E10EA330-4D95-6CDD-B995-EAAB843F7E44}"/>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0C250250-D277-8585-2011-5D848C79C17F}"/>
              </a:ext>
            </a:extLst>
          </p:cNvPr>
          <p:cNvSpPr/>
          <p:nvPr userDrawn="1"/>
        </p:nvSpPr>
        <p:spPr>
          <a:xfrm>
            <a:off x="1346791"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10216750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Slider 2">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DAD328F-1F6B-9B8F-74D5-4B987FC4A10A}"/>
              </a:ext>
            </a:extLst>
          </p:cNvPr>
          <p:cNvSpPr/>
          <p:nvPr userDrawn="1"/>
        </p:nvSpPr>
        <p:spPr>
          <a:xfrm>
            <a:off x="1438835" y="1358155"/>
            <a:ext cx="10753167"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7" name="Rectangle 6">
            <a:extLst>
              <a:ext uri="{FF2B5EF4-FFF2-40B4-BE49-F238E27FC236}">
                <a16:creationId xmlns:a16="http://schemas.microsoft.com/office/drawing/2014/main" id="{8D25B1F4-C992-04CF-CA94-4738516E304C}"/>
              </a:ext>
            </a:extLst>
          </p:cNvPr>
          <p:cNvSpPr/>
          <p:nvPr/>
        </p:nvSpPr>
        <p:spPr>
          <a:xfrm>
            <a:off x="1438834" y="1358153"/>
            <a:ext cx="10753166"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6581550" y="4207697"/>
            <a:ext cx="5000850" cy="1826129"/>
          </a:xfrm>
        </p:spPr>
        <p:txBody>
          <a:bodyPr anchor="t">
            <a:normAutofit/>
          </a:bodyPr>
          <a:lstStyle>
            <a:lvl1pPr algn="l">
              <a:defRPr sz="4700">
                <a:solidFill>
                  <a:schemeClr val="tx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6581550" y="3806254"/>
            <a:ext cx="5000850" cy="401443"/>
          </a:xfrm>
        </p:spPr>
        <p:txBody>
          <a:bodyPr>
            <a:normAutofit/>
          </a:bodyPr>
          <a:lstStyle>
            <a:lvl1pPr marL="0" indent="0" algn="l">
              <a:buNone/>
              <a:defRPr sz="1800" b="1" i="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8" name="Ellipse 7">
            <a:extLst>
              <a:ext uri="{FF2B5EF4-FFF2-40B4-BE49-F238E27FC236}">
                <a16:creationId xmlns:a16="http://schemas.microsoft.com/office/drawing/2014/main" id="{0B1DC7D8-FD20-5748-C294-363F5925E32A}"/>
              </a:ext>
            </a:extLst>
          </p:cNvPr>
          <p:cNvSpPr/>
          <p:nvPr/>
        </p:nvSpPr>
        <p:spPr>
          <a:xfrm>
            <a:off x="1346790"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042F1B2A-2B48-87FB-7459-38516591BF62}"/>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B1B535D4-CB06-D017-019B-1E179D8E1409}"/>
              </a:ext>
            </a:extLst>
          </p:cNvPr>
          <p:cNvSpPr/>
          <p:nvPr userDrawn="1"/>
        </p:nvSpPr>
        <p:spPr>
          <a:xfrm>
            <a:off x="1346791"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28951215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Slider 3">
    <p:bg>
      <p:bgPr>
        <a:solidFill>
          <a:schemeClr val="bg1"/>
        </a:solidFill>
        <a:effectLst/>
      </p:bgPr>
    </p:bg>
    <p:spTree>
      <p:nvGrpSpPr>
        <p:cNvPr id="1" name=""/>
        <p:cNvGrpSpPr/>
        <p:nvPr/>
      </p:nvGrpSpPr>
      <p:grpSpPr>
        <a:xfrm>
          <a:off x="0" y="0"/>
          <a:ext cx="0" cy="0"/>
          <a:chOff x="0" y="0"/>
          <a:chExt cx="0" cy="0"/>
        </a:xfrm>
      </p:grpSpPr>
      <p:sp>
        <p:nvSpPr>
          <p:cNvPr id="4" name="Forme libre 11">
            <a:extLst>
              <a:ext uri="{FF2B5EF4-FFF2-40B4-BE49-F238E27FC236}">
                <a16:creationId xmlns:a16="http://schemas.microsoft.com/office/drawing/2014/main" id="{BAE3AEB7-D013-73AF-CE8B-935C67008388}"/>
              </a:ext>
            </a:extLst>
          </p:cNvPr>
          <p:cNvSpPr/>
          <p:nvPr userDrawn="1"/>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sp>
        <p:nvSpPr>
          <p:cNvPr id="12" name="Forme libre 11">
            <a:extLst>
              <a:ext uri="{FF2B5EF4-FFF2-40B4-BE49-F238E27FC236}">
                <a16:creationId xmlns:a16="http://schemas.microsoft.com/office/drawing/2014/main" id="{8A085252-CDBA-743A-5024-B4B251F6DC2D}"/>
              </a:ext>
            </a:extLst>
          </p:cNvPr>
          <p:cNvSpPr/>
          <p:nvPr/>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Ellipse 9">
            <a:extLst>
              <a:ext uri="{FF2B5EF4-FFF2-40B4-BE49-F238E27FC236}">
                <a16:creationId xmlns:a16="http://schemas.microsoft.com/office/drawing/2014/main" id="{174A1CED-0C3F-9F75-A4E0-14A38E244100}"/>
              </a:ext>
            </a:extLst>
          </p:cNvPr>
          <p:cNvSpPr/>
          <p:nvPr/>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1250795" y="1683833"/>
            <a:ext cx="4638907" cy="1826129"/>
          </a:xfrm>
        </p:spPr>
        <p:txBody>
          <a:bodyPr anchor="t">
            <a:normAutofit/>
          </a:bodyPr>
          <a:lstStyle>
            <a:lvl1pPr algn="l">
              <a:defRPr sz="4700">
                <a:solidFill>
                  <a:schemeClr val="bg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1250795" y="1282390"/>
            <a:ext cx="4638907"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cxnSp>
        <p:nvCxnSpPr>
          <p:cNvPr id="8" name="Connecteur droit 7">
            <a:extLst>
              <a:ext uri="{FF2B5EF4-FFF2-40B4-BE49-F238E27FC236}">
                <a16:creationId xmlns:a16="http://schemas.microsoft.com/office/drawing/2014/main" id="{4AE5A530-1214-D963-536B-637AB73AB459}"/>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D574780B-D2A8-9138-C3A5-115A51F3E8E6}"/>
              </a:ext>
            </a:extLst>
          </p:cNvPr>
          <p:cNvSpPr/>
          <p:nvPr userDrawn="1"/>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28448578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Slider 4">
    <p:bg>
      <p:bgPr>
        <a:solidFill>
          <a:schemeClr val="bg1"/>
        </a:solidFill>
        <a:effectLst/>
      </p:bgPr>
    </p:bg>
    <p:spTree>
      <p:nvGrpSpPr>
        <p:cNvPr id="1" name=""/>
        <p:cNvGrpSpPr/>
        <p:nvPr/>
      </p:nvGrpSpPr>
      <p:grpSpPr>
        <a:xfrm>
          <a:off x="0" y="0"/>
          <a:ext cx="0" cy="0"/>
          <a:chOff x="0" y="0"/>
          <a:chExt cx="0" cy="0"/>
        </a:xfrm>
      </p:grpSpPr>
      <p:sp>
        <p:nvSpPr>
          <p:cNvPr id="4" name="Forme libre 9">
            <a:extLst>
              <a:ext uri="{FF2B5EF4-FFF2-40B4-BE49-F238E27FC236}">
                <a16:creationId xmlns:a16="http://schemas.microsoft.com/office/drawing/2014/main" id="{746ADE13-689B-CC05-2E83-5814849D8109}"/>
              </a:ext>
            </a:extLst>
          </p:cNvPr>
          <p:cNvSpPr/>
          <p:nvPr userDrawn="1"/>
        </p:nvSpPr>
        <p:spPr>
          <a:xfrm>
            <a:off x="-3780" y="3"/>
            <a:ext cx="10760579" cy="7254654"/>
          </a:xfrm>
          <a:custGeom>
            <a:avLst/>
            <a:gdLst>
              <a:gd name="connsiteX0" fmla="*/ 0 w 10758243"/>
              <a:gd name="connsiteY0" fmla="*/ 0 h 6855948"/>
              <a:gd name="connsiteX1" fmla="*/ 5585132 w 10758243"/>
              <a:gd name="connsiteY1" fmla="*/ 0 h 6855948"/>
              <a:gd name="connsiteX2" fmla="*/ 10758243 w 10758243"/>
              <a:gd name="connsiteY2" fmla="*/ 4961965 h 6855948"/>
              <a:gd name="connsiteX3" fmla="*/ 10593698 w 10758243"/>
              <a:gd name="connsiteY3" fmla="*/ 5499847 h 6855948"/>
              <a:gd name="connsiteX4" fmla="*/ 0 w 10758243"/>
              <a:gd name="connsiteY4" fmla="*/ 6855948 h 6855948"/>
              <a:gd name="connsiteX0" fmla="*/ 0 w 10758243"/>
              <a:gd name="connsiteY0" fmla="*/ 0 h 6855948"/>
              <a:gd name="connsiteX1" fmla="*/ 5585132 w 10758243"/>
              <a:gd name="connsiteY1" fmla="*/ 0 h 6855948"/>
              <a:gd name="connsiteX2" fmla="*/ 10758243 w 10758243"/>
              <a:gd name="connsiteY2" fmla="*/ 4961965 h 6855948"/>
              <a:gd name="connsiteX3" fmla="*/ 10577823 w 10758243"/>
              <a:gd name="connsiteY3" fmla="*/ 5483972 h 6855948"/>
              <a:gd name="connsiteX4" fmla="*/ 0 w 10758243"/>
              <a:gd name="connsiteY4" fmla="*/ 6855948 h 6855948"/>
              <a:gd name="connsiteX5" fmla="*/ 0 w 10758243"/>
              <a:gd name="connsiteY5" fmla="*/ 0 h 6855948"/>
              <a:gd name="connsiteX0" fmla="*/ 0 w 10742368"/>
              <a:gd name="connsiteY0" fmla="*/ 0 h 6855948"/>
              <a:gd name="connsiteX1" fmla="*/ 5585132 w 10742368"/>
              <a:gd name="connsiteY1" fmla="*/ 0 h 6855948"/>
              <a:gd name="connsiteX2" fmla="*/ 10742368 w 10742368"/>
              <a:gd name="connsiteY2" fmla="*/ 4936565 h 6855948"/>
              <a:gd name="connsiteX3" fmla="*/ 10577823 w 10742368"/>
              <a:gd name="connsiteY3" fmla="*/ 5483972 h 6855948"/>
              <a:gd name="connsiteX4" fmla="*/ 0 w 10742368"/>
              <a:gd name="connsiteY4" fmla="*/ 6855948 h 6855948"/>
              <a:gd name="connsiteX5" fmla="*/ 0 w 10742368"/>
              <a:gd name="connsiteY5" fmla="*/ 0 h 6855948"/>
              <a:gd name="connsiteX0" fmla="*/ 3774 w 10746142"/>
              <a:gd name="connsiteY0" fmla="*/ 0 h 6976861"/>
              <a:gd name="connsiteX1" fmla="*/ 5588906 w 10746142"/>
              <a:gd name="connsiteY1" fmla="*/ 0 h 6976861"/>
              <a:gd name="connsiteX2" fmla="*/ 10746142 w 10746142"/>
              <a:gd name="connsiteY2" fmla="*/ 4936565 h 6976861"/>
              <a:gd name="connsiteX3" fmla="*/ 10581597 w 10746142"/>
              <a:gd name="connsiteY3" fmla="*/ 5483972 h 6976861"/>
              <a:gd name="connsiteX4" fmla="*/ 0 w 10746142"/>
              <a:gd name="connsiteY4" fmla="*/ 6976861 h 6976861"/>
              <a:gd name="connsiteX5" fmla="*/ 3774 w 10746142"/>
              <a:gd name="connsiteY5" fmla="*/ 0 h 6976861"/>
              <a:gd name="connsiteX0" fmla="*/ 3774 w 10746142"/>
              <a:gd name="connsiteY0" fmla="*/ 0 h 7254654"/>
              <a:gd name="connsiteX1" fmla="*/ 5588906 w 10746142"/>
              <a:gd name="connsiteY1" fmla="*/ 0 h 7254654"/>
              <a:gd name="connsiteX2" fmla="*/ 10746142 w 10746142"/>
              <a:gd name="connsiteY2" fmla="*/ 4936565 h 7254654"/>
              <a:gd name="connsiteX3" fmla="*/ 10581597 w 10746142"/>
              <a:gd name="connsiteY3" fmla="*/ 5483972 h 7254654"/>
              <a:gd name="connsiteX4" fmla="*/ 0 w 10746142"/>
              <a:gd name="connsiteY4" fmla="*/ 7254654 h 7254654"/>
              <a:gd name="connsiteX5" fmla="*/ 3774 w 10746142"/>
              <a:gd name="connsiteY5" fmla="*/ 0 h 7254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46142" h="7254654">
                <a:moveTo>
                  <a:pt x="3774" y="0"/>
                </a:moveTo>
                <a:lnTo>
                  <a:pt x="5588906" y="0"/>
                </a:lnTo>
                <a:lnTo>
                  <a:pt x="10746142" y="4936565"/>
                </a:lnTo>
                <a:lnTo>
                  <a:pt x="10581597" y="5483972"/>
                </a:lnTo>
                <a:lnTo>
                  <a:pt x="0" y="7254654"/>
                </a:lnTo>
                <a:lnTo>
                  <a:pt x="377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sp>
        <p:nvSpPr>
          <p:cNvPr id="10" name="Forme libre 9">
            <a:extLst>
              <a:ext uri="{FF2B5EF4-FFF2-40B4-BE49-F238E27FC236}">
                <a16:creationId xmlns:a16="http://schemas.microsoft.com/office/drawing/2014/main" id="{7A8B1436-D535-4E4D-77A0-5C663D5E69B9}"/>
              </a:ext>
            </a:extLst>
          </p:cNvPr>
          <p:cNvSpPr/>
          <p:nvPr/>
        </p:nvSpPr>
        <p:spPr>
          <a:xfrm>
            <a:off x="0" y="0"/>
            <a:ext cx="10756800" cy="6508708"/>
          </a:xfrm>
          <a:custGeom>
            <a:avLst/>
            <a:gdLst>
              <a:gd name="connsiteX0" fmla="*/ 0 w 10758243"/>
              <a:gd name="connsiteY0" fmla="*/ 0 h 6855948"/>
              <a:gd name="connsiteX1" fmla="*/ 5585132 w 10758243"/>
              <a:gd name="connsiteY1" fmla="*/ 0 h 6855948"/>
              <a:gd name="connsiteX2" fmla="*/ 10758243 w 10758243"/>
              <a:gd name="connsiteY2" fmla="*/ 4961965 h 6855948"/>
              <a:gd name="connsiteX3" fmla="*/ 10593698 w 10758243"/>
              <a:gd name="connsiteY3" fmla="*/ 5499847 h 6855948"/>
              <a:gd name="connsiteX4" fmla="*/ 0 w 10758243"/>
              <a:gd name="connsiteY4" fmla="*/ 6855948 h 6855948"/>
              <a:gd name="connsiteX0" fmla="*/ 0 w 10758243"/>
              <a:gd name="connsiteY0" fmla="*/ 0 h 6855948"/>
              <a:gd name="connsiteX1" fmla="*/ 5585132 w 10758243"/>
              <a:gd name="connsiteY1" fmla="*/ 0 h 6855948"/>
              <a:gd name="connsiteX2" fmla="*/ 10758243 w 10758243"/>
              <a:gd name="connsiteY2" fmla="*/ 4961965 h 6855948"/>
              <a:gd name="connsiteX3" fmla="*/ 10577823 w 10758243"/>
              <a:gd name="connsiteY3" fmla="*/ 5483972 h 6855948"/>
              <a:gd name="connsiteX4" fmla="*/ 0 w 10758243"/>
              <a:gd name="connsiteY4" fmla="*/ 6855948 h 6855948"/>
              <a:gd name="connsiteX5" fmla="*/ 0 w 10758243"/>
              <a:gd name="connsiteY5" fmla="*/ 0 h 6855948"/>
              <a:gd name="connsiteX0" fmla="*/ 0 w 10742368"/>
              <a:gd name="connsiteY0" fmla="*/ 0 h 6855948"/>
              <a:gd name="connsiteX1" fmla="*/ 5585132 w 10742368"/>
              <a:gd name="connsiteY1" fmla="*/ 0 h 6855948"/>
              <a:gd name="connsiteX2" fmla="*/ 10742368 w 10742368"/>
              <a:gd name="connsiteY2" fmla="*/ 4936565 h 6855948"/>
              <a:gd name="connsiteX3" fmla="*/ 10577823 w 10742368"/>
              <a:gd name="connsiteY3" fmla="*/ 5483972 h 6855948"/>
              <a:gd name="connsiteX4" fmla="*/ 0 w 10742368"/>
              <a:gd name="connsiteY4" fmla="*/ 6855948 h 6855948"/>
              <a:gd name="connsiteX5" fmla="*/ 0 w 10742368"/>
              <a:gd name="connsiteY5" fmla="*/ 0 h 6855948"/>
              <a:gd name="connsiteX0" fmla="*/ 0 w 10742368"/>
              <a:gd name="connsiteY0" fmla="*/ 0 h 6508708"/>
              <a:gd name="connsiteX1" fmla="*/ 5585132 w 10742368"/>
              <a:gd name="connsiteY1" fmla="*/ 0 h 6508708"/>
              <a:gd name="connsiteX2" fmla="*/ 10742368 w 10742368"/>
              <a:gd name="connsiteY2" fmla="*/ 4936565 h 6508708"/>
              <a:gd name="connsiteX3" fmla="*/ 10577823 w 10742368"/>
              <a:gd name="connsiteY3" fmla="*/ 5483972 h 6508708"/>
              <a:gd name="connsiteX4" fmla="*/ 0 w 10742368"/>
              <a:gd name="connsiteY4" fmla="*/ 6508708 h 6508708"/>
              <a:gd name="connsiteX5" fmla="*/ 0 w 10742368"/>
              <a:gd name="connsiteY5" fmla="*/ 0 h 650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42368" h="6508708">
                <a:moveTo>
                  <a:pt x="0" y="0"/>
                </a:moveTo>
                <a:lnTo>
                  <a:pt x="5585132" y="0"/>
                </a:lnTo>
                <a:lnTo>
                  <a:pt x="10742368" y="4936565"/>
                </a:lnTo>
                <a:lnTo>
                  <a:pt x="10577823" y="5483972"/>
                </a:lnTo>
                <a:lnTo>
                  <a:pt x="0" y="6508708"/>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1250795" y="1683833"/>
            <a:ext cx="4638907" cy="1826129"/>
          </a:xfrm>
        </p:spPr>
        <p:txBody>
          <a:bodyPr anchor="t">
            <a:normAutofit/>
          </a:bodyPr>
          <a:lstStyle>
            <a:lvl1pPr algn="l">
              <a:defRPr sz="4700">
                <a:solidFill>
                  <a:schemeClr val="bg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1250796" y="1282390"/>
            <a:ext cx="4638906"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7" name="Ellipse 6">
            <a:extLst>
              <a:ext uri="{FF2B5EF4-FFF2-40B4-BE49-F238E27FC236}">
                <a16:creationId xmlns:a16="http://schemas.microsoft.com/office/drawing/2014/main" id="{552D1397-CA28-8909-887F-05A693B59CEC}"/>
              </a:ext>
            </a:extLst>
          </p:cNvPr>
          <p:cNvSpPr/>
          <p:nvPr/>
        </p:nvSpPr>
        <p:spPr>
          <a:xfrm>
            <a:off x="10206956"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E5D53550-2F77-BADC-6B3F-D1827B07E53A}"/>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12E59FC7-298A-13F1-2E2E-DF9FEC57A207}"/>
              </a:ext>
            </a:extLst>
          </p:cNvPr>
          <p:cNvSpPr/>
          <p:nvPr userDrawn="1"/>
        </p:nvSpPr>
        <p:spPr>
          <a:xfrm>
            <a:off x="10206956"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36649420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r 5">
    <p:bg>
      <p:bgPr>
        <a:solidFill>
          <a:schemeClr val="bg1"/>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F4767DF-CCB6-8DD2-1C25-1C885E7A4F46}"/>
              </a:ext>
            </a:extLst>
          </p:cNvPr>
          <p:cNvSpPr/>
          <p:nvPr userDrawn="1"/>
        </p:nvSpPr>
        <p:spPr>
          <a:xfrm>
            <a:off x="1353115" y="1"/>
            <a:ext cx="10838887" cy="5488451"/>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6" name="Rectangle 5">
            <a:extLst>
              <a:ext uri="{FF2B5EF4-FFF2-40B4-BE49-F238E27FC236}">
                <a16:creationId xmlns:a16="http://schemas.microsoft.com/office/drawing/2014/main" id="{508EA318-3FF8-A5A0-C3CD-B4F397C6C01F}"/>
              </a:ext>
            </a:extLst>
          </p:cNvPr>
          <p:cNvSpPr/>
          <p:nvPr/>
        </p:nvSpPr>
        <p:spPr>
          <a:xfrm>
            <a:off x="1353113" y="0"/>
            <a:ext cx="10838886" cy="5488450"/>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ous-titre 2">
            <a:extLst>
              <a:ext uri="{FF2B5EF4-FFF2-40B4-BE49-F238E27FC236}">
                <a16:creationId xmlns:a16="http://schemas.microsoft.com/office/drawing/2014/main" id="{6AD0C064-4F78-ADAE-9DED-E3310BFD1BFC}"/>
              </a:ext>
            </a:extLst>
          </p:cNvPr>
          <p:cNvSpPr>
            <a:spLocks noGrp="1"/>
          </p:cNvSpPr>
          <p:nvPr>
            <p:ph type="subTitle" idx="1" hasCustomPrompt="1"/>
          </p:nvPr>
        </p:nvSpPr>
        <p:spPr>
          <a:xfrm>
            <a:off x="6445404" y="1282390"/>
            <a:ext cx="4908396"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12" name="Titre 10">
            <a:extLst>
              <a:ext uri="{FF2B5EF4-FFF2-40B4-BE49-F238E27FC236}">
                <a16:creationId xmlns:a16="http://schemas.microsoft.com/office/drawing/2014/main" id="{99CFA4B4-9359-78C5-AF18-6BBA21057D0D}"/>
              </a:ext>
            </a:extLst>
          </p:cNvPr>
          <p:cNvSpPr>
            <a:spLocks noGrp="1"/>
          </p:cNvSpPr>
          <p:nvPr>
            <p:ph type="title" hasCustomPrompt="1"/>
          </p:nvPr>
        </p:nvSpPr>
        <p:spPr>
          <a:xfrm>
            <a:off x="6445404" y="1658666"/>
            <a:ext cx="4908396" cy="1718016"/>
          </a:xfrm>
        </p:spPr>
        <p:txBody>
          <a:bodyPr>
            <a:normAutofit/>
          </a:bodyPr>
          <a:lstStyle>
            <a:lvl1pPr>
              <a:defRPr sz="4700">
                <a:solidFill>
                  <a:schemeClr val="bg1"/>
                </a:solidFill>
              </a:defRPr>
            </a:lvl1pPr>
          </a:lstStyle>
          <a:p>
            <a:r>
              <a:rPr lang="en-US"/>
              <a:t>Part title</a:t>
            </a:r>
            <a:br>
              <a:rPr lang="en-US"/>
            </a:br>
            <a:r>
              <a:rPr lang="en-US"/>
              <a:t>on two lines</a:t>
            </a:r>
            <a:endParaRPr lang="fr-FR"/>
          </a:p>
        </p:txBody>
      </p:sp>
      <p:sp>
        <p:nvSpPr>
          <p:cNvPr id="14" name="Ellipse 13">
            <a:extLst>
              <a:ext uri="{FF2B5EF4-FFF2-40B4-BE49-F238E27FC236}">
                <a16:creationId xmlns:a16="http://schemas.microsoft.com/office/drawing/2014/main" id="{FE7B47B0-D3FB-3822-3165-53BF22598C9E}"/>
              </a:ext>
            </a:extLst>
          </p:cNvPr>
          <p:cNvSpPr/>
          <p:nvPr/>
        </p:nvSpPr>
        <p:spPr>
          <a:xfrm>
            <a:off x="1346790"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E8F59026-9175-E4F9-0279-E4ECDF104D21}"/>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Ellipse 2">
            <a:extLst>
              <a:ext uri="{FF2B5EF4-FFF2-40B4-BE49-F238E27FC236}">
                <a16:creationId xmlns:a16="http://schemas.microsoft.com/office/drawing/2014/main" id="{0D0EBDE8-77F8-93A0-0B8F-27817676EABE}"/>
              </a:ext>
            </a:extLst>
          </p:cNvPr>
          <p:cNvSpPr/>
          <p:nvPr userDrawn="1"/>
        </p:nvSpPr>
        <p:spPr>
          <a:xfrm>
            <a:off x="1346791"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3727719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Slider 6">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E6E6C356-8C47-F9E3-A0F6-13A0D967336C}"/>
              </a:ext>
            </a:extLst>
          </p:cNvPr>
          <p:cNvSpPr/>
          <p:nvPr userDrawn="1"/>
        </p:nvSpPr>
        <p:spPr>
          <a:xfrm>
            <a:off x="1438835" y="1358155"/>
            <a:ext cx="10753167"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7" name="Rectangle 6">
            <a:extLst>
              <a:ext uri="{FF2B5EF4-FFF2-40B4-BE49-F238E27FC236}">
                <a16:creationId xmlns:a16="http://schemas.microsoft.com/office/drawing/2014/main" id="{8D25B1F4-C992-04CF-CA94-4738516E304C}"/>
              </a:ext>
            </a:extLst>
          </p:cNvPr>
          <p:cNvSpPr/>
          <p:nvPr/>
        </p:nvSpPr>
        <p:spPr>
          <a:xfrm>
            <a:off x="1438834" y="1358153"/>
            <a:ext cx="10753166"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6581550" y="4207697"/>
            <a:ext cx="5000850" cy="1826129"/>
          </a:xfrm>
        </p:spPr>
        <p:txBody>
          <a:bodyPr anchor="t">
            <a:normAutofit/>
          </a:bodyPr>
          <a:lstStyle>
            <a:lvl1pPr algn="l">
              <a:defRPr sz="4700">
                <a:solidFill>
                  <a:schemeClr val="tx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6581550" y="3806254"/>
            <a:ext cx="5000850" cy="401443"/>
          </a:xfrm>
        </p:spPr>
        <p:txBody>
          <a:bodyPr>
            <a:normAutofit/>
          </a:bodyPr>
          <a:lstStyle>
            <a:lvl1pPr marL="0" indent="0" algn="l">
              <a:buNone/>
              <a:defRPr sz="1800" b="1" i="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8" name="Ellipse 7">
            <a:extLst>
              <a:ext uri="{FF2B5EF4-FFF2-40B4-BE49-F238E27FC236}">
                <a16:creationId xmlns:a16="http://schemas.microsoft.com/office/drawing/2014/main" id="{0B1DC7D8-FD20-5748-C294-363F5925E32A}"/>
              </a:ext>
            </a:extLst>
          </p:cNvPr>
          <p:cNvSpPr/>
          <p:nvPr/>
        </p:nvSpPr>
        <p:spPr>
          <a:xfrm>
            <a:off x="1346790"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FEBFB984-81EC-FB2D-B84B-8F3C3143541B}"/>
              </a:ext>
            </a:extLst>
          </p:cNvPr>
          <p:cNvSpPr/>
          <p:nvPr userDrawn="1"/>
        </p:nvSpPr>
        <p:spPr>
          <a:xfrm>
            <a:off x="1346791"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37003474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Slider 7">
    <p:bg>
      <p:bgPr>
        <a:solidFill>
          <a:schemeClr val="bg1"/>
        </a:solidFill>
        <a:effectLst/>
      </p:bgPr>
    </p:bg>
    <p:spTree>
      <p:nvGrpSpPr>
        <p:cNvPr id="1" name=""/>
        <p:cNvGrpSpPr/>
        <p:nvPr/>
      </p:nvGrpSpPr>
      <p:grpSpPr>
        <a:xfrm>
          <a:off x="0" y="0"/>
          <a:ext cx="0" cy="0"/>
          <a:chOff x="0" y="0"/>
          <a:chExt cx="0" cy="0"/>
        </a:xfrm>
      </p:grpSpPr>
      <p:sp>
        <p:nvSpPr>
          <p:cNvPr id="4" name="Forme libre 11">
            <a:extLst>
              <a:ext uri="{FF2B5EF4-FFF2-40B4-BE49-F238E27FC236}">
                <a16:creationId xmlns:a16="http://schemas.microsoft.com/office/drawing/2014/main" id="{11179F0C-517F-CCB1-379F-9C9022C064D5}"/>
              </a:ext>
            </a:extLst>
          </p:cNvPr>
          <p:cNvSpPr/>
          <p:nvPr userDrawn="1"/>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sp>
        <p:nvSpPr>
          <p:cNvPr id="12" name="Forme libre 11">
            <a:extLst>
              <a:ext uri="{FF2B5EF4-FFF2-40B4-BE49-F238E27FC236}">
                <a16:creationId xmlns:a16="http://schemas.microsoft.com/office/drawing/2014/main" id="{8A085252-CDBA-743A-5024-B4B251F6DC2D}"/>
              </a:ext>
            </a:extLst>
          </p:cNvPr>
          <p:cNvSpPr/>
          <p:nvPr/>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Ellipse 9">
            <a:extLst>
              <a:ext uri="{FF2B5EF4-FFF2-40B4-BE49-F238E27FC236}">
                <a16:creationId xmlns:a16="http://schemas.microsoft.com/office/drawing/2014/main" id="{174A1CED-0C3F-9F75-A4E0-14A38E244100}"/>
              </a:ext>
            </a:extLst>
          </p:cNvPr>
          <p:cNvSpPr/>
          <p:nvPr/>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1250795" y="1683833"/>
            <a:ext cx="4638907" cy="1826129"/>
          </a:xfrm>
        </p:spPr>
        <p:txBody>
          <a:bodyPr anchor="t">
            <a:normAutofit/>
          </a:bodyPr>
          <a:lstStyle>
            <a:lvl1pPr algn="l">
              <a:defRPr sz="4700">
                <a:solidFill>
                  <a:schemeClr val="bg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1250795" y="1282390"/>
            <a:ext cx="4638907"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cxnSp>
        <p:nvCxnSpPr>
          <p:cNvPr id="5" name="Connecteur droit 4">
            <a:extLst>
              <a:ext uri="{FF2B5EF4-FFF2-40B4-BE49-F238E27FC236}">
                <a16:creationId xmlns:a16="http://schemas.microsoft.com/office/drawing/2014/main" id="{1E6BA887-7A40-A035-6790-007051980D7C}"/>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Ellipse 5">
            <a:extLst>
              <a:ext uri="{FF2B5EF4-FFF2-40B4-BE49-F238E27FC236}">
                <a16:creationId xmlns:a16="http://schemas.microsoft.com/office/drawing/2014/main" id="{37ADF93B-82BD-074B-8B90-65F5B5A2E0FE}"/>
              </a:ext>
            </a:extLst>
          </p:cNvPr>
          <p:cNvSpPr/>
          <p:nvPr userDrawn="1"/>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32853559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r 8">
    <p:bg>
      <p:bgPr>
        <a:solidFill>
          <a:schemeClr val="bg1"/>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55AC3BD-FB48-FBD3-064B-B9D1CAF7A892}"/>
              </a:ext>
            </a:extLst>
          </p:cNvPr>
          <p:cNvSpPr/>
          <p:nvPr userDrawn="1"/>
        </p:nvSpPr>
        <p:spPr>
          <a:xfrm>
            <a:off x="1353115" y="1"/>
            <a:ext cx="10838887" cy="5488451"/>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rgbClr val="5FC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6" name="Rectangle 5">
            <a:extLst>
              <a:ext uri="{FF2B5EF4-FFF2-40B4-BE49-F238E27FC236}">
                <a16:creationId xmlns:a16="http://schemas.microsoft.com/office/drawing/2014/main" id="{6C92F262-6EF6-2009-C191-D5A68D1B3BCC}"/>
              </a:ext>
            </a:extLst>
          </p:cNvPr>
          <p:cNvSpPr/>
          <p:nvPr/>
        </p:nvSpPr>
        <p:spPr>
          <a:xfrm>
            <a:off x="1353113" y="0"/>
            <a:ext cx="10838886" cy="5488450"/>
          </a:xfrm>
          <a:custGeom>
            <a:avLst/>
            <a:gdLst>
              <a:gd name="connsiteX0" fmla="*/ 0 w 9749742"/>
              <a:gd name="connsiteY0" fmla="*/ 0 h 4722471"/>
              <a:gd name="connsiteX1" fmla="*/ 9749742 w 9749742"/>
              <a:gd name="connsiteY1" fmla="*/ 0 h 4722471"/>
              <a:gd name="connsiteX2" fmla="*/ 9749742 w 9749742"/>
              <a:gd name="connsiteY2" fmla="*/ 4722471 h 4722471"/>
              <a:gd name="connsiteX3" fmla="*/ 0 w 9749742"/>
              <a:gd name="connsiteY3" fmla="*/ 4722471 h 4722471"/>
              <a:gd name="connsiteX4" fmla="*/ 0 w 9749742"/>
              <a:gd name="connsiteY4" fmla="*/ 0 h 4722471"/>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729205 w 10478947"/>
              <a:gd name="connsiteY4" fmla="*/ 0 h 5497975"/>
              <a:gd name="connsiteX0" fmla="*/ 729205 w 10478947"/>
              <a:gd name="connsiteY0" fmla="*/ 0 h 5497975"/>
              <a:gd name="connsiteX1" fmla="*/ 10478947 w 10478947"/>
              <a:gd name="connsiteY1" fmla="*/ 0 h 5497975"/>
              <a:gd name="connsiteX2" fmla="*/ 10478947 w 10478947"/>
              <a:gd name="connsiteY2" fmla="*/ 4722471 h 5497975"/>
              <a:gd name="connsiteX3" fmla="*/ 0 w 10478947"/>
              <a:gd name="connsiteY3" fmla="*/ 5497975 h 5497975"/>
              <a:gd name="connsiteX4" fmla="*/ 219920 w 10478947"/>
              <a:gd name="connsiteY4" fmla="*/ 3784922 h 5497975"/>
              <a:gd name="connsiteX5" fmla="*/ 729205 w 10478947"/>
              <a:gd name="connsiteY5" fmla="*/ 0 h 5497975"/>
              <a:gd name="connsiteX0" fmla="*/ 1076444 w 10826186"/>
              <a:gd name="connsiteY0" fmla="*/ 0 h 5497975"/>
              <a:gd name="connsiteX1" fmla="*/ 10826186 w 10826186"/>
              <a:gd name="connsiteY1" fmla="*/ 0 h 5497975"/>
              <a:gd name="connsiteX2" fmla="*/ 10826186 w 10826186"/>
              <a:gd name="connsiteY2" fmla="*/ 4722471 h 5497975"/>
              <a:gd name="connsiteX3" fmla="*/ 347239 w 10826186"/>
              <a:gd name="connsiteY3" fmla="*/ 5497975 h 5497975"/>
              <a:gd name="connsiteX4" fmla="*/ 0 w 10826186"/>
              <a:gd name="connsiteY4" fmla="*/ 5127585 h 5497975"/>
              <a:gd name="connsiteX5" fmla="*/ 1076444 w 10826186"/>
              <a:gd name="connsiteY5" fmla="*/ 0 h 5497975"/>
              <a:gd name="connsiteX0" fmla="*/ 1089144 w 10838886"/>
              <a:gd name="connsiteY0" fmla="*/ 0 h 5497975"/>
              <a:gd name="connsiteX1" fmla="*/ 10838886 w 10838886"/>
              <a:gd name="connsiteY1" fmla="*/ 0 h 5497975"/>
              <a:gd name="connsiteX2" fmla="*/ 10838886 w 10838886"/>
              <a:gd name="connsiteY2" fmla="*/ 4722471 h 5497975"/>
              <a:gd name="connsiteX3" fmla="*/ 359939 w 10838886"/>
              <a:gd name="connsiteY3" fmla="*/ 5497975 h 5497975"/>
              <a:gd name="connsiteX4" fmla="*/ 0 w 10838886"/>
              <a:gd name="connsiteY4" fmla="*/ 5105360 h 5497975"/>
              <a:gd name="connsiteX5" fmla="*/ 1089144 w 10838886"/>
              <a:gd name="connsiteY5" fmla="*/ 0 h 5497975"/>
              <a:gd name="connsiteX0" fmla="*/ 1089144 w 10838886"/>
              <a:gd name="connsiteY0" fmla="*/ 0 h 5488450"/>
              <a:gd name="connsiteX1" fmla="*/ 10838886 w 10838886"/>
              <a:gd name="connsiteY1" fmla="*/ 0 h 5488450"/>
              <a:gd name="connsiteX2" fmla="*/ 10838886 w 10838886"/>
              <a:gd name="connsiteY2" fmla="*/ 4722471 h 5488450"/>
              <a:gd name="connsiteX3" fmla="*/ 331364 w 10838886"/>
              <a:gd name="connsiteY3" fmla="*/ 5488450 h 5488450"/>
              <a:gd name="connsiteX4" fmla="*/ 0 w 10838886"/>
              <a:gd name="connsiteY4" fmla="*/ 5105360 h 5488450"/>
              <a:gd name="connsiteX5" fmla="*/ 1089144 w 10838886"/>
              <a:gd name="connsiteY5" fmla="*/ 0 h 548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8886" h="5488450">
                <a:moveTo>
                  <a:pt x="1089144" y="0"/>
                </a:moveTo>
                <a:lnTo>
                  <a:pt x="10838886" y="0"/>
                </a:lnTo>
                <a:lnTo>
                  <a:pt x="10838886" y="4722471"/>
                </a:lnTo>
                <a:lnTo>
                  <a:pt x="331364" y="5488450"/>
                </a:lnTo>
                <a:lnTo>
                  <a:pt x="0" y="5105360"/>
                </a:lnTo>
                <a:lnTo>
                  <a:pt x="1089144" y="0"/>
                </a:lnTo>
                <a:close/>
              </a:path>
            </a:pathLst>
          </a:custGeom>
          <a:solidFill>
            <a:srgbClr val="5FC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6445404" y="1282390"/>
            <a:ext cx="4908396"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11" name="Titre 10">
            <a:extLst>
              <a:ext uri="{FF2B5EF4-FFF2-40B4-BE49-F238E27FC236}">
                <a16:creationId xmlns:a16="http://schemas.microsoft.com/office/drawing/2014/main" id="{E6011F6F-3060-F409-5A15-66D812D4195D}"/>
              </a:ext>
            </a:extLst>
          </p:cNvPr>
          <p:cNvSpPr>
            <a:spLocks noGrp="1"/>
          </p:cNvSpPr>
          <p:nvPr>
            <p:ph type="title" hasCustomPrompt="1"/>
          </p:nvPr>
        </p:nvSpPr>
        <p:spPr>
          <a:xfrm>
            <a:off x="6445404" y="1658666"/>
            <a:ext cx="4908396" cy="1718016"/>
          </a:xfrm>
        </p:spPr>
        <p:txBody>
          <a:bodyPr>
            <a:normAutofit/>
          </a:bodyPr>
          <a:lstStyle>
            <a:lvl1pPr>
              <a:defRPr sz="4700">
                <a:solidFill>
                  <a:schemeClr val="bg1"/>
                </a:solidFill>
              </a:defRPr>
            </a:lvl1pPr>
          </a:lstStyle>
          <a:p>
            <a:r>
              <a:rPr lang="en-US"/>
              <a:t>Part title</a:t>
            </a:r>
            <a:br>
              <a:rPr lang="en-US"/>
            </a:br>
            <a:r>
              <a:rPr lang="en-US"/>
              <a:t>on two lines</a:t>
            </a:r>
            <a:endParaRPr lang="fr-FR"/>
          </a:p>
        </p:txBody>
      </p:sp>
      <p:sp>
        <p:nvSpPr>
          <p:cNvPr id="5" name="Ellipse 4">
            <a:extLst>
              <a:ext uri="{FF2B5EF4-FFF2-40B4-BE49-F238E27FC236}">
                <a16:creationId xmlns:a16="http://schemas.microsoft.com/office/drawing/2014/main" id="{D5B9C777-7272-BBF1-C78F-F2FA22D4C299}"/>
              </a:ext>
            </a:extLst>
          </p:cNvPr>
          <p:cNvSpPr/>
          <p:nvPr/>
        </p:nvSpPr>
        <p:spPr>
          <a:xfrm>
            <a:off x="1346790"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EC60460D-F7B5-8C7A-41B0-93B7F58D271D}"/>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83577C7F-504D-F924-456C-A3B884322728}"/>
              </a:ext>
            </a:extLst>
          </p:cNvPr>
          <p:cNvSpPr/>
          <p:nvPr userDrawn="1"/>
        </p:nvSpPr>
        <p:spPr>
          <a:xfrm>
            <a:off x="1346791" y="4842621"/>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21165152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Slider 9">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E687019F-59E2-6484-7053-7F635F286C1D}"/>
              </a:ext>
            </a:extLst>
          </p:cNvPr>
          <p:cNvSpPr/>
          <p:nvPr userDrawn="1"/>
        </p:nvSpPr>
        <p:spPr>
          <a:xfrm>
            <a:off x="1438835" y="1358155"/>
            <a:ext cx="10753167"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rgbClr val="FF7D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7" name="Rectangle 6">
            <a:extLst>
              <a:ext uri="{FF2B5EF4-FFF2-40B4-BE49-F238E27FC236}">
                <a16:creationId xmlns:a16="http://schemas.microsoft.com/office/drawing/2014/main" id="{8D25B1F4-C992-04CF-CA94-4738516E304C}"/>
              </a:ext>
            </a:extLst>
          </p:cNvPr>
          <p:cNvSpPr/>
          <p:nvPr/>
        </p:nvSpPr>
        <p:spPr>
          <a:xfrm>
            <a:off x="1438834" y="1358153"/>
            <a:ext cx="10753166" cy="5499847"/>
          </a:xfrm>
          <a:custGeom>
            <a:avLst/>
            <a:gdLst>
              <a:gd name="connsiteX0" fmla="*/ 0 w 7660341"/>
              <a:gd name="connsiteY0" fmla="*/ 0 h 5163671"/>
              <a:gd name="connsiteX1" fmla="*/ 7660341 w 7660341"/>
              <a:gd name="connsiteY1" fmla="*/ 0 h 5163671"/>
              <a:gd name="connsiteX2" fmla="*/ 7660341 w 7660341"/>
              <a:gd name="connsiteY2" fmla="*/ 5163671 h 5163671"/>
              <a:gd name="connsiteX3" fmla="*/ 0 w 7660341"/>
              <a:gd name="connsiteY3" fmla="*/ 5163671 h 5163671"/>
              <a:gd name="connsiteX4" fmla="*/ 0 w 7660341"/>
              <a:gd name="connsiteY4" fmla="*/ 0 h 5163671"/>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0 w 10470776"/>
              <a:gd name="connsiteY4" fmla="*/ 0 h 5499847"/>
              <a:gd name="connsiteX0" fmla="*/ 0 w 10470776"/>
              <a:gd name="connsiteY0" fmla="*/ 0 h 5499847"/>
              <a:gd name="connsiteX1" fmla="*/ 10470776 w 10470776"/>
              <a:gd name="connsiteY1" fmla="*/ 336176 h 5499847"/>
              <a:gd name="connsiteX2" fmla="*/ 10470776 w 10470776"/>
              <a:gd name="connsiteY2" fmla="*/ 5499847 h 5499847"/>
              <a:gd name="connsiteX3" fmla="*/ 2810435 w 10470776"/>
              <a:gd name="connsiteY3" fmla="*/ 5499847 h 5499847"/>
              <a:gd name="connsiteX4" fmla="*/ 470647 w 10470776"/>
              <a:gd name="connsiteY4" fmla="*/ 981635 h 5499847"/>
              <a:gd name="connsiteX5" fmla="*/ 0 w 10470776"/>
              <a:gd name="connsiteY5" fmla="*/ 0 h 5499847"/>
              <a:gd name="connsiteX0" fmla="*/ 282389 w 10753165"/>
              <a:gd name="connsiteY0" fmla="*/ 0 h 5499847"/>
              <a:gd name="connsiteX1" fmla="*/ 10753165 w 10753165"/>
              <a:gd name="connsiteY1" fmla="*/ 336176 h 5499847"/>
              <a:gd name="connsiteX2" fmla="*/ 10753165 w 10753165"/>
              <a:gd name="connsiteY2" fmla="*/ 5499847 h 5499847"/>
              <a:gd name="connsiteX3" fmla="*/ 3092824 w 10753165"/>
              <a:gd name="connsiteY3" fmla="*/ 5499847 h 5499847"/>
              <a:gd name="connsiteX4" fmla="*/ 0 w 10753165"/>
              <a:gd name="connsiteY4" fmla="*/ 551329 h 5499847"/>
              <a:gd name="connsiteX5" fmla="*/ 282389 w 10753165"/>
              <a:gd name="connsiteY5" fmla="*/ 0 h 549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3165" h="5499847">
                <a:moveTo>
                  <a:pt x="282389" y="0"/>
                </a:moveTo>
                <a:lnTo>
                  <a:pt x="10753165" y="336176"/>
                </a:lnTo>
                <a:lnTo>
                  <a:pt x="10753165" y="5499847"/>
                </a:lnTo>
                <a:lnTo>
                  <a:pt x="3092824" y="5499847"/>
                </a:lnTo>
                <a:lnTo>
                  <a:pt x="0" y="551329"/>
                </a:lnTo>
                <a:lnTo>
                  <a:pt x="282389" y="0"/>
                </a:lnTo>
                <a:close/>
              </a:path>
            </a:pathLst>
          </a:custGeom>
          <a:solidFill>
            <a:srgbClr val="FF7D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6581550" y="4207697"/>
            <a:ext cx="5000850" cy="1826129"/>
          </a:xfrm>
        </p:spPr>
        <p:txBody>
          <a:bodyPr anchor="t">
            <a:normAutofit/>
          </a:bodyPr>
          <a:lstStyle>
            <a:lvl1pPr algn="l">
              <a:defRPr sz="4700">
                <a:solidFill>
                  <a:schemeClr val="bg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6581550" y="3806254"/>
            <a:ext cx="5000850"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sp>
        <p:nvSpPr>
          <p:cNvPr id="8" name="Ellipse 7">
            <a:extLst>
              <a:ext uri="{FF2B5EF4-FFF2-40B4-BE49-F238E27FC236}">
                <a16:creationId xmlns:a16="http://schemas.microsoft.com/office/drawing/2014/main" id="{0B1DC7D8-FD20-5748-C294-363F5925E32A}"/>
              </a:ext>
            </a:extLst>
          </p:cNvPr>
          <p:cNvSpPr/>
          <p:nvPr/>
        </p:nvSpPr>
        <p:spPr>
          <a:xfrm>
            <a:off x="1346790"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BED5F8FE-3337-9170-FBAE-E7363FFA6EFF}"/>
              </a:ext>
            </a:extLst>
          </p:cNvPr>
          <p:cNvSpPr/>
          <p:nvPr userDrawn="1"/>
        </p:nvSpPr>
        <p:spPr>
          <a:xfrm>
            <a:off x="1346791"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4231294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Slider 10">
    <p:bg>
      <p:bgPr>
        <a:solidFill>
          <a:schemeClr val="bg1"/>
        </a:solidFill>
        <a:effectLst/>
      </p:bgPr>
    </p:bg>
    <p:spTree>
      <p:nvGrpSpPr>
        <p:cNvPr id="1" name=""/>
        <p:cNvGrpSpPr/>
        <p:nvPr/>
      </p:nvGrpSpPr>
      <p:grpSpPr>
        <a:xfrm>
          <a:off x="0" y="0"/>
          <a:ext cx="0" cy="0"/>
          <a:chOff x="0" y="0"/>
          <a:chExt cx="0" cy="0"/>
        </a:xfrm>
      </p:grpSpPr>
      <p:sp>
        <p:nvSpPr>
          <p:cNvPr id="4" name="Forme libre 11">
            <a:extLst>
              <a:ext uri="{FF2B5EF4-FFF2-40B4-BE49-F238E27FC236}">
                <a16:creationId xmlns:a16="http://schemas.microsoft.com/office/drawing/2014/main" id="{9688F883-36E3-C7AC-A510-1E2BE083650A}"/>
              </a:ext>
            </a:extLst>
          </p:cNvPr>
          <p:cNvSpPr/>
          <p:nvPr userDrawn="1"/>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351"/>
          </a:p>
        </p:txBody>
      </p:sp>
      <p:sp>
        <p:nvSpPr>
          <p:cNvPr id="12" name="Forme libre 11">
            <a:extLst>
              <a:ext uri="{FF2B5EF4-FFF2-40B4-BE49-F238E27FC236}">
                <a16:creationId xmlns:a16="http://schemas.microsoft.com/office/drawing/2014/main" id="{8A085252-CDBA-743A-5024-B4B251F6DC2D}"/>
              </a:ext>
            </a:extLst>
          </p:cNvPr>
          <p:cNvSpPr/>
          <p:nvPr/>
        </p:nvSpPr>
        <p:spPr>
          <a:xfrm>
            <a:off x="0" y="0"/>
            <a:ext cx="10759440" cy="6858000"/>
          </a:xfrm>
          <a:custGeom>
            <a:avLst/>
            <a:gdLst>
              <a:gd name="connsiteX0" fmla="*/ 0 w 10759440"/>
              <a:gd name="connsiteY0" fmla="*/ 0 h 6858000"/>
              <a:gd name="connsiteX1" fmla="*/ 3484880 w 10759440"/>
              <a:gd name="connsiteY1" fmla="*/ 0 h 6858000"/>
              <a:gd name="connsiteX2" fmla="*/ 10556240 w 10759440"/>
              <a:gd name="connsiteY2" fmla="*/ 1361440 h 6858000"/>
              <a:gd name="connsiteX3" fmla="*/ 10759440 w 10759440"/>
              <a:gd name="connsiteY3" fmla="*/ 1914629 h 6858000"/>
              <a:gd name="connsiteX4" fmla="*/ 7149899 w 10759440"/>
              <a:gd name="connsiteY4" fmla="*/ 6858000 h 6858000"/>
              <a:gd name="connsiteX5" fmla="*/ 0 w 1075944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59440" h="6858000">
                <a:moveTo>
                  <a:pt x="0" y="0"/>
                </a:moveTo>
                <a:lnTo>
                  <a:pt x="3484880" y="0"/>
                </a:lnTo>
                <a:lnTo>
                  <a:pt x="10556240" y="1361440"/>
                </a:lnTo>
                <a:lnTo>
                  <a:pt x="10759440" y="1914629"/>
                </a:lnTo>
                <a:lnTo>
                  <a:pt x="7149899" y="6858000"/>
                </a:lnTo>
                <a:lnTo>
                  <a:pt x="0" y="6858000"/>
                </a:ln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Ellipse 9">
            <a:extLst>
              <a:ext uri="{FF2B5EF4-FFF2-40B4-BE49-F238E27FC236}">
                <a16:creationId xmlns:a16="http://schemas.microsoft.com/office/drawing/2014/main" id="{174A1CED-0C3F-9F75-A4E0-14A38E244100}"/>
              </a:ext>
            </a:extLst>
          </p:cNvPr>
          <p:cNvSpPr/>
          <p:nvPr/>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F08F2FD-39FB-405D-EA0B-716E4E22B9B3}"/>
              </a:ext>
            </a:extLst>
          </p:cNvPr>
          <p:cNvSpPr>
            <a:spLocks noGrp="1"/>
          </p:cNvSpPr>
          <p:nvPr>
            <p:ph type="ctrTitle" hasCustomPrompt="1"/>
          </p:nvPr>
        </p:nvSpPr>
        <p:spPr>
          <a:xfrm>
            <a:off x="1250795" y="1683833"/>
            <a:ext cx="4638907" cy="1826129"/>
          </a:xfrm>
        </p:spPr>
        <p:txBody>
          <a:bodyPr anchor="t">
            <a:normAutofit/>
          </a:bodyPr>
          <a:lstStyle>
            <a:lvl1pPr algn="l">
              <a:defRPr sz="4700">
                <a:solidFill>
                  <a:schemeClr val="bg1"/>
                </a:solidFill>
              </a:defRPr>
            </a:lvl1pPr>
          </a:lstStyle>
          <a:p>
            <a:r>
              <a:rPr lang="en-US"/>
              <a:t>Part title</a:t>
            </a:r>
            <a:br>
              <a:rPr lang="en-US"/>
            </a:br>
            <a:r>
              <a:rPr lang="en-US"/>
              <a:t>on two lines</a:t>
            </a:r>
            <a:endParaRPr lang="fr-FR"/>
          </a:p>
        </p:txBody>
      </p:sp>
      <p:sp>
        <p:nvSpPr>
          <p:cNvPr id="3" name="Sous-titre 2">
            <a:extLst>
              <a:ext uri="{FF2B5EF4-FFF2-40B4-BE49-F238E27FC236}">
                <a16:creationId xmlns:a16="http://schemas.microsoft.com/office/drawing/2014/main" id="{C60C9E1F-769E-B1E5-F94F-275BBE0E7983}"/>
              </a:ext>
            </a:extLst>
          </p:cNvPr>
          <p:cNvSpPr>
            <a:spLocks noGrp="1"/>
          </p:cNvSpPr>
          <p:nvPr>
            <p:ph type="subTitle" idx="1" hasCustomPrompt="1"/>
          </p:nvPr>
        </p:nvSpPr>
        <p:spPr>
          <a:xfrm>
            <a:off x="1250795" y="1282390"/>
            <a:ext cx="4638907" cy="401443"/>
          </a:xfrm>
        </p:spPr>
        <p:txBody>
          <a:bodyPr>
            <a:normAutofit/>
          </a:bodyPr>
          <a:lstStyle>
            <a:lvl1pPr marL="0" indent="0" algn="l">
              <a:buNone/>
              <a:defRPr sz="18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Click to </a:t>
            </a:r>
            <a:r>
              <a:rPr lang="fr-FR" err="1"/>
              <a:t>add</a:t>
            </a:r>
            <a:r>
              <a:rPr lang="fr-FR"/>
              <a:t> </a:t>
            </a:r>
            <a:r>
              <a:rPr lang="fr-FR" err="1"/>
              <a:t>subtitle</a:t>
            </a:r>
            <a:endParaRPr lang="fr-FR"/>
          </a:p>
        </p:txBody>
      </p:sp>
      <p:cxnSp>
        <p:nvCxnSpPr>
          <p:cNvPr id="8" name="Connecteur droit 7">
            <a:extLst>
              <a:ext uri="{FF2B5EF4-FFF2-40B4-BE49-F238E27FC236}">
                <a16:creationId xmlns:a16="http://schemas.microsoft.com/office/drawing/2014/main" id="{8DE9DA92-38F8-25AD-35BA-00E16267959D}"/>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6AF29E3A-06FF-7D3F-1A13-F03C4AF560B2}"/>
              </a:ext>
            </a:extLst>
          </p:cNvPr>
          <p:cNvSpPr/>
          <p:nvPr userDrawn="1"/>
        </p:nvSpPr>
        <p:spPr>
          <a:xfrm>
            <a:off x="10206956" y="1359833"/>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1"/>
          </a:p>
        </p:txBody>
      </p:sp>
    </p:spTree>
    <p:extLst>
      <p:ext uri="{BB962C8B-B14F-4D97-AF65-F5344CB8AC3E}">
        <p14:creationId xmlns:p14="http://schemas.microsoft.com/office/powerpoint/2010/main" val="19027288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Espace réservé du contenu 2">
            <a:extLst>
              <a:ext uri="{FF2B5EF4-FFF2-40B4-BE49-F238E27FC236}">
                <a16:creationId xmlns:a16="http://schemas.microsoft.com/office/drawing/2014/main" id="{A6C233BA-E1F2-4700-34FE-C853CAEBC2E1}"/>
              </a:ext>
            </a:extLst>
          </p:cNvPr>
          <p:cNvSpPr>
            <a:spLocks noGrp="1"/>
          </p:cNvSpPr>
          <p:nvPr>
            <p:ph idx="1"/>
          </p:nvPr>
        </p:nvSpPr>
        <p:spPr>
          <a:xfrm>
            <a:off x="609600" y="1900800"/>
            <a:ext cx="10972798" cy="44604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10" name="Connecteur droit 9">
            <a:extLst>
              <a:ext uri="{FF2B5EF4-FFF2-40B4-BE49-F238E27FC236}">
                <a16:creationId xmlns:a16="http://schemas.microsoft.com/office/drawing/2014/main" id="{6DB101ED-995E-9BF4-1491-DA5966D6436E}"/>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D16284ED-1E98-E94E-5E7A-0DA7C9281994}"/>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A939BB05-8CEA-9D41-7ED0-BB00FE0CBEC3}"/>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1606213580"/>
      </p:ext>
    </p:extLst>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8" name="Espace réservé du contenu 2">
            <a:extLst>
              <a:ext uri="{FF2B5EF4-FFF2-40B4-BE49-F238E27FC236}">
                <a16:creationId xmlns:a16="http://schemas.microsoft.com/office/drawing/2014/main" id="{A6C233BA-E1F2-4700-34FE-C853CAEBC2E1}"/>
              </a:ext>
            </a:extLst>
          </p:cNvPr>
          <p:cNvSpPr>
            <a:spLocks noGrp="1"/>
          </p:cNvSpPr>
          <p:nvPr>
            <p:ph idx="1"/>
          </p:nvPr>
        </p:nvSpPr>
        <p:spPr>
          <a:xfrm>
            <a:off x="609600" y="1900800"/>
            <a:ext cx="5185144" cy="44604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2">
            <a:extLst>
              <a:ext uri="{FF2B5EF4-FFF2-40B4-BE49-F238E27FC236}">
                <a16:creationId xmlns:a16="http://schemas.microsoft.com/office/drawing/2014/main" id="{66CBA541-34CE-1BEC-8B23-EB5507FEA3D1}"/>
              </a:ext>
            </a:extLst>
          </p:cNvPr>
          <p:cNvSpPr>
            <a:spLocks noGrp="1"/>
          </p:cNvSpPr>
          <p:nvPr>
            <p:ph idx="12"/>
          </p:nvPr>
        </p:nvSpPr>
        <p:spPr>
          <a:xfrm>
            <a:off x="6259722" y="1900800"/>
            <a:ext cx="5322676" cy="44604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11" name="Connecteur droit 10">
            <a:extLst>
              <a:ext uri="{FF2B5EF4-FFF2-40B4-BE49-F238E27FC236}">
                <a16:creationId xmlns:a16="http://schemas.microsoft.com/office/drawing/2014/main" id="{783FEA6D-7E44-663D-38FA-9B501EA8229A}"/>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84AA539C-63E4-4D52-1FF8-B18C2342411C}"/>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space réservé du texte 12">
            <a:extLst>
              <a:ext uri="{FF2B5EF4-FFF2-40B4-BE49-F238E27FC236}">
                <a16:creationId xmlns:a16="http://schemas.microsoft.com/office/drawing/2014/main" id="{A50A5CB4-1CDB-0AA8-1C56-EA4678C8A5EE}"/>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1857607947"/>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xt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normAutofit/>
          </a:bodyPr>
          <a:lstStyle>
            <a:lvl1pPr>
              <a:defRPr sz="3100"/>
            </a:lvl1pPr>
          </a:lstStyle>
          <a:p>
            <a:r>
              <a:rPr lang="fr-FR"/>
              <a:t>Click to </a:t>
            </a:r>
            <a:r>
              <a:rPr lang="fr-FR" err="1"/>
              <a:t>add</a:t>
            </a:r>
            <a:r>
              <a:rPr lang="fr-FR"/>
              <a:t> </a:t>
            </a:r>
            <a:r>
              <a:rPr lang="fr-FR" err="1"/>
              <a:t>title</a:t>
            </a:r>
            <a:endParaRPr lang="fr-FR"/>
          </a:p>
        </p:txBody>
      </p:sp>
      <p:sp>
        <p:nvSpPr>
          <p:cNvPr id="3" name="Espace réservé du contenu 2">
            <a:extLst>
              <a:ext uri="{FF2B5EF4-FFF2-40B4-BE49-F238E27FC236}">
                <a16:creationId xmlns:a16="http://schemas.microsoft.com/office/drawing/2014/main" id="{79132AAF-4045-6E62-8535-46ADA32CBF7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8" name="Connecteur droit 7">
            <a:extLst>
              <a:ext uri="{FF2B5EF4-FFF2-40B4-BE49-F238E27FC236}">
                <a16:creationId xmlns:a16="http://schemas.microsoft.com/office/drawing/2014/main" id="{83F4E2FD-0B81-F83F-C11E-C39C20F3E44E}"/>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6A869412-38FD-9B89-62A0-E474ED9380FC}"/>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00822F4F-46F0-DB48-3B8D-A0E0B06F620F}"/>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2169732964"/>
      </p:ext>
    </p:extLst>
  </p:cSld>
  <p:clrMapOvr>
    <a:masterClrMapping/>
  </p:clrMapOvr>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ext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sp>
        <p:nvSpPr>
          <p:cNvPr id="3" name="Espace réservé du contenu 2">
            <a:extLst>
              <a:ext uri="{FF2B5EF4-FFF2-40B4-BE49-F238E27FC236}">
                <a16:creationId xmlns:a16="http://schemas.microsoft.com/office/drawing/2014/main" id="{79132AAF-4045-6E62-8535-46ADA32CBF78}"/>
              </a:ext>
            </a:extLst>
          </p:cNvPr>
          <p:cNvSpPr>
            <a:spLocks noGrp="1"/>
          </p:cNvSpPr>
          <p:nvPr>
            <p:ph idx="1"/>
          </p:nvPr>
        </p:nvSpPr>
        <p:spPr/>
        <p:txBody>
          <a:bodyPr/>
          <a:lstStyle>
            <a:lvl1pPr marL="171450" indent="-171450">
              <a:buClr>
                <a:schemeClr val="accent1"/>
              </a:buClr>
              <a:buFont typeface="Arial" panose="020B0604020202020204" pitchFamily="34" charset="0"/>
              <a:buChar char="•"/>
              <a:defRPr/>
            </a:lvl1pPr>
            <a:lvl2pPr marL="628650" indent="-171450">
              <a:buClr>
                <a:schemeClr val="accent1"/>
              </a:buClr>
              <a:buFont typeface="Arial" panose="020B0604020202020204" pitchFamily="34" charset="0"/>
              <a:buChar char="•"/>
              <a:defRPr/>
            </a:lvl2pPr>
            <a:lvl3pPr marL="1085850" indent="-171450">
              <a:buClr>
                <a:schemeClr val="accent1"/>
              </a:buClr>
              <a:buFont typeface="Arial" panose="020B0604020202020204" pitchFamily="34" charset="0"/>
              <a:buChar char="•"/>
              <a:defRPr/>
            </a:lvl3pPr>
            <a:lvl4pPr marL="1543050" indent="-171450">
              <a:buClr>
                <a:schemeClr val="accent1"/>
              </a:buClr>
              <a:buFont typeface="Arial" panose="020B0604020202020204" pitchFamily="34" charset="0"/>
              <a:buChar char="•"/>
              <a:defRPr/>
            </a:lvl4pPr>
            <a:lvl5pPr marL="2000250" indent="-171450">
              <a:buClr>
                <a:schemeClr val="accent1"/>
              </a:buClr>
              <a:buFont typeface="Arial" panose="020B0604020202020204" pitchFamily="34" charset="0"/>
              <a:buChar cha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10" name="Connecteur droit 9">
            <a:extLst>
              <a:ext uri="{FF2B5EF4-FFF2-40B4-BE49-F238E27FC236}">
                <a16:creationId xmlns:a16="http://schemas.microsoft.com/office/drawing/2014/main" id="{8DE0C7DE-095E-0D8A-7764-689101645982}"/>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7876B1ED-D15B-1569-F969-62E7F6194E5E}"/>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866ACFA2-DEFE-D2BA-5B4C-DD5928C7F0D5}"/>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3213826118"/>
      </p:ext>
    </p:extLst>
  </p:cSld>
  <p:clrMapOvr>
    <a:masterClrMapping/>
  </p:clrMapOvr>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xt 5">
    <p:spTree>
      <p:nvGrpSpPr>
        <p:cNvPr id="1" name=""/>
        <p:cNvGrpSpPr/>
        <p:nvPr/>
      </p:nvGrpSpPr>
      <p:grpSpPr>
        <a:xfrm>
          <a:off x="0" y="0"/>
          <a:ext cx="0" cy="0"/>
          <a:chOff x="0" y="0"/>
          <a:chExt cx="0" cy="0"/>
        </a:xfrm>
      </p:grpSpPr>
      <p:sp>
        <p:nvSpPr>
          <p:cNvPr id="22" name="Ellipse 21">
            <a:extLst>
              <a:ext uri="{FF2B5EF4-FFF2-40B4-BE49-F238E27FC236}">
                <a16:creationId xmlns:a16="http://schemas.microsoft.com/office/drawing/2014/main" id="{6C7D2CB4-4FB0-9BC1-ECFA-66C1E23670C2}"/>
              </a:ext>
            </a:extLst>
          </p:cNvPr>
          <p:cNvSpPr/>
          <p:nvPr/>
        </p:nvSpPr>
        <p:spPr>
          <a:xfrm>
            <a:off x="5794744" y="5166000"/>
            <a:ext cx="630000" cy="63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8D2B6102-0208-F0C0-B408-5E9B027538A0}"/>
              </a:ext>
            </a:extLst>
          </p:cNvPr>
          <p:cNvSpPr>
            <a:spLocks noGrp="1"/>
          </p:cNvSpPr>
          <p:nvPr>
            <p:ph type="title" hasCustomPrompt="1"/>
          </p:nvPr>
        </p:nvSpPr>
        <p:spPr>
          <a:xfrm>
            <a:off x="609600" y="498474"/>
            <a:ext cx="5185144" cy="543600"/>
          </a:xfrm>
        </p:spPr>
        <p:txBody>
          <a:bodyPr/>
          <a:lstStyle/>
          <a:p>
            <a:r>
              <a:rPr lang="fr-FR"/>
              <a:t>Click to </a:t>
            </a:r>
            <a:r>
              <a:rPr lang="fr-FR" err="1"/>
              <a:t>add</a:t>
            </a:r>
            <a:r>
              <a:rPr lang="fr-FR"/>
              <a:t> </a:t>
            </a:r>
            <a:r>
              <a:rPr lang="fr-FR" err="1"/>
              <a:t>title</a:t>
            </a:r>
            <a:endParaRPr lang="fr-FR"/>
          </a:p>
        </p:txBody>
      </p:sp>
      <p:sp>
        <p:nvSpPr>
          <p:cNvPr id="8" name="Espace réservé du contenu 2">
            <a:extLst>
              <a:ext uri="{FF2B5EF4-FFF2-40B4-BE49-F238E27FC236}">
                <a16:creationId xmlns:a16="http://schemas.microsoft.com/office/drawing/2014/main" id="{A6C233BA-E1F2-4700-34FE-C853CAEBC2E1}"/>
              </a:ext>
            </a:extLst>
          </p:cNvPr>
          <p:cNvSpPr>
            <a:spLocks noGrp="1"/>
          </p:cNvSpPr>
          <p:nvPr>
            <p:ph idx="1"/>
          </p:nvPr>
        </p:nvSpPr>
        <p:spPr>
          <a:xfrm>
            <a:off x="609600" y="1900800"/>
            <a:ext cx="5185144" cy="44604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6" name="Ellipse 15">
            <a:extLst>
              <a:ext uri="{FF2B5EF4-FFF2-40B4-BE49-F238E27FC236}">
                <a16:creationId xmlns:a16="http://schemas.microsoft.com/office/drawing/2014/main" id="{E720ECB8-0ED1-6C53-42DC-2378BBAAD7D6}"/>
              </a:ext>
            </a:extLst>
          </p:cNvPr>
          <p:cNvSpPr/>
          <p:nvPr/>
        </p:nvSpPr>
        <p:spPr>
          <a:xfrm>
            <a:off x="5794744" y="5180445"/>
            <a:ext cx="612000" cy="61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space réservé pour une image  20">
            <a:extLst>
              <a:ext uri="{FF2B5EF4-FFF2-40B4-BE49-F238E27FC236}">
                <a16:creationId xmlns:a16="http://schemas.microsoft.com/office/drawing/2014/main" id="{8AE776AA-6D5A-8377-6984-7A00139F832D}"/>
              </a:ext>
            </a:extLst>
          </p:cNvPr>
          <p:cNvSpPr>
            <a:spLocks noGrp="1"/>
          </p:cNvSpPr>
          <p:nvPr>
            <p:ph type="pic" sz="quarter" idx="14"/>
          </p:nvPr>
        </p:nvSpPr>
        <p:spPr>
          <a:xfrm>
            <a:off x="5794745" y="0"/>
            <a:ext cx="6397255" cy="5791333"/>
          </a:xfrm>
          <a:custGeom>
            <a:avLst/>
            <a:gdLst>
              <a:gd name="connsiteX0" fmla="*/ 427889 w 6397255"/>
              <a:gd name="connsiteY0" fmla="*/ 0 h 5791333"/>
              <a:gd name="connsiteX1" fmla="*/ 6397255 w 6397255"/>
              <a:gd name="connsiteY1" fmla="*/ 0 h 5791333"/>
              <a:gd name="connsiteX2" fmla="*/ 6397255 w 6397255"/>
              <a:gd name="connsiteY2" fmla="*/ 5445816 h 5791333"/>
              <a:gd name="connsiteX3" fmla="*/ 359624 w 6397255"/>
              <a:gd name="connsiteY3" fmla="*/ 5791333 h 5791333"/>
              <a:gd name="connsiteX4" fmla="*/ 355883 w 6397255"/>
              <a:gd name="connsiteY4" fmla="*/ 5787416 h 5791333"/>
              <a:gd name="connsiteX5" fmla="*/ 367669 w 6397255"/>
              <a:gd name="connsiteY5" fmla="*/ 5786228 h 5791333"/>
              <a:gd name="connsiteX6" fmla="*/ 611999 w 6397255"/>
              <a:gd name="connsiteY6" fmla="*/ 5486445 h 5791333"/>
              <a:gd name="connsiteX7" fmla="*/ 305999 w 6397255"/>
              <a:gd name="connsiteY7" fmla="*/ 5180445 h 5791333"/>
              <a:gd name="connsiteX8" fmla="*/ 6216 w 6397255"/>
              <a:gd name="connsiteY8" fmla="*/ 5424775 h 5791333"/>
              <a:gd name="connsiteX9" fmla="*/ 5829 w 6397255"/>
              <a:gd name="connsiteY9" fmla="*/ 5428612 h 5791333"/>
              <a:gd name="connsiteX10" fmla="*/ 5293 w 6397255"/>
              <a:gd name="connsiteY10" fmla="*/ 5428106 h 5791333"/>
              <a:gd name="connsiteX11" fmla="*/ 0 w 6397255"/>
              <a:gd name="connsiteY11" fmla="*/ 5423989 h 579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97255" h="5791333">
                <a:moveTo>
                  <a:pt x="427889" y="0"/>
                </a:moveTo>
                <a:lnTo>
                  <a:pt x="6397255" y="0"/>
                </a:lnTo>
                <a:lnTo>
                  <a:pt x="6397255" y="5445816"/>
                </a:lnTo>
                <a:lnTo>
                  <a:pt x="359624" y="5791333"/>
                </a:lnTo>
                <a:lnTo>
                  <a:pt x="355883" y="5787416"/>
                </a:lnTo>
                <a:lnTo>
                  <a:pt x="367669" y="5786228"/>
                </a:lnTo>
                <a:cubicBezTo>
                  <a:pt x="507108" y="5757695"/>
                  <a:pt x="611999" y="5634319"/>
                  <a:pt x="611999" y="5486445"/>
                </a:cubicBezTo>
                <a:cubicBezTo>
                  <a:pt x="611999" y="5317446"/>
                  <a:pt x="474998" y="5180445"/>
                  <a:pt x="305999" y="5180445"/>
                </a:cubicBezTo>
                <a:cubicBezTo>
                  <a:pt x="158125" y="5180445"/>
                  <a:pt x="34749" y="5285337"/>
                  <a:pt x="6216" y="5424775"/>
                </a:cubicBezTo>
                <a:lnTo>
                  <a:pt x="5829" y="5428612"/>
                </a:lnTo>
                <a:lnTo>
                  <a:pt x="5293" y="5428106"/>
                </a:lnTo>
                <a:cubicBezTo>
                  <a:pt x="2301" y="5425423"/>
                  <a:pt x="480" y="5423991"/>
                  <a:pt x="0" y="5423989"/>
                </a:cubicBezTo>
                <a:close/>
              </a:path>
            </a:pathLst>
          </a:custGeom>
          <a:solidFill>
            <a:schemeClr val="bg1">
              <a:lumMod val="95000"/>
            </a:schemeClr>
          </a:solidFill>
        </p:spPr>
        <p:txBody>
          <a:bodyPr wrap="square" anchor="ctr" anchorCtr="0">
            <a:noAutofit/>
          </a:bodyPr>
          <a:lstStyle>
            <a:lvl1pPr algn="ctr">
              <a:defRPr/>
            </a:lvl1pPr>
          </a:lstStyle>
          <a:p>
            <a:r>
              <a:rPr lang="fr-FR"/>
              <a:t>Cliquez sur l'icône pour ajouter une image</a:t>
            </a:r>
          </a:p>
        </p:txBody>
      </p:sp>
      <p:cxnSp>
        <p:nvCxnSpPr>
          <p:cNvPr id="10" name="Connecteur droit 9">
            <a:extLst>
              <a:ext uri="{FF2B5EF4-FFF2-40B4-BE49-F238E27FC236}">
                <a16:creationId xmlns:a16="http://schemas.microsoft.com/office/drawing/2014/main" id="{C7CC0CB7-D4E6-4100-D5A3-9670DFEF4010}"/>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79368C64-D458-EFF0-4093-3068F0E25798}"/>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6164864A-7928-427D-2C72-12174F21ED27}"/>
              </a:ext>
            </a:extLst>
          </p:cNvPr>
          <p:cNvSpPr>
            <a:spLocks noGrp="1"/>
          </p:cNvSpPr>
          <p:nvPr>
            <p:ph type="body" sz="quarter" idx="16" hasCustomPrompt="1"/>
          </p:nvPr>
        </p:nvSpPr>
        <p:spPr>
          <a:xfrm>
            <a:off x="933449" y="1186452"/>
            <a:ext cx="4861295"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Tree>
    <p:extLst>
      <p:ext uri="{BB962C8B-B14F-4D97-AF65-F5344CB8AC3E}">
        <p14:creationId xmlns:p14="http://schemas.microsoft.com/office/powerpoint/2010/main" val="2046665035"/>
      </p:ext>
    </p:extLst>
  </p:cSld>
  <p:clrMapOvr>
    <a:masterClrMapping/>
  </p:clrMapOvr>
  <p:hf hd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10" name="Connecteur droit 9">
            <a:extLst>
              <a:ext uri="{FF2B5EF4-FFF2-40B4-BE49-F238E27FC236}">
                <a16:creationId xmlns:a16="http://schemas.microsoft.com/office/drawing/2014/main" id="{8DE0C7DE-095E-0D8A-7764-689101645982}"/>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952041"/>
      </p:ext>
    </p:extLst>
  </p:cSld>
  <p:clrMapOvr>
    <a:masterClrMapping/>
  </p:clrMapOvr>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Verbatim">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5B967D8A-1A9A-4E6B-5076-074973155865}"/>
              </a:ext>
            </a:extLst>
          </p:cNvPr>
          <p:cNvSpPr txBox="1"/>
          <p:nvPr/>
        </p:nvSpPr>
        <p:spPr>
          <a:xfrm>
            <a:off x="9166988" y="2362710"/>
            <a:ext cx="2022608" cy="9325630"/>
          </a:xfrm>
          <a:prstGeom prst="rect">
            <a:avLst/>
          </a:prstGeom>
          <a:noFill/>
        </p:spPr>
        <p:txBody>
          <a:bodyPr wrap="square" rtlCol="0">
            <a:spAutoFit/>
          </a:bodyPr>
          <a:lstStyle/>
          <a:p>
            <a:r>
              <a:rPr lang="en-GB" sz="60000">
                <a:solidFill>
                  <a:schemeClr val="accent4">
                    <a:lumMod val="20000"/>
                    <a:lumOff val="80000"/>
                    <a:alpha val="48000"/>
                  </a:schemeClr>
                </a:solidFill>
              </a:rPr>
              <a:t>”</a:t>
            </a:r>
          </a:p>
        </p:txBody>
      </p:sp>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normAutofit/>
          </a:bodyPr>
          <a:lstStyle>
            <a:lvl1pPr>
              <a:defRPr sz="3100"/>
            </a:lvl1pPr>
          </a:lstStyle>
          <a:p>
            <a:r>
              <a:rPr lang="fr-FR"/>
              <a:t>Click to </a:t>
            </a:r>
            <a:r>
              <a:rPr lang="fr-FR" err="1"/>
              <a:t>add</a:t>
            </a:r>
            <a:r>
              <a:rPr lang="fr-FR"/>
              <a:t> </a:t>
            </a:r>
            <a:r>
              <a:rPr lang="fr-FR" err="1"/>
              <a:t>title</a:t>
            </a:r>
            <a:endParaRPr lang="fr-FR"/>
          </a:p>
        </p:txBody>
      </p:sp>
      <p:sp>
        <p:nvSpPr>
          <p:cNvPr id="3" name="Espace réservé du contenu 2">
            <a:extLst>
              <a:ext uri="{FF2B5EF4-FFF2-40B4-BE49-F238E27FC236}">
                <a16:creationId xmlns:a16="http://schemas.microsoft.com/office/drawing/2014/main" id="{79132AAF-4045-6E62-8535-46ADA32CBF78}"/>
              </a:ext>
            </a:extLst>
          </p:cNvPr>
          <p:cNvSpPr>
            <a:spLocks noGrp="1"/>
          </p:cNvSpPr>
          <p:nvPr>
            <p:ph idx="1"/>
          </p:nvPr>
        </p:nvSpPr>
        <p:spPr>
          <a:xfrm>
            <a:off x="2339789" y="2286001"/>
            <a:ext cx="7449670" cy="3236894"/>
          </a:xfrm>
        </p:spPr>
        <p:txBody>
          <a:bodyPr lIns="0" tIns="0" rIns="0" bIns="0" anchor="ctr">
            <a:noAutofit/>
          </a:bodyPr>
          <a:lstStyle>
            <a:lvl1pPr algn="ctr">
              <a:defRPr sz="2000"/>
            </a:lvl1pPr>
          </a:lstStyle>
          <a:p>
            <a:pPr lvl="0"/>
            <a:r>
              <a:rPr lang="fr-FR"/>
              <a:t>Cliquez pour modifier les styles du texte du masque</a:t>
            </a:r>
          </a:p>
        </p:txBody>
      </p:sp>
      <p:cxnSp>
        <p:nvCxnSpPr>
          <p:cNvPr id="8" name="Connecteur droit 7">
            <a:extLst>
              <a:ext uri="{FF2B5EF4-FFF2-40B4-BE49-F238E27FC236}">
                <a16:creationId xmlns:a16="http://schemas.microsoft.com/office/drawing/2014/main" id="{83F4E2FD-0B81-F83F-C11E-C39C20F3E44E}"/>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6A869412-38FD-9B89-62A0-E474ED9380FC}"/>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00822F4F-46F0-DB48-3B8D-A0E0B06F620F}"/>
              </a:ext>
            </a:extLst>
          </p:cNvPr>
          <p:cNvSpPr>
            <a:spLocks noGrp="1"/>
          </p:cNvSpPr>
          <p:nvPr>
            <p:ph type="body" sz="quarter" idx="15" hasCustomPrompt="1"/>
          </p:nvPr>
        </p:nvSpPr>
        <p:spPr>
          <a:xfrm>
            <a:off x="933449" y="1186254"/>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sp>
        <p:nvSpPr>
          <p:cNvPr id="13" name="ZoneTexte 12">
            <a:extLst>
              <a:ext uri="{FF2B5EF4-FFF2-40B4-BE49-F238E27FC236}">
                <a16:creationId xmlns:a16="http://schemas.microsoft.com/office/drawing/2014/main" id="{19B3BA7F-B111-A6E3-75D8-411388BCCFA6}"/>
              </a:ext>
            </a:extLst>
          </p:cNvPr>
          <p:cNvSpPr txBox="1"/>
          <p:nvPr/>
        </p:nvSpPr>
        <p:spPr>
          <a:xfrm rot="10800000">
            <a:off x="902650" y="-3802735"/>
            <a:ext cx="2022608" cy="9325630"/>
          </a:xfrm>
          <a:prstGeom prst="rect">
            <a:avLst/>
          </a:prstGeom>
          <a:noFill/>
        </p:spPr>
        <p:txBody>
          <a:bodyPr wrap="square" rtlCol="0">
            <a:spAutoFit/>
          </a:bodyPr>
          <a:lstStyle/>
          <a:p>
            <a:r>
              <a:rPr lang="en-GB" sz="60000" dirty="0">
                <a:solidFill>
                  <a:schemeClr val="accent4">
                    <a:lumMod val="20000"/>
                    <a:lumOff val="80000"/>
                    <a:alpha val="48000"/>
                  </a:schemeClr>
                </a:solidFill>
              </a:rPr>
              <a:t>”</a:t>
            </a:r>
          </a:p>
        </p:txBody>
      </p:sp>
    </p:spTree>
    <p:extLst>
      <p:ext uri="{BB962C8B-B14F-4D97-AF65-F5344CB8AC3E}">
        <p14:creationId xmlns:p14="http://schemas.microsoft.com/office/powerpoint/2010/main" val="4248628073"/>
      </p:ext>
    </p:extLst>
  </p:cSld>
  <p:clrMapOvr>
    <a:masterClrMapping/>
  </p:clrMapOvr>
  <p:hf hd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10" name="Connecteur droit 9">
            <a:extLst>
              <a:ext uri="{FF2B5EF4-FFF2-40B4-BE49-F238E27FC236}">
                <a16:creationId xmlns:a16="http://schemas.microsoft.com/office/drawing/2014/main" id="{8DE0C7DE-095E-0D8A-7764-689101645982}"/>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7876B1ED-D15B-1569-F969-62E7F6194E5E}"/>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866ACFA2-DEFE-D2BA-5B4C-DD5928C7F0D5}"/>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cxnSp>
        <p:nvCxnSpPr>
          <p:cNvPr id="3" name="Connecteur droit 2">
            <a:extLst>
              <a:ext uri="{FF2B5EF4-FFF2-40B4-BE49-F238E27FC236}">
                <a16:creationId xmlns:a16="http://schemas.microsoft.com/office/drawing/2014/main" id="{6E37F2E3-1B45-B42F-2DE4-B63C4370198E}"/>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8A0F3B0A-61DE-5B3D-B2EA-95A13B74AF33}"/>
              </a:ext>
            </a:extLst>
          </p:cNvPr>
          <p:cNvSpPr/>
          <p:nvPr userDrawn="1"/>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938280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Title subtitle_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10" name="Connecteur droit 9">
            <a:extLst>
              <a:ext uri="{FF2B5EF4-FFF2-40B4-BE49-F238E27FC236}">
                <a16:creationId xmlns:a16="http://schemas.microsoft.com/office/drawing/2014/main" id="{8DE0C7DE-095E-0D8A-7764-689101645982}"/>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7876B1ED-D15B-1569-F969-62E7F6194E5E}"/>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2">
            <a:extLst>
              <a:ext uri="{FF2B5EF4-FFF2-40B4-BE49-F238E27FC236}">
                <a16:creationId xmlns:a16="http://schemas.microsoft.com/office/drawing/2014/main" id="{866ACFA2-DEFE-D2BA-5B4C-DD5928C7F0D5}"/>
              </a:ext>
            </a:extLst>
          </p:cNvPr>
          <p:cNvSpPr>
            <a:spLocks noGrp="1"/>
          </p:cNvSpPr>
          <p:nvPr>
            <p:ph type="body" sz="quarter" idx="15" hasCustomPrompt="1"/>
          </p:nvPr>
        </p:nvSpPr>
        <p:spPr>
          <a:xfrm>
            <a:off x="933449" y="1186452"/>
            <a:ext cx="10648800" cy="565150"/>
          </a:xfrm>
        </p:spPr>
        <p:txBody>
          <a:bodyPr>
            <a:noAutofit/>
          </a:bodyPr>
          <a:lstStyle>
            <a:lvl1pPr>
              <a:defRPr lang="fr-FR" sz="1800" b="1" kern="1200" dirty="0">
                <a:solidFill>
                  <a:schemeClr val="tx1"/>
                </a:solidFill>
                <a:latin typeface="+mn-lt"/>
                <a:ea typeface="+mn-ea"/>
                <a:cs typeface="+mn-cs"/>
              </a:defRPr>
            </a:lvl1pPr>
          </a:lstStyle>
          <a:p>
            <a:pPr marL="0" lvl="0" indent="0" algn="l" defTabSz="914400" rtl="0" eaLnBrk="1" latinLnBrk="0" hangingPunct="1">
              <a:lnSpc>
                <a:spcPct val="100000"/>
              </a:lnSpc>
              <a:spcBef>
                <a:spcPts val="1000"/>
              </a:spcBef>
              <a:buFontTx/>
              <a:buNone/>
            </a:pPr>
            <a:r>
              <a:rPr lang="fr-FR" dirty="0"/>
              <a:t>Click to </a:t>
            </a:r>
            <a:r>
              <a:rPr lang="fr-FR" dirty="0" err="1"/>
              <a:t>add</a:t>
            </a:r>
            <a:r>
              <a:rPr lang="fr-FR" dirty="0"/>
              <a:t> </a:t>
            </a:r>
            <a:r>
              <a:rPr lang="fr-FR" dirty="0" err="1"/>
              <a:t>text</a:t>
            </a:r>
            <a:endParaRPr lang="fr-FR" dirty="0"/>
          </a:p>
        </p:txBody>
      </p:sp>
      <p:cxnSp>
        <p:nvCxnSpPr>
          <p:cNvPr id="3" name="Connecteur droit 2">
            <a:extLst>
              <a:ext uri="{FF2B5EF4-FFF2-40B4-BE49-F238E27FC236}">
                <a16:creationId xmlns:a16="http://schemas.microsoft.com/office/drawing/2014/main" id="{6E37F2E3-1B45-B42F-2DE4-B63C4370198E}"/>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8A0F3B0A-61DE-5B3D-B2EA-95A13B74AF33}"/>
              </a:ext>
            </a:extLst>
          </p:cNvPr>
          <p:cNvSpPr/>
          <p:nvPr userDrawn="1"/>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166A7349-C0C5-34A9-5814-C801E447926F}"/>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D196D46E-26A2-843B-D378-7987DFE31C9E}"/>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072754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Empty 1">
    <p:spTree>
      <p:nvGrpSpPr>
        <p:cNvPr id="1" name=""/>
        <p:cNvGrpSpPr/>
        <p:nvPr/>
      </p:nvGrpSpPr>
      <p:grpSpPr>
        <a:xfrm>
          <a:off x="0" y="0"/>
          <a:ext cx="0" cy="0"/>
          <a:chOff x="0" y="0"/>
          <a:chExt cx="0" cy="0"/>
        </a:xfrm>
      </p:grpSpPr>
      <p:cxnSp>
        <p:nvCxnSpPr>
          <p:cNvPr id="6" name="Connecteur droit 5">
            <a:extLst>
              <a:ext uri="{FF2B5EF4-FFF2-40B4-BE49-F238E27FC236}">
                <a16:creationId xmlns:a16="http://schemas.microsoft.com/office/drawing/2014/main" id="{35718B98-C890-9C4B-D902-F0BB12FE5A05}"/>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1760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act EN">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6E526EA-E4EC-524C-689F-F503562A1BEC}"/>
              </a:ext>
            </a:extLst>
          </p:cNvPr>
          <p:cNvSpPr/>
          <p:nvPr/>
        </p:nvSpPr>
        <p:spPr>
          <a:xfrm flipH="1" flipV="1">
            <a:off x="-10147" y="-3515"/>
            <a:ext cx="7551684" cy="6872684"/>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 name="connsiteX0" fmla="*/ 2322000 w 12191999"/>
              <a:gd name="connsiteY0" fmla="*/ 713897 h 6193674"/>
              <a:gd name="connsiteX1" fmla="*/ 12173892 w 12191999"/>
              <a:gd name="connsiteY1" fmla="*/ 0 h 6193674"/>
              <a:gd name="connsiteX2" fmla="*/ 12191999 w 12191999"/>
              <a:gd name="connsiteY2" fmla="*/ 6193674 h 6193674"/>
              <a:gd name="connsiteX3" fmla="*/ 0 w 12191999"/>
              <a:gd name="connsiteY3" fmla="*/ 6193674 h 6193674"/>
              <a:gd name="connsiteX4" fmla="*/ 0 w 12191999"/>
              <a:gd name="connsiteY4" fmla="*/ 5004496 h 6193674"/>
              <a:gd name="connsiteX5" fmla="*/ 1353372 w 12191999"/>
              <a:gd name="connsiteY5" fmla="*/ 1219795 h 6193674"/>
              <a:gd name="connsiteX6" fmla="*/ 2322000 w 12191999"/>
              <a:gd name="connsiteY6" fmla="*/ 713897 h 6193674"/>
              <a:gd name="connsiteX0" fmla="*/ 2340107 w 12210106"/>
              <a:gd name="connsiteY0" fmla="*/ 713897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340107 w 12210106"/>
              <a:gd name="connsiteY6" fmla="*/ 713897 h 6193674"/>
              <a:gd name="connsiteX0" fmla="*/ 2041342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041342 w 12210106"/>
              <a:gd name="connsiteY6" fmla="*/ 704843 h 6193674"/>
              <a:gd name="connsiteX0" fmla="*/ 1869326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1869326 w 12210106"/>
              <a:gd name="connsiteY6" fmla="*/ 704843 h 6193674"/>
              <a:gd name="connsiteX0" fmla="*/ 1869326 w 12220256"/>
              <a:gd name="connsiteY0" fmla="*/ 713897 h 6202728"/>
              <a:gd name="connsiteX1" fmla="*/ 12219160 w 12220256"/>
              <a:gd name="connsiteY1" fmla="*/ 0 h 6202728"/>
              <a:gd name="connsiteX2" fmla="*/ 12210106 w 12220256"/>
              <a:gd name="connsiteY2" fmla="*/ 6202728 h 6202728"/>
              <a:gd name="connsiteX3" fmla="*/ 18107 w 12220256"/>
              <a:gd name="connsiteY3" fmla="*/ 6202728 h 6202728"/>
              <a:gd name="connsiteX4" fmla="*/ 0 w 12220256"/>
              <a:gd name="connsiteY4" fmla="*/ 4461289 h 6202728"/>
              <a:gd name="connsiteX5" fmla="*/ 1371479 w 12220256"/>
              <a:gd name="connsiteY5" fmla="*/ 1228849 h 6202728"/>
              <a:gd name="connsiteX6" fmla="*/ 1869326 w 12220256"/>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5070871 w 17273020"/>
              <a:gd name="connsiteY3" fmla="*/ 6202728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28922 w 17273020"/>
              <a:gd name="connsiteY3" fmla="*/ 6184622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294658 w 17273020"/>
              <a:gd name="connsiteY5" fmla="*/ 2206623 h 6202728"/>
              <a:gd name="connsiteX6" fmla="*/ 6922090 w 17273020"/>
              <a:gd name="connsiteY6" fmla="*/ 713897 h 6202728"/>
              <a:gd name="connsiteX0" fmla="*/ 4126505 w 17273020"/>
              <a:gd name="connsiteY0" fmla="*/ 0 h 6864958"/>
              <a:gd name="connsiteX1" fmla="*/ 17271924 w 17273020"/>
              <a:gd name="connsiteY1" fmla="*/ 662230 h 6864958"/>
              <a:gd name="connsiteX2" fmla="*/ 17262870 w 17273020"/>
              <a:gd name="connsiteY2" fmla="*/ 6864958 h 6864958"/>
              <a:gd name="connsiteX3" fmla="*/ 4470338 w 17273020"/>
              <a:gd name="connsiteY3" fmla="*/ 6855905 h 6864958"/>
              <a:gd name="connsiteX4" fmla="*/ 0 w 17273020"/>
              <a:gd name="connsiteY4" fmla="*/ 3874140 h 6864958"/>
              <a:gd name="connsiteX5" fmla="*/ 294658 w 17273020"/>
              <a:gd name="connsiteY5" fmla="*/ 2868853 h 6864958"/>
              <a:gd name="connsiteX6" fmla="*/ 4126505 w 17273020"/>
              <a:gd name="connsiteY6" fmla="*/ 0 h 6864958"/>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294658 w 17273020"/>
              <a:gd name="connsiteY5" fmla="*/ 2876579 h 6872684"/>
              <a:gd name="connsiteX6" fmla="*/ 4126505 w 17273020"/>
              <a:gd name="connsiteY6" fmla="*/ 7726 h 6872684"/>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191116 w 17273020"/>
              <a:gd name="connsiteY5" fmla="*/ 2921847 h 6872684"/>
              <a:gd name="connsiteX6" fmla="*/ 4126505 w 17273020"/>
              <a:gd name="connsiteY6" fmla="*/ 7726 h 687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3020" h="6872684">
                <a:moveTo>
                  <a:pt x="4126505" y="7726"/>
                </a:moveTo>
                <a:lnTo>
                  <a:pt x="17271924" y="0"/>
                </a:lnTo>
                <a:cubicBezTo>
                  <a:pt x="17277960" y="2064558"/>
                  <a:pt x="17256834" y="4808126"/>
                  <a:pt x="17262870" y="6872684"/>
                </a:cubicBezTo>
                <a:lnTo>
                  <a:pt x="4470338" y="6863631"/>
                </a:lnTo>
                <a:lnTo>
                  <a:pt x="0" y="3881866"/>
                </a:lnTo>
                <a:lnTo>
                  <a:pt x="191116" y="2921847"/>
                </a:lnTo>
                <a:lnTo>
                  <a:pt x="4126505" y="7726"/>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9" name="Connecteur droit 8">
            <a:extLst>
              <a:ext uri="{FF2B5EF4-FFF2-40B4-BE49-F238E27FC236}">
                <a16:creationId xmlns:a16="http://schemas.microsoft.com/office/drawing/2014/main" id="{52A86E45-3F53-0505-E78E-E28A7E9C49E8}"/>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a:extLst>
              <a:ext uri="{FF2B5EF4-FFF2-40B4-BE49-F238E27FC236}">
                <a16:creationId xmlns:a16="http://schemas.microsoft.com/office/drawing/2014/main" id="{40EE714C-68D6-0F01-E785-417EA3D05571}"/>
              </a:ext>
            </a:extLst>
          </p:cNvPr>
          <p:cNvSpPr>
            <a:spLocks noGrp="1"/>
          </p:cNvSpPr>
          <p:nvPr>
            <p:ph sz="quarter" idx="15"/>
          </p:nvPr>
        </p:nvSpPr>
        <p:spPr>
          <a:xfrm>
            <a:off x="1709429" y="1566249"/>
            <a:ext cx="3976148" cy="3558012"/>
          </a:xfrm>
        </p:spPr>
        <p:txBody>
          <a:bodyPr anchor="ctr">
            <a:noAutofit/>
          </a:bodyPr>
          <a:lstStyle>
            <a:lvl1pPr>
              <a:lnSpc>
                <a:spcPct val="100000"/>
              </a:lnSpc>
              <a:defRPr b="1">
                <a:solidFill>
                  <a:schemeClr val="bg1"/>
                </a:solidFill>
              </a:defRPr>
            </a:lvl1pPr>
            <a:lvl2pPr marL="7938" indent="0">
              <a:lnSpc>
                <a:spcPct val="100000"/>
              </a:lnSpc>
              <a:tabLst/>
              <a:defRPr sz="1200">
                <a:solidFill>
                  <a:schemeClr val="bg1"/>
                </a:solidFill>
              </a:defRPr>
            </a:lvl2pPr>
          </a:lstStyle>
          <a:p>
            <a:pPr lvl="0"/>
            <a:r>
              <a:rPr lang="fr-FR"/>
              <a:t>Cliquez pour modifier les styles du texte du masque</a:t>
            </a:r>
          </a:p>
          <a:p>
            <a:pPr lvl="1"/>
            <a:r>
              <a:rPr lang="fr-FR"/>
              <a:t>Deuxième niveau</a:t>
            </a:r>
          </a:p>
        </p:txBody>
      </p:sp>
      <p:sp>
        <p:nvSpPr>
          <p:cNvPr id="7" name="Espace réservé du texte 1">
            <a:extLst>
              <a:ext uri="{FF2B5EF4-FFF2-40B4-BE49-F238E27FC236}">
                <a16:creationId xmlns:a16="http://schemas.microsoft.com/office/drawing/2014/main" id="{B8463A7A-2B2D-10E2-936A-6E883F5F4430}"/>
              </a:ext>
            </a:extLst>
          </p:cNvPr>
          <p:cNvSpPr txBox="1">
            <a:spLocks/>
          </p:cNvSpPr>
          <p:nvPr/>
        </p:nvSpPr>
        <p:spPr>
          <a:xfrm>
            <a:off x="1709429" y="5126369"/>
            <a:ext cx="3682191" cy="365125"/>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a:solidFill>
                  <a:schemeClr val="bg1"/>
                </a:solidFill>
              </a:rPr>
              <a:t>alcimed.com</a:t>
            </a:r>
          </a:p>
        </p:txBody>
      </p:sp>
      <p:pic>
        <p:nvPicPr>
          <p:cNvPr id="4" name="Image 3" descr="Une image contenant texte, Police, Graphique, capture d’écran&#10;&#10;Description générée automatiquement">
            <a:extLst>
              <a:ext uri="{FF2B5EF4-FFF2-40B4-BE49-F238E27FC236}">
                <a16:creationId xmlns:a16="http://schemas.microsoft.com/office/drawing/2014/main" id="{7C72B7C8-87B6-FEEF-4AD0-D472266C0406}"/>
              </a:ext>
            </a:extLst>
          </p:cNvPr>
          <p:cNvPicPr>
            <a:picLocks noChangeAspect="1"/>
          </p:cNvPicPr>
          <p:nvPr/>
        </p:nvPicPr>
        <p:blipFill>
          <a:blip r:embed="rId2"/>
          <a:stretch>
            <a:fillRect/>
          </a:stretch>
        </p:blipFill>
        <p:spPr>
          <a:xfrm>
            <a:off x="6114481" y="2500551"/>
            <a:ext cx="4919826" cy="1845923"/>
          </a:xfrm>
          <a:prstGeom prst="rect">
            <a:avLst/>
          </a:prstGeom>
        </p:spPr>
      </p:pic>
      <p:sp>
        <p:nvSpPr>
          <p:cNvPr id="2" name="Forme libre 2">
            <a:extLst>
              <a:ext uri="{FF2B5EF4-FFF2-40B4-BE49-F238E27FC236}">
                <a16:creationId xmlns:a16="http://schemas.microsoft.com/office/drawing/2014/main" id="{A2A05FCE-9165-E488-A8E2-F92AF16514E5}"/>
              </a:ext>
            </a:extLst>
          </p:cNvPr>
          <p:cNvSpPr/>
          <p:nvPr userDrawn="1"/>
        </p:nvSpPr>
        <p:spPr>
          <a:xfrm flipH="1" flipV="1">
            <a:off x="-10147" y="-3515"/>
            <a:ext cx="7551684" cy="6872684"/>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 name="connsiteX0" fmla="*/ 2322000 w 12191999"/>
              <a:gd name="connsiteY0" fmla="*/ 713897 h 6193674"/>
              <a:gd name="connsiteX1" fmla="*/ 12173892 w 12191999"/>
              <a:gd name="connsiteY1" fmla="*/ 0 h 6193674"/>
              <a:gd name="connsiteX2" fmla="*/ 12191999 w 12191999"/>
              <a:gd name="connsiteY2" fmla="*/ 6193674 h 6193674"/>
              <a:gd name="connsiteX3" fmla="*/ 0 w 12191999"/>
              <a:gd name="connsiteY3" fmla="*/ 6193674 h 6193674"/>
              <a:gd name="connsiteX4" fmla="*/ 0 w 12191999"/>
              <a:gd name="connsiteY4" fmla="*/ 5004496 h 6193674"/>
              <a:gd name="connsiteX5" fmla="*/ 1353372 w 12191999"/>
              <a:gd name="connsiteY5" fmla="*/ 1219795 h 6193674"/>
              <a:gd name="connsiteX6" fmla="*/ 2322000 w 12191999"/>
              <a:gd name="connsiteY6" fmla="*/ 713897 h 6193674"/>
              <a:gd name="connsiteX0" fmla="*/ 2340107 w 12210106"/>
              <a:gd name="connsiteY0" fmla="*/ 713897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340107 w 12210106"/>
              <a:gd name="connsiteY6" fmla="*/ 713897 h 6193674"/>
              <a:gd name="connsiteX0" fmla="*/ 2041342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041342 w 12210106"/>
              <a:gd name="connsiteY6" fmla="*/ 704843 h 6193674"/>
              <a:gd name="connsiteX0" fmla="*/ 1869326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1869326 w 12210106"/>
              <a:gd name="connsiteY6" fmla="*/ 704843 h 6193674"/>
              <a:gd name="connsiteX0" fmla="*/ 1869326 w 12220256"/>
              <a:gd name="connsiteY0" fmla="*/ 713897 h 6202728"/>
              <a:gd name="connsiteX1" fmla="*/ 12219160 w 12220256"/>
              <a:gd name="connsiteY1" fmla="*/ 0 h 6202728"/>
              <a:gd name="connsiteX2" fmla="*/ 12210106 w 12220256"/>
              <a:gd name="connsiteY2" fmla="*/ 6202728 h 6202728"/>
              <a:gd name="connsiteX3" fmla="*/ 18107 w 12220256"/>
              <a:gd name="connsiteY3" fmla="*/ 6202728 h 6202728"/>
              <a:gd name="connsiteX4" fmla="*/ 0 w 12220256"/>
              <a:gd name="connsiteY4" fmla="*/ 4461289 h 6202728"/>
              <a:gd name="connsiteX5" fmla="*/ 1371479 w 12220256"/>
              <a:gd name="connsiteY5" fmla="*/ 1228849 h 6202728"/>
              <a:gd name="connsiteX6" fmla="*/ 1869326 w 12220256"/>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5070871 w 17273020"/>
              <a:gd name="connsiteY3" fmla="*/ 6202728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28922 w 17273020"/>
              <a:gd name="connsiteY3" fmla="*/ 6184622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294658 w 17273020"/>
              <a:gd name="connsiteY5" fmla="*/ 2206623 h 6202728"/>
              <a:gd name="connsiteX6" fmla="*/ 6922090 w 17273020"/>
              <a:gd name="connsiteY6" fmla="*/ 713897 h 6202728"/>
              <a:gd name="connsiteX0" fmla="*/ 4126505 w 17273020"/>
              <a:gd name="connsiteY0" fmla="*/ 0 h 6864958"/>
              <a:gd name="connsiteX1" fmla="*/ 17271924 w 17273020"/>
              <a:gd name="connsiteY1" fmla="*/ 662230 h 6864958"/>
              <a:gd name="connsiteX2" fmla="*/ 17262870 w 17273020"/>
              <a:gd name="connsiteY2" fmla="*/ 6864958 h 6864958"/>
              <a:gd name="connsiteX3" fmla="*/ 4470338 w 17273020"/>
              <a:gd name="connsiteY3" fmla="*/ 6855905 h 6864958"/>
              <a:gd name="connsiteX4" fmla="*/ 0 w 17273020"/>
              <a:gd name="connsiteY4" fmla="*/ 3874140 h 6864958"/>
              <a:gd name="connsiteX5" fmla="*/ 294658 w 17273020"/>
              <a:gd name="connsiteY5" fmla="*/ 2868853 h 6864958"/>
              <a:gd name="connsiteX6" fmla="*/ 4126505 w 17273020"/>
              <a:gd name="connsiteY6" fmla="*/ 0 h 6864958"/>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294658 w 17273020"/>
              <a:gd name="connsiteY5" fmla="*/ 2876579 h 6872684"/>
              <a:gd name="connsiteX6" fmla="*/ 4126505 w 17273020"/>
              <a:gd name="connsiteY6" fmla="*/ 7726 h 6872684"/>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191116 w 17273020"/>
              <a:gd name="connsiteY5" fmla="*/ 2921847 h 6872684"/>
              <a:gd name="connsiteX6" fmla="*/ 4126505 w 17273020"/>
              <a:gd name="connsiteY6" fmla="*/ 7726 h 687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3020" h="6872684">
                <a:moveTo>
                  <a:pt x="4126505" y="7726"/>
                </a:moveTo>
                <a:lnTo>
                  <a:pt x="17271924" y="0"/>
                </a:lnTo>
                <a:cubicBezTo>
                  <a:pt x="17277960" y="2064558"/>
                  <a:pt x="17256834" y="4808126"/>
                  <a:pt x="17262870" y="6872684"/>
                </a:cubicBezTo>
                <a:lnTo>
                  <a:pt x="4470338" y="6863631"/>
                </a:lnTo>
                <a:lnTo>
                  <a:pt x="0" y="3881866"/>
                </a:lnTo>
                <a:lnTo>
                  <a:pt x="191116" y="2921847"/>
                </a:lnTo>
                <a:lnTo>
                  <a:pt x="4126505" y="7726"/>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5" name="Connecteur droit 4">
            <a:extLst>
              <a:ext uri="{FF2B5EF4-FFF2-40B4-BE49-F238E27FC236}">
                <a16:creationId xmlns:a16="http://schemas.microsoft.com/office/drawing/2014/main" id="{0801B0AE-E4B7-228C-FDD8-489A03AD0217}"/>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Espace réservé du texte 1">
            <a:extLst>
              <a:ext uri="{FF2B5EF4-FFF2-40B4-BE49-F238E27FC236}">
                <a16:creationId xmlns:a16="http://schemas.microsoft.com/office/drawing/2014/main" id="{4052B5F0-7129-A24A-27B4-60B487B023EE}"/>
              </a:ext>
            </a:extLst>
          </p:cNvPr>
          <p:cNvSpPr txBox="1">
            <a:spLocks/>
          </p:cNvSpPr>
          <p:nvPr userDrawn="1"/>
        </p:nvSpPr>
        <p:spPr>
          <a:xfrm>
            <a:off x="1709429" y="5126369"/>
            <a:ext cx="3682191" cy="365125"/>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a:solidFill>
                  <a:schemeClr val="bg1"/>
                </a:solidFill>
              </a:rPr>
              <a:t>alcimed.com</a:t>
            </a:r>
          </a:p>
        </p:txBody>
      </p:sp>
      <p:pic>
        <p:nvPicPr>
          <p:cNvPr id="8" name="Image 7" descr="Une image contenant texte, Police, Graphique, capture d’écran&#10;&#10;Description générée automatiquement">
            <a:extLst>
              <a:ext uri="{FF2B5EF4-FFF2-40B4-BE49-F238E27FC236}">
                <a16:creationId xmlns:a16="http://schemas.microsoft.com/office/drawing/2014/main" id="{67E3C821-333C-DDCD-60BE-1F0B80013ED2}"/>
              </a:ext>
            </a:extLst>
          </p:cNvPr>
          <p:cNvPicPr>
            <a:picLocks noChangeAspect="1"/>
          </p:cNvPicPr>
          <p:nvPr userDrawn="1"/>
        </p:nvPicPr>
        <p:blipFill>
          <a:blip r:embed="rId2"/>
          <a:stretch>
            <a:fillRect/>
          </a:stretch>
        </p:blipFill>
        <p:spPr>
          <a:xfrm>
            <a:off x="6114481" y="2500551"/>
            <a:ext cx="4919826" cy="1845923"/>
          </a:xfrm>
          <a:prstGeom prst="rect">
            <a:avLst/>
          </a:prstGeom>
        </p:spPr>
      </p:pic>
    </p:spTree>
    <p:extLst>
      <p:ext uri="{BB962C8B-B14F-4D97-AF65-F5344CB8AC3E}">
        <p14:creationId xmlns:p14="http://schemas.microsoft.com/office/powerpoint/2010/main" val="40234306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act FR">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6E526EA-E4EC-524C-689F-F503562A1BEC}"/>
              </a:ext>
            </a:extLst>
          </p:cNvPr>
          <p:cNvSpPr/>
          <p:nvPr/>
        </p:nvSpPr>
        <p:spPr>
          <a:xfrm flipH="1" flipV="1">
            <a:off x="-10147" y="-3515"/>
            <a:ext cx="7551684" cy="6872684"/>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 name="connsiteX0" fmla="*/ 2322000 w 12191999"/>
              <a:gd name="connsiteY0" fmla="*/ 713897 h 6193674"/>
              <a:gd name="connsiteX1" fmla="*/ 12173892 w 12191999"/>
              <a:gd name="connsiteY1" fmla="*/ 0 h 6193674"/>
              <a:gd name="connsiteX2" fmla="*/ 12191999 w 12191999"/>
              <a:gd name="connsiteY2" fmla="*/ 6193674 h 6193674"/>
              <a:gd name="connsiteX3" fmla="*/ 0 w 12191999"/>
              <a:gd name="connsiteY3" fmla="*/ 6193674 h 6193674"/>
              <a:gd name="connsiteX4" fmla="*/ 0 w 12191999"/>
              <a:gd name="connsiteY4" fmla="*/ 5004496 h 6193674"/>
              <a:gd name="connsiteX5" fmla="*/ 1353372 w 12191999"/>
              <a:gd name="connsiteY5" fmla="*/ 1219795 h 6193674"/>
              <a:gd name="connsiteX6" fmla="*/ 2322000 w 12191999"/>
              <a:gd name="connsiteY6" fmla="*/ 713897 h 6193674"/>
              <a:gd name="connsiteX0" fmla="*/ 2340107 w 12210106"/>
              <a:gd name="connsiteY0" fmla="*/ 713897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340107 w 12210106"/>
              <a:gd name="connsiteY6" fmla="*/ 713897 h 6193674"/>
              <a:gd name="connsiteX0" fmla="*/ 2041342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041342 w 12210106"/>
              <a:gd name="connsiteY6" fmla="*/ 704843 h 6193674"/>
              <a:gd name="connsiteX0" fmla="*/ 1869326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1869326 w 12210106"/>
              <a:gd name="connsiteY6" fmla="*/ 704843 h 6193674"/>
              <a:gd name="connsiteX0" fmla="*/ 1869326 w 12220256"/>
              <a:gd name="connsiteY0" fmla="*/ 713897 h 6202728"/>
              <a:gd name="connsiteX1" fmla="*/ 12219160 w 12220256"/>
              <a:gd name="connsiteY1" fmla="*/ 0 h 6202728"/>
              <a:gd name="connsiteX2" fmla="*/ 12210106 w 12220256"/>
              <a:gd name="connsiteY2" fmla="*/ 6202728 h 6202728"/>
              <a:gd name="connsiteX3" fmla="*/ 18107 w 12220256"/>
              <a:gd name="connsiteY3" fmla="*/ 6202728 h 6202728"/>
              <a:gd name="connsiteX4" fmla="*/ 0 w 12220256"/>
              <a:gd name="connsiteY4" fmla="*/ 4461289 h 6202728"/>
              <a:gd name="connsiteX5" fmla="*/ 1371479 w 12220256"/>
              <a:gd name="connsiteY5" fmla="*/ 1228849 h 6202728"/>
              <a:gd name="connsiteX6" fmla="*/ 1869326 w 12220256"/>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5070871 w 17273020"/>
              <a:gd name="connsiteY3" fmla="*/ 6202728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28922 w 17273020"/>
              <a:gd name="connsiteY3" fmla="*/ 6184622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294658 w 17273020"/>
              <a:gd name="connsiteY5" fmla="*/ 2206623 h 6202728"/>
              <a:gd name="connsiteX6" fmla="*/ 6922090 w 17273020"/>
              <a:gd name="connsiteY6" fmla="*/ 713897 h 6202728"/>
              <a:gd name="connsiteX0" fmla="*/ 4126505 w 17273020"/>
              <a:gd name="connsiteY0" fmla="*/ 0 h 6864958"/>
              <a:gd name="connsiteX1" fmla="*/ 17271924 w 17273020"/>
              <a:gd name="connsiteY1" fmla="*/ 662230 h 6864958"/>
              <a:gd name="connsiteX2" fmla="*/ 17262870 w 17273020"/>
              <a:gd name="connsiteY2" fmla="*/ 6864958 h 6864958"/>
              <a:gd name="connsiteX3" fmla="*/ 4470338 w 17273020"/>
              <a:gd name="connsiteY3" fmla="*/ 6855905 h 6864958"/>
              <a:gd name="connsiteX4" fmla="*/ 0 w 17273020"/>
              <a:gd name="connsiteY4" fmla="*/ 3874140 h 6864958"/>
              <a:gd name="connsiteX5" fmla="*/ 294658 w 17273020"/>
              <a:gd name="connsiteY5" fmla="*/ 2868853 h 6864958"/>
              <a:gd name="connsiteX6" fmla="*/ 4126505 w 17273020"/>
              <a:gd name="connsiteY6" fmla="*/ 0 h 6864958"/>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294658 w 17273020"/>
              <a:gd name="connsiteY5" fmla="*/ 2876579 h 6872684"/>
              <a:gd name="connsiteX6" fmla="*/ 4126505 w 17273020"/>
              <a:gd name="connsiteY6" fmla="*/ 7726 h 6872684"/>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191116 w 17273020"/>
              <a:gd name="connsiteY5" fmla="*/ 2921847 h 6872684"/>
              <a:gd name="connsiteX6" fmla="*/ 4126505 w 17273020"/>
              <a:gd name="connsiteY6" fmla="*/ 7726 h 687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3020" h="6872684">
                <a:moveTo>
                  <a:pt x="4126505" y="7726"/>
                </a:moveTo>
                <a:lnTo>
                  <a:pt x="17271924" y="0"/>
                </a:lnTo>
                <a:cubicBezTo>
                  <a:pt x="17277960" y="2064558"/>
                  <a:pt x="17256834" y="4808126"/>
                  <a:pt x="17262870" y="6872684"/>
                </a:cubicBezTo>
                <a:lnTo>
                  <a:pt x="4470338" y="6863631"/>
                </a:lnTo>
                <a:lnTo>
                  <a:pt x="0" y="3881866"/>
                </a:lnTo>
                <a:lnTo>
                  <a:pt x="191116" y="2921847"/>
                </a:lnTo>
                <a:lnTo>
                  <a:pt x="4126505" y="7726"/>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9" name="Connecteur droit 8">
            <a:extLst>
              <a:ext uri="{FF2B5EF4-FFF2-40B4-BE49-F238E27FC236}">
                <a16:creationId xmlns:a16="http://schemas.microsoft.com/office/drawing/2014/main" id="{52A86E45-3F53-0505-E78E-E28A7E9C49E8}"/>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a:extLst>
              <a:ext uri="{FF2B5EF4-FFF2-40B4-BE49-F238E27FC236}">
                <a16:creationId xmlns:a16="http://schemas.microsoft.com/office/drawing/2014/main" id="{40EE714C-68D6-0F01-E785-417EA3D05571}"/>
              </a:ext>
            </a:extLst>
          </p:cNvPr>
          <p:cNvSpPr>
            <a:spLocks noGrp="1"/>
          </p:cNvSpPr>
          <p:nvPr>
            <p:ph sz="quarter" idx="15"/>
          </p:nvPr>
        </p:nvSpPr>
        <p:spPr>
          <a:xfrm>
            <a:off x="1709429" y="1566249"/>
            <a:ext cx="3976148" cy="3558012"/>
          </a:xfrm>
        </p:spPr>
        <p:txBody>
          <a:bodyPr anchor="ctr">
            <a:noAutofit/>
          </a:bodyPr>
          <a:lstStyle>
            <a:lvl1pPr>
              <a:lnSpc>
                <a:spcPct val="100000"/>
              </a:lnSpc>
              <a:defRPr b="1">
                <a:solidFill>
                  <a:schemeClr val="bg1"/>
                </a:solidFill>
              </a:defRPr>
            </a:lvl1pPr>
            <a:lvl2pPr marL="7938" indent="0">
              <a:lnSpc>
                <a:spcPct val="100000"/>
              </a:lnSpc>
              <a:tabLst/>
              <a:defRPr sz="1200">
                <a:solidFill>
                  <a:schemeClr val="bg1"/>
                </a:solidFill>
              </a:defRPr>
            </a:lvl2pPr>
          </a:lstStyle>
          <a:p>
            <a:pPr lvl="0"/>
            <a:r>
              <a:rPr lang="fr-FR"/>
              <a:t>Cliquez pour modifier les styles du texte du masque</a:t>
            </a:r>
          </a:p>
          <a:p>
            <a:pPr lvl="1"/>
            <a:r>
              <a:rPr lang="fr-FR"/>
              <a:t>Deuxième niveau</a:t>
            </a:r>
          </a:p>
        </p:txBody>
      </p:sp>
      <p:sp>
        <p:nvSpPr>
          <p:cNvPr id="7" name="Espace réservé du texte 1">
            <a:extLst>
              <a:ext uri="{FF2B5EF4-FFF2-40B4-BE49-F238E27FC236}">
                <a16:creationId xmlns:a16="http://schemas.microsoft.com/office/drawing/2014/main" id="{B8463A7A-2B2D-10E2-936A-6E883F5F4430}"/>
              </a:ext>
            </a:extLst>
          </p:cNvPr>
          <p:cNvSpPr txBox="1">
            <a:spLocks/>
          </p:cNvSpPr>
          <p:nvPr/>
        </p:nvSpPr>
        <p:spPr>
          <a:xfrm>
            <a:off x="1709429" y="5126369"/>
            <a:ext cx="3682191" cy="365125"/>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a:solidFill>
                  <a:schemeClr val="bg1"/>
                </a:solidFill>
              </a:rPr>
              <a:t>alcimed.com</a:t>
            </a:r>
          </a:p>
        </p:txBody>
      </p:sp>
      <p:pic>
        <p:nvPicPr>
          <p:cNvPr id="4" name="Image 3">
            <a:extLst>
              <a:ext uri="{FF2B5EF4-FFF2-40B4-BE49-F238E27FC236}">
                <a16:creationId xmlns:a16="http://schemas.microsoft.com/office/drawing/2014/main" id="{7C72B7C8-87B6-FEEF-4AD0-D472266C0406}"/>
              </a:ext>
            </a:extLst>
          </p:cNvPr>
          <p:cNvPicPr>
            <a:picLocks noChangeAspect="1"/>
          </p:cNvPicPr>
          <p:nvPr/>
        </p:nvPicPr>
        <p:blipFill>
          <a:blip r:embed="rId2"/>
          <a:srcRect/>
          <a:stretch/>
        </p:blipFill>
        <p:spPr>
          <a:xfrm>
            <a:off x="6113927" y="2499911"/>
            <a:ext cx="5040993" cy="1846029"/>
          </a:xfrm>
          <a:prstGeom prst="rect">
            <a:avLst/>
          </a:prstGeom>
        </p:spPr>
      </p:pic>
      <p:sp>
        <p:nvSpPr>
          <p:cNvPr id="2" name="Forme libre 2">
            <a:extLst>
              <a:ext uri="{FF2B5EF4-FFF2-40B4-BE49-F238E27FC236}">
                <a16:creationId xmlns:a16="http://schemas.microsoft.com/office/drawing/2014/main" id="{7E3BE217-F1D7-1052-F206-A735E6455100}"/>
              </a:ext>
            </a:extLst>
          </p:cNvPr>
          <p:cNvSpPr/>
          <p:nvPr userDrawn="1"/>
        </p:nvSpPr>
        <p:spPr>
          <a:xfrm flipH="1" flipV="1">
            <a:off x="-10147" y="-3515"/>
            <a:ext cx="7551684" cy="6872684"/>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 name="connsiteX0" fmla="*/ 2322000 w 12191999"/>
              <a:gd name="connsiteY0" fmla="*/ 713897 h 6193674"/>
              <a:gd name="connsiteX1" fmla="*/ 12173892 w 12191999"/>
              <a:gd name="connsiteY1" fmla="*/ 0 h 6193674"/>
              <a:gd name="connsiteX2" fmla="*/ 12191999 w 12191999"/>
              <a:gd name="connsiteY2" fmla="*/ 6193674 h 6193674"/>
              <a:gd name="connsiteX3" fmla="*/ 0 w 12191999"/>
              <a:gd name="connsiteY3" fmla="*/ 6193674 h 6193674"/>
              <a:gd name="connsiteX4" fmla="*/ 0 w 12191999"/>
              <a:gd name="connsiteY4" fmla="*/ 5004496 h 6193674"/>
              <a:gd name="connsiteX5" fmla="*/ 1353372 w 12191999"/>
              <a:gd name="connsiteY5" fmla="*/ 1219795 h 6193674"/>
              <a:gd name="connsiteX6" fmla="*/ 2322000 w 12191999"/>
              <a:gd name="connsiteY6" fmla="*/ 713897 h 6193674"/>
              <a:gd name="connsiteX0" fmla="*/ 2340107 w 12210106"/>
              <a:gd name="connsiteY0" fmla="*/ 713897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340107 w 12210106"/>
              <a:gd name="connsiteY6" fmla="*/ 713897 h 6193674"/>
              <a:gd name="connsiteX0" fmla="*/ 2041342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041342 w 12210106"/>
              <a:gd name="connsiteY6" fmla="*/ 704843 h 6193674"/>
              <a:gd name="connsiteX0" fmla="*/ 1869326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1869326 w 12210106"/>
              <a:gd name="connsiteY6" fmla="*/ 704843 h 6193674"/>
              <a:gd name="connsiteX0" fmla="*/ 1869326 w 12220256"/>
              <a:gd name="connsiteY0" fmla="*/ 713897 h 6202728"/>
              <a:gd name="connsiteX1" fmla="*/ 12219160 w 12220256"/>
              <a:gd name="connsiteY1" fmla="*/ 0 h 6202728"/>
              <a:gd name="connsiteX2" fmla="*/ 12210106 w 12220256"/>
              <a:gd name="connsiteY2" fmla="*/ 6202728 h 6202728"/>
              <a:gd name="connsiteX3" fmla="*/ 18107 w 12220256"/>
              <a:gd name="connsiteY3" fmla="*/ 6202728 h 6202728"/>
              <a:gd name="connsiteX4" fmla="*/ 0 w 12220256"/>
              <a:gd name="connsiteY4" fmla="*/ 4461289 h 6202728"/>
              <a:gd name="connsiteX5" fmla="*/ 1371479 w 12220256"/>
              <a:gd name="connsiteY5" fmla="*/ 1228849 h 6202728"/>
              <a:gd name="connsiteX6" fmla="*/ 1869326 w 12220256"/>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5070871 w 17273020"/>
              <a:gd name="connsiteY3" fmla="*/ 6202728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28922 w 17273020"/>
              <a:gd name="connsiteY3" fmla="*/ 6184622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294658 w 17273020"/>
              <a:gd name="connsiteY5" fmla="*/ 2206623 h 6202728"/>
              <a:gd name="connsiteX6" fmla="*/ 6922090 w 17273020"/>
              <a:gd name="connsiteY6" fmla="*/ 713897 h 6202728"/>
              <a:gd name="connsiteX0" fmla="*/ 4126505 w 17273020"/>
              <a:gd name="connsiteY0" fmla="*/ 0 h 6864958"/>
              <a:gd name="connsiteX1" fmla="*/ 17271924 w 17273020"/>
              <a:gd name="connsiteY1" fmla="*/ 662230 h 6864958"/>
              <a:gd name="connsiteX2" fmla="*/ 17262870 w 17273020"/>
              <a:gd name="connsiteY2" fmla="*/ 6864958 h 6864958"/>
              <a:gd name="connsiteX3" fmla="*/ 4470338 w 17273020"/>
              <a:gd name="connsiteY3" fmla="*/ 6855905 h 6864958"/>
              <a:gd name="connsiteX4" fmla="*/ 0 w 17273020"/>
              <a:gd name="connsiteY4" fmla="*/ 3874140 h 6864958"/>
              <a:gd name="connsiteX5" fmla="*/ 294658 w 17273020"/>
              <a:gd name="connsiteY5" fmla="*/ 2868853 h 6864958"/>
              <a:gd name="connsiteX6" fmla="*/ 4126505 w 17273020"/>
              <a:gd name="connsiteY6" fmla="*/ 0 h 6864958"/>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294658 w 17273020"/>
              <a:gd name="connsiteY5" fmla="*/ 2876579 h 6872684"/>
              <a:gd name="connsiteX6" fmla="*/ 4126505 w 17273020"/>
              <a:gd name="connsiteY6" fmla="*/ 7726 h 6872684"/>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191116 w 17273020"/>
              <a:gd name="connsiteY5" fmla="*/ 2921847 h 6872684"/>
              <a:gd name="connsiteX6" fmla="*/ 4126505 w 17273020"/>
              <a:gd name="connsiteY6" fmla="*/ 7726 h 687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3020" h="6872684">
                <a:moveTo>
                  <a:pt x="4126505" y="7726"/>
                </a:moveTo>
                <a:lnTo>
                  <a:pt x="17271924" y="0"/>
                </a:lnTo>
                <a:cubicBezTo>
                  <a:pt x="17277960" y="2064558"/>
                  <a:pt x="17256834" y="4808126"/>
                  <a:pt x="17262870" y="6872684"/>
                </a:cubicBezTo>
                <a:lnTo>
                  <a:pt x="4470338" y="6863631"/>
                </a:lnTo>
                <a:lnTo>
                  <a:pt x="0" y="3881866"/>
                </a:lnTo>
                <a:lnTo>
                  <a:pt x="191116" y="2921847"/>
                </a:lnTo>
                <a:lnTo>
                  <a:pt x="4126505" y="7726"/>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5" name="Connecteur droit 4">
            <a:extLst>
              <a:ext uri="{FF2B5EF4-FFF2-40B4-BE49-F238E27FC236}">
                <a16:creationId xmlns:a16="http://schemas.microsoft.com/office/drawing/2014/main" id="{5C34BA03-D5D1-5E78-AFBE-AAB8761AD9AA}"/>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Espace réservé du texte 1">
            <a:extLst>
              <a:ext uri="{FF2B5EF4-FFF2-40B4-BE49-F238E27FC236}">
                <a16:creationId xmlns:a16="http://schemas.microsoft.com/office/drawing/2014/main" id="{3DD35993-2512-FF8E-2F17-BF8B97131900}"/>
              </a:ext>
            </a:extLst>
          </p:cNvPr>
          <p:cNvSpPr txBox="1">
            <a:spLocks/>
          </p:cNvSpPr>
          <p:nvPr userDrawn="1"/>
        </p:nvSpPr>
        <p:spPr>
          <a:xfrm>
            <a:off x="1709429" y="5126369"/>
            <a:ext cx="3682191" cy="365125"/>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fr-FR" sz="1800" b="1">
                <a:solidFill>
                  <a:schemeClr val="bg1"/>
                </a:solidFill>
              </a:rPr>
              <a:t>alcimed.com</a:t>
            </a:r>
          </a:p>
        </p:txBody>
      </p:sp>
      <p:pic>
        <p:nvPicPr>
          <p:cNvPr id="8" name="Image 7">
            <a:extLst>
              <a:ext uri="{FF2B5EF4-FFF2-40B4-BE49-F238E27FC236}">
                <a16:creationId xmlns:a16="http://schemas.microsoft.com/office/drawing/2014/main" id="{89BB6F27-3491-EC12-3E2A-479BA81C9FC2}"/>
              </a:ext>
            </a:extLst>
          </p:cNvPr>
          <p:cNvPicPr>
            <a:picLocks noChangeAspect="1"/>
          </p:cNvPicPr>
          <p:nvPr userDrawn="1"/>
        </p:nvPicPr>
        <p:blipFill>
          <a:blip r:embed="rId2"/>
          <a:srcRect/>
          <a:stretch/>
        </p:blipFill>
        <p:spPr>
          <a:xfrm>
            <a:off x="6113927" y="2499911"/>
            <a:ext cx="5040993" cy="1846029"/>
          </a:xfrm>
          <a:prstGeom prst="rect">
            <a:avLst/>
          </a:prstGeom>
        </p:spPr>
      </p:pic>
    </p:spTree>
    <p:extLst>
      <p:ext uri="{BB962C8B-B14F-4D97-AF65-F5344CB8AC3E}">
        <p14:creationId xmlns:p14="http://schemas.microsoft.com/office/powerpoint/2010/main" val="1597423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Contact">
    <p:bg>
      <p:bgPr>
        <a:solidFill>
          <a:schemeClr val="bg1"/>
        </a:solidFill>
        <a:effectLst/>
      </p:bgPr>
    </p:bg>
    <p:spTree>
      <p:nvGrpSpPr>
        <p:cNvPr id="1" name=""/>
        <p:cNvGrpSpPr/>
        <p:nvPr/>
      </p:nvGrpSpPr>
      <p:grpSpPr>
        <a:xfrm>
          <a:off x="0" y="0"/>
          <a:ext cx="0" cy="0"/>
          <a:chOff x="0" y="0"/>
          <a:chExt cx="0" cy="0"/>
        </a:xfrm>
      </p:grpSpPr>
      <p:sp>
        <p:nvSpPr>
          <p:cNvPr id="3" name="Forme libre 2">
            <a:extLst>
              <a:ext uri="{FF2B5EF4-FFF2-40B4-BE49-F238E27FC236}">
                <a16:creationId xmlns:a16="http://schemas.microsoft.com/office/drawing/2014/main" id="{86E526EA-E4EC-524C-689F-F503562A1BEC}"/>
              </a:ext>
            </a:extLst>
          </p:cNvPr>
          <p:cNvSpPr/>
          <p:nvPr/>
        </p:nvSpPr>
        <p:spPr>
          <a:xfrm flipH="1" flipV="1">
            <a:off x="-10147" y="-3515"/>
            <a:ext cx="7551684" cy="6872684"/>
          </a:xfrm>
          <a:custGeom>
            <a:avLst/>
            <a:gdLst>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726999 w 12191999"/>
              <a:gd name="connsiteY8" fmla="*/ 628633 h 5479777"/>
              <a:gd name="connsiteX9" fmla="*/ 2421462 w 12191999"/>
              <a:gd name="connsiteY9" fmla="*/ 53987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033999 w 12191999"/>
              <a:gd name="connsiteY7" fmla="*/ 1321633 h 5479777"/>
              <a:gd name="connsiteX8" fmla="*/ 2421462 w 12191999"/>
              <a:gd name="connsiteY8" fmla="*/ 53987 h 5479777"/>
              <a:gd name="connsiteX9" fmla="*/ 2322000 w 12191999"/>
              <a:gd name="connsiteY9"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1340999 w 12191999"/>
              <a:gd name="connsiteY6" fmla="*/ 628633 h 5479777"/>
              <a:gd name="connsiteX7" fmla="*/ 2421462 w 12191999"/>
              <a:gd name="connsiteY7" fmla="*/ 53987 h 5479777"/>
              <a:gd name="connsiteX8" fmla="*/ 2322000 w 12191999"/>
              <a:gd name="connsiteY8"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421462 w 12191999"/>
              <a:gd name="connsiteY6" fmla="*/ 53987 h 5479777"/>
              <a:gd name="connsiteX7" fmla="*/ 2322000 w 12191999"/>
              <a:gd name="connsiteY7" fmla="*/ 0 h 5479777"/>
              <a:gd name="connsiteX0" fmla="*/ 2322000 w 12191999"/>
              <a:gd name="connsiteY0" fmla="*/ 0 h 5479777"/>
              <a:gd name="connsiteX1" fmla="*/ 12191999 w 12191999"/>
              <a:gd name="connsiteY1" fmla="*/ 3767569 h 5479777"/>
              <a:gd name="connsiteX2" fmla="*/ 12191999 w 12191999"/>
              <a:gd name="connsiteY2" fmla="*/ 5479777 h 5479777"/>
              <a:gd name="connsiteX3" fmla="*/ 0 w 12191999"/>
              <a:gd name="connsiteY3" fmla="*/ 5479777 h 5479777"/>
              <a:gd name="connsiteX4" fmla="*/ 0 w 12191999"/>
              <a:gd name="connsiteY4" fmla="*/ 4290599 h 5479777"/>
              <a:gd name="connsiteX5" fmla="*/ 1353372 w 12191999"/>
              <a:gd name="connsiteY5" fmla="*/ 505898 h 5479777"/>
              <a:gd name="connsiteX6" fmla="*/ 2322000 w 12191999"/>
              <a:gd name="connsiteY6" fmla="*/ 0 h 5479777"/>
              <a:gd name="connsiteX0" fmla="*/ 2322000 w 12191999"/>
              <a:gd name="connsiteY0" fmla="*/ 713897 h 6193674"/>
              <a:gd name="connsiteX1" fmla="*/ 12173892 w 12191999"/>
              <a:gd name="connsiteY1" fmla="*/ 0 h 6193674"/>
              <a:gd name="connsiteX2" fmla="*/ 12191999 w 12191999"/>
              <a:gd name="connsiteY2" fmla="*/ 6193674 h 6193674"/>
              <a:gd name="connsiteX3" fmla="*/ 0 w 12191999"/>
              <a:gd name="connsiteY3" fmla="*/ 6193674 h 6193674"/>
              <a:gd name="connsiteX4" fmla="*/ 0 w 12191999"/>
              <a:gd name="connsiteY4" fmla="*/ 5004496 h 6193674"/>
              <a:gd name="connsiteX5" fmla="*/ 1353372 w 12191999"/>
              <a:gd name="connsiteY5" fmla="*/ 1219795 h 6193674"/>
              <a:gd name="connsiteX6" fmla="*/ 2322000 w 12191999"/>
              <a:gd name="connsiteY6" fmla="*/ 713897 h 6193674"/>
              <a:gd name="connsiteX0" fmla="*/ 2340107 w 12210106"/>
              <a:gd name="connsiteY0" fmla="*/ 713897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340107 w 12210106"/>
              <a:gd name="connsiteY6" fmla="*/ 713897 h 6193674"/>
              <a:gd name="connsiteX0" fmla="*/ 2041342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2041342 w 12210106"/>
              <a:gd name="connsiteY6" fmla="*/ 704843 h 6193674"/>
              <a:gd name="connsiteX0" fmla="*/ 1869326 w 12210106"/>
              <a:gd name="connsiteY0" fmla="*/ 704843 h 6193674"/>
              <a:gd name="connsiteX1" fmla="*/ 12191999 w 12210106"/>
              <a:gd name="connsiteY1" fmla="*/ 0 h 6193674"/>
              <a:gd name="connsiteX2" fmla="*/ 12210106 w 12210106"/>
              <a:gd name="connsiteY2" fmla="*/ 6193674 h 6193674"/>
              <a:gd name="connsiteX3" fmla="*/ 18107 w 12210106"/>
              <a:gd name="connsiteY3" fmla="*/ 6193674 h 6193674"/>
              <a:gd name="connsiteX4" fmla="*/ 0 w 12210106"/>
              <a:gd name="connsiteY4" fmla="*/ 4452235 h 6193674"/>
              <a:gd name="connsiteX5" fmla="*/ 1371479 w 12210106"/>
              <a:gd name="connsiteY5" fmla="*/ 1219795 h 6193674"/>
              <a:gd name="connsiteX6" fmla="*/ 1869326 w 12210106"/>
              <a:gd name="connsiteY6" fmla="*/ 704843 h 6193674"/>
              <a:gd name="connsiteX0" fmla="*/ 1869326 w 12220256"/>
              <a:gd name="connsiteY0" fmla="*/ 713897 h 6202728"/>
              <a:gd name="connsiteX1" fmla="*/ 12219160 w 12220256"/>
              <a:gd name="connsiteY1" fmla="*/ 0 h 6202728"/>
              <a:gd name="connsiteX2" fmla="*/ 12210106 w 12220256"/>
              <a:gd name="connsiteY2" fmla="*/ 6202728 h 6202728"/>
              <a:gd name="connsiteX3" fmla="*/ 18107 w 12220256"/>
              <a:gd name="connsiteY3" fmla="*/ 6202728 h 6202728"/>
              <a:gd name="connsiteX4" fmla="*/ 0 w 12220256"/>
              <a:gd name="connsiteY4" fmla="*/ 4461289 h 6202728"/>
              <a:gd name="connsiteX5" fmla="*/ 1371479 w 12220256"/>
              <a:gd name="connsiteY5" fmla="*/ 1228849 h 6202728"/>
              <a:gd name="connsiteX6" fmla="*/ 1869326 w 12220256"/>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5070871 w 17273020"/>
              <a:gd name="connsiteY3" fmla="*/ 6202728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28922 w 17273020"/>
              <a:gd name="connsiteY3" fmla="*/ 6184622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6424243 w 17273020"/>
              <a:gd name="connsiteY5" fmla="*/ 1228849 h 6202728"/>
              <a:gd name="connsiteX6" fmla="*/ 6922090 w 17273020"/>
              <a:gd name="connsiteY6" fmla="*/ 713897 h 6202728"/>
              <a:gd name="connsiteX0" fmla="*/ 6922090 w 17273020"/>
              <a:gd name="connsiteY0" fmla="*/ 713897 h 6202728"/>
              <a:gd name="connsiteX1" fmla="*/ 17271924 w 17273020"/>
              <a:gd name="connsiteY1" fmla="*/ 0 h 6202728"/>
              <a:gd name="connsiteX2" fmla="*/ 17262870 w 17273020"/>
              <a:gd name="connsiteY2" fmla="*/ 6202728 h 6202728"/>
              <a:gd name="connsiteX3" fmla="*/ 4470338 w 17273020"/>
              <a:gd name="connsiteY3" fmla="*/ 6193675 h 6202728"/>
              <a:gd name="connsiteX4" fmla="*/ 0 w 17273020"/>
              <a:gd name="connsiteY4" fmla="*/ 3211910 h 6202728"/>
              <a:gd name="connsiteX5" fmla="*/ 294658 w 17273020"/>
              <a:gd name="connsiteY5" fmla="*/ 2206623 h 6202728"/>
              <a:gd name="connsiteX6" fmla="*/ 6922090 w 17273020"/>
              <a:gd name="connsiteY6" fmla="*/ 713897 h 6202728"/>
              <a:gd name="connsiteX0" fmla="*/ 4126505 w 17273020"/>
              <a:gd name="connsiteY0" fmla="*/ 0 h 6864958"/>
              <a:gd name="connsiteX1" fmla="*/ 17271924 w 17273020"/>
              <a:gd name="connsiteY1" fmla="*/ 662230 h 6864958"/>
              <a:gd name="connsiteX2" fmla="*/ 17262870 w 17273020"/>
              <a:gd name="connsiteY2" fmla="*/ 6864958 h 6864958"/>
              <a:gd name="connsiteX3" fmla="*/ 4470338 w 17273020"/>
              <a:gd name="connsiteY3" fmla="*/ 6855905 h 6864958"/>
              <a:gd name="connsiteX4" fmla="*/ 0 w 17273020"/>
              <a:gd name="connsiteY4" fmla="*/ 3874140 h 6864958"/>
              <a:gd name="connsiteX5" fmla="*/ 294658 w 17273020"/>
              <a:gd name="connsiteY5" fmla="*/ 2868853 h 6864958"/>
              <a:gd name="connsiteX6" fmla="*/ 4126505 w 17273020"/>
              <a:gd name="connsiteY6" fmla="*/ 0 h 6864958"/>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294658 w 17273020"/>
              <a:gd name="connsiteY5" fmla="*/ 2876579 h 6872684"/>
              <a:gd name="connsiteX6" fmla="*/ 4126505 w 17273020"/>
              <a:gd name="connsiteY6" fmla="*/ 7726 h 6872684"/>
              <a:gd name="connsiteX0" fmla="*/ 4126505 w 17273020"/>
              <a:gd name="connsiteY0" fmla="*/ 7726 h 6872684"/>
              <a:gd name="connsiteX1" fmla="*/ 17271924 w 17273020"/>
              <a:gd name="connsiteY1" fmla="*/ 0 h 6872684"/>
              <a:gd name="connsiteX2" fmla="*/ 17262870 w 17273020"/>
              <a:gd name="connsiteY2" fmla="*/ 6872684 h 6872684"/>
              <a:gd name="connsiteX3" fmla="*/ 4470338 w 17273020"/>
              <a:gd name="connsiteY3" fmla="*/ 6863631 h 6872684"/>
              <a:gd name="connsiteX4" fmla="*/ 0 w 17273020"/>
              <a:gd name="connsiteY4" fmla="*/ 3881866 h 6872684"/>
              <a:gd name="connsiteX5" fmla="*/ 191116 w 17273020"/>
              <a:gd name="connsiteY5" fmla="*/ 2921847 h 6872684"/>
              <a:gd name="connsiteX6" fmla="*/ 4126505 w 17273020"/>
              <a:gd name="connsiteY6" fmla="*/ 7726 h 6872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73020" h="6872684">
                <a:moveTo>
                  <a:pt x="4126505" y="7726"/>
                </a:moveTo>
                <a:lnTo>
                  <a:pt x="17271924" y="0"/>
                </a:lnTo>
                <a:cubicBezTo>
                  <a:pt x="17277960" y="2064558"/>
                  <a:pt x="17256834" y="4808126"/>
                  <a:pt x="17262870" y="6872684"/>
                </a:cubicBezTo>
                <a:lnTo>
                  <a:pt x="4470338" y="6863631"/>
                </a:lnTo>
                <a:lnTo>
                  <a:pt x="0" y="3881866"/>
                </a:lnTo>
                <a:lnTo>
                  <a:pt x="191116" y="2921847"/>
                </a:lnTo>
                <a:lnTo>
                  <a:pt x="4126505" y="7726"/>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pic>
        <p:nvPicPr>
          <p:cNvPr id="5" name="Image 4" descr="Une image contenant Graphique, Police, logo, cercle&#10;&#10;Description générée automatiquement">
            <a:extLst>
              <a:ext uri="{FF2B5EF4-FFF2-40B4-BE49-F238E27FC236}">
                <a16:creationId xmlns:a16="http://schemas.microsoft.com/office/drawing/2014/main" id="{F9B88D65-7B76-D35B-AF6F-C1BBFFE3B25C}"/>
              </a:ext>
            </a:extLst>
          </p:cNvPr>
          <p:cNvPicPr>
            <a:picLocks noChangeAspect="1"/>
          </p:cNvPicPr>
          <p:nvPr/>
        </p:nvPicPr>
        <p:blipFill>
          <a:blip r:embed="rId2"/>
          <a:stretch>
            <a:fillRect/>
          </a:stretch>
        </p:blipFill>
        <p:spPr>
          <a:xfrm>
            <a:off x="6068836" y="2473199"/>
            <a:ext cx="1911599" cy="1911599"/>
          </a:xfrm>
          <a:prstGeom prst="rect">
            <a:avLst/>
          </a:prstGeom>
        </p:spPr>
      </p:pic>
      <p:cxnSp>
        <p:nvCxnSpPr>
          <p:cNvPr id="9" name="Connecteur droit 8">
            <a:extLst>
              <a:ext uri="{FF2B5EF4-FFF2-40B4-BE49-F238E27FC236}">
                <a16:creationId xmlns:a16="http://schemas.microsoft.com/office/drawing/2014/main" id="{52A86E45-3F53-0505-E78E-E28A7E9C49E8}"/>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a:extLst>
              <a:ext uri="{FF2B5EF4-FFF2-40B4-BE49-F238E27FC236}">
                <a16:creationId xmlns:a16="http://schemas.microsoft.com/office/drawing/2014/main" id="{40EE714C-68D6-0F01-E785-417EA3D05571}"/>
              </a:ext>
            </a:extLst>
          </p:cNvPr>
          <p:cNvSpPr>
            <a:spLocks noGrp="1"/>
          </p:cNvSpPr>
          <p:nvPr>
            <p:ph sz="quarter" idx="15"/>
          </p:nvPr>
        </p:nvSpPr>
        <p:spPr>
          <a:xfrm>
            <a:off x="1709429" y="440266"/>
            <a:ext cx="3976148" cy="5942534"/>
          </a:xfrm>
        </p:spPr>
        <p:txBody>
          <a:bodyPr anchor="ctr">
            <a:noAutofit/>
          </a:bodyPr>
          <a:lstStyle>
            <a:lvl1pPr>
              <a:lnSpc>
                <a:spcPct val="100000"/>
              </a:lnSpc>
              <a:defRPr b="1"/>
            </a:lvl1pPr>
            <a:lvl2pPr marL="7938" indent="0">
              <a:lnSpc>
                <a:spcPct val="100000"/>
              </a:lnSpc>
              <a:tabLst/>
              <a:defRPr sz="1200"/>
            </a:lvl2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4165868625"/>
      </p:ext>
    </p:extLst>
  </p:cSld>
  <p:clrMapOvr>
    <a:masterClrMapping/>
  </p:clrMapOvr>
  <p:hf hdr="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554354"/>
      </p:ext>
    </p:extLst>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Empty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6AA4F9-2B1E-66EA-D22B-2F3E8397D57F}"/>
              </a:ext>
            </a:extLst>
          </p:cNvPr>
          <p:cNvSpPr/>
          <p:nvPr userDrawn="1"/>
        </p:nvSpPr>
        <p:spPr>
          <a:xfrm>
            <a:off x="462987" y="6290841"/>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F0F64467-8682-DACD-3348-77A0A95D9EA9}"/>
              </a:ext>
            </a:extLst>
          </p:cNvPr>
          <p:cNvSpPr/>
          <p:nvPr userDrawn="1"/>
        </p:nvSpPr>
        <p:spPr>
          <a:xfrm>
            <a:off x="9927220" y="6290840"/>
            <a:ext cx="2077656" cy="497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 name="Connecteur droit 3">
            <a:extLst>
              <a:ext uri="{FF2B5EF4-FFF2-40B4-BE49-F238E27FC236}">
                <a16:creationId xmlns:a16="http://schemas.microsoft.com/office/drawing/2014/main" id="{19443F66-F88F-2A60-7A2F-52CD6526B9BB}"/>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Espace réservé du pied de page 4">
            <a:extLst>
              <a:ext uri="{FF2B5EF4-FFF2-40B4-BE49-F238E27FC236}">
                <a16:creationId xmlns:a16="http://schemas.microsoft.com/office/drawing/2014/main" id="{C9E89454-45E2-6337-5E39-692A599C4610}"/>
              </a:ext>
            </a:extLst>
          </p:cNvPr>
          <p:cNvSpPr txBox="1">
            <a:spLocks/>
          </p:cNvSpPr>
          <p:nvPr userDrawn="1"/>
        </p:nvSpPr>
        <p:spPr>
          <a:xfrm>
            <a:off x="608401" y="6382800"/>
            <a:ext cx="4618920" cy="365125"/>
          </a:xfrm>
          <a:prstGeom prst="rect">
            <a:avLst/>
          </a:prstGeom>
        </p:spPr>
        <p:txBody>
          <a:bodyPr vert="horz" lIns="91440" tIns="45720" rIns="91440" bIns="45720" rtlCol="0" anchor="ctr"/>
          <a:lstStyle>
            <a:defPPr>
              <a:defRPr lang="fr-FR"/>
            </a:defPPr>
            <a:lvl1pPr marL="0" algn="l" defTabSz="914400" rtl="0" eaLnBrk="1" latinLnBrk="0" hangingPunct="1">
              <a:defRPr lang="fr-FR" sz="9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err="1"/>
              <a:t>Alcimed</a:t>
            </a:r>
            <a:r>
              <a:rPr lang="fr-FR" dirty="0"/>
              <a:t>  /  Sanofi</a:t>
            </a:r>
          </a:p>
        </p:txBody>
      </p:sp>
      <p:sp>
        <p:nvSpPr>
          <p:cNvPr id="6" name="Espace réservé du texte 8">
            <a:extLst>
              <a:ext uri="{FF2B5EF4-FFF2-40B4-BE49-F238E27FC236}">
                <a16:creationId xmlns:a16="http://schemas.microsoft.com/office/drawing/2014/main" id="{D00C5C48-72C1-603A-876D-29019E8301E7}"/>
              </a:ext>
            </a:extLst>
          </p:cNvPr>
          <p:cNvSpPr txBox="1">
            <a:spLocks/>
          </p:cNvSpPr>
          <p:nvPr userDrawn="1"/>
        </p:nvSpPr>
        <p:spPr>
          <a:xfrm>
            <a:off x="9418320" y="6382210"/>
            <a:ext cx="1670368" cy="365125"/>
          </a:xfrm>
          <a:prstGeom prst="rect">
            <a:avLst/>
          </a:prstGeom>
        </p:spPr>
        <p:txBody>
          <a:bodyPr anchor="ctr">
            <a:noAutofit/>
          </a:bodyPr>
          <a:lstStyle>
            <a:lvl1pPr marL="0" indent="0" algn="r" defTabSz="914400" rtl="0" eaLnBrk="1" latinLnBrk="0" hangingPunct="1">
              <a:lnSpc>
                <a:spcPct val="90000"/>
              </a:lnSpc>
              <a:spcBef>
                <a:spcPts val="1000"/>
              </a:spcBef>
              <a:buFontTx/>
              <a:buNone/>
              <a:defRPr sz="9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900" dirty="0"/>
              <a:t>15/01/2025</a:t>
            </a:r>
          </a:p>
        </p:txBody>
      </p:sp>
      <p:sp>
        <p:nvSpPr>
          <p:cNvPr id="7" name="Espace réservé du numéro de diapositive 3">
            <a:extLst>
              <a:ext uri="{FF2B5EF4-FFF2-40B4-BE49-F238E27FC236}">
                <a16:creationId xmlns:a16="http://schemas.microsoft.com/office/drawing/2014/main" id="{52CA770D-A527-75BE-ADE6-9201D0266F00}"/>
              </a:ext>
            </a:extLst>
          </p:cNvPr>
          <p:cNvSpPr txBox="1">
            <a:spLocks/>
          </p:cNvSpPr>
          <p:nvPr userDrawn="1"/>
        </p:nvSpPr>
        <p:spPr>
          <a:xfrm>
            <a:off x="11124000" y="6375064"/>
            <a:ext cx="413999" cy="363194"/>
          </a:xfrm>
          <a:prstGeom prst="rect">
            <a:avLst/>
          </a:prstGeom>
        </p:spPr>
        <p:txBody>
          <a:bodyPr vert="horz" lIns="91440" tIns="45720" rIns="91440" bIns="45720" rtlCol="0" anchor="ctr"/>
          <a:lstStyle>
            <a:defPPr>
              <a:defRPr lang="fr-FR"/>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8F0B10-35F2-374B-9DF7-046A0F270644}" type="slidenum">
              <a:rPr lang="fr-FR" smtClean="0"/>
              <a:pPr/>
              <a:t>‹N°›</a:t>
            </a:fld>
            <a:endParaRPr lang="fr-FR"/>
          </a:p>
        </p:txBody>
      </p:sp>
    </p:spTree>
    <p:extLst>
      <p:ext uri="{BB962C8B-B14F-4D97-AF65-F5344CB8AC3E}">
        <p14:creationId xmlns:p14="http://schemas.microsoft.com/office/powerpoint/2010/main" val="38282383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8993C7-4758-4F99-1711-5222E7508205}"/>
              </a:ext>
            </a:extLst>
          </p:cNvPr>
          <p:cNvSpPr>
            <a:spLocks noGrp="1"/>
          </p:cNvSpPr>
          <p:nvPr>
            <p:ph type="title" hasCustomPrompt="1"/>
          </p:nvPr>
        </p:nvSpPr>
        <p:spPr/>
        <p:txBody>
          <a:bodyPr/>
          <a:lstStyle/>
          <a:p>
            <a:r>
              <a:rPr lang="fr-FR"/>
              <a:t>Click to </a:t>
            </a:r>
            <a:r>
              <a:rPr lang="fr-FR" err="1"/>
              <a:t>add</a:t>
            </a:r>
            <a:r>
              <a:rPr lang="fr-FR"/>
              <a:t> </a:t>
            </a:r>
            <a:r>
              <a:rPr lang="fr-FR" err="1"/>
              <a:t>title</a:t>
            </a:r>
            <a:endParaRPr lang="fr-FR"/>
          </a:p>
        </p:txBody>
      </p:sp>
      <p:cxnSp>
        <p:nvCxnSpPr>
          <p:cNvPr id="10" name="Connecteur droit 9">
            <a:extLst>
              <a:ext uri="{FF2B5EF4-FFF2-40B4-BE49-F238E27FC236}">
                <a16:creationId xmlns:a16="http://schemas.microsoft.com/office/drawing/2014/main" id="{8DE0C7DE-095E-0D8A-7764-689101645982}"/>
              </a:ext>
            </a:extLst>
          </p:cNvPr>
          <p:cNvCxnSpPr>
            <a:cxnSpLocks/>
          </p:cNvCxnSpPr>
          <p:nvPr userDrawn="1"/>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1905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DE619FC-E3BB-358C-AAD1-A907987019D0}"/>
              </a:ext>
            </a:extLst>
          </p:cNvPr>
          <p:cNvSpPr>
            <a:spLocks noGrp="1"/>
          </p:cNvSpPr>
          <p:nvPr>
            <p:ph type="title"/>
          </p:nvPr>
        </p:nvSpPr>
        <p:spPr>
          <a:xfrm>
            <a:off x="609599" y="498474"/>
            <a:ext cx="10972799" cy="543600"/>
          </a:xfrm>
          <a:prstGeom prst="rect">
            <a:avLst/>
          </a:prstGeom>
        </p:spPr>
        <p:txBody>
          <a:bodyPr vert="horz" lIns="91440" tIns="45720" rIns="91440" bIns="45720" rtlCol="0" anchor="t">
            <a:normAutofit/>
          </a:bodyPr>
          <a:lstStyle/>
          <a:p>
            <a:r>
              <a:rPr lang="fr-FR"/>
              <a:t>Modifiez le style du titre</a:t>
            </a:r>
            <a:br>
              <a:rPr lang="fr-FR"/>
            </a:br>
            <a:endParaRPr lang="fr-FR"/>
          </a:p>
        </p:txBody>
      </p:sp>
      <p:sp>
        <p:nvSpPr>
          <p:cNvPr id="3" name="Espace réservé du texte 2">
            <a:extLst>
              <a:ext uri="{FF2B5EF4-FFF2-40B4-BE49-F238E27FC236}">
                <a16:creationId xmlns:a16="http://schemas.microsoft.com/office/drawing/2014/main" id="{96741B55-4561-1BBD-B925-329B3903A829}"/>
              </a:ext>
            </a:extLst>
          </p:cNvPr>
          <p:cNvSpPr>
            <a:spLocks noGrp="1"/>
          </p:cNvSpPr>
          <p:nvPr>
            <p:ph type="body" idx="1"/>
          </p:nvPr>
        </p:nvSpPr>
        <p:spPr>
          <a:xfrm>
            <a:off x="609600" y="1900800"/>
            <a:ext cx="10972800" cy="44604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cxnSp>
        <p:nvCxnSpPr>
          <p:cNvPr id="7" name="Connecteur droit 6">
            <a:extLst>
              <a:ext uri="{FF2B5EF4-FFF2-40B4-BE49-F238E27FC236}">
                <a16:creationId xmlns:a16="http://schemas.microsoft.com/office/drawing/2014/main" id="{A03F6373-2096-4D66-09DB-2EC1185B838B}"/>
              </a:ext>
            </a:extLst>
          </p:cNvPr>
          <p:cNvCxnSpPr>
            <a:cxnSpLocks/>
          </p:cNvCxnSpPr>
          <p:nvPr/>
        </p:nvCxnSpPr>
        <p:spPr>
          <a:xfrm>
            <a:off x="11124000" y="648000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a:extLst>
              <a:ext uri="{FF2B5EF4-FFF2-40B4-BE49-F238E27FC236}">
                <a16:creationId xmlns:a16="http://schemas.microsoft.com/office/drawing/2014/main" id="{F5B901AA-F353-C551-46D2-F6F5F14AF69A}"/>
              </a:ext>
            </a:extLst>
          </p:cNvPr>
          <p:cNvSpPr txBox="1">
            <a:spLocks/>
          </p:cNvSpPr>
          <p:nvPr userDrawn="1"/>
        </p:nvSpPr>
        <p:spPr>
          <a:xfrm>
            <a:off x="608401" y="6382800"/>
            <a:ext cx="4618920" cy="365125"/>
          </a:xfrm>
          <a:prstGeom prst="rect">
            <a:avLst/>
          </a:prstGeom>
        </p:spPr>
        <p:txBody>
          <a:bodyPr vert="horz" lIns="91440" tIns="45720" rIns="91440" bIns="45720" rtlCol="0" anchor="ctr"/>
          <a:lstStyle>
            <a:defPPr>
              <a:defRPr lang="fr-FR"/>
            </a:defPPr>
            <a:lvl1pPr marL="0" algn="l" defTabSz="914400" rtl="0" eaLnBrk="1" latinLnBrk="0" hangingPunct="1">
              <a:defRPr lang="fr-FR" sz="9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err="1"/>
              <a:t>Alcimed</a:t>
            </a:r>
            <a:r>
              <a:rPr lang="fr-FR" dirty="0"/>
              <a:t>  /  Sanofi</a:t>
            </a:r>
          </a:p>
        </p:txBody>
      </p:sp>
      <p:sp>
        <p:nvSpPr>
          <p:cNvPr id="9" name="Espace réservé du texte 8">
            <a:extLst>
              <a:ext uri="{FF2B5EF4-FFF2-40B4-BE49-F238E27FC236}">
                <a16:creationId xmlns:a16="http://schemas.microsoft.com/office/drawing/2014/main" id="{51C457CB-E853-F6BF-208F-ECDF385837B6}"/>
              </a:ext>
            </a:extLst>
          </p:cNvPr>
          <p:cNvSpPr txBox="1">
            <a:spLocks/>
          </p:cNvSpPr>
          <p:nvPr/>
        </p:nvSpPr>
        <p:spPr>
          <a:xfrm>
            <a:off x="9418320" y="6382210"/>
            <a:ext cx="1670368" cy="365125"/>
          </a:xfrm>
          <a:prstGeom prst="rect">
            <a:avLst/>
          </a:prstGeom>
        </p:spPr>
        <p:txBody>
          <a:bodyPr anchor="ctr">
            <a:noAutofit/>
          </a:bodyPr>
          <a:lstStyle>
            <a:lvl1pPr marL="0" indent="0" algn="r" defTabSz="914400" rtl="0" eaLnBrk="1" latinLnBrk="0" hangingPunct="1">
              <a:lnSpc>
                <a:spcPct val="90000"/>
              </a:lnSpc>
              <a:spcBef>
                <a:spcPts val="1000"/>
              </a:spcBef>
              <a:buFontTx/>
              <a:buNone/>
              <a:defRPr sz="9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900" dirty="0"/>
              <a:t>15/01/2025</a:t>
            </a:r>
          </a:p>
        </p:txBody>
      </p:sp>
      <p:sp>
        <p:nvSpPr>
          <p:cNvPr id="10" name="Espace réservé du numéro de diapositive 3">
            <a:extLst>
              <a:ext uri="{FF2B5EF4-FFF2-40B4-BE49-F238E27FC236}">
                <a16:creationId xmlns:a16="http://schemas.microsoft.com/office/drawing/2014/main" id="{D2B477C3-9771-F7F1-BEE9-4E2218799F70}"/>
              </a:ext>
            </a:extLst>
          </p:cNvPr>
          <p:cNvSpPr txBox="1">
            <a:spLocks/>
          </p:cNvSpPr>
          <p:nvPr/>
        </p:nvSpPr>
        <p:spPr>
          <a:xfrm>
            <a:off x="11124000" y="6375064"/>
            <a:ext cx="413999" cy="363194"/>
          </a:xfrm>
          <a:prstGeom prst="rect">
            <a:avLst/>
          </a:prstGeom>
        </p:spPr>
        <p:txBody>
          <a:bodyPr vert="horz" lIns="91440" tIns="45720" rIns="91440" bIns="45720" rtlCol="0" anchor="ctr"/>
          <a:lstStyle>
            <a:defPPr>
              <a:defRPr lang="fr-FR"/>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8F0B10-35F2-374B-9DF7-046A0F270644}" type="slidenum">
              <a:rPr lang="fr-FR" smtClean="0"/>
              <a:pPr/>
              <a:t>‹N°›</a:t>
            </a:fld>
            <a:endParaRPr lang="fr-FR"/>
          </a:p>
        </p:txBody>
      </p:sp>
    </p:spTree>
    <p:extLst>
      <p:ext uri="{BB962C8B-B14F-4D97-AF65-F5344CB8AC3E}">
        <p14:creationId xmlns:p14="http://schemas.microsoft.com/office/powerpoint/2010/main" val="2289282402"/>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 id="2147483889" r:id="rId17"/>
    <p:sldLayoutId id="2147483890" r:id="rId18"/>
    <p:sldLayoutId id="2147483891" r:id="rId19"/>
    <p:sldLayoutId id="2147483892" r:id="rId20"/>
    <p:sldLayoutId id="2147483893" r:id="rId21"/>
    <p:sldLayoutId id="2147483894" r:id="rId22"/>
    <p:sldLayoutId id="2147483895" r:id="rId23"/>
    <p:sldLayoutId id="2147483897" r:id="rId24"/>
    <p:sldLayoutId id="2147483898" r:id="rId25"/>
    <p:sldLayoutId id="2147483899" r:id="rId26"/>
    <p:sldLayoutId id="2147483900" r:id="rId27"/>
    <p:sldLayoutId id="2147483901" r:id="rId28"/>
    <p:sldLayoutId id="2147483902" r:id="rId29"/>
    <p:sldLayoutId id="2147483903" r:id="rId30"/>
    <p:sldLayoutId id="2147483904" r:id="rId31"/>
    <p:sldLayoutId id="2147483905" r:id="rId32"/>
    <p:sldLayoutId id="2147483906" r:id="rId33"/>
    <p:sldLayoutId id="2147483907" r:id="rId34"/>
    <p:sldLayoutId id="2147483908" r:id="rId35"/>
    <p:sldLayoutId id="2147483909" r:id="rId36"/>
    <p:sldLayoutId id="2147483910" r:id="rId37"/>
    <p:sldLayoutId id="2147483911" r:id="rId38"/>
    <p:sldLayoutId id="2147483912" r:id="rId39"/>
    <p:sldLayoutId id="2147483913" r:id="rId40"/>
    <p:sldLayoutId id="2147483914" r:id="rId41"/>
    <p:sldLayoutId id="2147483915" r:id="rId42"/>
    <p:sldLayoutId id="2147483916" r:id="rId43"/>
    <p:sldLayoutId id="2147483917" r:id="rId44"/>
    <p:sldLayoutId id="2147483918" r:id="rId45"/>
    <p:sldLayoutId id="2147483927" r:id="rId46"/>
    <p:sldLayoutId id="2147483919" r:id="rId47"/>
    <p:sldLayoutId id="2147483921" r:id="rId48"/>
    <p:sldLayoutId id="2147483922" r:id="rId49"/>
    <p:sldLayoutId id="2147483923" r:id="rId50"/>
    <p:sldLayoutId id="2147483924" r:id="rId51"/>
    <p:sldLayoutId id="2147483926" r:id="rId52"/>
    <p:sldLayoutId id="2147483928" r:id="rId53"/>
  </p:sldLayoutIdLst>
  <p:hf hdr="0"/>
  <p:txStyles>
    <p:titleStyle>
      <a:lvl1pPr algn="l" defTabSz="914400" rtl="0" eaLnBrk="1" latinLnBrk="0" hangingPunct="1">
        <a:lnSpc>
          <a:spcPct val="90000"/>
        </a:lnSpc>
        <a:spcBef>
          <a:spcPct val="0"/>
        </a:spcBef>
        <a:buNone/>
        <a:defRPr sz="3100" b="0" i="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11.xml"/><Relationship Id="rId1" Type="http://schemas.openxmlformats.org/officeDocument/2006/relationships/slideLayout" Target="../slideLayouts/slideLayout47.xml"/><Relationship Id="rId6" Type="http://schemas.openxmlformats.org/officeDocument/2006/relationships/slide" Target="slide47.xml"/><Relationship Id="rId5" Type="http://schemas.openxmlformats.org/officeDocument/2006/relationships/slide" Target="slide39.xml"/><Relationship Id="rId4" Type="http://schemas.openxmlformats.org/officeDocument/2006/relationships/slide" Target="slide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microsoft.com/office/2007/relationships/hdphoto" Target="../media/hdphoto1.wdp"/><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5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microsoft.com/office/2007/relationships/hdphoto" Target="../media/hdphoto1.wdp"/><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52.xml"/><Relationship Id="rId6" Type="http://schemas.openxmlformats.org/officeDocument/2006/relationships/image" Target="../media/image10.png"/><Relationship Id="rId11" Type="http://schemas.openxmlformats.org/officeDocument/2006/relationships/image" Target="../media/image22.png"/><Relationship Id="rId5" Type="http://schemas.openxmlformats.org/officeDocument/2006/relationships/image" Target="../media/image9.png"/><Relationship Id="rId10" Type="http://schemas.openxmlformats.org/officeDocument/2006/relationships/image" Target="../media/image21.png"/><Relationship Id="rId4" Type="http://schemas.openxmlformats.org/officeDocument/2006/relationships/image" Target="../media/image8.png"/><Relationship Id="rId9" Type="http://schemas.openxmlformats.org/officeDocument/2006/relationships/image" Target="../media/image20.png"/><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8.png"/><Relationship Id="rId12"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52.xml"/><Relationship Id="rId6" Type="http://schemas.microsoft.com/office/2007/relationships/hdphoto" Target="../media/hdphoto1.wdp"/><Relationship Id="rId11" Type="http://schemas.openxmlformats.org/officeDocument/2006/relationships/image" Target="../media/image15.png"/><Relationship Id="rId5" Type="http://schemas.openxmlformats.org/officeDocument/2006/relationships/image" Target="../media/image7.png"/><Relationship Id="rId10"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8.png"/><Relationship Id="rId12"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52.xml"/><Relationship Id="rId6" Type="http://schemas.microsoft.com/office/2007/relationships/hdphoto" Target="../media/hdphoto1.wdp"/><Relationship Id="rId11" Type="http://schemas.openxmlformats.org/officeDocument/2006/relationships/image" Target="../media/image19.png"/><Relationship Id="rId5" Type="http://schemas.openxmlformats.org/officeDocument/2006/relationships/image" Target="../media/image7.png"/><Relationship Id="rId10" Type="http://schemas.openxmlformats.org/officeDocument/2006/relationships/image" Target="../media/image18.png"/><Relationship Id="rId4" Type="http://schemas.openxmlformats.org/officeDocument/2006/relationships/image" Target="../media/image24.png"/><Relationship Id="rId9" Type="http://schemas.openxmlformats.org/officeDocument/2006/relationships/image" Target="../media/image10.png"/><Relationship Id="rId1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8.png"/><Relationship Id="rId12"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52.xml"/><Relationship Id="rId6" Type="http://schemas.microsoft.com/office/2007/relationships/hdphoto" Target="../media/hdphoto1.wdp"/><Relationship Id="rId11" Type="http://schemas.openxmlformats.org/officeDocument/2006/relationships/image" Target="../media/image27.png"/><Relationship Id="rId5" Type="http://schemas.openxmlformats.org/officeDocument/2006/relationships/image" Target="../media/image7.png"/><Relationship Id="rId10"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52.xml"/><Relationship Id="rId6" Type="http://schemas.openxmlformats.org/officeDocument/2006/relationships/image" Target="../media/image9.png"/><Relationship Id="rId11" Type="http://schemas.openxmlformats.org/officeDocument/2006/relationships/image" Target="../media/image21.png"/><Relationship Id="rId5" Type="http://schemas.openxmlformats.org/officeDocument/2006/relationships/image" Target="../media/image8.png"/><Relationship Id="rId15" Type="http://schemas.openxmlformats.org/officeDocument/2006/relationships/image" Target="../media/image25.png"/><Relationship Id="rId10" Type="http://schemas.openxmlformats.org/officeDocument/2006/relationships/image" Target="../media/image20.png"/><Relationship Id="rId4" Type="http://schemas.microsoft.com/office/2007/relationships/hdphoto" Target="../media/hdphoto1.wdp"/><Relationship Id="rId9" Type="http://schemas.openxmlformats.org/officeDocument/2006/relationships/image" Target="../media/image19.png"/><Relationship Id="rId1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8.png"/><Relationship Id="rId3" Type="http://schemas.openxmlformats.org/officeDocument/2006/relationships/image" Target="../media/image12.png"/><Relationship Id="rId7" Type="http://schemas.openxmlformats.org/officeDocument/2006/relationships/image" Target="../media/image17.png"/><Relationship Id="rId12"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13.png"/><Relationship Id="rId9"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13" Type="http://schemas.microsoft.com/office/2007/relationships/hdphoto" Target="../media/hdphoto1.wdp"/><Relationship Id="rId3" Type="http://schemas.microsoft.com/office/2018/10/relationships/comments" Target="../comments/modernComment_146_EBE7314.xml"/><Relationship Id="rId7" Type="http://schemas.openxmlformats.org/officeDocument/2006/relationships/image" Target="../media/image25.png"/><Relationship Id="rId12" Type="http://schemas.openxmlformats.org/officeDocument/2006/relationships/image" Target="../media/image7.png"/><Relationship Id="rId2" Type="http://schemas.openxmlformats.org/officeDocument/2006/relationships/notesSlide" Target="../notesSlides/notesSlide5.xml"/><Relationship Id="rId16"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24.png"/><Relationship Id="rId11" Type="http://schemas.openxmlformats.org/officeDocument/2006/relationships/image" Target="../media/image20.png"/><Relationship Id="rId5" Type="http://schemas.openxmlformats.org/officeDocument/2006/relationships/image" Target="../media/image23.png"/><Relationship Id="rId1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18.png"/><Relationship Id="rId1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9.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8.png"/><Relationship Id="rId3" Type="http://schemas.openxmlformats.org/officeDocument/2006/relationships/image" Target="../media/image22.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2.xml"/><Relationship Id="rId6" Type="http://schemas.openxmlformats.org/officeDocument/2006/relationships/image" Target="../media/image25.png"/><Relationship Id="rId11" Type="http://schemas.openxmlformats.org/officeDocument/2006/relationships/image" Target="../media/image9.png"/><Relationship Id="rId5" Type="http://schemas.openxmlformats.org/officeDocument/2006/relationships/image" Target="../media/image24.pn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3.png"/><Relationship Id="rId9" Type="http://schemas.microsoft.com/office/2007/relationships/hdphoto" Target="../media/hdphoto1.wdp"/><Relationship Id="rId14" Type="http://schemas.openxmlformats.org/officeDocument/2006/relationships/image" Target="../media/image19.pn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9.png"/><Relationship Id="rId11" Type="http://schemas.openxmlformats.org/officeDocument/2006/relationships/image" Target="../media/image15.png"/><Relationship Id="rId5" Type="http://schemas.openxmlformats.org/officeDocument/2006/relationships/image" Target="../media/image8.png"/><Relationship Id="rId10" Type="http://schemas.openxmlformats.org/officeDocument/2006/relationships/image" Target="../media/image13.png"/><Relationship Id="rId4" Type="http://schemas.microsoft.com/office/2007/relationships/hdphoto" Target="../media/hdphoto1.wdp"/><Relationship Id="rId9"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8.png"/><Relationship Id="rId3" Type="http://schemas.openxmlformats.org/officeDocument/2006/relationships/image" Target="../media/image22.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52.xml"/><Relationship Id="rId6" Type="http://schemas.openxmlformats.org/officeDocument/2006/relationships/image" Target="../media/image25.png"/><Relationship Id="rId11" Type="http://schemas.openxmlformats.org/officeDocument/2006/relationships/image" Target="../media/image9.png"/><Relationship Id="rId5" Type="http://schemas.openxmlformats.org/officeDocument/2006/relationships/image" Target="../media/image24.pn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3.png"/><Relationship Id="rId9" Type="http://schemas.microsoft.com/office/2007/relationships/hdphoto" Target="../media/hdphoto1.wdp"/><Relationship Id="rId14" Type="http://schemas.openxmlformats.org/officeDocument/2006/relationships/image" Target="../media/image19.png"/></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1.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8.png"/><Relationship Id="rId3" Type="http://schemas.openxmlformats.org/officeDocument/2006/relationships/image" Target="../media/image22.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52.xml"/><Relationship Id="rId6" Type="http://schemas.openxmlformats.org/officeDocument/2006/relationships/image" Target="../media/image25.png"/><Relationship Id="rId11" Type="http://schemas.openxmlformats.org/officeDocument/2006/relationships/image" Target="../media/image9.png"/><Relationship Id="rId5" Type="http://schemas.openxmlformats.org/officeDocument/2006/relationships/image" Target="../media/image24.pn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3.png"/><Relationship Id="rId9" Type="http://schemas.microsoft.com/office/2007/relationships/hdphoto" Target="../media/hdphoto1.wdp"/><Relationship Id="rId14"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52.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3.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8.png"/><Relationship Id="rId3" Type="http://schemas.openxmlformats.org/officeDocument/2006/relationships/image" Target="../media/image22.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2.xml"/><Relationship Id="rId6" Type="http://schemas.openxmlformats.org/officeDocument/2006/relationships/image" Target="../media/image25.png"/><Relationship Id="rId11" Type="http://schemas.openxmlformats.org/officeDocument/2006/relationships/image" Target="../media/image9.png"/><Relationship Id="rId5" Type="http://schemas.openxmlformats.org/officeDocument/2006/relationships/image" Target="../media/image24.png"/><Relationship Id="rId15" Type="http://schemas.openxmlformats.org/officeDocument/2006/relationships/image" Target="../media/image20.png"/><Relationship Id="rId10" Type="http://schemas.openxmlformats.org/officeDocument/2006/relationships/image" Target="../media/image8.png"/><Relationship Id="rId4" Type="http://schemas.openxmlformats.org/officeDocument/2006/relationships/image" Target="../media/image23.png"/><Relationship Id="rId9" Type="http://schemas.microsoft.com/office/2007/relationships/hdphoto" Target="../media/hdphoto1.wdp"/><Relationship Id="rId1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hyperlink" Target="https://digistorm.app/c/2923247" TargetMode="Externa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3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5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3.png"/><Relationship Id="rId7"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52.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DC855FD-3C62-ED64-F5F2-439E52005AAE}"/>
              </a:ext>
            </a:extLst>
          </p:cNvPr>
          <p:cNvSpPr>
            <a:spLocks noGrp="1"/>
          </p:cNvSpPr>
          <p:nvPr>
            <p:ph type="body" sz="quarter" idx="11"/>
          </p:nvPr>
        </p:nvSpPr>
        <p:spPr>
          <a:xfrm>
            <a:off x="2238817" y="4183100"/>
            <a:ext cx="9702022" cy="1358715"/>
          </a:xfrm>
        </p:spPr>
        <p:txBody>
          <a:bodyPr/>
          <a:lstStyle/>
          <a:p>
            <a:pPr marL="0" indent="0">
              <a:buNone/>
            </a:pPr>
            <a:r>
              <a:rPr lang="en-US" dirty="0"/>
              <a:t>What are the </a:t>
            </a:r>
            <a:r>
              <a:rPr lang="en-US" dirty="0">
                <a:solidFill>
                  <a:srgbClr val="FF0000"/>
                </a:solidFill>
              </a:rPr>
              <a:t>innovative</a:t>
            </a:r>
            <a:r>
              <a:rPr lang="en-US" dirty="0"/>
              <a:t> and </a:t>
            </a:r>
            <a:r>
              <a:rPr lang="en-US" dirty="0">
                <a:solidFill>
                  <a:srgbClr val="FF0000"/>
                </a:solidFill>
              </a:rPr>
              <a:t>emerging</a:t>
            </a:r>
            <a:r>
              <a:rPr lang="en-US" dirty="0"/>
              <a:t> Gene Editing methods?</a:t>
            </a:r>
            <a:endParaRPr lang="en-GB" dirty="0"/>
          </a:p>
        </p:txBody>
      </p:sp>
      <p:sp>
        <p:nvSpPr>
          <p:cNvPr id="5" name="Espace réservé de la date 4">
            <a:extLst>
              <a:ext uri="{FF2B5EF4-FFF2-40B4-BE49-F238E27FC236}">
                <a16:creationId xmlns:a16="http://schemas.microsoft.com/office/drawing/2014/main" id="{D3FEF2F7-94DA-0964-4D8C-A9F61D1F565E}"/>
              </a:ext>
            </a:extLst>
          </p:cNvPr>
          <p:cNvSpPr>
            <a:spLocks noGrp="1"/>
          </p:cNvSpPr>
          <p:nvPr>
            <p:ph type="dt" sz="half" idx="12"/>
          </p:nvPr>
        </p:nvSpPr>
        <p:spPr>
          <a:xfrm>
            <a:off x="6397573" y="5619533"/>
            <a:ext cx="5414960" cy="365125"/>
          </a:xfrm>
        </p:spPr>
        <p:txBody>
          <a:bodyPr/>
          <a:lstStyle/>
          <a:p>
            <a:r>
              <a:rPr lang="en-GB" dirty="0"/>
              <a:t>15</a:t>
            </a:r>
            <a:r>
              <a:rPr lang="en-GB" baseline="30000" dirty="0"/>
              <a:t>th</a:t>
            </a:r>
            <a:r>
              <a:rPr lang="en-GB" dirty="0"/>
              <a:t> January 2025</a:t>
            </a:r>
          </a:p>
          <a:p>
            <a:endParaRPr lang="en-GB" dirty="0"/>
          </a:p>
        </p:txBody>
      </p:sp>
      <p:pic>
        <p:nvPicPr>
          <p:cNvPr id="1026" name="Picture 2">
            <a:extLst>
              <a:ext uri="{FF2B5EF4-FFF2-40B4-BE49-F238E27FC236}">
                <a16:creationId xmlns:a16="http://schemas.microsoft.com/office/drawing/2014/main" id="{8A8ABDE4-6248-3120-C947-39547CDDA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19533"/>
            <a:ext cx="2685327" cy="123846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6B53B882-5795-5850-CAC6-023CEDDB040E}"/>
              </a:ext>
            </a:extLst>
          </p:cNvPr>
          <p:cNvSpPr txBox="1"/>
          <p:nvPr/>
        </p:nvSpPr>
        <p:spPr>
          <a:xfrm>
            <a:off x="7952901" y="3475214"/>
            <a:ext cx="5233416" cy="707886"/>
          </a:xfrm>
          <a:prstGeom prst="rect">
            <a:avLst/>
          </a:prstGeom>
          <a:noFill/>
        </p:spPr>
        <p:txBody>
          <a:bodyPr wrap="square" rtlCol="0">
            <a:spAutoFit/>
          </a:bodyPr>
          <a:lstStyle/>
          <a:p>
            <a:r>
              <a:rPr lang="fr-FR" sz="4000" b="1" dirty="0" err="1">
                <a:solidFill>
                  <a:srgbClr val="FF0000"/>
                </a:solidFill>
              </a:rPr>
              <a:t>EditNext</a:t>
            </a:r>
            <a:r>
              <a:rPr lang="fr-FR" sz="4000" i="1" dirty="0">
                <a:solidFill>
                  <a:srgbClr val="FF0000"/>
                </a:solidFill>
              </a:rPr>
              <a:t> </a:t>
            </a:r>
            <a:r>
              <a:rPr lang="fr-FR" sz="4000" i="1" dirty="0"/>
              <a:t>Project</a:t>
            </a:r>
          </a:p>
        </p:txBody>
      </p:sp>
      <p:pic>
        <p:nvPicPr>
          <p:cNvPr id="9" name="Espace réservé pour une image  8" descr="Une image contenant barrière de corail, Invertébrés marins, Magenta&#10;&#10;Description générée automatiquement">
            <a:extLst>
              <a:ext uri="{FF2B5EF4-FFF2-40B4-BE49-F238E27FC236}">
                <a16:creationId xmlns:a16="http://schemas.microsoft.com/office/drawing/2014/main" id="{BCBDC42F-0C90-9A09-8A64-1C0CA8EDE06F}"/>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21592" b="21592"/>
          <a:stretch>
            <a:fillRect/>
          </a:stretch>
        </p:blipFill>
        <p:spPr/>
      </p:pic>
    </p:spTree>
    <p:extLst>
      <p:ext uri="{BB962C8B-B14F-4D97-AF65-F5344CB8AC3E}">
        <p14:creationId xmlns:p14="http://schemas.microsoft.com/office/powerpoint/2010/main" val="4057596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EF2247-6ACD-CEFA-025E-62FD55D5E2B5}"/>
              </a:ext>
            </a:extLst>
          </p:cNvPr>
          <p:cNvSpPr>
            <a:spLocks noGrp="1"/>
          </p:cNvSpPr>
          <p:nvPr>
            <p:ph type="title"/>
          </p:nvPr>
        </p:nvSpPr>
        <p:spPr/>
        <p:txBody>
          <a:bodyPr/>
          <a:lstStyle/>
          <a:p>
            <a:r>
              <a:rPr lang="en-GB" dirty="0">
                <a:latin typeface="Aptos" panose="020B0004020202020204" pitchFamily="34" charset="0"/>
              </a:rPr>
              <a:t>Context</a:t>
            </a:r>
          </a:p>
        </p:txBody>
      </p:sp>
      <p:sp>
        <p:nvSpPr>
          <p:cNvPr id="6" name="Forme libre 7">
            <a:extLst>
              <a:ext uri="{FF2B5EF4-FFF2-40B4-BE49-F238E27FC236}">
                <a16:creationId xmlns:a16="http://schemas.microsoft.com/office/drawing/2014/main" id="{7F64C0F0-E56E-0B34-098E-1A52F5C9F86A}"/>
              </a:ext>
            </a:extLst>
          </p:cNvPr>
          <p:cNvSpPr/>
          <p:nvPr/>
        </p:nvSpPr>
        <p:spPr>
          <a:xfrm>
            <a:off x="6382690" y="0"/>
            <a:ext cx="4662556" cy="498474"/>
          </a:xfrm>
          <a:custGeom>
            <a:avLst/>
            <a:gdLst>
              <a:gd name="connsiteX0" fmla="*/ 0 w 4662556"/>
              <a:gd name="connsiteY0" fmla="*/ 0 h 498474"/>
              <a:gd name="connsiteX1" fmla="*/ 4662556 w 4662556"/>
              <a:gd name="connsiteY1" fmla="*/ 0 h 498474"/>
              <a:gd name="connsiteX2" fmla="*/ 4551402 w 4662556"/>
              <a:gd name="connsiteY2" fmla="*/ 50252 h 498474"/>
              <a:gd name="connsiteX3" fmla="*/ 2331278 w 4662556"/>
              <a:gd name="connsiteY3" fmla="*/ 498474 h 498474"/>
              <a:gd name="connsiteX4" fmla="*/ 111155 w 4662556"/>
              <a:gd name="connsiteY4" fmla="*/ 50252 h 498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2556" h="498474">
                <a:moveTo>
                  <a:pt x="0" y="0"/>
                </a:moveTo>
                <a:lnTo>
                  <a:pt x="4662556" y="0"/>
                </a:lnTo>
                <a:lnTo>
                  <a:pt x="4551402" y="50252"/>
                </a:lnTo>
                <a:cubicBezTo>
                  <a:pt x="3869025" y="338873"/>
                  <a:pt x="3118790" y="498474"/>
                  <a:pt x="2331278" y="498474"/>
                </a:cubicBezTo>
                <a:cubicBezTo>
                  <a:pt x="1543766" y="498474"/>
                  <a:pt x="793532" y="338873"/>
                  <a:pt x="111155" y="50252"/>
                </a:cubicBez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8" name="Connecteur droit 7">
            <a:extLst>
              <a:ext uri="{FF2B5EF4-FFF2-40B4-BE49-F238E27FC236}">
                <a16:creationId xmlns:a16="http://schemas.microsoft.com/office/drawing/2014/main" id="{3FAF4EA2-2E71-91A6-1182-A5CC26911F9F}"/>
              </a:ext>
            </a:extLst>
          </p:cNvPr>
          <p:cNvCxnSpPr>
            <a:cxnSpLocks/>
          </p:cNvCxnSpPr>
          <p:nvPr/>
        </p:nvCxnSpPr>
        <p:spPr>
          <a:xfrm>
            <a:off x="840469" y="1243493"/>
            <a:ext cx="0" cy="517318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Rectangle : coins arrondis 12">
            <a:extLst>
              <a:ext uri="{FF2B5EF4-FFF2-40B4-BE49-F238E27FC236}">
                <a16:creationId xmlns:a16="http://schemas.microsoft.com/office/drawing/2014/main" id="{56F1D21C-3E40-98F0-61E8-20E05DD1440F}"/>
              </a:ext>
            </a:extLst>
          </p:cNvPr>
          <p:cNvSpPr/>
          <p:nvPr/>
        </p:nvSpPr>
        <p:spPr>
          <a:xfrm>
            <a:off x="1064785" y="1547712"/>
            <a:ext cx="10479508" cy="4711574"/>
          </a:xfrm>
          <a:prstGeom prst="roundRect">
            <a:avLst>
              <a:gd name="adj" fmla="val 938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0" lvl="3" indent="-342900" algn="just">
              <a:spcBef>
                <a:spcPts val="600"/>
              </a:spcBef>
              <a:buFont typeface="Symbol" panose="05050102010706020507" pitchFamily="18" charset="2"/>
              <a:buChar char=""/>
            </a:pPr>
            <a:r>
              <a:rPr lang="en-US" sz="1400" b="1" dirty="0">
                <a:solidFill>
                  <a:srgbClr val="2BB4B4"/>
                </a:solidFill>
                <a:latin typeface="Aptos" panose="020B0004020202020204" pitchFamily="34" charset="0"/>
              </a:rPr>
              <a:t>Sanofi</a:t>
            </a:r>
            <a:r>
              <a:rPr lang="en-US" sz="1400" dirty="0">
                <a:solidFill>
                  <a:schemeClr val="tx1"/>
                </a:solidFill>
                <a:latin typeface="Aptos" panose="020B0004020202020204" pitchFamily="34" charset="0"/>
              </a:rPr>
              <a:t> is an innovative global healthcare company, driven by a single goal: to pursue the </a:t>
            </a:r>
            <a:r>
              <a:rPr lang="en-US" sz="1400" b="1" dirty="0">
                <a:solidFill>
                  <a:srgbClr val="2BB4B4"/>
                </a:solidFill>
                <a:latin typeface="Aptos" panose="020B0004020202020204" pitchFamily="34" charset="0"/>
              </a:rPr>
              <a:t>miracles of science</a:t>
            </a:r>
            <a:r>
              <a:rPr lang="en-US" sz="1400" dirty="0">
                <a:solidFill>
                  <a:schemeClr val="tx1"/>
                </a:solidFill>
                <a:latin typeface="Aptos" panose="020B0004020202020204" pitchFamily="34" charset="0"/>
              </a:rPr>
              <a:t> to improve people's lives. With teams in over 100 countries, we are dedicated to </a:t>
            </a:r>
            <a:r>
              <a:rPr lang="en-US" sz="1400" b="1" dirty="0">
                <a:solidFill>
                  <a:srgbClr val="2BB4B4"/>
                </a:solidFill>
                <a:latin typeface="Aptos" panose="020B0004020202020204" pitchFamily="34" charset="0"/>
              </a:rPr>
              <a:t>transforming the practice </a:t>
            </a:r>
            <a:r>
              <a:rPr lang="en-US" sz="1400" dirty="0">
                <a:solidFill>
                  <a:schemeClr val="tx1"/>
                </a:solidFill>
                <a:latin typeface="Aptos" panose="020B0004020202020204" pitchFamily="34" charset="0"/>
              </a:rPr>
              <a:t>of medicine by striving to turn the impossible into the possible. They provide life-changing </a:t>
            </a:r>
            <a:r>
              <a:rPr lang="en-US" sz="1400" b="1" dirty="0">
                <a:solidFill>
                  <a:srgbClr val="2BB4B4"/>
                </a:solidFill>
                <a:latin typeface="Aptos" panose="020B0004020202020204" pitchFamily="34" charset="0"/>
              </a:rPr>
              <a:t>therapeutic</a:t>
            </a:r>
            <a:r>
              <a:rPr lang="en-US" sz="1400" dirty="0">
                <a:solidFill>
                  <a:srgbClr val="2BB4B4"/>
                </a:solidFill>
                <a:latin typeface="Aptos" panose="020B0004020202020204" pitchFamily="34" charset="0"/>
              </a:rPr>
              <a:t> </a:t>
            </a:r>
            <a:r>
              <a:rPr lang="en-US" sz="1400" dirty="0">
                <a:solidFill>
                  <a:schemeClr val="tx1"/>
                </a:solidFill>
                <a:latin typeface="Aptos" panose="020B0004020202020204" pitchFamily="34" charset="0"/>
              </a:rPr>
              <a:t>options and vital </a:t>
            </a:r>
            <a:r>
              <a:rPr lang="en-US" sz="1400" b="1" dirty="0">
                <a:solidFill>
                  <a:srgbClr val="2BB4B4"/>
                </a:solidFill>
                <a:latin typeface="Aptos" panose="020B0004020202020204" pitchFamily="34" charset="0"/>
              </a:rPr>
              <a:t>vaccine</a:t>
            </a:r>
            <a:r>
              <a:rPr lang="en-US" sz="1400" dirty="0">
                <a:solidFill>
                  <a:schemeClr val="tx1"/>
                </a:solidFill>
                <a:latin typeface="Aptos" panose="020B0004020202020204" pitchFamily="34" charset="0"/>
              </a:rPr>
              <a:t> protection to millions of people around the world, while placing sustainable development and social responsibility at the heart of their ambitions. </a:t>
            </a:r>
          </a:p>
          <a:p>
            <a:pPr marL="1714500" lvl="3" indent="-342900" algn="just">
              <a:spcBef>
                <a:spcPts val="600"/>
              </a:spcBef>
              <a:buFont typeface="Symbol" panose="05050102010706020507" pitchFamily="18" charset="2"/>
              <a:buChar char=""/>
            </a:pPr>
            <a:endParaRPr lang="en-US" sz="14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a:p>
            <a:pPr marL="1714500" lvl="3" indent="-342900" algn="just">
              <a:spcBef>
                <a:spcPts val="600"/>
              </a:spcBef>
              <a:buFont typeface="Symbol" panose="05050102010706020507" pitchFamily="18" charset="2"/>
              <a:buChar char=""/>
            </a:pP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Today,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Sanofi's R&amp;D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teams Sanofi integrates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gene editing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into its antigen design process to improve vaccine development. The focus is on engineering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Gram-positive</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 and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Gram-negative</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 bacterial genomes through precise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mutations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and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gene deletions</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 to address challenges such as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antibiotic resistance. </a:t>
            </a:r>
          </a:p>
          <a:p>
            <a:pPr lvl="3" algn="just">
              <a:spcBef>
                <a:spcPts val="600"/>
              </a:spcBef>
            </a:pPr>
            <a:endPar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endParaRPr>
          </a:p>
          <a:p>
            <a:pPr marL="1714500" lvl="3" indent="-342900" algn="just">
              <a:spcBef>
                <a:spcPts val="600"/>
              </a:spcBef>
              <a:buFont typeface="Symbol" panose="05050102010706020507" pitchFamily="18" charset="2"/>
              <a:buChar char=""/>
            </a:pP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However, the methods currently used by Sanofi are traditional methods for modifying exotic bacteria, a reliable but time-consuming process requiring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6 to 13 months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on average. To increase efficiency, Sanofi wants to explore more recent tools such as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CRISPR-Cas9</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 or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other emerging technologies. </a:t>
            </a:r>
          </a:p>
          <a:p>
            <a:pPr lvl="3" algn="just">
              <a:spcBef>
                <a:spcPts val="600"/>
              </a:spcBef>
            </a:pPr>
            <a:endParaRPr lang="en-US" sz="1400" dirty="0">
              <a:solidFill>
                <a:schemeClr val="tx1"/>
              </a:solidFill>
              <a:latin typeface="Aptos" panose="020B0004020202020204" pitchFamily="34" charset="0"/>
              <a:ea typeface="Calibri" panose="020F0502020204030204" pitchFamily="34" charset="0"/>
              <a:cs typeface="Arial" panose="020B0604020202020204" pitchFamily="34" charset="0"/>
            </a:endParaRPr>
          </a:p>
          <a:p>
            <a:pPr marL="1714500" lvl="3" indent="-342900" algn="just">
              <a:spcBef>
                <a:spcPts val="600"/>
              </a:spcBef>
              <a:buFont typeface="Symbol" panose="05050102010706020507" pitchFamily="18" charset="2"/>
              <a:buChar char=""/>
            </a:pP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This project therefore aims to identify the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most promising solutions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either for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reducing development times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while meeting their industrial needs or to </a:t>
            </a:r>
            <a:r>
              <a:rPr lang="en-US" sz="1400" b="1" dirty="0">
                <a:solidFill>
                  <a:srgbClr val="2BB4B4"/>
                </a:solidFill>
                <a:latin typeface="Aptos" panose="020B0004020202020204" pitchFamily="34" charset="0"/>
                <a:ea typeface="Calibri" panose="020F0502020204030204" pitchFamily="34" charset="0"/>
                <a:cs typeface="Arial" panose="020B0604020202020204" pitchFamily="34" charset="0"/>
              </a:rPr>
              <a:t>solve the particular difficulties </a:t>
            </a:r>
            <a:r>
              <a:rPr lang="en-US" sz="1400" dirty="0">
                <a:solidFill>
                  <a:schemeClr val="tx1"/>
                </a:solidFill>
                <a:latin typeface="Aptos" panose="020B0004020202020204" pitchFamily="34" charset="0"/>
                <a:ea typeface="Calibri" panose="020F0502020204030204" pitchFamily="34" charset="0"/>
                <a:cs typeface="Arial" panose="020B0604020202020204" pitchFamily="34" charset="0"/>
              </a:rPr>
              <a:t>encountered with certain bacteria. </a:t>
            </a:r>
            <a:endParaRPr lang="en-US" sz="1400" dirty="0">
              <a:solidFill>
                <a:schemeClr val="tx1"/>
              </a:solidFill>
              <a:effectLst/>
              <a:latin typeface="Aptos" panose="020B0004020202020204" pitchFamily="34" charset="0"/>
              <a:ea typeface="Calibri" panose="020F0502020204030204" pitchFamily="34" charset="0"/>
              <a:cs typeface="Arial" panose="020B0604020202020204" pitchFamily="34" charset="0"/>
            </a:endParaRPr>
          </a:p>
        </p:txBody>
      </p:sp>
      <p:pic>
        <p:nvPicPr>
          <p:cNvPr id="5" name="Picture 2">
            <a:extLst>
              <a:ext uri="{FF2B5EF4-FFF2-40B4-BE49-F238E27FC236}">
                <a16:creationId xmlns:a16="http://schemas.microsoft.com/office/drawing/2014/main" id="{8285438D-D9B8-9D1E-DC9E-530622055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405" y="3575062"/>
            <a:ext cx="1105909" cy="51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87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FBFBC18-25B9-C897-5E3A-56C500544374}"/>
              </a:ext>
            </a:extLst>
          </p:cNvPr>
          <p:cNvSpPr/>
          <p:nvPr/>
        </p:nvSpPr>
        <p:spPr>
          <a:xfrm>
            <a:off x="5001285" y="3247665"/>
            <a:ext cx="2496503" cy="2454442"/>
          </a:xfrm>
          <a:prstGeom prst="rect">
            <a:avLst/>
          </a:prstGeom>
          <a:solidFill>
            <a:srgbClr val="DAF7F6"/>
          </a:solidFill>
          <a:ln>
            <a:solidFill>
              <a:srgbClr val="DAF7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ptos" panose="020B0004020202020204" pitchFamily="34" charset="0"/>
            </a:endParaRPr>
          </a:p>
        </p:txBody>
      </p:sp>
      <p:sp>
        <p:nvSpPr>
          <p:cNvPr id="11" name="Rectangle 10">
            <a:extLst>
              <a:ext uri="{FF2B5EF4-FFF2-40B4-BE49-F238E27FC236}">
                <a16:creationId xmlns:a16="http://schemas.microsoft.com/office/drawing/2014/main" id="{BEF95039-16BE-E23C-5F02-5A102F55A729}"/>
              </a:ext>
            </a:extLst>
          </p:cNvPr>
          <p:cNvSpPr/>
          <p:nvPr/>
        </p:nvSpPr>
        <p:spPr>
          <a:xfrm>
            <a:off x="7804304" y="3247665"/>
            <a:ext cx="2496503" cy="2454442"/>
          </a:xfrm>
          <a:prstGeom prst="rect">
            <a:avLst/>
          </a:prstGeom>
          <a:solidFill>
            <a:srgbClr val="DAF7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ptos" panose="020B0004020202020204" pitchFamily="34" charset="0"/>
            </a:endParaRPr>
          </a:p>
        </p:txBody>
      </p:sp>
      <p:sp>
        <p:nvSpPr>
          <p:cNvPr id="8" name="Rectangle 7">
            <a:extLst>
              <a:ext uri="{FF2B5EF4-FFF2-40B4-BE49-F238E27FC236}">
                <a16:creationId xmlns:a16="http://schemas.microsoft.com/office/drawing/2014/main" id="{1BB2D126-07E6-66E0-5711-F4B4C5C69A66}"/>
              </a:ext>
            </a:extLst>
          </p:cNvPr>
          <p:cNvSpPr/>
          <p:nvPr/>
        </p:nvSpPr>
        <p:spPr>
          <a:xfrm>
            <a:off x="2181173" y="3247665"/>
            <a:ext cx="2496503" cy="2454442"/>
          </a:xfrm>
          <a:prstGeom prst="rect">
            <a:avLst/>
          </a:prstGeom>
          <a:solidFill>
            <a:srgbClr val="DAF7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Aptos" panose="020B0004020202020204" pitchFamily="34" charset="0"/>
            </a:endParaRPr>
          </a:p>
        </p:txBody>
      </p:sp>
      <p:sp>
        <p:nvSpPr>
          <p:cNvPr id="2" name="Titre 1">
            <a:extLst>
              <a:ext uri="{FF2B5EF4-FFF2-40B4-BE49-F238E27FC236}">
                <a16:creationId xmlns:a16="http://schemas.microsoft.com/office/drawing/2014/main" id="{4E126EBA-E470-D0C7-7354-0CA4ECA7BF8D}"/>
              </a:ext>
            </a:extLst>
          </p:cNvPr>
          <p:cNvSpPr>
            <a:spLocks noGrp="1"/>
          </p:cNvSpPr>
          <p:nvPr>
            <p:ph type="title"/>
          </p:nvPr>
        </p:nvSpPr>
        <p:spPr/>
        <p:txBody>
          <a:bodyPr/>
          <a:lstStyle/>
          <a:p>
            <a:r>
              <a:rPr lang="en-GB" dirty="0">
                <a:latin typeface="Aptos" panose="020B0004020202020204" pitchFamily="34" charset="0"/>
              </a:rPr>
              <a:t>Objectives</a:t>
            </a:r>
          </a:p>
        </p:txBody>
      </p:sp>
      <p:sp>
        <p:nvSpPr>
          <p:cNvPr id="6" name="Forme libre 5">
            <a:extLst>
              <a:ext uri="{FF2B5EF4-FFF2-40B4-BE49-F238E27FC236}">
                <a16:creationId xmlns:a16="http://schemas.microsoft.com/office/drawing/2014/main" id="{CA3CF764-640F-17E5-54B1-C587A9646F7B}"/>
              </a:ext>
            </a:extLst>
          </p:cNvPr>
          <p:cNvSpPr/>
          <p:nvPr/>
        </p:nvSpPr>
        <p:spPr>
          <a:xfrm>
            <a:off x="1" y="1607232"/>
            <a:ext cx="357477" cy="3643537"/>
          </a:xfrm>
          <a:custGeom>
            <a:avLst/>
            <a:gdLst>
              <a:gd name="connsiteX0" fmla="*/ 0 w 357477"/>
              <a:gd name="connsiteY0" fmla="*/ 0 h 3643537"/>
              <a:gd name="connsiteX1" fmla="*/ 65117 w 357477"/>
              <a:gd name="connsiteY1" fmla="*/ 165151 h 3643537"/>
              <a:gd name="connsiteX2" fmla="*/ 357477 w 357477"/>
              <a:gd name="connsiteY2" fmla="*/ 1821768 h 3643537"/>
              <a:gd name="connsiteX3" fmla="*/ 65117 w 357477"/>
              <a:gd name="connsiteY3" fmla="*/ 3478385 h 3643537"/>
              <a:gd name="connsiteX4" fmla="*/ 0 w 357477"/>
              <a:gd name="connsiteY4" fmla="*/ 3643537 h 364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77" h="3643537">
                <a:moveTo>
                  <a:pt x="0" y="0"/>
                </a:moveTo>
                <a:lnTo>
                  <a:pt x="65117" y="165151"/>
                </a:lnTo>
                <a:cubicBezTo>
                  <a:pt x="254255" y="681711"/>
                  <a:pt x="357477" y="1239685"/>
                  <a:pt x="357477" y="1821768"/>
                </a:cubicBezTo>
                <a:cubicBezTo>
                  <a:pt x="357477" y="2403851"/>
                  <a:pt x="254255" y="2961825"/>
                  <a:pt x="65117" y="3478385"/>
                </a:cubicBezTo>
                <a:lnTo>
                  <a:pt x="0" y="3643537"/>
                </a:lnTo>
                <a:close/>
              </a:path>
            </a:pathLst>
          </a:custGeom>
          <a:solidFill>
            <a:srgbClr val="2BB4B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accent6"/>
              </a:solidFill>
            </a:endParaRPr>
          </a:p>
        </p:txBody>
      </p:sp>
      <p:sp>
        <p:nvSpPr>
          <p:cNvPr id="7" name="ZoneTexte 6">
            <a:extLst>
              <a:ext uri="{FF2B5EF4-FFF2-40B4-BE49-F238E27FC236}">
                <a16:creationId xmlns:a16="http://schemas.microsoft.com/office/drawing/2014/main" id="{CDACF339-050C-AFA9-CF8A-0CFB7B8F48BF}"/>
              </a:ext>
            </a:extLst>
          </p:cNvPr>
          <p:cNvSpPr txBox="1"/>
          <p:nvPr/>
        </p:nvSpPr>
        <p:spPr>
          <a:xfrm>
            <a:off x="2181173" y="1355427"/>
            <a:ext cx="8119634" cy="646331"/>
          </a:xfrm>
          <a:prstGeom prst="rect">
            <a:avLst/>
          </a:prstGeom>
          <a:noFill/>
        </p:spPr>
        <p:txBody>
          <a:bodyPr wrap="square" rtlCol="0">
            <a:spAutoFit/>
          </a:bodyPr>
          <a:lstStyle/>
          <a:p>
            <a:pPr algn="ctr"/>
            <a:r>
              <a:rPr lang="en-US" b="1" dirty="0">
                <a:solidFill>
                  <a:schemeClr val="accent1"/>
                </a:solidFill>
                <a:latin typeface="Aptos" panose="020B0004020202020204" pitchFamily="34" charset="0"/>
              </a:rPr>
              <a:t>Your objective: </a:t>
            </a:r>
            <a:r>
              <a:rPr lang="en-US" dirty="0">
                <a:latin typeface="Aptos" panose="020B0004020202020204" pitchFamily="34" charset="0"/>
              </a:rPr>
              <a:t>Find the appropriate new gene editing method  </a:t>
            </a:r>
            <a:r>
              <a:rPr lang="en-US" sz="1800" dirty="0">
                <a:solidFill>
                  <a:schemeClr val="tx1"/>
                </a:solidFill>
                <a:effectLst/>
                <a:latin typeface="Aptos" panose="020B0004020202020204" pitchFamily="34" charset="0"/>
                <a:ea typeface="Calibri" panose="020F0502020204030204" pitchFamily="34" charset="0"/>
                <a:cs typeface="Arial" panose="020B0604020202020204" pitchFamily="34" charset="0"/>
              </a:rPr>
              <a:t>that enable point mutations or the deletion of certain genes and start to </a:t>
            </a:r>
            <a:endParaRPr lang="en-US" dirty="0">
              <a:latin typeface="Aptos" panose="020B0004020202020204" pitchFamily="34" charset="0"/>
            </a:endParaRPr>
          </a:p>
        </p:txBody>
      </p:sp>
      <p:sp>
        <p:nvSpPr>
          <p:cNvPr id="12" name="Forme libre 11">
            <a:extLst>
              <a:ext uri="{FF2B5EF4-FFF2-40B4-BE49-F238E27FC236}">
                <a16:creationId xmlns:a16="http://schemas.microsoft.com/office/drawing/2014/main" id="{94343660-E7D6-6164-7CC4-102B31C34DC0}"/>
              </a:ext>
            </a:extLst>
          </p:cNvPr>
          <p:cNvSpPr/>
          <p:nvPr/>
        </p:nvSpPr>
        <p:spPr>
          <a:xfrm rot="5400000">
            <a:off x="6038594" y="1238339"/>
            <a:ext cx="211666" cy="1965533"/>
          </a:xfrm>
          <a:custGeom>
            <a:avLst/>
            <a:gdLst>
              <a:gd name="connsiteX0" fmla="*/ 0 w 211666"/>
              <a:gd name="connsiteY0" fmla="*/ 3225800 h 3225800"/>
              <a:gd name="connsiteX1" fmla="*/ 211666 w 211666"/>
              <a:gd name="connsiteY1" fmla="*/ 1617133 h 3225800"/>
              <a:gd name="connsiteX2" fmla="*/ 0 w 211666"/>
              <a:gd name="connsiteY2" fmla="*/ 0 h 3225800"/>
            </a:gdLst>
            <a:ahLst/>
            <a:cxnLst>
              <a:cxn ang="0">
                <a:pos x="connsiteX0" y="connsiteY0"/>
              </a:cxn>
              <a:cxn ang="0">
                <a:pos x="connsiteX1" y="connsiteY1"/>
              </a:cxn>
              <a:cxn ang="0">
                <a:pos x="connsiteX2" y="connsiteY2"/>
              </a:cxn>
            </a:cxnLst>
            <a:rect l="l" t="t" r="r" b="b"/>
            <a:pathLst>
              <a:path w="211666" h="3225800">
                <a:moveTo>
                  <a:pt x="0" y="3225800"/>
                </a:moveTo>
                <a:lnTo>
                  <a:pt x="211666" y="1617133"/>
                </a:lnTo>
                <a:lnTo>
                  <a:pt x="0" y="0"/>
                </a:lnTo>
              </a:path>
            </a:pathLst>
          </a:custGeom>
          <a:noFill/>
          <a:ln w="38100"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ZoneTexte 20">
            <a:extLst>
              <a:ext uri="{FF2B5EF4-FFF2-40B4-BE49-F238E27FC236}">
                <a16:creationId xmlns:a16="http://schemas.microsoft.com/office/drawing/2014/main" id="{3E5B297F-F5E8-F2E7-0594-020F7DADFAE4}"/>
              </a:ext>
            </a:extLst>
          </p:cNvPr>
          <p:cNvSpPr txBox="1"/>
          <p:nvPr/>
        </p:nvSpPr>
        <p:spPr>
          <a:xfrm>
            <a:off x="2181173" y="3076598"/>
            <a:ext cx="2496503" cy="926422"/>
          </a:xfrm>
          <a:custGeom>
            <a:avLst/>
            <a:gdLst>
              <a:gd name="connsiteX0" fmla="*/ 0 w 2496503"/>
              <a:gd name="connsiteY0" fmla="*/ 0 h 926422"/>
              <a:gd name="connsiteX1" fmla="*/ 2496503 w 2496503"/>
              <a:gd name="connsiteY1" fmla="*/ 0 h 926422"/>
              <a:gd name="connsiteX2" fmla="*/ 2496503 w 2496503"/>
              <a:gd name="connsiteY2" fmla="*/ 814424 h 926422"/>
              <a:gd name="connsiteX3" fmla="*/ 2405313 w 2496503"/>
              <a:gd name="connsiteY3" fmla="*/ 838453 h 926422"/>
              <a:gd name="connsiteX4" fmla="*/ 1248496 w 2496503"/>
              <a:gd name="connsiteY4" fmla="*/ 926422 h 926422"/>
              <a:gd name="connsiteX5" fmla="*/ 91678 w 2496503"/>
              <a:gd name="connsiteY5" fmla="*/ 838453 h 926422"/>
              <a:gd name="connsiteX6" fmla="*/ 0 w 2496503"/>
              <a:gd name="connsiteY6" fmla="*/ 814296 h 926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6503" h="926422">
                <a:moveTo>
                  <a:pt x="0" y="0"/>
                </a:moveTo>
                <a:lnTo>
                  <a:pt x="2496503" y="0"/>
                </a:lnTo>
                <a:lnTo>
                  <a:pt x="2496503" y="814424"/>
                </a:lnTo>
                <a:lnTo>
                  <a:pt x="2405313" y="838453"/>
                </a:lnTo>
                <a:cubicBezTo>
                  <a:pt x="2154608" y="891527"/>
                  <a:pt x="1730045" y="926422"/>
                  <a:pt x="1248496" y="926422"/>
                </a:cubicBezTo>
                <a:cubicBezTo>
                  <a:pt x="766946" y="926422"/>
                  <a:pt x="342383" y="891527"/>
                  <a:pt x="91678" y="838453"/>
                </a:cubicBezTo>
                <a:lnTo>
                  <a:pt x="0" y="814296"/>
                </a:lnTo>
                <a:close/>
              </a:path>
            </a:pathLst>
          </a:custGeom>
          <a:solidFill>
            <a:srgbClr val="2BB4B4"/>
          </a:solidFill>
        </p:spPr>
        <p:txBody>
          <a:bodyPr wrap="square" tIns="0" bIns="0" rtlCol="0" anchor="ctr">
            <a:noAutofit/>
          </a:bodyPr>
          <a:lstStyle/>
          <a:p>
            <a:pPr algn="ctr" defTabSz="1219200" hangingPunct="0"/>
            <a:r>
              <a:rPr lang="en-US" sz="1600" b="1" dirty="0">
                <a:solidFill>
                  <a:schemeClr val="bg1"/>
                </a:solidFill>
                <a:latin typeface="Aptos" panose="020B0004020202020204" pitchFamily="34" charset="0"/>
              </a:rPr>
              <a:t>Identification and characterization</a:t>
            </a:r>
          </a:p>
        </p:txBody>
      </p:sp>
      <p:sp>
        <p:nvSpPr>
          <p:cNvPr id="20" name="ZoneTexte 19">
            <a:extLst>
              <a:ext uri="{FF2B5EF4-FFF2-40B4-BE49-F238E27FC236}">
                <a16:creationId xmlns:a16="http://schemas.microsoft.com/office/drawing/2014/main" id="{0E00C31B-279D-22F9-001E-361BD6C512F5}"/>
              </a:ext>
            </a:extLst>
          </p:cNvPr>
          <p:cNvSpPr txBox="1"/>
          <p:nvPr/>
        </p:nvSpPr>
        <p:spPr>
          <a:xfrm>
            <a:off x="5001285" y="3076598"/>
            <a:ext cx="2496503" cy="926422"/>
          </a:xfrm>
          <a:custGeom>
            <a:avLst/>
            <a:gdLst>
              <a:gd name="connsiteX0" fmla="*/ 0 w 2496503"/>
              <a:gd name="connsiteY0" fmla="*/ 0 h 926422"/>
              <a:gd name="connsiteX1" fmla="*/ 2496503 w 2496503"/>
              <a:gd name="connsiteY1" fmla="*/ 0 h 926422"/>
              <a:gd name="connsiteX2" fmla="*/ 2496503 w 2496503"/>
              <a:gd name="connsiteY2" fmla="*/ 814424 h 926422"/>
              <a:gd name="connsiteX3" fmla="*/ 2405313 w 2496503"/>
              <a:gd name="connsiteY3" fmla="*/ 838453 h 926422"/>
              <a:gd name="connsiteX4" fmla="*/ 1248496 w 2496503"/>
              <a:gd name="connsiteY4" fmla="*/ 926422 h 926422"/>
              <a:gd name="connsiteX5" fmla="*/ 91678 w 2496503"/>
              <a:gd name="connsiteY5" fmla="*/ 838453 h 926422"/>
              <a:gd name="connsiteX6" fmla="*/ 0 w 2496503"/>
              <a:gd name="connsiteY6" fmla="*/ 814296 h 926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6503" h="926422">
                <a:moveTo>
                  <a:pt x="0" y="0"/>
                </a:moveTo>
                <a:lnTo>
                  <a:pt x="2496503" y="0"/>
                </a:lnTo>
                <a:lnTo>
                  <a:pt x="2496503" y="814424"/>
                </a:lnTo>
                <a:lnTo>
                  <a:pt x="2405313" y="838453"/>
                </a:lnTo>
                <a:cubicBezTo>
                  <a:pt x="2154608" y="891527"/>
                  <a:pt x="1730045" y="926422"/>
                  <a:pt x="1248496" y="926422"/>
                </a:cubicBezTo>
                <a:cubicBezTo>
                  <a:pt x="766946" y="926422"/>
                  <a:pt x="342383" y="891527"/>
                  <a:pt x="91678" y="838453"/>
                </a:cubicBezTo>
                <a:lnTo>
                  <a:pt x="0" y="814296"/>
                </a:lnTo>
                <a:close/>
              </a:path>
            </a:pathLst>
          </a:custGeom>
          <a:solidFill>
            <a:srgbClr val="2BB4B4"/>
          </a:solidFill>
        </p:spPr>
        <p:txBody>
          <a:bodyPr wrap="square" tIns="0" bIns="0" rtlCol="0" anchor="ctr">
            <a:noAutofit/>
          </a:bodyPr>
          <a:lstStyle/>
          <a:p>
            <a:pPr algn="ctr" defTabSz="1219200" hangingPunct="0"/>
            <a:r>
              <a:rPr lang="en-US" sz="1600" b="1" dirty="0">
                <a:solidFill>
                  <a:schemeClr val="bg1"/>
                </a:solidFill>
                <a:latin typeface="Aptos" panose="020B0004020202020204" pitchFamily="34" charset="0"/>
              </a:rPr>
              <a:t>Selection</a:t>
            </a:r>
          </a:p>
        </p:txBody>
      </p:sp>
      <p:sp>
        <p:nvSpPr>
          <p:cNvPr id="19" name="ZoneTexte 18">
            <a:extLst>
              <a:ext uri="{FF2B5EF4-FFF2-40B4-BE49-F238E27FC236}">
                <a16:creationId xmlns:a16="http://schemas.microsoft.com/office/drawing/2014/main" id="{E958307B-3510-A081-84F9-930AF84FCF1D}"/>
              </a:ext>
            </a:extLst>
          </p:cNvPr>
          <p:cNvSpPr txBox="1"/>
          <p:nvPr/>
        </p:nvSpPr>
        <p:spPr>
          <a:xfrm>
            <a:off x="7804305" y="3076598"/>
            <a:ext cx="2496503" cy="926422"/>
          </a:xfrm>
          <a:custGeom>
            <a:avLst/>
            <a:gdLst>
              <a:gd name="connsiteX0" fmla="*/ 0 w 2496503"/>
              <a:gd name="connsiteY0" fmla="*/ 0 h 926422"/>
              <a:gd name="connsiteX1" fmla="*/ 2496503 w 2496503"/>
              <a:gd name="connsiteY1" fmla="*/ 0 h 926422"/>
              <a:gd name="connsiteX2" fmla="*/ 2496503 w 2496503"/>
              <a:gd name="connsiteY2" fmla="*/ 814424 h 926422"/>
              <a:gd name="connsiteX3" fmla="*/ 2405312 w 2496503"/>
              <a:gd name="connsiteY3" fmla="*/ 838453 h 926422"/>
              <a:gd name="connsiteX4" fmla="*/ 1248495 w 2496503"/>
              <a:gd name="connsiteY4" fmla="*/ 926422 h 926422"/>
              <a:gd name="connsiteX5" fmla="*/ 91678 w 2496503"/>
              <a:gd name="connsiteY5" fmla="*/ 838453 h 926422"/>
              <a:gd name="connsiteX6" fmla="*/ 0 w 2496503"/>
              <a:gd name="connsiteY6" fmla="*/ 814296 h 926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6503" h="926422">
                <a:moveTo>
                  <a:pt x="0" y="0"/>
                </a:moveTo>
                <a:lnTo>
                  <a:pt x="2496503" y="0"/>
                </a:lnTo>
                <a:lnTo>
                  <a:pt x="2496503" y="814424"/>
                </a:lnTo>
                <a:lnTo>
                  <a:pt x="2405312" y="838453"/>
                </a:lnTo>
                <a:cubicBezTo>
                  <a:pt x="2154608" y="891527"/>
                  <a:pt x="1730044" y="926422"/>
                  <a:pt x="1248495" y="926422"/>
                </a:cubicBezTo>
                <a:cubicBezTo>
                  <a:pt x="766946" y="926422"/>
                  <a:pt x="342383" y="891527"/>
                  <a:pt x="91678" y="838453"/>
                </a:cubicBezTo>
                <a:lnTo>
                  <a:pt x="0" y="814296"/>
                </a:lnTo>
                <a:close/>
              </a:path>
            </a:pathLst>
          </a:custGeom>
          <a:solidFill>
            <a:srgbClr val="2BB4B4"/>
          </a:solidFill>
        </p:spPr>
        <p:txBody>
          <a:bodyPr wrap="square" tIns="0" bIns="0" rtlCol="0" anchor="ctr">
            <a:noAutofit/>
          </a:bodyPr>
          <a:lstStyle/>
          <a:p>
            <a:pPr algn="ctr" defTabSz="1219200" hangingPunct="0"/>
            <a:r>
              <a:rPr lang="en-US" sz="1600" b="1" dirty="0">
                <a:solidFill>
                  <a:schemeClr val="bg1"/>
                </a:solidFill>
                <a:latin typeface="Aptos" panose="020B0004020202020204" pitchFamily="34" charset="0"/>
              </a:rPr>
              <a:t>Recommendations</a:t>
            </a:r>
          </a:p>
        </p:txBody>
      </p:sp>
      <p:sp>
        <p:nvSpPr>
          <p:cNvPr id="14" name="ZoneTexte 13">
            <a:extLst>
              <a:ext uri="{FF2B5EF4-FFF2-40B4-BE49-F238E27FC236}">
                <a16:creationId xmlns:a16="http://schemas.microsoft.com/office/drawing/2014/main" id="{1B714594-FE6D-7DA0-9599-93E6ECD46ED4}"/>
              </a:ext>
            </a:extLst>
          </p:cNvPr>
          <p:cNvSpPr txBox="1"/>
          <p:nvPr/>
        </p:nvSpPr>
        <p:spPr>
          <a:xfrm>
            <a:off x="2240315" y="4435723"/>
            <a:ext cx="2378217" cy="523220"/>
          </a:xfrm>
          <a:prstGeom prst="rect">
            <a:avLst/>
          </a:prstGeom>
          <a:noFill/>
        </p:spPr>
        <p:txBody>
          <a:bodyPr wrap="square">
            <a:spAutoFit/>
          </a:bodyPr>
          <a:lstStyle/>
          <a:p>
            <a:pPr algn="ctr"/>
            <a:r>
              <a:rPr lang="en-GB" sz="1400" dirty="0">
                <a:latin typeface="Aptos" panose="020B0004020202020204" pitchFamily="34" charset="0"/>
              </a:rPr>
              <a:t>Of the existing gene editing (or alternative )methods</a:t>
            </a:r>
          </a:p>
        </p:txBody>
      </p:sp>
      <p:sp>
        <p:nvSpPr>
          <p:cNvPr id="15" name="ZoneTexte 14">
            <a:extLst>
              <a:ext uri="{FF2B5EF4-FFF2-40B4-BE49-F238E27FC236}">
                <a16:creationId xmlns:a16="http://schemas.microsoft.com/office/drawing/2014/main" id="{37373937-95A2-1A01-21EA-128680E7290C}"/>
              </a:ext>
            </a:extLst>
          </p:cNvPr>
          <p:cNvSpPr txBox="1"/>
          <p:nvPr/>
        </p:nvSpPr>
        <p:spPr>
          <a:xfrm>
            <a:off x="5121896" y="4435723"/>
            <a:ext cx="2237571" cy="954107"/>
          </a:xfrm>
          <a:prstGeom prst="rect">
            <a:avLst/>
          </a:prstGeom>
          <a:noFill/>
        </p:spPr>
        <p:txBody>
          <a:bodyPr wrap="square">
            <a:spAutoFit/>
          </a:bodyPr>
          <a:lstStyle/>
          <a:p>
            <a:pPr algn="ctr"/>
            <a:r>
              <a:rPr lang="en-US" sz="1400" dirty="0">
                <a:latin typeface="Aptos" panose="020B0004020202020204" pitchFamily="34" charset="0"/>
              </a:rPr>
              <a:t>Of the gene editing methods, the more useful for Sanofi to deploy its project</a:t>
            </a:r>
            <a:endParaRPr lang="en-GB" sz="1400" dirty="0">
              <a:latin typeface="Aptos" panose="020B0004020202020204" pitchFamily="34" charset="0"/>
            </a:endParaRPr>
          </a:p>
        </p:txBody>
      </p:sp>
      <p:sp>
        <p:nvSpPr>
          <p:cNvPr id="16" name="ZoneTexte 15">
            <a:extLst>
              <a:ext uri="{FF2B5EF4-FFF2-40B4-BE49-F238E27FC236}">
                <a16:creationId xmlns:a16="http://schemas.microsoft.com/office/drawing/2014/main" id="{04D146C0-8D5E-47E5-EF06-353E946B6445}"/>
              </a:ext>
            </a:extLst>
          </p:cNvPr>
          <p:cNvSpPr txBox="1"/>
          <p:nvPr/>
        </p:nvSpPr>
        <p:spPr>
          <a:xfrm>
            <a:off x="7933769" y="4378621"/>
            <a:ext cx="2237571" cy="954107"/>
          </a:xfrm>
          <a:prstGeom prst="rect">
            <a:avLst/>
          </a:prstGeom>
          <a:noFill/>
        </p:spPr>
        <p:txBody>
          <a:bodyPr wrap="square">
            <a:spAutoFit/>
          </a:bodyPr>
          <a:lstStyle/>
          <a:p>
            <a:pPr algn="ctr"/>
            <a:r>
              <a:rPr lang="en-GB" sz="1400" dirty="0">
                <a:latin typeface="Aptos" panose="020B0004020202020204" pitchFamily="34" charset="0"/>
              </a:rPr>
              <a:t>For an actionable plan for Sanofi to integrate gene editing method to design </a:t>
            </a:r>
            <a:r>
              <a:rPr lang="en-US" sz="1400" dirty="0">
                <a:solidFill>
                  <a:schemeClr val="tx1"/>
                </a:solidFill>
                <a:effectLst/>
                <a:latin typeface="Aptos" panose="020B0004020202020204" pitchFamily="34" charset="0"/>
                <a:ea typeface="Calibri" panose="020F0502020204030204" pitchFamily="34" charset="0"/>
                <a:cs typeface="Arial" panose="020B0604020202020204" pitchFamily="34" charset="0"/>
              </a:rPr>
              <a:t>antigen</a:t>
            </a:r>
            <a:endParaRPr lang="en-GB" sz="1400" dirty="0">
              <a:latin typeface="Aptos" panose="020B0004020202020204" pitchFamily="34" charset="0"/>
            </a:endParaRPr>
          </a:p>
        </p:txBody>
      </p:sp>
      <p:sp>
        <p:nvSpPr>
          <p:cNvPr id="22" name="Rectangle 21">
            <a:extLst>
              <a:ext uri="{FF2B5EF4-FFF2-40B4-BE49-F238E27FC236}">
                <a16:creationId xmlns:a16="http://schemas.microsoft.com/office/drawing/2014/main" id="{1AE2B197-B6A7-66D9-90EE-96EE99E06CB6}"/>
              </a:ext>
            </a:extLst>
          </p:cNvPr>
          <p:cNvSpPr/>
          <p:nvPr/>
        </p:nvSpPr>
        <p:spPr>
          <a:xfrm>
            <a:off x="2576470" y="2465732"/>
            <a:ext cx="7135910" cy="355482"/>
          </a:xfrm>
          <a:prstGeom prst="rect">
            <a:avLst/>
          </a:prstGeom>
        </p:spPr>
        <p:txBody>
          <a:bodyPr wrap="square">
            <a:spAutoFit/>
          </a:bodyPr>
          <a:lstStyle/>
          <a:p>
            <a:pPr algn="ctr" defTabSz="914400">
              <a:lnSpc>
                <a:spcPct val="95000"/>
              </a:lnSpc>
              <a:spcBef>
                <a:spcPts val="600"/>
              </a:spcBef>
              <a:spcAft>
                <a:spcPts val="600"/>
              </a:spcAft>
              <a:buSzPct val="90000"/>
            </a:pPr>
            <a:r>
              <a:rPr lang="en-US" dirty="0">
                <a:latin typeface="Aptos" panose="020B0004020202020204" pitchFamily="34" charset="0"/>
              </a:rPr>
              <a:t>Alcimed will help you to reach this objective on 3 main pillars</a:t>
            </a:r>
          </a:p>
        </p:txBody>
      </p:sp>
      <p:pic>
        <p:nvPicPr>
          <p:cNvPr id="3" name="Picture 2">
            <a:extLst>
              <a:ext uri="{FF2B5EF4-FFF2-40B4-BE49-F238E27FC236}">
                <a16:creationId xmlns:a16="http://schemas.microsoft.com/office/drawing/2014/main" id="{36EF9320-6AE6-3199-1C21-F10E00689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295" y="1294545"/>
            <a:ext cx="1610305" cy="74267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descr="Une image contenant Graphique, Police, logo, cercle&#10;&#10;Description générée automatiquement">
            <a:extLst>
              <a:ext uri="{FF2B5EF4-FFF2-40B4-BE49-F238E27FC236}">
                <a16:creationId xmlns:a16="http://schemas.microsoft.com/office/drawing/2014/main" id="{0F2396C4-9E6D-E77B-EF31-E201DA65D87A}"/>
              </a:ext>
            </a:extLst>
          </p:cNvPr>
          <p:cNvPicPr>
            <a:picLocks noChangeAspect="1"/>
          </p:cNvPicPr>
          <p:nvPr/>
        </p:nvPicPr>
        <p:blipFill>
          <a:blip r:embed="rId3"/>
          <a:stretch>
            <a:fillRect/>
          </a:stretch>
        </p:blipFill>
        <p:spPr>
          <a:xfrm>
            <a:off x="659333" y="3779505"/>
            <a:ext cx="1198231" cy="1198231"/>
          </a:xfrm>
          <a:prstGeom prst="rect">
            <a:avLst/>
          </a:prstGeom>
        </p:spPr>
      </p:pic>
    </p:spTree>
    <p:extLst>
      <p:ext uri="{BB962C8B-B14F-4D97-AF65-F5344CB8AC3E}">
        <p14:creationId xmlns:p14="http://schemas.microsoft.com/office/powerpoint/2010/main" val="374851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E76C145-5DB8-59AB-59F5-C9D219E9D390}"/>
              </a:ext>
            </a:extLst>
          </p:cNvPr>
          <p:cNvSpPr>
            <a:spLocks noGrp="1"/>
          </p:cNvSpPr>
          <p:nvPr>
            <p:ph type="title"/>
          </p:nvPr>
        </p:nvSpPr>
        <p:spPr/>
        <p:txBody>
          <a:bodyPr/>
          <a:lstStyle/>
          <a:p>
            <a:r>
              <a:rPr lang="fr-FR" dirty="0">
                <a:latin typeface="Aptos" panose="020B0004020202020204" pitchFamily="34" charset="0"/>
              </a:rPr>
              <a:t>Our </a:t>
            </a:r>
            <a:r>
              <a:rPr lang="fr-FR" dirty="0" err="1">
                <a:latin typeface="Aptos" panose="020B0004020202020204" pitchFamily="34" charset="0"/>
              </a:rPr>
              <a:t>approach</a:t>
            </a:r>
            <a:endParaRPr lang="fr-FR" dirty="0">
              <a:latin typeface="Aptos" panose="020B0004020202020204" pitchFamily="34" charset="0"/>
            </a:endParaRPr>
          </a:p>
        </p:txBody>
      </p:sp>
      <p:sp>
        <p:nvSpPr>
          <p:cNvPr id="7" name="Espace réservé du texte 6">
            <a:extLst>
              <a:ext uri="{FF2B5EF4-FFF2-40B4-BE49-F238E27FC236}">
                <a16:creationId xmlns:a16="http://schemas.microsoft.com/office/drawing/2014/main" id="{A0385D82-E299-A354-F7F7-109912FE3B34}"/>
              </a:ext>
            </a:extLst>
          </p:cNvPr>
          <p:cNvSpPr>
            <a:spLocks noGrp="1"/>
          </p:cNvSpPr>
          <p:nvPr>
            <p:ph type="body" sz="quarter" idx="15"/>
          </p:nvPr>
        </p:nvSpPr>
        <p:spPr/>
        <p:txBody>
          <a:bodyPr/>
          <a:lstStyle/>
          <a:p>
            <a:r>
              <a:rPr lang="fr-FR" dirty="0">
                <a:latin typeface="Aptos" panose="020B0004020202020204" pitchFamily="34" charset="0"/>
              </a:rPr>
              <a:t>Alcimed </a:t>
            </a:r>
            <a:r>
              <a:rPr lang="fr-FR" dirty="0" err="1">
                <a:latin typeface="Aptos" panose="020B0004020202020204" pitchFamily="34" charset="0"/>
              </a:rPr>
              <a:t>offers</a:t>
            </a:r>
            <a:r>
              <a:rPr lang="fr-FR" dirty="0">
                <a:latin typeface="Aptos" panose="020B0004020202020204" pitchFamily="34" charset="0"/>
              </a:rPr>
              <a:t> a 3-step </a:t>
            </a:r>
            <a:r>
              <a:rPr lang="fr-FR" dirty="0" err="1">
                <a:latin typeface="Aptos" panose="020B0004020202020204" pitchFamily="34" charset="0"/>
              </a:rPr>
              <a:t>approach</a:t>
            </a:r>
            <a:r>
              <a:rPr lang="fr-FR" dirty="0">
                <a:latin typeface="Aptos" panose="020B0004020202020204" pitchFamily="34" charset="0"/>
              </a:rPr>
              <a:t> :</a:t>
            </a:r>
          </a:p>
        </p:txBody>
      </p:sp>
      <p:grpSp>
        <p:nvGrpSpPr>
          <p:cNvPr id="3" name="Groupe 2">
            <a:extLst>
              <a:ext uri="{FF2B5EF4-FFF2-40B4-BE49-F238E27FC236}">
                <a16:creationId xmlns:a16="http://schemas.microsoft.com/office/drawing/2014/main" id="{1DAD7C30-2DB2-5AE8-FA2A-EB5E29AA3AF9}"/>
              </a:ext>
            </a:extLst>
          </p:cNvPr>
          <p:cNvGrpSpPr/>
          <p:nvPr/>
        </p:nvGrpSpPr>
        <p:grpSpPr>
          <a:xfrm>
            <a:off x="-1013002" y="2740688"/>
            <a:ext cx="12985259" cy="2207621"/>
            <a:chOff x="-849927" y="2337340"/>
            <a:chExt cx="12985259" cy="2207621"/>
          </a:xfrm>
        </p:grpSpPr>
        <p:cxnSp>
          <p:nvCxnSpPr>
            <p:cNvPr id="8" name="Connecteur droit 7">
              <a:extLst>
                <a:ext uri="{FF2B5EF4-FFF2-40B4-BE49-F238E27FC236}">
                  <a16:creationId xmlns:a16="http://schemas.microsoft.com/office/drawing/2014/main" id="{5E34E4D2-96DC-5E29-799F-ACC9D6E15F27}"/>
                </a:ext>
              </a:extLst>
            </p:cNvPr>
            <p:cNvCxnSpPr>
              <a:cxnSpLocks/>
            </p:cNvCxnSpPr>
            <p:nvPr/>
          </p:nvCxnSpPr>
          <p:spPr>
            <a:xfrm>
              <a:off x="1095555" y="2938854"/>
              <a:ext cx="10075653" cy="39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38697F4A-3CD2-3116-C3E1-6CFD05254926}"/>
                </a:ext>
              </a:extLst>
            </p:cNvPr>
            <p:cNvSpPr txBox="1"/>
            <p:nvPr/>
          </p:nvSpPr>
          <p:spPr>
            <a:xfrm>
              <a:off x="-132727" y="2767283"/>
              <a:ext cx="1484651" cy="338554"/>
            </a:xfrm>
            <a:prstGeom prst="rect">
              <a:avLst/>
            </a:prstGeom>
            <a:noFill/>
            <a:ln>
              <a:noFill/>
            </a:ln>
          </p:spPr>
          <p:txBody>
            <a:bodyPr wrap="square" rtlCol="0">
              <a:spAutoFit/>
            </a:bodyPr>
            <a:lstStyle/>
            <a:p>
              <a:pPr algn="ctr">
                <a:lnSpc>
                  <a:spcPct val="100000"/>
                </a:lnSpc>
                <a:spcBef>
                  <a:spcPts val="0"/>
                </a:spcBef>
              </a:pPr>
              <a:r>
                <a:rPr lang="en-GB" sz="1600" b="1" dirty="0">
                  <a:solidFill>
                    <a:schemeClr val="bg1"/>
                  </a:solidFill>
                  <a:latin typeface="Aptos" panose="020B0004020202020204" pitchFamily="34" charset="0"/>
                </a:rPr>
                <a:t>STEP 0</a:t>
              </a:r>
            </a:p>
          </p:txBody>
        </p:sp>
        <p:grpSp>
          <p:nvGrpSpPr>
            <p:cNvPr id="12" name="Groupe 11">
              <a:extLst>
                <a:ext uri="{FF2B5EF4-FFF2-40B4-BE49-F238E27FC236}">
                  <a16:creationId xmlns:a16="http://schemas.microsoft.com/office/drawing/2014/main" id="{655A51E9-189D-7C0B-0A42-114C24B04F2D}"/>
                </a:ext>
              </a:extLst>
            </p:cNvPr>
            <p:cNvGrpSpPr/>
            <p:nvPr/>
          </p:nvGrpSpPr>
          <p:grpSpPr>
            <a:xfrm>
              <a:off x="10650681" y="2337340"/>
              <a:ext cx="1484651" cy="1091660"/>
              <a:chOff x="960986" y="3279232"/>
              <a:chExt cx="1251465" cy="920199"/>
            </a:xfrm>
            <a:solidFill>
              <a:srgbClr val="2BB4B4"/>
            </a:solidFill>
          </p:grpSpPr>
          <p:sp>
            <p:nvSpPr>
              <p:cNvPr id="13" name="Ellipse 12">
                <a:extLst>
                  <a:ext uri="{FF2B5EF4-FFF2-40B4-BE49-F238E27FC236}">
                    <a16:creationId xmlns:a16="http://schemas.microsoft.com/office/drawing/2014/main" id="{C71C4240-486E-A8DA-2BEC-035DCE6683A3}"/>
                  </a:ext>
                </a:extLst>
              </p:cNvPr>
              <p:cNvSpPr/>
              <p:nvPr/>
            </p:nvSpPr>
            <p:spPr>
              <a:xfrm rot="5400000">
                <a:off x="1113771" y="3279232"/>
                <a:ext cx="920199" cy="920199"/>
              </a:xfrm>
              <a:prstGeom prst="ellipse">
                <a:avLst/>
              </a:prstGeom>
              <a:solidFill>
                <a:schemeClr val="accent5"/>
              </a:solid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Aptos" panose="020B0004020202020204" pitchFamily="34" charset="0"/>
                </a:endParaRPr>
              </a:p>
            </p:txBody>
          </p:sp>
          <p:sp>
            <p:nvSpPr>
              <p:cNvPr id="14" name="ZoneTexte 13">
                <a:extLst>
                  <a:ext uri="{FF2B5EF4-FFF2-40B4-BE49-F238E27FC236}">
                    <a16:creationId xmlns:a16="http://schemas.microsoft.com/office/drawing/2014/main" id="{B2BA4461-D22C-BCBA-8AD3-68AC7CE9CE0A}"/>
                  </a:ext>
                </a:extLst>
              </p:cNvPr>
              <p:cNvSpPr txBox="1"/>
              <p:nvPr/>
            </p:nvSpPr>
            <p:spPr>
              <a:xfrm>
                <a:off x="960986" y="3609529"/>
                <a:ext cx="1251465" cy="285379"/>
              </a:xfrm>
              <a:prstGeom prst="rect">
                <a:avLst/>
              </a:prstGeom>
              <a:noFill/>
              <a:ln>
                <a:noFill/>
              </a:ln>
            </p:spPr>
            <p:txBody>
              <a:bodyPr wrap="square" rtlCol="0">
                <a:spAutoFit/>
              </a:bodyPr>
              <a:lstStyle/>
              <a:p>
                <a:pPr algn="ctr">
                  <a:lnSpc>
                    <a:spcPct val="100000"/>
                  </a:lnSpc>
                  <a:spcBef>
                    <a:spcPts val="0"/>
                  </a:spcBef>
                </a:pPr>
                <a:r>
                  <a:rPr lang="en-GB" sz="1600" b="1" dirty="0">
                    <a:solidFill>
                      <a:schemeClr val="bg1"/>
                    </a:solidFill>
                    <a:latin typeface="Aptos" panose="020B0004020202020204" pitchFamily="34" charset="0"/>
                  </a:rPr>
                  <a:t>STEP 3</a:t>
                </a:r>
              </a:p>
            </p:txBody>
          </p:sp>
        </p:grpSp>
        <p:sp>
          <p:nvSpPr>
            <p:cNvPr id="18" name="ZoneTexte 17">
              <a:extLst>
                <a:ext uri="{FF2B5EF4-FFF2-40B4-BE49-F238E27FC236}">
                  <a16:creationId xmlns:a16="http://schemas.microsoft.com/office/drawing/2014/main" id="{E152A90E-CE62-A9AB-9DBB-09E3D5FA4824}"/>
                </a:ext>
              </a:extLst>
            </p:cNvPr>
            <p:cNvSpPr txBox="1"/>
            <p:nvPr/>
          </p:nvSpPr>
          <p:spPr>
            <a:xfrm>
              <a:off x="3346735" y="3621631"/>
              <a:ext cx="2496127" cy="923330"/>
            </a:xfrm>
            <a:prstGeom prst="rect">
              <a:avLst/>
            </a:prstGeom>
            <a:noFill/>
          </p:spPr>
          <p:txBody>
            <a:bodyPr wrap="square" rtlCol="0">
              <a:spAutoFit/>
            </a:bodyPr>
            <a:lstStyle/>
            <a:p>
              <a:pPr algn="ctr"/>
              <a:r>
                <a:rPr lang="en-US" i="1" dirty="0">
                  <a:solidFill>
                    <a:schemeClr val="accent4"/>
                  </a:solidFill>
                  <a:latin typeface="Aptos" panose="020B0004020202020204" pitchFamily="34" charset="0"/>
                </a:rPr>
                <a:t>Analysis and selection of Gene Editing (or alternative) methods</a:t>
              </a:r>
              <a:endParaRPr lang="fr-FR" i="1" dirty="0">
                <a:solidFill>
                  <a:schemeClr val="accent4"/>
                </a:solidFill>
                <a:latin typeface="Aptos" panose="020B0004020202020204" pitchFamily="34" charset="0"/>
              </a:endParaRPr>
            </a:p>
          </p:txBody>
        </p:sp>
        <p:grpSp>
          <p:nvGrpSpPr>
            <p:cNvPr id="23" name="Groupe 22">
              <a:extLst>
                <a:ext uri="{FF2B5EF4-FFF2-40B4-BE49-F238E27FC236}">
                  <a16:creationId xmlns:a16="http://schemas.microsoft.com/office/drawing/2014/main" id="{160E3E11-6ACF-6946-5F50-D599E0250E36}"/>
                </a:ext>
              </a:extLst>
            </p:cNvPr>
            <p:cNvGrpSpPr/>
            <p:nvPr/>
          </p:nvGrpSpPr>
          <p:grpSpPr>
            <a:xfrm>
              <a:off x="4048969" y="2433580"/>
              <a:ext cx="1091660" cy="1091660"/>
              <a:chOff x="1801554" y="3279818"/>
              <a:chExt cx="920199" cy="920199"/>
            </a:xfrm>
            <a:solidFill>
              <a:srgbClr val="2BB4B4"/>
            </a:solidFill>
          </p:grpSpPr>
          <p:sp>
            <p:nvSpPr>
              <p:cNvPr id="24" name="Ellipse 23">
                <a:extLst>
                  <a:ext uri="{FF2B5EF4-FFF2-40B4-BE49-F238E27FC236}">
                    <a16:creationId xmlns:a16="http://schemas.microsoft.com/office/drawing/2014/main" id="{BFB4C608-B438-D0C2-E4C8-C0F438739665}"/>
                  </a:ext>
                </a:extLst>
              </p:cNvPr>
              <p:cNvSpPr/>
              <p:nvPr/>
            </p:nvSpPr>
            <p:spPr>
              <a:xfrm rot="5400000">
                <a:off x="1801554" y="3279818"/>
                <a:ext cx="920199" cy="920199"/>
              </a:xfrm>
              <a:prstGeom prst="ellipse">
                <a:avLst/>
              </a:prstGeom>
              <a:solidFill>
                <a:schemeClr val="accent4"/>
              </a:solid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Aptos" panose="020B0004020202020204" pitchFamily="34" charset="0"/>
                </a:endParaRPr>
              </a:p>
            </p:txBody>
          </p:sp>
          <p:sp>
            <p:nvSpPr>
              <p:cNvPr id="25" name="ZoneTexte 24">
                <a:extLst>
                  <a:ext uri="{FF2B5EF4-FFF2-40B4-BE49-F238E27FC236}">
                    <a16:creationId xmlns:a16="http://schemas.microsoft.com/office/drawing/2014/main" id="{0E1B5B59-1E99-6C6C-1487-57787ADFB225}"/>
                  </a:ext>
                </a:extLst>
              </p:cNvPr>
              <p:cNvSpPr txBox="1"/>
              <p:nvPr/>
            </p:nvSpPr>
            <p:spPr>
              <a:xfrm>
                <a:off x="1841923" y="3596642"/>
                <a:ext cx="860415" cy="285379"/>
              </a:xfrm>
              <a:prstGeom prst="rect">
                <a:avLst/>
              </a:prstGeom>
              <a:solidFill>
                <a:schemeClr val="accent4"/>
              </a:solidFill>
              <a:ln>
                <a:noFill/>
              </a:ln>
            </p:spPr>
            <p:txBody>
              <a:bodyPr wrap="square" rtlCol="0">
                <a:spAutoFit/>
              </a:bodyPr>
              <a:lstStyle/>
              <a:p>
                <a:pPr algn="ctr">
                  <a:lnSpc>
                    <a:spcPct val="100000"/>
                  </a:lnSpc>
                  <a:spcBef>
                    <a:spcPts val="0"/>
                  </a:spcBef>
                </a:pPr>
                <a:r>
                  <a:rPr lang="en-GB" sz="1600" b="1" dirty="0">
                    <a:solidFill>
                      <a:schemeClr val="bg1"/>
                    </a:solidFill>
                    <a:latin typeface="Aptos" panose="020B0004020202020204" pitchFamily="34" charset="0"/>
                  </a:rPr>
                  <a:t>STEP 1</a:t>
                </a:r>
              </a:p>
            </p:txBody>
          </p:sp>
        </p:grpSp>
        <p:sp>
          <p:nvSpPr>
            <p:cNvPr id="26" name="ZoneTexte 25">
              <a:extLst>
                <a:ext uri="{FF2B5EF4-FFF2-40B4-BE49-F238E27FC236}">
                  <a16:creationId xmlns:a16="http://schemas.microsoft.com/office/drawing/2014/main" id="{542DE4E2-EB73-B923-CB65-B1681D22C787}"/>
                </a:ext>
              </a:extLst>
            </p:cNvPr>
            <p:cNvSpPr txBox="1"/>
            <p:nvPr/>
          </p:nvSpPr>
          <p:spPr>
            <a:xfrm>
              <a:off x="-849927" y="3574287"/>
              <a:ext cx="3407434" cy="369332"/>
            </a:xfrm>
            <a:prstGeom prst="rect">
              <a:avLst/>
            </a:prstGeom>
            <a:noFill/>
          </p:spPr>
          <p:txBody>
            <a:bodyPr wrap="square" rtlCol="0">
              <a:spAutoFit/>
            </a:bodyPr>
            <a:lstStyle/>
            <a:p>
              <a:pPr algn="ctr"/>
              <a:r>
                <a:rPr lang="en-US" i="1" dirty="0">
                  <a:solidFill>
                    <a:schemeClr val="tx2"/>
                  </a:solidFill>
                  <a:latin typeface="Aptos" panose="020B0004020202020204" pitchFamily="34" charset="0"/>
                </a:rPr>
                <a:t>Kick-Off</a:t>
              </a:r>
              <a:endParaRPr lang="fr-FR" i="1" dirty="0">
                <a:solidFill>
                  <a:schemeClr val="tx2"/>
                </a:solidFill>
                <a:latin typeface="Aptos" panose="020B0004020202020204" pitchFamily="34" charset="0"/>
              </a:endParaRPr>
            </a:p>
          </p:txBody>
        </p:sp>
      </p:grpSp>
      <p:grpSp>
        <p:nvGrpSpPr>
          <p:cNvPr id="40" name="Rocket2" descr="{&quot;Key&quot;:&quot;POWER_USER_SHAPE_ICON&quot;,&quot;Value&quot;:&quot;POWER_USER_SHAPE_ICON_STYLE_1&quot;}">
            <a:extLst>
              <a:ext uri="{FF2B5EF4-FFF2-40B4-BE49-F238E27FC236}">
                <a16:creationId xmlns:a16="http://schemas.microsoft.com/office/drawing/2014/main" id="{15ED104D-8038-2ABD-EE16-97739A72F639}"/>
              </a:ext>
            </a:extLst>
          </p:cNvPr>
          <p:cNvGrpSpPr>
            <a:grpSpLocks noChangeAspect="1"/>
          </p:cNvGrpSpPr>
          <p:nvPr>
            <p:custDataLst>
              <p:tags r:id="rId1"/>
            </p:custDataLst>
          </p:nvPr>
        </p:nvGrpSpPr>
        <p:grpSpPr bwMode="auto">
          <a:xfrm>
            <a:off x="384990" y="2954689"/>
            <a:ext cx="743309" cy="736600"/>
            <a:chOff x="2506" y="943"/>
            <a:chExt cx="2548" cy="2525"/>
          </a:xfrm>
          <a:solidFill>
            <a:schemeClr val="tx2"/>
          </a:solidFill>
        </p:grpSpPr>
        <p:sp>
          <p:nvSpPr>
            <p:cNvPr id="41" name="Freeform 619">
              <a:extLst>
                <a:ext uri="{FF2B5EF4-FFF2-40B4-BE49-F238E27FC236}">
                  <a16:creationId xmlns:a16="http://schemas.microsoft.com/office/drawing/2014/main" id="{DD180FFA-25D5-191E-575A-E2D0FF1CFF59}"/>
                </a:ext>
              </a:extLst>
            </p:cNvPr>
            <p:cNvSpPr>
              <a:spLocks/>
            </p:cNvSpPr>
            <p:nvPr/>
          </p:nvSpPr>
          <p:spPr bwMode="auto">
            <a:xfrm>
              <a:off x="2510" y="2410"/>
              <a:ext cx="1044" cy="1046"/>
            </a:xfrm>
            <a:custGeom>
              <a:avLst/>
              <a:gdLst>
                <a:gd name="T0" fmla="*/ 263 w 263"/>
                <a:gd name="T1" fmla="*/ 94 h 263"/>
                <a:gd name="T2" fmla="*/ 253 w 263"/>
                <a:gd name="T3" fmla="*/ 94 h 263"/>
                <a:gd name="T4" fmla="*/ 234 w 263"/>
                <a:gd name="T5" fmla="*/ 94 h 263"/>
                <a:gd name="T6" fmla="*/ 151 w 263"/>
                <a:gd name="T7" fmla="*/ 159 h 263"/>
                <a:gd name="T8" fmla="*/ 118 w 263"/>
                <a:gd name="T9" fmla="*/ 178 h 263"/>
                <a:gd name="T10" fmla="*/ 95 w 263"/>
                <a:gd name="T11" fmla="*/ 167 h 263"/>
                <a:gd name="T12" fmla="*/ 85 w 263"/>
                <a:gd name="T13" fmla="*/ 144 h 263"/>
                <a:gd name="T14" fmla="*/ 104 w 263"/>
                <a:gd name="T15" fmla="*/ 112 h 263"/>
                <a:gd name="T16" fmla="*/ 106 w 263"/>
                <a:gd name="T17" fmla="*/ 109 h 263"/>
                <a:gd name="T18" fmla="*/ 169 w 263"/>
                <a:gd name="T19" fmla="*/ 29 h 263"/>
                <a:gd name="T20" fmla="*/ 168 w 263"/>
                <a:gd name="T21" fmla="*/ 0 h 263"/>
                <a:gd name="T22" fmla="*/ 146 w 263"/>
                <a:gd name="T23" fmla="*/ 20 h 263"/>
                <a:gd name="T24" fmla="*/ 11 w 263"/>
                <a:gd name="T25" fmla="*/ 252 h 263"/>
                <a:gd name="T26" fmla="*/ 243 w 263"/>
                <a:gd name="T27" fmla="*/ 117 h 263"/>
                <a:gd name="T28" fmla="*/ 263 w 263"/>
                <a:gd name="T29" fmla="*/ 9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 h="263">
                  <a:moveTo>
                    <a:pt x="263" y="94"/>
                  </a:moveTo>
                  <a:cubicBezTo>
                    <a:pt x="259" y="94"/>
                    <a:pt x="256" y="94"/>
                    <a:pt x="253" y="94"/>
                  </a:cubicBezTo>
                  <a:cubicBezTo>
                    <a:pt x="246" y="94"/>
                    <a:pt x="240" y="94"/>
                    <a:pt x="234" y="94"/>
                  </a:cubicBezTo>
                  <a:lnTo>
                    <a:pt x="151" y="159"/>
                  </a:lnTo>
                  <a:cubicBezTo>
                    <a:pt x="142" y="168"/>
                    <a:pt x="132" y="178"/>
                    <a:pt x="118" y="178"/>
                  </a:cubicBezTo>
                  <a:cubicBezTo>
                    <a:pt x="110" y="178"/>
                    <a:pt x="102" y="174"/>
                    <a:pt x="95" y="167"/>
                  </a:cubicBezTo>
                  <a:cubicBezTo>
                    <a:pt x="88" y="160"/>
                    <a:pt x="85" y="153"/>
                    <a:pt x="85" y="144"/>
                  </a:cubicBezTo>
                  <a:cubicBezTo>
                    <a:pt x="85" y="130"/>
                    <a:pt x="95" y="121"/>
                    <a:pt x="104" y="112"/>
                  </a:cubicBezTo>
                  <a:lnTo>
                    <a:pt x="106" y="109"/>
                  </a:lnTo>
                  <a:lnTo>
                    <a:pt x="169" y="29"/>
                  </a:lnTo>
                  <a:cubicBezTo>
                    <a:pt x="168" y="20"/>
                    <a:pt x="168" y="11"/>
                    <a:pt x="168" y="0"/>
                  </a:cubicBezTo>
                  <a:cubicBezTo>
                    <a:pt x="161" y="6"/>
                    <a:pt x="154" y="12"/>
                    <a:pt x="146" y="20"/>
                  </a:cubicBezTo>
                  <a:cubicBezTo>
                    <a:pt x="62" y="104"/>
                    <a:pt x="0" y="242"/>
                    <a:pt x="11" y="252"/>
                  </a:cubicBezTo>
                  <a:cubicBezTo>
                    <a:pt x="21" y="263"/>
                    <a:pt x="158" y="201"/>
                    <a:pt x="243" y="117"/>
                  </a:cubicBezTo>
                  <a:cubicBezTo>
                    <a:pt x="251" y="109"/>
                    <a:pt x="257" y="102"/>
                    <a:pt x="263" y="9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42" name="Freeform 620">
              <a:extLst>
                <a:ext uri="{FF2B5EF4-FFF2-40B4-BE49-F238E27FC236}">
                  <a16:creationId xmlns:a16="http://schemas.microsoft.com/office/drawing/2014/main" id="{FFE0081D-EF1F-A199-3958-20A67AC450DF}"/>
                </a:ext>
              </a:extLst>
            </p:cNvPr>
            <p:cNvSpPr>
              <a:spLocks/>
            </p:cNvSpPr>
            <p:nvPr/>
          </p:nvSpPr>
          <p:spPr bwMode="auto">
            <a:xfrm>
              <a:off x="2994" y="2040"/>
              <a:ext cx="941" cy="931"/>
            </a:xfrm>
            <a:custGeom>
              <a:avLst/>
              <a:gdLst>
                <a:gd name="T0" fmla="*/ 0 w 237"/>
                <a:gd name="T1" fmla="*/ 234 h 234"/>
                <a:gd name="T2" fmla="*/ 5 w 237"/>
                <a:gd name="T3" fmla="*/ 228 h 234"/>
                <a:gd name="T4" fmla="*/ 10 w 237"/>
                <a:gd name="T5" fmla="*/ 224 h 234"/>
                <a:gd name="T6" fmla="*/ 221 w 237"/>
                <a:gd name="T7" fmla="*/ 60 h 234"/>
                <a:gd name="T8" fmla="*/ 232 w 237"/>
                <a:gd name="T9" fmla="*/ 1 h 234"/>
                <a:gd name="T10" fmla="*/ 223 w 237"/>
                <a:gd name="T11" fmla="*/ 0 h 234"/>
                <a:gd name="T12" fmla="*/ 174 w 237"/>
                <a:gd name="T13" fmla="*/ 13 h 234"/>
                <a:gd name="T14" fmla="*/ 5 w 237"/>
                <a:gd name="T15" fmla="*/ 228 h 234"/>
                <a:gd name="T16" fmla="*/ 0 w 237"/>
                <a:gd name="T17"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234">
                  <a:moveTo>
                    <a:pt x="0" y="234"/>
                  </a:moveTo>
                  <a:cubicBezTo>
                    <a:pt x="2" y="232"/>
                    <a:pt x="4" y="230"/>
                    <a:pt x="5" y="228"/>
                  </a:cubicBezTo>
                  <a:lnTo>
                    <a:pt x="10" y="224"/>
                  </a:lnTo>
                  <a:lnTo>
                    <a:pt x="221" y="60"/>
                  </a:lnTo>
                  <a:cubicBezTo>
                    <a:pt x="228" y="51"/>
                    <a:pt x="237" y="13"/>
                    <a:pt x="232" y="1"/>
                  </a:cubicBezTo>
                  <a:cubicBezTo>
                    <a:pt x="231" y="1"/>
                    <a:pt x="228" y="0"/>
                    <a:pt x="223" y="0"/>
                  </a:cubicBezTo>
                  <a:cubicBezTo>
                    <a:pt x="203" y="0"/>
                    <a:pt x="180" y="8"/>
                    <a:pt x="174" y="13"/>
                  </a:cubicBezTo>
                  <a:lnTo>
                    <a:pt x="5" y="228"/>
                  </a:lnTo>
                  <a:cubicBezTo>
                    <a:pt x="4" y="230"/>
                    <a:pt x="2" y="232"/>
                    <a:pt x="0" y="23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43" name="Freeform 621">
              <a:extLst>
                <a:ext uri="{FF2B5EF4-FFF2-40B4-BE49-F238E27FC236}">
                  <a16:creationId xmlns:a16="http://schemas.microsoft.com/office/drawing/2014/main" id="{27107ABC-A741-BE98-0CEE-78F397D7E118}"/>
                </a:ext>
              </a:extLst>
            </p:cNvPr>
            <p:cNvSpPr>
              <a:spLocks/>
            </p:cNvSpPr>
            <p:nvPr/>
          </p:nvSpPr>
          <p:spPr bwMode="auto">
            <a:xfrm>
              <a:off x="3359" y="2514"/>
              <a:ext cx="1100" cy="954"/>
            </a:xfrm>
            <a:custGeom>
              <a:avLst/>
              <a:gdLst>
                <a:gd name="T0" fmla="*/ 73 w 277"/>
                <a:gd name="T1" fmla="*/ 67 h 240"/>
                <a:gd name="T2" fmla="*/ 11 w 277"/>
                <a:gd name="T3" fmla="*/ 205 h 240"/>
                <a:gd name="T4" fmla="*/ 55 w 277"/>
                <a:gd name="T5" fmla="*/ 221 h 240"/>
                <a:gd name="T6" fmla="*/ 190 w 277"/>
                <a:gd name="T7" fmla="*/ 147 h 240"/>
                <a:gd name="T8" fmla="*/ 276 w 277"/>
                <a:gd name="T9" fmla="*/ 13 h 240"/>
                <a:gd name="T10" fmla="*/ 275 w 277"/>
                <a:gd name="T11" fmla="*/ 0 h 240"/>
                <a:gd name="T12" fmla="*/ 73 w 277"/>
                <a:gd name="T13" fmla="*/ 67 h 240"/>
              </a:gdLst>
              <a:ahLst/>
              <a:cxnLst>
                <a:cxn ang="0">
                  <a:pos x="T0" y="T1"/>
                </a:cxn>
                <a:cxn ang="0">
                  <a:pos x="T2" y="T3"/>
                </a:cxn>
                <a:cxn ang="0">
                  <a:pos x="T4" y="T5"/>
                </a:cxn>
                <a:cxn ang="0">
                  <a:pos x="T6" y="T7"/>
                </a:cxn>
                <a:cxn ang="0">
                  <a:pos x="T8" y="T9"/>
                </a:cxn>
                <a:cxn ang="0">
                  <a:pos x="T10" y="T11"/>
                </a:cxn>
                <a:cxn ang="0">
                  <a:pos x="T12" y="T13"/>
                </a:cxn>
              </a:cxnLst>
              <a:rect l="0" t="0" r="r" b="b"/>
              <a:pathLst>
                <a:path w="277" h="240">
                  <a:moveTo>
                    <a:pt x="73" y="67"/>
                  </a:moveTo>
                  <a:cubicBezTo>
                    <a:pt x="43" y="128"/>
                    <a:pt x="11" y="205"/>
                    <a:pt x="11" y="205"/>
                  </a:cubicBezTo>
                  <a:cubicBezTo>
                    <a:pt x="0" y="225"/>
                    <a:pt x="17" y="240"/>
                    <a:pt x="55" y="221"/>
                  </a:cubicBezTo>
                  <a:lnTo>
                    <a:pt x="190" y="147"/>
                  </a:lnTo>
                  <a:cubicBezTo>
                    <a:pt x="263" y="106"/>
                    <a:pt x="277" y="96"/>
                    <a:pt x="276" y="13"/>
                  </a:cubicBezTo>
                  <a:lnTo>
                    <a:pt x="275" y="0"/>
                  </a:lnTo>
                  <a:cubicBezTo>
                    <a:pt x="209" y="46"/>
                    <a:pt x="134" y="63"/>
                    <a:pt x="73" y="6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44" name="Freeform 622">
              <a:extLst>
                <a:ext uri="{FF2B5EF4-FFF2-40B4-BE49-F238E27FC236}">
                  <a16:creationId xmlns:a16="http://schemas.microsoft.com/office/drawing/2014/main" id="{9D0AE614-3BD1-EBCB-F180-4ACE62CBA9D7}"/>
                </a:ext>
              </a:extLst>
            </p:cNvPr>
            <p:cNvSpPr>
              <a:spLocks/>
            </p:cNvSpPr>
            <p:nvPr/>
          </p:nvSpPr>
          <p:spPr bwMode="auto">
            <a:xfrm>
              <a:off x="2506" y="1511"/>
              <a:ext cx="937" cy="1102"/>
            </a:xfrm>
            <a:custGeom>
              <a:avLst/>
              <a:gdLst>
                <a:gd name="T0" fmla="*/ 35 w 236"/>
                <a:gd name="T1" fmla="*/ 266 h 277"/>
                <a:gd name="T2" fmla="*/ 170 w 236"/>
                <a:gd name="T3" fmla="*/ 206 h 277"/>
                <a:gd name="T4" fmla="*/ 236 w 236"/>
                <a:gd name="T5" fmla="*/ 2 h 277"/>
                <a:gd name="T6" fmla="*/ 227 w 236"/>
                <a:gd name="T7" fmla="*/ 1 h 277"/>
                <a:gd name="T8" fmla="*/ 94 w 236"/>
                <a:gd name="T9" fmla="*/ 87 h 277"/>
                <a:gd name="T10" fmla="*/ 20 w 236"/>
                <a:gd name="T11" fmla="*/ 223 h 277"/>
                <a:gd name="T12" fmla="*/ 35 w 236"/>
                <a:gd name="T13" fmla="*/ 266 h 277"/>
              </a:gdLst>
              <a:ahLst/>
              <a:cxnLst>
                <a:cxn ang="0">
                  <a:pos x="T0" y="T1"/>
                </a:cxn>
                <a:cxn ang="0">
                  <a:pos x="T2" y="T3"/>
                </a:cxn>
                <a:cxn ang="0">
                  <a:pos x="T4" y="T5"/>
                </a:cxn>
                <a:cxn ang="0">
                  <a:pos x="T6" y="T7"/>
                </a:cxn>
                <a:cxn ang="0">
                  <a:pos x="T8" y="T9"/>
                </a:cxn>
                <a:cxn ang="0">
                  <a:pos x="T10" y="T11"/>
                </a:cxn>
                <a:cxn ang="0">
                  <a:pos x="T12" y="T13"/>
                </a:cxn>
              </a:cxnLst>
              <a:rect l="0" t="0" r="r" b="b"/>
              <a:pathLst>
                <a:path w="236" h="277">
                  <a:moveTo>
                    <a:pt x="35" y="266"/>
                  </a:moveTo>
                  <a:cubicBezTo>
                    <a:pt x="35" y="266"/>
                    <a:pt x="109" y="235"/>
                    <a:pt x="170" y="206"/>
                  </a:cubicBezTo>
                  <a:cubicBezTo>
                    <a:pt x="174" y="147"/>
                    <a:pt x="189" y="70"/>
                    <a:pt x="236" y="2"/>
                  </a:cubicBezTo>
                  <a:lnTo>
                    <a:pt x="227" y="1"/>
                  </a:lnTo>
                  <a:cubicBezTo>
                    <a:pt x="145" y="0"/>
                    <a:pt x="134" y="14"/>
                    <a:pt x="94" y="87"/>
                  </a:cubicBezTo>
                  <a:lnTo>
                    <a:pt x="20" y="223"/>
                  </a:lnTo>
                  <a:cubicBezTo>
                    <a:pt x="0" y="260"/>
                    <a:pt x="15" y="277"/>
                    <a:pt x="35" y="26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45" name="Freeform 623">
              <a:extLst>
                <a:ext uri="{FF2B5EF4-FFF2-40B4-BE49-F238E27FC236}">
                  <a16:creationId xmlns:a16="http://schemas.microsoft.com/office/drawing/2014/main" id="{2B06BC6D-B2C7-22AD-B800-87E29B677D65}"/>
                </a:ext>
              </a:extLst>
            </p:cNvPr>
            <p:cNvSpPr>
              <a:spLocks noEditPoints="1"/>
            </p:cNvSpPr>
            <p:nvPr/>
          </p:nvSpPr>
          <p:spPr bwMode="auto">
            <a:xfrm>
              <a:off x="3316" y="943"/>
              <a:ext cx="1738" cy="1706"/>
            </a:xfrm>
            <a:custGeom>
              <a:avLst/>
              <a:gdLst>
                <a:gd name="T0" fmla="*/ 367 w 438"/>
                <a:gd name="T1" fmla="*/ 111 h 429"/>
                <a:gd name="T2" fmla="*/ 320 w 438"/>
                <a:gd name="T3" fmla="*/ 111 h 429"/>
                <a:gd name="T4" fmla="*/ 320 w 438"/>
                <a:gd name="T5" fmla="*/ 64 h 429"/>
                <a:gd name="T6" fmla="*/ 367 w 438"/>
                <a:gd name="T7" fmla="*/ 64 h 429"/>
                <a:gd name="T8" fmla="*/ 367 w 438"/>
                <a:gd name="T9" fmla="*/ 111 h 429"/>
                <a:gd name="T10" fmla="*/ 296 w 438"/>
                <a:gd name="T11" fmla="*/ 229 h 429"/>
                <a:gd name="T12" fmla="*/ 202 w 438"/>
                <a:gd name="T13" fmla="*/ 229 h 429"/>
                <a:gd name="T14" fmla="*/ 202 w 438"/>
                <a:gd name="T15" fmla="*/ 135 h 429"/>
                <a:gd name="T16" fmla="*/ 296 w 438"/>
                <a:gd name="T17" fmla="*/ 135 h 429"/>
                <a:gd name="T18" fmla="*/ 296 w 438"/>
                <a:gd name="T19" fmla="*/ 229 h 429"/>
                <a:gd name="T20" fmla="*/ 383 w 438"/>
                <a:gd name="T21" fmla="*/ 0 h 429"/>
                <a:gd name="T22" fmla="*/ 93 w 438"/>
                <a:gd name="T23" fmla="*/ 124 h 429"/>
                <a:gd name="T24" fmla="*/ 0 w 438"/>
                <a:gd name="T25" fmla="*/ 354 h 429"/>
                <a:gd name="T26" fmla="*/ 69 w 438"/>
                <a:gd name="T27" fmla="*/ 265 h 429"/>
                <a:gd name="T28" fmla="*/ 142 w 438"/>
                <a:gd name="T29" fmla="*/ 243 h 429"/>
                <a:gd name="T30" fmla="*/ 175 w 438"/>
                <a:gd name="T31" fmla="*/ 254 h 429"/>
                <a:gd name="T32" fmla="*/ 163 w 438"/>
                <a:gd name="T33" fmla="*/ 360 h 429"/>
                <a:gd name="T34" fmla="*/ 162 w 438"/>
                <a:gd name="T35" fmla="*/ 361 h 429"/>
                <a:gd name="T36" fmla="*/ 74 w 438"/>
                <a:gd name="T37" fmla="*/ 429 h 429"/>
                <a:gd name="T38" fmla="*/ 304 w 438"/>
                <a:gd name="T39" fmla="*/ 336 h 429"/>
                <a:gd name="T40" fmla="*/ 422 w 438"/>
                <a:gd name="T41" fmla="*/ 6 h 429"/>
                <a:gd name="T42" fmla="*/ 383 w 438"/>
                <a:gd name="T43" fmla="*/ 0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8" h="429">
                  <a:moveTo>
                    <a:pt x="367" y="111"/>
                  </a:moveTo>
                  <a:cubicBezTo>
                    <a:pt x="354" y="124"/>
                    <a:pt x="333" y="124"/>
                    <a:pt x="320" y="111"/>
                  </a:cubicBezTo>
                  <a:cubicBezTo>
                    <a:pt x="307" y="98"/>
                    <a:pt x="307" y="77"/>
                    <a:pt x="320" y="64"/>
                  </a:cubicBezTo>
                  <a:cubicBezTo>
                    <a:pt x="333" y="51"/>
                    <a:pt x="354" y="51"/>
                    <a:pt x="367" y="64"/>
                  </a:cubicBezTo>
                  <a:cubicBezTo>
                    <a:pt x="380" y="77"/>
                    <a:pt x="380" y="98"/>
                    <a:pt x="367" y="111"/>
                  </a:cubicBezTo>
                  <a:close/>
                  <a:moveTo>
                    <a:pt x="296" y="229"/>
                  </a:moveTo>
                  <a:cubicBezTo>
                    <a:pt x="270" y="255"/>
                    <a:pt x="228" y="255"/>
                    <a:pt x="202" y="229"/>
                  </a:cubicBezTo>
                  <a:cubicBezTo>
                    <a:pt x="176" y="203"/>
                    <a:pt x="176" y="161"/>
                    <a:pt x="202" y="135"/>
                  </a:cubicBezTo>
                  <a:cubicBezTo>
                    <a:pt x="228" y="109"/>
                    <a:pt x="270" y="109"/>
                    <a:pt x="296" y="135"/>
                  </a:cubicBezTo>
                  <a:cubicBezTo>
                    <a:pt x="322" y="161"/>
                    <a:pt x="322" y="203"/>
                    <a:pt x="296" y="229"/>
                  </a:cubicBezTo>
                  <a:close/>
                  <a:moveTo>
                    <a:pt x="383" y="0"/>
                  </a:moveTo>
                  <a:cubicBezTo>
                    <a:pt x="303" y="0"/>
                    <a:pt x="178" y="39"/>
                    <a:pt x="93" y="124"/>
                  </a:cubicBezTo>
                  <a:cubicBezTo>
                    <a:pt x="22" y="195"/>
                    <a:pt x="3" y="288"/>
                    <a:pt x="0" y="354"/>
                  </a:cubicBezTo>
                  <a:lnTo>
                    <a:pt x="69" y="265"/>
                  </a:lnTo>
                  <a:cubicBezTo>
                    <a:pt x="82" y="252"/>
                    <a:pt x="117" y="243"/>
                    <a:pt x="142" y="243"/>
                  </a:cubicBezTo>
                  <a:cubicBezTo>
                    <a:pt x="157" y="243"/>
                    <a:pt x="168" y="247"/>
                    <a:pt x="175" y="254"/>
                  </a:cubicBezTo>
                  <a:cubicBezTo>
                    <a:pt x="197" y="276"/>
                    <a:pt x="180" y="343"/>
                    <a:pt x="163" y="360"/>
                  </a:cubicBezTo>
                  <a:lnTo>
                    <a:pt x="162" y="361"/>
                  </a:lnTo>
                  <a:lnTo>
                    <a:pt x="74" y="429"/>
                  </a:lnTo>
                  <a:cubicBezTo>
                    <a:pt x="145" y="426"/>
                    <a:pt x="235" y="405"/>
                    <a:pt x="304" y="336"/>
                  </a:cubicBezTo>
                  <a:cubicBezTo>
                    <a:pt x="431" y="210"/>
                    <a:pt x="438" y="26"/>
                    <a:pt x="422" y="6"/>
                  </a:cubicBezTo>
                  <a:cubicBezTo>
                    <a:pt x="421" y="5"/>
                    <a:pt x="410" y="0"/>
                    <a:pt x="383"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0B0004020202020204" pitchFamily="34" charset="0"/>
              </a:endParaRPr>
            </a:p>
          </p:txBody>
        </p:sp>
      </p:grpSp>
      <p:sp>
        <p:nvSpPr>
          <p:cNvPr id="46" name="ZoneTexte 45">
            <a:extLst>
              <a:ext uri="{FF2B5EF4-FFF2-40B4-BE49-F238E27FC236}">
                <a16:creationId xmlns:a16="http://schemas.microsoft.com/office/drawing/2014/main" id="{411E0C02-A61C-8801-B144-8903CA2BC4FD}"/>
              </a:ext>
            </a:extLst>
          </p:cNvPr>
          <p:cNvSpPr txBox="1"/>
          <p:nvPr/>
        </p:nvSpPr>
        <p:spPr>
          <a:xfrm>
            <a:off x="10003821" y="4117312"/>
            <a:ext cx="2316420" cy="369332"/>
          </a:xfrm>
          <a:prstGeom prst="rect">
            <a:avLst/>
          </a:prstGeom>
          <a:noFill/>
        </p:spPr>
        <p:txBody>
          <a:bodyPr wrap="square" rtlCol="0">
            <a:spAutoFit/>
          </a:bodyPr>
          <a:lstStyle/>
          <a:p>
            <a:r>
              <a:rPr lang="fr-FR" dirty="0">
                <a:solidFill>
                  <a:schemeClr val="accent5"/>
                </a:solidFill>
                <a:latin typeface="Aptos" panose="020B0004020202020204" pitchFamily="34" charset="0"/>
              </a:rPr>
              <a:t>Recommandations</a:t>
            </a:r>
          </a:p>
        </p:txBody>
      </p:sp>
      <p:sp>
        <p:nvSpPr>
          <p:cNvPr id="4" name="Ellipse 3">
            <a:extLst>
              <a:ext uri="{FF2B5EF4-FFF2-40B4-BE49-F238E27FC236}">
                <a16:creationId xmlns:a16="http://schemas.microsoft.com/office/drawing/2014/main" id="{7E42939D-2B93-3AB5-7345-EC9EE85F60A2}"/>
              </a:ext>
            </a:extLst>
          </p:cNvPr>
          <p:cNvSpPr/>
          <p:nvPr/>
        </p:nvSpPr>
        <p:spPr>
          <a:xfrm rot="5400000">
            <a:off x="7474513" y="2818018"/>
            <a:ext cx="1091660" cy="1091660"/>
          </a:xfrm>
          <a:prstGeom prst="ellipse">
            <a:avLst/>
          </a:prstGeom>
          <a:solidFill>
            <a:schemeClr val="accent2"/>
          </a:solid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Aptos" panose="020B0004020202020204" pitchFamily="34" charset="0"/>
            </a:endParaRPr>
          </a:p>
        </p:txBody>
      </p:sp>
      <p:sp>
        <p:nvSpPr>
          <p:cNvPr id="6" name="ZoneTexte 5">
            <a:extLst>
              <a:ext uri="{FF2B5EF4-FFF2-40B4-BE49-F238E27FC236}">
                <a16:creationId xmlns:a16="http://schemas.microsoft.com/office/drawing/2014/main" id="{53FEC986-0E10-137C-B129-9C45940D37DF}"/>
              </a:ext>
            </a:extLst>
          </p:cNvPr>
          <p:cNvSpPr txBox="1"/>
          <p:nvPr/>
        </p:nvSpPr>
        <p:spPr>
          <a:xfrm>
            <a:off x="7500899" y="3170631"/>
            <a:ext cx="1020736" cy="338554"/>
          </a:xfrm>
          <a:prstGeom prst="rect">
            <a:avLst/>
          </a:prstGeom>
          <a:solidFill>
            <a:schemeClr val="accent2"/>
          </a:solidFill>
          <a:ln>
            <a:noFill/>
          </a:ln>
        </p:spPr>
        <p:txBody>
          <a:bodyPr wrap="square" rtlCol="0">
            <a:spAutoFit/>
          </a:bodyPr>
          <a:lstStyle/>
          <a:p>
            <a:pPr algn="ctr">
              <a:lnSpc>
                <a:spcPct val="100000"/>
              </a:lnSpc>
              <a:spcBef>
                <a:spcPts val="0"/>
              </a:spcBef>
            </a:pPr>
            <a:r>
              <a:rPr lang="en-GB" sz="1600" b="1" dirty="0">
                <a:solidFill>
                  <a:schemeClr val="bg1"/>
                </a:solidFill>
                <a:latin typeface="Aptos" panose="020B0004020202020204" pitchFamily="34" charset="0"/>
              </a:rPr>
              <a:t>STEP 2</a:t>
            </a:r>
          </a:p>
        </p:txBody>
      </p:sp>
      <p:sp>
        <p:nvSpPr>
          <p:cNvPr id="9" name="ZoneTexte 8">
            <a:extLst>
              <a:ext uri="{FF2B5EF4-FFF2-40B4-BE49-F238E27FC236}">
                <a16:creationId xmlns:a16="http://schemas.microsoft.com/office/drawing/2014/main" id="{FE32AEB7-4B88-5843-E163-CBF6FBA89A5C}"/>
              </a:ext>
            </a:extLst>
          </p:cNvPr>
          <p:cNvSpPr txBox="1"/>
          <p:nvPr/>
        </p:nvSpPr>
        <p:spPr>
          <a:xfrm>
            <a:off x="6772279" y="4014459"/>
            <a:ext cx="2496127" cy="923330"/>
          </a:xfrm>
          <a:prstGeom prst="rect">
            <a:avLst/>
          </a:prstGeom>
          <a:noFill/>
        </p:spPr>
        <p:txBody>
          <a:bodyPr wrap="square" rtlCol="0">
            <a:spAutoFit/>
          </a:bodyPr>
          <a:lstStyle/>
          <a:p>
            <a:pPr algn="ctr"/>
            <a:r>
              <a:rPr lang="en-US" dirty="0">
                <a:solidFill>
                  <a:schemeClr val="accent2"/>
                </a:solidFill>
                <a:latin typeface="Aptos" panose="020B0004020202020204" pitchFamily="34" charset="0"/>
              </a:rPr>
              <a:t>Deep Dive on potential methods and partners for Sanofi</a:t>
            </a:r>
            <a:endParaRPr lang="fr-FR" i="1" dirty="0">
              <a:solidFill>
                <a:schemeClr val="accent4"/>
              </a:solidFill>
              <a:latin typeface="Aptos" panose="020B0004020202020204" pitchFamily="34" charset="0"/>
            </a:endParaRPr>
          </a:p>
        </p:txBody>
      </p:sp>
    </p:spTree>
    <p:extLst>
      <p:ext uri="{BB962C8B-B14F-4D97-AF65-F5344CB8AC3E}">
        <p14:creationId xmlns:p14="http://schemas.microsoft.com/office/powerpoint/2010/main" val="650968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A96175FC-2C60-7F80-E16A-655806540A36}"/>
              </a:ext>
            </a:extLst>
          </p:cNvPr>
          <p:cNvGrpSpPr/>
          <p:nvPr/>
        </p:nvGrpSpPr>
        <p:grpSpPr>
          <a:xfrm>
            <a:off x="5744210" y="1051560"/>
            <a:ext cx="335280" cy="4879536"/>
            <a:chOff x="5947410" y="711200"/>
            <a:chExt cx="335280" cy="4879536"/>
          </a:xfrm>
        </p:grpSpPr>
        <p:cxnSp>
          <p:nvCxnSpPr>
            <p:cNvPr id="14" name="Connecteur droit 13">
              <a:extLst>
                <a:ext uri="{FF2B5EF4-FFF2-40B4-BE49-F238E27FC236}">
                  <a16:creationId xmlns:a16="http://schemas.microsoft.com/office/drawing/2014/main" id="{CD41B16E-A006-664E-8698-02EDF4FF970D}"/>
                </a:ext>
              </a:extLst>
            </p:cNvPr>
            <p:cNvCxnSpPr>
              <a:cxnSpLocks/>
            </p:cNvCxnSpPr>
            <p:nvPr/>
          </p:nvCxnSpPr>
          <p:spPr>
            <a:xfrm>
              <a:off x="6115050" y="920605"/>
              <a:ext cx="0" cy="4466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EFE9010A-8F44-D891-B26D-D0B77A114FC6}"/>
                </a:ext>
              </a:extLst>
            </p:cNvPr>
            <p:cNvSpPr/>
            <p:nvPr/>
          </p:nvSpPr>
          <p:spPr>
            <a:xfrm>
              <a:off x="5947410" y="711200"/>
              <a:ext cx="335280" cy="335280"/>
            </a:xfrm>
            <a:prstGeom prst="ellipse">
              <a:avLst/>
            </a:prstGeom>
            <a:solidFill>
              <a:schemeClr val="accent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8" name="Ellipse 7">
              <a:extLst>
                <a:ext uri="{FF2B5EF4-FFF2-40B4-BE49-F238E27FC236}">
                  <a16:creationId xmlns:a16="http://schemas.microsoft.com/office/drawing/2014/main" id="{365EC8E4-6409-C249-B649-E1369F543149}"/>
                </a:ext>
              </a:extLst>
            </p:cNvPr>
            <p:cNvSpPr/>
            <p:nvPr/>
          </p:nvSpPr>
          <p:spPr>
            <a:xfrm>
              <a:off x="5947410" y="1847264"/>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9" name="Ellipse 8">
              <a:extLst>
                <a:ext uri="{FF2B5EF4-FFF2-40B4-BE49-F238E27FC236}">
                  <a16:creationId xmlns:a16="http://schemas.microsoft.com/office/drawing/2014/main" id="{583B2123-FEF7-75E9-6BCE-2E27F9C236A9}"/>
                </a:ext>
              </a:extLst>
            </p:cNvPr>
            <p:cNvSpPr/>
            <p:nvPr/>
          </p:nvSpPr>
          <p:spPr>
            <a:xfrm>
              <a:off x="5947410" y="2983328"/>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 name="Ellipse 9">
              <a:extLst>
                <a:ext uri="{FF2B5EF4-FFF2-40B4-BE49-F238E27FC236}">
                  <a16:creationId xmlns:a16="http://schemas.microsoft.com/office/drawing/2014/main" id="{B0B94B05-CE63-1CCE-6967-01460C0E13FE}"/>
                </a:ext>
              </a:extLst>
            </p:cNvPr>
            <p:cNvSpPr/>
            <p:nvPr/>
          </p:nvSpPr>
          <p:spPr>
            <a:xfrm>
              <a:off x="5947410" y="4119392"/>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5"/>
                </a:solidFill>
              </a:endParaRPr>
            </a:p>
          </p:txBody>
        </p:sp>
        <p:sp>
          <p:nvSpPr>
            <p:cNvPr id="11" name="Ellipse 10">
              <a:extLst>
                <a:ext uri="{FF2B5EF4-FFF2-40B4-BE49-F238E27FC236}">
                  <a16:creationId xmlns:a16="http://schemas.microsoft.com/office/drawing/2014/main" id="{8D22D52D-3606-F47C-F75C-00B543A6486B}"/>
                </a:ext>
              </a:extLst>
            </p:cNvPr>
            <p:cNvSpPr/>
            <p:nvPr/>
          </p:nvSpPr>
          <p:spPr>
            <a:xfrm>
              <a:off x="5947410" y="5255456"/>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sp>
        <p:nvSpPr>
          <p:cNvPr id="16" name="ZoneTexte 15">
            <a:extLst>
              <a:ext uri="{FF2B5EF4-FFF2-40B4-BE49-F238E27FC236}">
                <a16:creationId xmlns:a16="http://schemas.microsoft.com/office/drawing/2014/main" id="{351D1227-009F-A368-24CF-A1B0792DAC26}"/>
              </a:ext>
            </a:extLst>
          </p:cNvPr>
          <p:cNvSpPr txBox="1"/>
          <p:nvPr/>
        </p:nvSpPr>
        <p:spPr>
          <a:xfrm>
            <a:off x="990601" y="2183132"/>
            <a:ext cx="4753606" cy="338554"/>
          </a:xfrm>
          <a:prstGeom prst="rect">
            <a:avLst/>
          </a:prstGeom>
          <a:noFill/>
        </p:spPr>
        <p:txBody>
          <a:bodyPr wrap="square" rtlCol="0">
            <a:spAutoFit/>
          </a:bodyPr>
          <a:lstStyle/>
          <a:p>
            <a:pPr algn="r"/>
            <a:r>
              <a:rPr lang="en-US" sz="1600" b="1" dirty="0"/>
              <a:t>Engineering with Sequence-Specific Nucleases</a:t>
            </a:r>
            <a:endParaRPr lang="en-GB" sz="1600" b="1" dirty="0"/>
          </a:p>
        </p:txBody>
      </p:sp>
      <p:sp>
        <p:nvSpPr>
          <p:cNvPr id="17" name="ZoneTexte 16">
            <a:extLst>
              <a:ext uri="{FF2B5EF4-FFF2-40B4-BE49-F238E27FC236}">
                <a16:creationId xmlns:a16="http://schemas.microsoft.com/office/drawing/2014/main" id="{CA5F0C3C-71C0-ABCE-FE1B-F71E47B1270D}"/>
              </a:ext>
            </a:extLst>
          </p:cNvPr>
          <p:cNvSpPr txBox="1"/>
          <p:nvPr/>
        </p:nvSpPr>
        <p:spPr>
          <a:xfrm>
            <a:off x="6079490" y="1048286"/>
            <a:ext cx="4089472" cy="338554"/>
          </a:xfrm>
          <a:prstGeom prst="rect">
            <a:avLst/>
          </a:prstGeom>
          <a:noFill/>
        </p:spPr>
        <p:txBody>
          <a:bodyPr wrap="square" rtlCol="0">
            <a:spAutoFit/>
          </a:bodyPr>
          <a:lstStyle/>
          <a:p>
            <a:r>
              <a:rPr lang="en-GB" sz="1600" b="1" dirty="0">
                <a:solidFill>
                  <a:schemeClr val="accent1"/>
                </a:solidFill>
              </a:rPr>
              <a:t>General introduction</a:t>
            </a:r>
          </a:p>
        </p:txBody>
      </p:sp>
      <p:sp>
        <p:nvSpPr>
          <p:cNvPr id="18" name="ZoneTexte 17">
            <a:extLst>
              <a:ext uri="{FF2B5EF4-FFF2-40B4-BE49-F238E27FC236}">
                <a16:creationId xmlns:a16="http://schemas.microsoft.com/office/drawing/2014/main" id="{345472F7-F68E-542E-6619-424829857DE6}"/>
              </a:ext>
            </a:extLst>
          </p:cNvPr>
          <p:cNvSpPr txBox="1"/>
          <p:nvPr/>
        </p:nvSpPr>
        <p:spPr>
          <a:xfrm>
            <a:off x="6079490" y="3320414"/>
            <a:ext cx="4089474" cy="338554"/>
          </a:xfrm>
          <a:prstGeom prst="rect">
            <a:avLst/>
          </a:prstGeom>
          <a:noFill/>
        </p:spPr>
        <p:txBody>
          <a:bodyPr wrap="square" rtlCol="0">
            <a:spAutoFit/>
          </a:bodyPr>
          <a:lstStyle/>
          <a:p>
            <a:r>
              <a:rPr lang="en-GB" sz="1600" b="1" dirty="0"/>
              <a:t>Engineering at Transcriptional Level</a:t>
            </a:r>
          </a:p>
        </p:txBody>
      </p:sp>
      <p:sp>
        <p:nvSpPr>
          <p:cNvPr id="19" name="ZoneTexte 18">
            <a:extLst>
              <a:ext uri="{FF2B5EF4-FFF2-40B4-BE49-F238E27FC236}">
                <a16:creationId xmlns:a16="http://schemas.microsoft.com/office/drawing/2014/main" id="{D13BD4CE-65CF-F5FD-5F9D-12EB15A8E99A}"/>
              </a:ext>
            </a:extLst>
          </p:cNvPr>
          <p:cNvSpPr txBox="1"/>
          <p:nvPr/>
        </p:nvSpPr>
        <p:spPr>
          <a:xfrm>
            <a:off x="990602" y="4471894"/>
            <a:ext cx="4753608" cy="338554"/>
          </a:xfrm>
          <a:prstGeom prst="rect">
            <a:avLst/>
          </a:prstGeom>
          <a:noFill/>
        </p:spPr>
        <p:txBody>
          <a:bodyPr wrap="square" rtlCol="0">
            <a:spAutoFit/>
          </a:bodyPr>
          <a:lstStyle/>
          <a:p>
            <a:pPr algn="r" defTabSz="914400"/>
            <a:r>
              <a:rPr lang="en-US" sz="1600" b="1" dirty="0">
                <a:ea typeface="Ebrima" pitchFamily="2" charset="0"/>
                <a:cs typeface="Arial" panose="020B0604020202020204" pitchFamily="34" charset="0"/>
              </a:rPr>
              <a:t>Engineering at Translational Level</a:t>
            </a:r>
          </a:p>
        </p:txBody>
      </p:sp>
      <p:sp>
        <p:nvSpPr>
          <p:cNvPr id="2" name="ZoneTexte 1">
            <a:extLst>
              <a:ext uri="{FF2B5EF4-FFF2-40B4-BE49-F238E27FC236}">
                <a16:creationId xmlns:a16="http://schemas.microsoft.com/office/drawing/2014/main" id="{071824E6-77CF-F2B3-286B-F282C1025DDA}"/>
              </a:ext>
            </a:extLst>
          </p:cNvPr>
          <p:cNvSpPr txBox="1"/>
          <p:nvPr/>
        </p:nvSpPr>
        <p:spPr>
          <a:xfrm>
            <a:off x="6079490" y="5595816"/>
            <a:ext cx="4089472" cy="338554"/>
          </a:xfrm>
          <a:prstGeom prst="rect">
            <a:avLst/>
          </a:prstGeom>
          <a:noFill/>
        </p:spPr>
        <p:txBody>
          <a:bodyPr wrap="square" rtlCol="0">
            <a:spAutoFit/>
          </a:bodyPr>
          <a:lstStyle/>
          <a:p>
            <a:pPr defTabSz="914400"/>
            <a:r>
              <a:rPr lang="en-US" sz="1600" b="1" dirty="0">
                <a:ea typeface="Ebrima" pitchFamily="2" charset="0"/>
                <a:cs typeface="Arial" panose="020B0604020202020204" pitchFamily="34" charset="0"/>
              </a:rPr>
              <a:t>Comparisons &amp; conclusions</a:t>
            </a:r>
          </a:p>
        </p:txBody>
      </p:sp>
      <p:sp>
        <p:nvSpPr>
          <p:cNvPr id="3" name="Rectangle 2">
            <a:extLst>
              <a:ext uri="{FF2B5EF4-FFF2-40B4-BE49-F238E27FC236}">
                <a16:creationId xmlns:a16="http://schemas.microsoft.com/office/drawing/2014/main" id="{BF9E1FC2-55AA-A377-8D39-9E4E2CD353D2}"/>
              </a:ext>
            </a:extLst>
          </p:cNvPr>
          <p:cNvSpPr/>
          <p:nvPr/>
        </p:nvSpPr>
        <p:spPr>
          <a:xfrm>
            <a:off x="555171" y="489857"/>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Pas nécessaire d’avoir les plans en double à chaque sous-partie ! </a:t>
            </a:r>
          </a:p>
        </p:txBody>
      </p:sp>
    </p:spTree>
    <p:extLst>
      <p:ext uri="{BB962C8B-B14F-4D97-AF65-F5344CB8AC3E}">
        <p14:creationId xmlns:p14="http://schemas.microsoft.com/office/powerpoint/2010/main" val="344861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D656C97-5BA7-AFA8-39E2-684922FE995C}"/>
              </a:ext>
            </a:extLst>
          </p:cNvPr>
          <p:cNvSpPr>
            <a:spLocks noGrp="1"/>
          </p:cNvSpPr>
          <p:nvPr>
            <p:ph type="title"/>
          </p:nvPr>
        </p:nvSpPr>
        <p:spPr>
          <a:xfrm>
            <a:off x="3495675" y="2167595"/>
            <a:ext cx="7858125" cy="732109"/>
          </a:xfrm>
        </p:spPr>
        <p:txBody>
          <a:bodyPr>
            <a:normAutofit fontScale="90000"/>
          </a:bodyPr>
          <a:lstStyle/>
          <a:p>
            <a:r>
              <a:rPr lang="fr-FR" b="1" dirty="0"/>
              <a:t>General Introduction</a:t>
            </a:r>
          </a:p>
        </p:txBody>
      </p:sp>
    </p:spTree>
    <p:extLst>
      <p:ext uri="{BB962C8B-B14F-4D97-AF65-F5344CB8AC3E}">
        <p14:creationId xmlns:p14="http://schemas.microsoft.com/office/powerpoint/2010/main" val="3985801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6A80F9-6FBB-A4FF-2B1E-02DEBBF91687}"/>
              </a:ext>
            </a:extLst>
          </p:cNvPr>
          <p:cNvSpPr>
            <a:spLocks noGrp="1"/>
          </p:cNvSpPr>
          <p:nvPr>
            <p:ph type="title"/>
          </p:nvPr>
        </p:nvSpPr>
        <p:spPr/>
        <p:txBody>
          <a:bodyPr/>
          <a:lstStyle/>
          <a:p>
            <a:r>
              <a:rPr lang="fr-FR" dirty="0"/>
              <a:t>Investigation </a:t>
            </a:r>
            <a:r>
              <a:rPr lang="fr-FR" dirty="0" err="1"/>
              <a:t>carried</a:t>
            </a:r>
            <a:r>
              <a:rPr lang="fr-FR" dirty="0"/>
              <a:t> out</a:t>
            </a:r>
          </a:p>
        </p:txBody>
      </p:sp>
      <p:sp>
        <p:nvSpPr>
          <p:cNvPr id="4" name="Espace réservé du texte 3">
            <a:extLst>
              <a:ext uri="{FF2B5EF4-FFF2-40B4-BE49-F238E27FC236}">
                <a16:creationId xmlns:a16="http://schemas.microsoft.com/office/drawing/2014/main" id="{0EE67E10-D0C2-9C05-2151-186027DB00B4}"/>
              </a:ext>
            </a:extLst>
          </p:cNvPr>
          <p:cNvSpPr>
            <a:spLocks noGrp="1"/>
          </p:cNvSpPr>
          <p:nvPr>
            <p:ph type="body" sz="quarter" idx="15"/>
          </p:nvPr>
        </p:nvSpPr>
        <p:spPr/>
        <p:txBody>
          <a:bodyPr/>
          <a:lstStyle/>
          <a:p>
            <a:endParaRPr lang="fr-FR"/>
          </a:p>
        </p:txBody>
      </p:sp>
      <p:sp>
        <p:nvSpPr>
          <p:cNvPr id="5" name="Rectangle: Rounded Corners 4">
            <a:extLst>
              <a:ext uri="{FF2B5EF4-FFF2-40B4-BE49-F238E27FC236}">
                <a16:creationId xmlns:a16="http://schemas.microsoft.com/office/drawing/2014/main" id="{318DF5D7-3DD9-5375-E71C-73E7CB0A3C8B}"/>
              </a:ext>
            </a:extLst>
          </p:cNvPr>
          <p:cNvSpPr/>
          <p:nvPr/>
        </p:nvSpPr>
        <p:spPr>
          <a:xfrm>
            <a:off x="7513077" y="3129450"/>
            <a:ext cx="1494224" cy="299550"/>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defTabSz="592652">
              <a:lnSpc>
                <a:spcPct val="90000"/>
              </a:lnSpc>
              <a:spcBef>
                <a:spcPct val="0"/>
              </a:spcBef>
              <a:spcAft>
                <a:spcPct val="15000"/>
              </a:spcAft>
            </a:pPr>
            <a:r>
              <a:rPr lang="en-US" sz="1250" dirty="0">
                <a:solidFill>
                  <a:schemeClr val="tx1"/>
                </a:solidFill>
              </a:rPr>
              <a:t>4 Marketed drugs</a:t>
            </a:r>
          </a:p>
        </p:txBody>
      </p:sp>
      <p:sp>
        <p:nvSpPr>
          <p:cNvPr id="6" name="Rectangle: Rounded Corners 5">
            <a:extLst>
              <a:ext uri="{FF2B5EF4-FFF2-40B4-BE49-F238E27FC236}">
                <a16:creationId xmlns:a16="http://schemas.microsoft.com/office/drawing/2014/main" id="{244FD61E-3C57-C927-75CB-D268109FF41D}"/>
              </a:ext>
            </a:extLst>
          </p:cNvPr>
          <p:cNvSpPr/>
          <p:nvPr/>
        </p:nvSpPr>
        <p:spPr>
          <a:xfrm>
            <a:off x="9081452" y="3126013"/>
            <a:ext cx="2500798" cy="299551"/>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defTabSz="592652">
              <a:lnSpc>
                <a:spcPct val="90000"/>
              </a:lnSpc>
              <a:spcBef>
                <a:spcPct val="0"/>
              </a:spcBef>
              <a:spcAft>
                <a:spcPct val="15000"/>
              </a:spcAft>
            </a:pPr>
            <a:r>
              <a:rPr lang="en-US" sz="1250" dirty="0">
                <a:solidFill>
                  <a:schemeClr val="tx1"/>
                </a:solidFill>
              </a:rPr>
              <a:t>14 drugs in Phase III or Phase II</a:t>
            </a:r>
          </a:p>
        </p:txBody>
      </p:sp>
      <p:sp>
        <p:nvSpPr>
          <p:cNvPr id="7" name="Rectangle: Rounded Corners 6">
            <a:extLst>
              <a:ext uri="{FF2B5EF4-FFF2-40B4-BE49-F238E27FC236}">
                <a16:creationId xmlns:a16="http://schemas.microsoft.com/office/drawing/2014/main" id="{F2B7B841-398E-C46B-0EDD-6C7FB6752C4B}"/>
              </a:ext>
            </a:extLst>
          </p:cNvPr>
          <p:cNvSpPr/>
          <p:nvPr/>
        </p:nvSpPr>
        <p:spPr>
          <a:xfrm>
            <a:off x="7513076" y="3500407"/>
            <a:ext cx="4069173" cy="444270"/>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defTabSz="592652">
              <a:lnSpc>
                <a:spcPct val="90000"/>
              </a:lnSpc>
              <a:spcBef>
                <a:spcPct val="0"/>
              </a:spcBef>
              <a:spcAft>
                <a:spcPct val="15000"/>
              </a:spcAft>
            </a:pPr>
            <a:r>
              <a:rPr lang="en-US" sz="1250" dirty="0">
                <a:solidFill>
                  <a:schemeClr val="tx1"/>
                </a:solidFill>
              </a:rPr>
              <a:t>21 drugs in Phase I or Preclinical or Pre-registration or IND/CTA Filled or Discovery</a:t>
            </a:r>
          </a:p>
        </p:txBody>
      </p:sp>
      <p:sp>
        <p:nvSpPr>
          <p:cNvPr id="8" name="ZoneTexte 13">
            <a:extLst>
              <a:ext uri="{FF2B5EF4-FFF2-40B4-BE49-F238E27FC236}">
                <a16:creationId xmlns:a16="http://schemas.microsoft.com/office/drawing/2014/main" id="{851B2682-9E71-3B04-511F-D8DBB4C9C44A}"/>
              </a:ext>
            </a:extLst>
          </p:cNvPr>
          <p:cNvSpPr txBox="1"/>
          <p:nvPr/>
        </p:nvSpPr>
        <p:spPr>
          <a:xfrm>
            <a:off x="5252532" y="2579784"/>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rPr>
              <a:t>56</a:t>
            </a:r>
          </a:p>
        </p:txBody>
      </p:sp>
      <p:sp>
        <p:nvSpPr>
          <p:cNvPr id="9" name="ZoneTexte 13">
            <a:extLst>
              <a:ext uri="{FF2B5EF4-FFF2-40B4-BE49-F238E27FC236}">
                <a16:creationId xmlns:a16="http://schemas.microsoft.com/office/drawing/2014/main" id="{07170D39-CD8D-8EC8-709C-06FC3C5AB5C2}"/>
              </a:ext>
            </a:extLst>
          </p:cNvPr>
          <p:cNvSpPr txBox="1"/>
          <p:nvPr/>
        </p:nvSpPr>
        <p:spPr>
          <a:xfrm>
            <a:off x="5252532" y="3244420"/>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39</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10" name="Arrow: Curved Right 73">
            <a:extLst>
              <a:ext uri="{FF2B5EF4-FFF2-40B4-BE49-F238E27FC236}">
                <a16:creationId xmlns:a16="http://schemas.microsoft.com/office/drawing/2014/main" id="{81F0656D-3CBD-0E6C-DA38-1D197D27748A}"/>
              </a:ext>
            </a:extLst>
          </p:cNvPr>
          <p:cNvSpPr/>
          <p:nvPr/>
        </p:nvSpPr>
        <p:spPr>
          <a:xfrm rot="20384864">
            <a:off x="4006322" y="2754189"/>
            <a:ext cx="390114" cy="1037690"/>
          </a:xfrm>
          <a:prstGeom prst="curvedRightArrow">
            <a:avLst>
              <a:gd name="adj1" fmla="val 21487"/>
              <a:gd name="adj2" fmla="val 60477"/>
              <a:gd name="adj3" fmla="val 2152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Rounded Corners 74">
            <a:extLst>
              <a:ext uri="{FF2B5EF4-FFF2-40B4-BE49-F238E27FC236}">
                <a16:creationId xmlns:a16="http://schemas.microsoft.com/office/drawing/2014/main" id="{ED45D92F-7FAD-D12B-D2E6-3E5A7912AB02}"/>
              </a:ext>
            </a:extLst>
          </p:cNvPr>
          <p:cNvSpPr/>
          <p:nvPr/>
        </p:nvSpPr>
        <p:spPr>
          <a:xfrm>
            <a:off x="937450" y="2420344"/>
            <a:ext cx="2867645" cy="1288909"/>
          </a:xfrm>
          <a:prstGeom prst="roundRect">
            <a:avLst/>
          </a:prstGeom>
          <a:no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defTabSz="592652">
              <a:lnSpc>
                <a:spcPct val="90000"/>
              </a:lnSpc>
              <a:spcBef>
                <a:spcPct val="0"/>
              </a:spcBef>
              <a:spcAft>
                <a:spcPct val="15000"/>
              </a:spcAft>
            </a:pPr>
            <a:r>
              <a:rPr lang="en-US" sz="1300" b="1" dirty="0">
                <a:solidFill>
                  <a:schemeClr val="tx1"/>
                </a:solidFill>
              </a:rPr>
              <a:t>Exclusion </a:t>
            </a:r>
            <a:r>
              <a:rPr lang="en-US" sz="1300" dirty="0">
                <a:solidFill>
                  <a:schemeClr val="tx1"/>
                </a:solidFill>
              </a:rPr>
              <a:t>of development stages:</a:t>
            </a:r>
          </a:p>
          <a:p>
            <a:pPr marL="285750" lvl="1" indent="-285750" defTabSz="592652">
              <a:lnSpc>
                <a:spcPct val="90000"/>
              </a:lnSpc>
              <a:spcBef>
                <a:spcPct val="0"/>
              </a:spcBef>
              <a:spcAft>
                <a:spcPct val="15000"/>
              </a:spcAft>
              <a:buFont typeface="Arial" panose="020B0604020202020204" pitchFamily="34" charset="0"/>
              <a:buChar char="•"/>
            </a:pPr>
            <a:r>
              <a:rPr lang="en-US" sz="1300" dirty="0">
                <a:solidFill>
                  <a:schemeClr val="tx1"/>
                </a:solidFill>
              </a:rPr>
              <a:t>Inactive</a:t>
            </a:r>
          </a:p>
          <a:p>
            <a:pPr marL="285750" lvl="1" indent="-285750" defTabSz="592652">
              <a:lnSpc>
                <a:spcPct val="90000"/>
              </a:lnSpc>
              <a:spcBef>
                <a:spcPct val="0"/>
              </a:spcBef>
              <a:spcAft>
                <a:spcPct val="15000"/>
              </a:spcAft>
              <a:buFont typeface="Arial" panose="020B0604020202020204" pitchFamily="34" charset="0"/>
              <a:buChar char="•"/>
            </a:pPr>
            <a:r>
              <a:rPr lang="en-US" sz="1300" dirty="0">
                <a:solidFill>
                  <a:schemeClr val="tx1"/>
                </a:solidFill>
              </a:rPr>
              <a:t>Filling rejected / Withdrawn</a:t>
            </a:r>
          </a:p>
          <a:p>
            <a:pPr marL="285750" lvl="1" indent="-285750" defTabSz="592652">
              <a:lnSpc>
                <a:spcPct val="90000"/>
              </a:lnSpc>
              <a:spcBef>
                <a:spcPct val="0"/>
              </a:spcBef>
              <a:spcAft>
                <a:spcPct val="15000"/>
              </a:spcAft>
              <a:buFont typeface="Arial" panose="020B0604020202020204" pitchFamily="34" charset="0"/>
              <a:buChar char="•"/>
            </a:pPr>
            <a:r>
              <a:rPr lang="en-US" sz="1300" dirty="0">
                <a:solidFill>
                  <a:schemeClr val="tx1"/>
                </a:solidFill>
              </a:rPr>
              <a:t>Discontinued</a:t>
            </a:r>
          </a:p>
        </p:txBody>
      </p:sp>
      <p:sp>
        <p:nvSpPr>
          <p:cNvPr id="12" name="Isosceles Triangle 76">
            <a:extLst>
              <a:ext uri="{FF2B5EF4-FFF2-40B4-BE49-F238E27FC236}">
                <a16:creationId xmlns:a16="http://schemas.microsoft.com/office/drawing/2014/main" id="{F76CD437-0FF6-561F-FDFB-394C9C6DC090}"/>
              </a:ext>
            </a:extLst>
          </p:cNvPr>
          <p:cNvSpPr/>
          <p:nvPr/>
        </p:nvSpPr>
        <p:spPr>
          <a:xfrm rot="16200000">
            <a:off x="6899809" y="3422849"/>
            <a:ext cx="823957" cy="219698"/>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ZoneTexte 13">
            <a:extLst>
              <a:ext uri="{FF2B5EF4-FFF2-40B4-BE49-F238E27FC236}">
                <a16:creationId xmlns:a16="http://schemas.microsoft.com/office/drawing/2014/main" id="{F0034B72-8DAF-2375-CC63-D851CC7F02A8}"/>
              </a:ext>
            </a:extLst>
          </p:cNvPr>
          <p:cNvSpPr txBox="1"/>
          <p:nvPr/>
        </p:nvSpPr>
        <p:spPr>
          <a:xfrm>
            <a:off x="5252532" y="3908851"/>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20</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14" name="ZoneTexte 13">
            <a:extLst>
              <a:ext uri="{FF2B5EF4-FFF2-40B4-BE49-F238E27FC236}">
                <a16:creationId xmlns:a16="http://schemas.microsoft.com/office/drawing/2014/main" id="{43C4F36F-8958-A317-8959-1ED7270BF04A}"/>
              </a:ext>
            </a:extLst>
          </p:cNvPr>
          <p:cNvSpPr txBox="1"/>
          <p:nvPr/>
        </p:nvSpPr>
        <p:spPr>
          <a:xfrm>
            <a:off x="4990262" y="4642520"/>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12</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15" name="Rectangle: Rounded Corners 82">
            <a:extLst>
              <a:ext uri="{FF2B5EF4-FFF2-40B4-BE49-F238E27FC236}">
                <a16:creationId xmlns:a16="http://schemas.microsoft.com/office/drawing/2014/main" id="{DD683190-9E98-D4D3-6547-D383CE96F75D}"/>
              </a:ext>
            </a:extLst>
          </p:cNvPr>
          <p:cNvSpPr/>
          <p:nvPr/>
        </p:nvSpPr>
        <p:spPr>
          <a:xfrm>
            <a:off x="7505041" y="4051689"/>
            <a:ext cx="4119337" cy="444270"/>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1" indent="-285750" defTabSz="592652">
              <a:lnSpc>
                <a:spcPct val="90000"/>
              </a:lnSpc>
              <a:spcBef>
                <a:spcPct val="0"/>
              </a:spcBef>
              <a:spcAft>
                <a:spcPct val="15000"/>
              </a:spcAft>
              <a:buFont typeface="Arial" panose="020B0604020202020204" pitchFamily="34" charset="0"/>
              <a:buChar char="•"/>
            </a:pPr>
            <a:r>
              <a:rPr lang="en-US" sz="1250" dirty="0">
                <a:solidFill>
                  <a:schemeClr val="tx1"/>
                </a:solidFill>
              </a:rPr>
              <a:t>Including 26 drugs already identified by BI</a:t>
            </a:r>
          </a:p>
          <a:p>
            <a:pPr marL="285750" lvl="1" indent="-285750" defTabSz="592652">
              <a:lnSpc>
                <a:spcPct val="90000"/>
              </a:lnSpc>
              <a:spcBef>
                <a:spcPct val="0"/>
              </a:spcBef>
              <a:spcAft>
                <a:spcPct val="15000"/>
              </a:spcAft>
              <a:buFont typeface="Arial" panose="020B0604020202020204" pitchFamily="34" charset="0"/>
              <a:buChar char="•"/>
            </a:pPr>
            <a:r>
              <a:rPr lang="en-US" sz="1250" dirty="0">
                <a:solidFill>
                  <a:schemeClr val="tx1"/>
                </a:solidFill>
              </a:rPr>
              <a:t>Including 13 drugs discovered by </a:t>
            </a:r>
            <a:r>
              <a:rPr lang="en-US" sz="1250" dirty="0" err="1">
                <a:solidFill>
                  <a:schemeClr val="tx1"/>
                </a:solidFill>
              </a:rPr>
              <a:t>Alcimed</a:t>
            </a:r>
            <a:endParaRPr lang="en-US" sz="1250" dirty="0">
              <a:solidFill>
                <a:schemeClr val="tx1"/>
              </a:solidFill>
            </a:endParaRPr>
          </a:p>
        </p:txBody>
      </p:sp>
      <p:sp>
        <p:nvSpPr>
          <p:cNvPr id="16" name="Isosceles Triangle 83">
            <a:extLst>
              <a:ext uri="{FF2B5EF4-FFF2-40B4-BE49-F238E27FC236}">
                <a16:creationId xmlns:a16="http://schemas.microsoft.com/office/drawing/2014/main" id="{1E7951B1-8BF6-E729-4731-5D1C83E08FCD}"/>
              </a:ext>
            </a:extLst>
          </p:cNvPr>
          <p:cNvSpPr/>
          <p:nvPr/>
        </p:nvSpPr>
        <p:spPr>
          <a:xfrm rot="16200000">
            <a:off x="4432405" y="4125183"/>
            <a:ext cx="444270" cy="220212"/>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84">
            <a:extLst>
              <a:ext uri="{FF2B5EF4-FFF2-40B4-BE49-F238E27FC236}">
                <a16:creationId xmlns:a16="http://schemas.microsoft.com/office/drawing/2014/main" id="{FE9E0B1C-D8EC-8BC4-6291-26DD134E2023}"/>
              </a:ext>
            </a:extLst>
          </p:cNvPr>
          <p:cNvSpPr/>
          <p:nvPr/>
        </p:nvSpPr>
        <p:spPr>
          <a:xfrm>
            <a:off x="7819820" y="2504855"/>
            <a:ext cx="3762429" cy="444270"/>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bg1"/>
                </a:solidFill>
                <a:effectLst/>
                <a:uLnTx/>
                <a:uFillTx/>
                <a:latin typeface="Arial" panose="020B0604020202020204"/>
                <a:ea typeface="+mn-ea"/>
                <a:cs typeface="+mn-cs"/>
              </a:rPr>
              <a:t>Drugs identified – Jak1/Not Jak2 inhibitors</a:t>
            </a:r>
          </a:p>
        </p:txBody>
      </p:sp>
      <p:sp>
        <p:nvSpPr>
          <p:cNvPr id="18" name="Isosceles Triangle 85">
            <a:extLst>
              <a:ext uri="{FF2B5EF4-FFF2-40B4-BE49-F238E27FC236}">
                <a16:creationId xmlns:a16="http://schemas.microsoft.com/office/drawing/2014/main" id="{8C293724-5B6A-8F43-B47E-57DA1726FDE9}"/>
              </a:ext>
            </a:extLst>
          </p:cNvPr>
          <p:cNvSpPr/>
          <p:nvPr/>
        </p:nvSpPr>
        <p:spPr>
          <a:xfrm rot="16200000">
            <a:off x="7393012" y="2616884"/>
            <a:ext cx="444270" cy="220212"/>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87">
            <a:extLst>
              <a:ext uri="{FF2B5EF4-FFF2-40B4-BE49-F238E27FC236}">
                <a16:creationId xmlns:a16="http://schemas.microsoft.com/office/drawing/2014/main" id="{F7940B5E-C858-F6C5-C6F1-E803D1427137}"/>
              </a:ext>
            </a:extLst>
          </p:cNvPr>
          <p:cNvSpPr/>
          <p:nvPr/>
        </p:nvSpPr>
        <p:spPr>
          <a:xfrm>
            <a:off x="1331843" y="4590196"/>
            <a:ext cx="3232135" cy="681865"/>
          </a:xfrm>
          <a:prstGeom prst="roundRect">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algn="ctr" defTabSz="592652">
              <a:lnSpc>
                <a:spcPct val="90000"/>
              </a:lnSpc>
              <a:spcBef>
                <a:spcPct val="0"/>
              </a:spcBef>
              <a:spcAft>
                <a:spcPct val="15000"/>
              </a:spcAft>
            </a:pPr>
            <a:r>
              <a:rPr lang="en-US" sz="1300" dirty="0">
                <a:solidFill>
                  <a:schemeClr val="bg1"/>
                </a:solidFill>
              </a:rPr>
              <a:t>Prioritization through the workshop of the 9</a:t>
            </a:r>
            <a:r>
              <a:rPr lang="en-US" sz="1300" baseline="30000" dirty="0">
                <a:solidFill>
                  <a:schemeClr val="bg1"/>
                </a:solidFill>
              </a:rPr>
              <a:t>th</a:t>
            </a:r>
            <a:r>
              <a:rPr lang="en-US" sz="1300" dirty="0">
                <a:solidFill>
                  <a:schemeClr val="bg1"/>
                </a:solidFill>
              </a:rPr>
              <a:t> February 2024.</a:t>
            </a:r>
          </a:p>
        </p:txBody>
      </p:sp>
      <p:sp>
        <p:nvSpPr>
          <p:cNvPr id="20" name="Rectangle: Rounded Corners 1">
            <a:extLst>
              <a:ext uri="{FF2B5EF4-FFF2-40B4-BE49-F238E27FC236}">
                <a16:creationId xmlns:a16="http://schemas.microsoft.com/office/drawing/2014/main" id="{FE7A8220-99D9-718A-82E3-FB3A9C15549A}"/>
              </a:ext>
            </a:extLst>
          </p:cNvPr>
          <p:cNvSpPr/>
          <p:nvPr/>
        </p:nvSpPr>
        <p:spPr>
          <a:xfrm>
            <a:off x="1331844" y="4013154"/>
            <a:ext cx="3005906" cy="444270"/>
          </a:xfrm>
          <a:prstGeom prst="roundRect">
            <a:avLst/>
          </a:prstGeom>
          <a:solidFill>
            <a:schemeClr val="accent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defTabSz="592652">
              <a:lnSpc>
                <a:spcPct val="90000"/>
              </a:lnSpc>
              <a:spcBef>
                <a:spcPct val="0"/>
              </a:spcBef>
              <a:spcAft>
                <a:spcPct val="15000"/>
              </a:spcAft>
            </a:pPr>
            <a:r>
              <a:rPr lang="en-US" sz="1250" dirty="0">
                <a:solidFill>
                  <a:schemeClr val="bg1"/>
                </a:solidFill>
              </a:rPr>
              <a:t>First pre-selection of potential drugs of interest</a:t>
            </a:r>
          </a:p>
        </p:txBody>
      </p:sp>
      <p:sp>
        <p:nvSpPr>
          <p:cNvPr id="21" name="Isosceles Triangle 2">
            <a:extLst>
              <a:ext uri="{FF2B5EF4-FFF2-40B4-BE49-F238E27FC236}">
                <a16:creationId xmlns:a16="http://schemas.microsoft.com/office/drawing/2014/main" id="{BFCF09C3-51D1-8202-0696-BA143350C1B3}"/>
              </a:ext>
            </a:extLst>
          </p:cNvPr>
          <p:cNvSpPr/>
          <p:nvPr/>
        </p:nvSpPr>
        <p:spPr>
          <a:xfrm rot="16200000">
            <a:off x="4685023" y="4893954"/>
            <a:ext cx="444270" cy="135261"/>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70">
            <a:extLst>
              <a:ext uri="{FF2B5EF4-FFF2-40B4-BE49-F238E27FC236}">
                <a16:creationId xmlns:a16="http://schemas.microsoft.com/office/drawing/2014/main" id="{2E6B3745-C8B8-872D-7E28-C7C365E77C5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a:stretch/>
        </p:blipFill>
        <p:spPr>
          <a:xfrm>
            <a:off x="3805095" y="1577348"/>
            <a:ext cx="3828920" cy="4132906"/>
          </a:xfrm>
          <a:prstGeom prst="rect">
            <a:avLst/>
          </a:prstGeom>
        </p:spPr>
      </p:pic>
      <p:sp>
        <p:nvSpPr>
          <p:cNvPr id="23" name="ZoneTexte 13">
            <a:extLst>
              <a:ext uri="{FF2B5EF4-FFF2-40B4-BE49-F238E27FC236}">
                <a16:creationId xmlns:a16="http://schemas.microsoft.com/office/drawing/2014/main" id="{522AF21E-14A3-2796-60A0-1643FCFB3627}"/>
              </a:ext>
            </a:extLst>
          </p:cNvPr>
          <p:cNvSpPr txBox="1"/>
          <p:nvPr/>
        </p:nvSpPr>
        <p:spPr>
          <a:xfrm>
            <a:off x="5230757" y="2558008"/>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rPr>
              <a:t>56</a:t>
            </a:r>
          </a:p>
        </p:txBody>
      </p:sp>
      <p:sp>
        <p:nvSpPr>
          <p:cNvPr id="24" name="ZoneTexte 13">
            <a:extLst>
              <a:ext uri="{FF2B5EF4-FFF2-40B4-BE49-F238E27FC236}">
                <a16:creationId xmlns:a16="http://schemas.microsoft.com/office/drawing/2014/main" id="{197C2448-9371-1AFB-B13B-1A1867942613}"/>
              </a:ext>
            </a:extLst>
          </p:cNvPr>
          <p:cNvSpPr txBox="1"/>
          <p:nvPr/>
        </p:nvSpPr>
        <p:spPr>
          <a:xfrm>
            <a:off x="5230757" y="3222644"/>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39</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25" name="ZoneTexte 13">
            <a:extLst>
              <a:ext uri="{FF2B5EF4-FFF2-40B4-BE49-F238E27FC236}">
                <a16:creationId xmlns:a16="http://schemas.microsoft.com/office/drawing/2014/main" id="{11470036-9DFB-2478-9C2E-66F432AF6796}"/>
              </a:ext>
            </a:extLst>
          </p:cNvPr>
          <p:cNvSpPr txBox="1"/>
          <p:nvPr/>
        </p:nvSpPr>
        <p:spPr>
          <a:xfrm>
            <a:off x="5230757" y="3887075"/>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20</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26" name="ZoneTexte 13">
            <a:extLst>
              <a:ext uri="{FF2B5EF4-FFF2-40B4-BE49-F238E27FC236}">
                <a16:creationId xmlns:a16="http://schemas.microsoft.com/office/drawing/2014/main" id="{CF515C57-637D-0494-2F58-C1647F7EF45C}"/>
              </a:ext>
            </a:extLst>
          </p:cNvPr>
          <p:cNvSpPr txBox="1"/>
          <p:nvPr/>
        </p:nvSpPr>
        <p:spPr>
          <a:xfrm>
            <a:off x="4968487" y="4620744"/>
            <a:ext cx="875399" cy="638132"/>
          </a:xfrm>
          <a:custGeom>
            <a:avLst/>
            <a:gdLst>
              <a:gd name="connsiteX0" fmla="*/ 240440 w 8393502"/>
              <a:gd name="connsiteY0" fmla="*/ 0 h 687008"/>
              <a:gd name="connsiteX1" fmla="*/ 8049998 w 8393502"/>
              <a:gd name="connsiteY1" fmla="*/ 0 h 687008"/>
              <a:gd name="connsiteX2" fmla="*/ 8393502 w 8393502"/>
              <a:gd name="connsiteY2" fmla="*/ 343504 h 687008"/>
              <a:gd name="connsiteX3" fmla="*/ 8393501 w 8393502"/>
              <a:gd name="connsiteY3" fmla="*/ 343504 h 687008"/>
              <a:gd name="connsiteX4" fmla="*/ 8049997 w 8393502"/>
              <a:gd name="connsiteY4" fmla="*/ 687008 h 687008"/>
              <a:gd name="connsiteX5" fmla="*/ 243445 w 8393502"/>
              <a:gd name="connsiteY5" fmla="*/ 687007 h 687008"/>
              <a:gd name="connsiteX6" fmla="*/ 0 w 8393502"/>
              <a:gd name="connsiteY6" fmla="*/ 337916 h 68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93502" h="687008">
                <a:moveTo>
                  <a:pt x="240440" y="0"/>
                </a:moveTo>
                <a:lnTo>
                  <a:pt x="8049998" y="0"/>
                </a:lnTo>
                <a:cubicBezTo>
                  <a:pt x="8239710" y="0"/>
                  <a:pt x="8393502" y="153792"/>
                  <a:pt x="8393502" y="343504"/>
                </a:cubicBezTo>
                <a:lnTo>
                  <a:pt x="8393501" y="343504"/>
                </a:lnTo>
                <a:cubicBezTo>
                  <a:pt x="8393501" y="533216"/>
                  <a:pt x="8239709" y="687008"/>
                  <a:pt x="8049997" y="687008"/>
                </a:cubicBezTo>
                <a:lnTo>
                  <a:pt x="243445" y="687007"/>
                </a:lnTo>
                <a:lnTo>
                  <a:pt x="0" y="337916"/>
                </a:lnTo>
                <a:close/>
              </a:path>
            </a:pathLst>
          </a:custGeom>
          <a:noFill/>
          <a:ln>
            <a:noFill/>
          </a:ln>
        </p:spPr>
        <p:txBody>
          <a:bodyPr wrap="square" lIns="360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b="1" dirty="0">
                <a:solidFill>
                  <a:schemeClr val="bg1"/>
                </a:solidFill>
                <a:latin typeface="Arial" panose="020B0604020202020204"/>
              </a:rPr>
              <a:t>12</a:t>
            </a:r>
            <a:endParaRPr kumimoji="0" lang="en-GB" sz="2800" b="1"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C61CF624-FFA1-ECC6-C7C6-682DCDC8A202}"/>
              </a:ext>
            </a:extLst>
          </p:cNvPr>
          <p:cNvSpPr/>
          <p:nvPr/>
        </p:nvSpPr>
        <p:spPr>
          <a:xfrm>
            <a:off x="555171" y="489857"/>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Valoriser le travail de recherche bibliographique réalisé</a:t>
            </a:r>
          </a:p>
        </p:txBody>
      </p:sp>
    </p:spTree>
    <p:extLst>
      <p:ext uri="{BB962C8B-B14F-4D97-AF65-F5344CB8AC3E}">
        <p14:creationId xmlns:p14="http://schemas.microsoft.com/office/powerpoint/2010/main" val="423589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56F25-9AC3-429E-358B-45BDE61E0F8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162382-67CC-428E-AE51-E29B124B9143}"/>
              </a:ext>
            </a:extLst>
          </p:cNvPr>
          <p:cNvSpPr>
            <a:spLocks noGrp="1"/>
          </p:cNvSpPr>
          <p:nvPr>
            <p:ph type="title"/>
          </p:nvPr>
        </p:nvSpPr>
        <p:spPr/>
        <p:txBody>
          <a:bodyPr/>
          <a:lstStyle/>
          <a:p>
            <a:r>
              <a:rPr lang="fr-FR" dirty="0"/>
              <a:t>Investigation </a:t>
            </a:r>
            <a:r>
              <a:rPr lang="fr-FR" dirty="0" err="1"/>
              <a:t>result</a:t>
            </a:r>
            <a:endParaRPr lang="fr-FR" dirty="0"/>
          </a:p>
        </p:txBody>
      </p:sp>
      <p:sp>
        <p:nvSpPr>
          <p:cNvPr id="4" name="Espace réservé du texte 3">
            <a:extLst>
              <a:ext uri="{FF2B5EF4-FFF2-40B4-BE49-F238E27FC236}">
                <a16:creationId xmlns:a16="http://schemas.microsoft.com/office/drawing/2014/main" id="{79C214C1-3A02-6A39-F539-74A5B9059F50}"/>
              </a:ext>
            </a:extLst>
          </p:cNvPr>
          <p:cNvSpPr>
            <a:spLocks noGrp="1"/>
          </p:cNvSpPr>
          <p:nvPr>
            <p:ph type="body" sz="quarter" idx="15"/>
          </p:nvPr>
        </p:nvSpPr>
        <p:spPr/>
        <p:txBody>
          <a:bodyPr/>
          <a:lstStyle/>
          <a:p>
            <a:endParaRPr lang="fr-FR"/>
          </a:p>
        </p:txBody>
      </p:sp>
      <p:sp>
        <p:nvSpPr>
          <p:cNvPr id="27" name="Rectangle 26">
            <a:extLst>
              <a:ext uri="{FF2B5EF4-FFF2-40B4-BE49-F238E27FC236}">
                <a16:creationId xmlns:a16="http://schemas.microsoft.com/office/drawing/2014/main" id="{046EFD43-F488-E3FF-6A85-04F9CB6D26F7}"/>
              </a:ext>
            </a:extLst>
          </p:cNvPr>
          <p:cNvSpPr/>
          <p:nvPr/>
        </p:nvSpPr>
        <p:spPr>
          <a:xfrm>
            <a:off x="609599" y="2188028"/>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Overview</a:t>
            </a:r>
            <a:r>
              <a:rPr lang="fr-FR" dirty="0"/>
              <a:t> du tableau </a:t>
            </a:r>
            <a:r>
              <a:rPr lang="fr-FR" dirty="0" err="1"/>
              <a:t>excel</a:t>
            </a:r>
            <a:r>
              <a:rPr lang="fr-FR" dirty="0"/>
              <a:t> récapitulatif</a:t>
            </a:r>
          </a:p>
        </p:txBody>
      </p:sp>
    </p:spTree>
    <p:extLst>
      <p:ext uri="{BB962C8B-B14F-4D97-AF65-F5344CB8AC3E}">
        <p14:creationId xmlns:p14="http://schemas.microsoft.com/office/powerpoint/2010/main" val="208804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4B132-E619-D5D8-7FED-761F1222A5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72E98E-5234-39F5-B760-AD99FC5E5CF2}"/>
              </a:ext>
            </a:extLst>
          </p:cNvPr>
          <p:cNvSpPr>
            <a:spLocks noGrp="1"/>
          </p:cNvSpPr>
          <p:nvPr>
            <p:ph type="title"/>
          </p:nvPr>
        </p:nvSpPr>
        <p:spPr/>
        <p:txBody>
          <a:bodyPr/>
          <a:lstStyle/>
          <a:p>
            <a:r>
              <a:rPr lang="fr-FR" dirty="0" err="1"/>
              <a:t>Overview</a:t>
            </a:r>
            <a:r>
              <a:rPr lang="fr-FR" dirty="0"/>
              <a:t> of first </a:t>
            </a:r>
            <a:r>
              <a:rPr lang="fr-FR" dirty="0" err="1"/>
              <a:t>selected</a:t>
            </a:r>
            <a:r>
              <a:rPr lang="fr-FR" dirty="0"/>
              <a:t> </a:t>
            </a:r>
            <a:r>
              <a:rPr lang="fr-FR" dirty="0" err="1"/>
              <a:t>methods</a:t>
            </a:r>
            <a:r>
              <a:rPr lang="fr-FR" dirty="0"/>
              <a:t> </a:t>
            </a:r>
          </a:p>
        </p:txBody>
      </p:sp>
      <p:sp>
        <p:nvSpPr>
          <p:cNvPr id="3" name="Espace réservé du contenu 2">
            <a:extLst>
              <a:ext uri="{FF2B5EF4-FFF2-40B4-BE49-F238E27FC236}">
                <a16:creationId xmlns:a16="http://schemas.microsoft.com/office/drawing/2014/main" id="{DC649A56-1D1D-1353-6710-D5E13F378876}"/>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C7D59F67-72E9-B1E4-C9A6-4D9062A80793}"/>
              </a:ext>
            </a:extLst>
          </p:cNvPr>
          <p:cNvSpPr>
            <a:spLocks noGrp="1"/>
          </p:cNvSpPr>
          <p:nvPr>
            <p:ph type="body" sz="quarter" idx="15"/>
          </p:nvPr>
        </p:nvSpPr>
        <p:spPr/>
        <p:txBody>
          <a:bodyPr/>
          <a:lstStyle/>
          <a:p>
            <a:endParaRPr lang="fr-FR"/>
          </a:p>
        </p:txBody>
      </p:sp>
      <p:sp>
        <p:nvSpPr>
          <p:cNvPr id="5" name="Rectangle 4">
            <a:extLst>
              <a:ext uri="{FF2B5EF4-FFF2-40B4-BE49-F238E27FC236}">
                <a16:creationId xmlns:a16="http://schemas.microsoft.com/office/drawing/2014/main" id="{DC3D59A0-06E2-64DF-4A67-3DD8165BA37E}"/>
              </a:ext>
            </a:extLst>
          </p:cNvPr>
          <p:cNvSpPr/>
          <p:nvPr/>
        </p:nvSpPr>
        <p:spPr>
          <a:xfrm>
            <a:off x="608399" y="1447800"/>
            <a:ext cx="9700371" cy="304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chemeClr val="bg1"/>
                </a:solidFill>
              </a:rPr>
              <a:t>Plan :</a:t>
            </a:r>
          </a:p>
          <a:p>
            <a:pPr marL="285750" indent="-285750">
              <a:buFont typeface="Arial" panose="020B0604020202020204" pitchFamily="34" charset="0"/>
              <a:buChar char="•"/>
            </a:pPr>
            <a:r>
              <a:rPr lang="en-US" sz="1800" b="1" dirty="0">
                <a:solidFill>
                  <a:schemeClr val="bg1"/>
                </a:solidFill>
              </a:rPr>
              <a:t>Engineering with Sequence-Specific Nucleases</a:t>
            </a:r>
          </a:p>
          <a:p>
            <a:pPr marL="742950" lvl="1" indent="-285750">
              <a:buFont typeface="Arial" panose="020B0604020202020204" pitchFamily="34" charset="0"/>
              <a:buChar char="•"/>
            </a:pPr>
            <a:r>
              <a:rPr lang="en-US" b="1" dirty="0">
                <a:solidFill>
                  <a:schemeClr val="bg1"/>
                </a:solidFill>
              </a:rPr>
              <a:t>Zinc-Finger Nucleases (ZFNs)</a:t>
            </a:r>
          </a:p>
          <a:p>
            <a:pPr marL="742950" lvl="1" indent="-285750">
              <a:buFont typeface="Arial" panose="020B0604020202020204" pitchFamily="34" charset="0"/>
              <a:buChar char="•"/>
            </a:pPr>
            <a:r>
              <a:rPr lang="en-US" sz="1800" b="1" dirty="0">
                <a:solidFill>
                  <a:schemeClr val="bg1"/>
                </a:solidFill>
              </a:rPr>
              <a:t>…</a:t>
            </a:r>
          </a:p>
          <a:p>
            <a:pPr marL="285750" indent="-285750">
              <a:buFont typeface="Arial" panose="020B0604020202020204" pitchFamily="34" charset="0"/>
              <a:buChar char="•"/>
            </a:pPr>
            <a:r>
              <a:rPr lang="en-GB" sz="1800" b="1" dirty="0">
                <a:solidFill>
                  <a:schemeClr val="bg1"/>
                </a:solidFill>
              </a:rPr>
              <a:t>Engineering at Transcriptional Level</a:t>
            </a:r>
          </a:p>
          <a:p>
            <a:pPr marL="285750" indent="-285750">
              <a:buFont typeface="Arial" panose="020B0604020202020204" pitchFamily="34" charset="0"/>
              <a:buChar char="•"/>
            </a:pPr>
            <a:r>
              <a:rPr lang="en-US" sz="1800" b="1" dirty="0">
                <a:ea typeface="Ebrima" pitchFamily="2" charset="0"/>
                <a:cs typeface="Arial" panose="020B0604020202020204" pitchFamily="34" charset="0"/>
              </a:rPr>
              <a:t>Engineering at Translational Level</a:t>
            </a:r>
            <a:endParaRPr lang="en-GB" sz="1800" b="1" dirty="0">
              <a:solidFill>
                <a:schemeClr val="bg1"/>
              </a:solidFill>
            </a:endParaRPr>
          </a:p>
          <a:p>
            <a:endParaRPr lang="en-GB" sz="1800" b="1" dirty="0">
              <a:solidFill>
                <a:schemeClr val="bg1"/>
              </a:solidFill>
            </a:endParaRPr>
          </a:p>
          <a:p>
            <a:endParaRPr lang="fr-FR" dirty="0">
              <a:solidFill>
                <a:schemeClr val="bg1"/>
              </a:solidFill>
            </a:endParaRPr>
          </a:p>
        </p:txBody>
      </p:sp>
    </p:spTree>
    <p:extLst>
      <p:ext uri="{BB962C8B-B14F-4D97-AF65-F5344CB8AC3E}">
        <p14:creationId xmlns:p14="http://schemas.microsoft.com/office/powerpoint/2010/main" val="248768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CA9B-7A5D-5D68-E77D-2CEAECAEE007}"/>
            </a:ext>
          </a:extLst>
        </p:cNvPr>
        <p:cNvGrpSpPr/>
        <p:nvPr/>
      </p:nvGrpSpPr>
      <p:grpSpPr>
        <a:xfrm>
          <a:off x="0" y="0"/>
          <a:ext cx="0" cy="0"/>
          <a:chOff x="0" y="0"/>
          <a:chExt cx="0" cy="0"/>
        </a:xfrm>
      </p:grpSpPr>
      <p:grpSp>
        <p:nvGrpSpPr>
          <p:cNvPr id="15" name="Groupe 14">
            <a:extLst>
              <a:ext uri="{FF2B5EF4-FFF2-40B4-BE49-F238E27FC236}">
                <a16:creationId xmlns:a16="http://schemas.microsoft.com/office/drawing/2014/main" id="{E9E2C780-FC5C-8978-562A-A8D0BD1A2369}"/>
              </a:ext>
            </a:extLst>
          </p:cNvPr>
          <p:cNvGrpSpPr/>
          <p:nvPr/>
        </p:nvGrpSpPr>
        <p:grpSpPr>
          <a:xfrm>
            <a:off x="5744210" y="1051560"/>
            <a:ext cx="335280" cy="4879536"/>
            <a:chOff x="5947410" y="711200"/>
            <a:chExt cx="335280" cy="4879536"/>
          </a:xfrm>
        </p:grpSpPr>
        <p:cxnSp>
          <p:nvCxnSpPr>
            <p:cNvPr id="14" name="Connecteur droit 13">
              <a:extLst>
                <a:ext uri="{FF2B5EF4-FFF2-40B4-BE49-F238E27FC236}">
                  <a16:creationId xmlns:a16="http://schemas.microsoft.com/office/drawing/2014/main" id="{B1491D83-EE3F-DDF6-1D63-06CC45834A25}"/>
                </a:ext>
              </a:extLst>
            </p:cNvPr>
            <p:cNvCxnSpPr>
              <a:cxnSpLocks/>
              <a:stCxn id="7" idx="4"/>
            </p:cNvCxnSpPr>
            <p:nvPr/>
          </p:nvCxnSpPr>
          <p:spPr>
            <a:xfrm>
              <a:off x="6115050" y="1046480"/>
              <a:ext cx="0" cy="434061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CD2FA46A-4D99-4C7F-AE10-25799D0F6D56}"/>
                </a:ext>
              </a:extLst>
            </p:cNvPr>
            <p:cNvSpPr/>
            <p:nvPr/>
          </p:nvSpPr>
          <p:spPr>
            <a:xfrm>
              <a:off x="5947410" y="711200"/>
              <a:ext cx="335280" cy="33528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8" name="Ellipse 7">
              <a:extLst>
                <a:ext uri="{FF2B5EF4-FFF2-40B4-BE49-F238E27FC236}">
                  <a16:creationId xmlns:a16="http://schemas.microsoft.com/office/drawing/2014/main" id="{D165F4D6-A3DF-C722-A7EF-B6FBA97DC0F1}"/>
                </a:ext>
              </a:extLst>
            </p:cNvPr>
            <p:cNvSpPr/>
            <p:nvPr/>
          </p:nvSpPr>
          <p:spPr>
            <a:xfrm>
              <a:off x="5947410" y="1847264"/>
              <a:ext cx="335280" cy="335280"/>
            </a:xfrm>
            <a:prstGeom prst="ellipse">
              <a:avLst/>
            </a:prstGeom>
            <a:solidFill>
              <a:schemeClr val="accent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9" name="Ellipse 8">
              <a:extLst>
                <a:ext uri="{FF2B5EF4-FFF2-40B4-BE49-F238E27FC236}">
                  <a16:creationId xmlns:a16="http://schemas.microsoft.com/office/drawing/2014/main" id="{10511FB6-3A5F-48BE-D700-5C0B97E2C558}"/>
                </a:ext>
              </a:extLst>
            </p:cNvPr>
            <p:cNvSpPr/>
            <p:nvPr/>
          </p:nvSpPr>
          <p:spPr>
            <a:xfrm>
              <a:off x="5947410" y="2983328"/>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 name="Ellipse 9">
              <a:extLst>
                <a:ext uri="{FF2B5EF4-FFF2-40B4-BE49-F238E27FC236}">
                  <a16:creationId xmlns:a16="http://schemas.microsoft.com/office/drawing/2014/main" id="{98E613A9-7E43-344B-32D7-BD953E611DEF}"/>
                </a:ext>
              </a:extLst>
            </p:cNvPr>
            <p:cNvSpPr/>
            <p:nvPr/>
          </p:nvSpPr>
          <p:spPr>
            <a:xfrm>
              <a:off x="5947410" y="4119392"/>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5"/>
                </a:solidFill>
              </a:endParaRPr>
            </a:p>
          </p:txBody>
        </p:sp>
        <p:sp>
          <p:nvSpPr>
            <p:cNvPr id="11" name="Ellipse 10">
              <a:extLst>
                <a:ext uri="{FF2B5EF4-FFF2-40B4-BE49-F238E27FC236}">
                  <a16:creationId xmlns:a16="http://schemas.microsoft.com/office/drawing/2014/main" id="{0DF7CA5B-F40C-6C96-3B0B-CD9DAA83DD78}"/>
                </a:ext>
              </a:extLst>
            </p:cNvPr>
            <p:cNvSpPr/>
            <p:nvPr/>
          </p:nvSpPr>
          <p:spPr>
            <a:xfrm>
              <a:off x="5947410" y="5255456"/>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sp>
        <p:nvSpPr>
          <p:cNvPr id="16" name="ZoneTexte 15">
            <a:hlinkClick r:id="rId2" action="ppaction://hlinksldjump"/>
            <a:extLst>
              <a:ext uri="{FF2B5EF4-FFF2-40B4-BE49-F238E27FC236}">
                <a16:creationId xmlns:a16="http://schemas.microsoft.com/office/drawing/2014/main" id="{C1B1B9CC-1C8E-3B77-24B6-3E3516EBE8CA}"/>
              </a:ext>
            </a:extLst>
          </p:cNvPr>
          <p:cNvSpPr txBox="1"/>
          <p:nvPr/>
        </p:nvSpPr>
        <p:spPr>
          <a:xfrm>
            <a:off x="990601" y="2183132"/>
            <a:ext cx="4753606" cy="338554"/>
          </a:xfrm>
          <a:prstGeom prst="rect">
            <a:avLst/>
          </a:prstGeom>
          <a:noFill/>
        </p:spPr>
        <p:txBody>
          <a:bodyPr wrap="square" rtlCol="0">
            <a:spAutoFit/>
          </a:bodyPr>
          <a:lstStyle/>
          <a:p>
            <a:pPr algn="r"/>
            <a:r>
              <a:rPr lang="en-US" sz="1600" b="1" dirty="0">
                <a:solidFill>
                  <a:schemeClr val="accent1"/>
                </a:solidFill>
              </a:rPr>
              <a:t>Engineering with Sequence-Specific Nucleases</a:t>
            </a:r>
            <a:endParaRPr lang="en-GB" sz="1600" b="1" dirty="0">
              <a:solidFill>
                <a:schemeClr val="accent1"/>
              </a:solidFill>
            </a:endParaRPr>
          </a:p>
        </p:txBody>
      </p:sp>
      <p:sp>
        <p:nvSpPr>
          <p:cNvPr id="17" name="ZoneTexte 16">
            <a:hlinkClick r:id="rId3" action="ppaction://hlinksldjump"/>
            <a:extLst>
              <a:ext uri="{FF2B5EF4-FFF2-40B4-BE49-F238E27FC236}">
                <a16:creationId xmlns:a16="http://schemas.microsoft.com/office/drawing/2014/main" id="{C0869067-36EE-AFD5-F08D-5937FB9AC29E}"/>
              </a:ext>
            </a:extLst>
          </p:cNvPr>
          <p:cNvSpPr txBox="1"/>
          <p:nvPr/>
        </p:nvSpPr>
        <p:spPr>
          <a:xfrm>
            <a:off x="6079490" y="1048286"/>
            <a:ext cx="4089472" cy="338554"/>
          </a:xfrm>
          <a:prstGeom prst="rect">
            <a:avLst/>
          </a:prstGeom>
          <a:noFill/>
        </p:spPr>
        <p:txBody>
          <a:bodyPr wrap="square" rtlCol="0">
            <a:spAutoFit/>
          </a:bodyPr>
          <a:lstStyle/>
          <a:p>
            <a:r>
              <a:rPr lang="en-GB" sz="1600" b="1" dirty="0"/>
              <a:t>General introduction</a:t>
            </a:r>
          </a:p>
        </p:txBody>
      </p:sp>
      <p:sp>
        <p:nvSpPr>
          <p:cNvPr id="18" name="ZoneTexte 17">
            <a:hlinkClick r:id="rId4" action="ppaction://hlinksldjump"/>
            <a:extLst>
              <a:ext uri="{FF2B5EF4-FFF2-40B4-BE49-F238E27FC236}">
                <a16:creationId xmlns:a16="http://schemas.microsoft.com/office/drawing/2014/main" id="{F3B4E16B-7BC8-A71D-25E4-22BEC376D04F}"/>
              </a:ext>
            </a:extLst>
          </p:cNvPr>
          <p:cNvSpPr txBox="1"/>
          <p:nvPr/>
        </p:nvSpPr>
        <p:spPr>
          <a:xfrm>
            <a:off x="6079490" y="3320414"/>
            <a:ext cx="4089474" cy="338554"/>
          </a:xfrm>
          <a:prstGeom prst="rect">
            <a:avLst/>
          </a:prstGeom>
          <a:noFill/>
        </p:spPr>
        <p:txBody>
          <a:bodyPr wrap="square" rtlCol="0">
            <a:spAutoFit/>
          </a:bodyPr>
          <a:lstStyle/>
          <a:p>
            <a:r>
              <a:rPr lang="en-GB" sz="1600" b="1" dirty="0"/>
              <a:t>Engineering at Transcriptional Level</a:t>
            </a:r>
          </a:p>
        </p:txBody>
      </p:sp>
      <p:sp>
        <p:nvSpPr>
          <p:cNvPr id="19" name="ZoneTexte 18">
            <a:hlinkClick r:id="rId5" action="ppaction://hlinksldjump"/>
            <a:extLst>
              <a:ext uri="{FF2B5EF4-FFF2-40B4-BE49-F238E27FC236}">
                <a16:creationId xmlns:a16="http://schemas.microsoft.com/office/drawing/2014/main" id="{9EB389C7-25D6-9D7E-502E-3D647D466551}"/>
              </a:ext>
            </a:extLst>
          </p:cNvPr>
          <p:cNvSpPr txBox="1"/>
          <p:nvPr/>
        </p:nvSpPr>
        <p:spPr>
          <a:xfrm>
            <a:off x="990602" y="4471894"/>
            <a:ext cx="4753608" cy="338554"/>
          </a:xfrm>
          <a:prstGeom prst="rect">
            <a:avLst/>
          </a:prstGeom>
          <a:noFill/>
        </p:spPr>
        <p:txBody>
          <a:bodyPr wrap="square" rtlCol="0">
            <a:spAutoFit/>
          </a:bodyPr>
          <a:lstStyle/>
          <a:p>
            <a:pPr algn="r" defTabSz="914400"/>
            <a:r>
              <a:rPr lang="en-US" sz="1600" b="1" dirty="0">
                <a:ea typeface="Ebrima" pitchFamily="2" charset="0"/>
                <a:cs typeface="Arial" panose="020B0604020202020204" pitchFamily="34" charset="0"/>
              </a:rPr>
              <a:t>Engineering at Translational Level</a:t>
            </a:r>
          </a:p>
        </p:txBody>
      </p:sp>
      <p:sp>
        <p:nvSpPr>
          <p:cNvPr id="3" name="ZoneTexte 2">
            <a:hlinkClick r:id="rId6" action="ppaction://hlinksldjump"/>
            <a:extLst>
              <a:ext uri="{FF2B5EF4-FFF2-40B4-BE49-F238E27FC236}">
                <a16:creationId xmlns:a16="http://schemas.microsoft.com/office/drawing/2014/main" id="{18E7CF17-F926-3006-BCF4-BBBF871222AE}"/>
              </a:ext>
            </a:extLst>
          </p:cNvPr>
          <p:cNvSpPr txBox="1"/>
          <p:nvPr/>
        </p:nvSpPr>
        <p:spPr>
          <a:xfrm>
            <a:off x="6079490" y="5595816"/>
            <a:ext cx="4089472" cy="338554"/>
          </a:xfrm>
          <a:prstGeom prst="rect">
            <a:avLst/>
          </a:prstGeom>
          <a:noFill/>
        </p:spPr>
        <p:txBody>
          <a:bodyPr wrap="square" rtlCol="0">
            <a:spAutoFit/>
          </a:bodyPr>
          <a:lstStyle/>
          <a:p>
            <a:pPr defTabSz="914400"/>
            <a:r>
              <a:rPr lang="en-US" sz="1600" b="1" dirty="0">
                <a:ea typeface="Ebrima" pitchFamily="2" charset="0"/>
                <a:cs typeface="Arial" panose="020B0604020202020204" pitchFamily="34" charset="0"/>
              </a:rPr>
              <a:t>Comparisons &amp; conclusions</a:t>
            </a:r>
          </a:p>
        </p:txBody>
      </p:sp>
    </p:spTree>
    <p:extLst>
      <p:ext uri="{BB962C8B-B14F-4D97-AF65-F5344CB8AC3E}">
        <p14:creationId xmlns:p14="http://schemas.microsoft.com/office/powerpoint/2010/main" val="4216495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D656C97-5BA7-AFA8-39E2-684922FE995C}"/>
              </a:ext>
            </a:extLst>
          </p:cNvPr>
          <p:cNvSpPr>
            <a:spLocks noGrp="1"/>
          </p:cNvSpPr>
          <p:nvPr>
            <p:ph type="ctrTitle"/>
          </p:nvPr>
        </p:nvSpPr>
        <p:spPr>
          <a:xfrm>
            <a:off x="304799" y="2696639"/>
            <a:ext cx="8277225" cy="1464721"/>
          </a:xfrm>
        </p:spPr>
        <p:txBody>
          <a:bodyPr>
            <a:normAutofit/>
          </a:bodyPr>
          <a:lstStyle/>
          <a:p>
            <a:r>
              <a:rPr lang="en-US" b="1" dirty="0"/>
              <a:t>Engineering with Sequence-Specific Nucleases</a:t>
            </a:r>
            <a:endParaRPr lang="en-GB" b="1" dirty="0"/>
          </a:p>
        </p:txBody>
      </p:sp>
    </p:spTree>
    <p:extLst>
      <p:ext uri="{BB962C8B-B14F-4D97-AF65-F5344CB8AC3E}">
        <p14:creationId xmlns:p14="http://schemas.microsoft.com/office/powerpoint/2010/main" val="2177028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6FA26289-FDC3-9CE3-069C-C89C6EAF92D8}"/>
              </a:ext>
            </a:extLst>
          </p:cNvPr>
          <p:cNvGrpSpPr/>
          <p:nvPr/>
        </p:nvGrpSpPr>
        <p:grpSpPr>
          <a:xfrm>
            <a:off x="9464997" y="129350"/>
            <a:ext cx="2626277" cy="580939"/>
            <a:chOff x="9464997" y="129350"/>
            <a:chExt cx="2626277" cy="580939"/>
          </a:xfrm>
        </p:grpSpPr>
        <p:pic>
          <p:nvPicPr>
            <p:cNvPr id="7" name="Picture 2">
              <a:extLst>
                <a:ext uri="{FF2B5EF4-FFF2-40B4-BE49-F238E27FC236}">
                  <a16:creationId xmlns:a16="http://schemas.microsoft.com/office/drawing/2014/main" id="{E523B17D-BFF7-DD6A-91A5-0487C787AB55}"/>
                </a:ext>
              </a:extLst>
            </p:cNvPr>
            <p:cNvPicPr>
              <a:picLocks noChangeAspect="1" noChangeArrowheads="1"/>
            </p:cNvPicPr>
            <p:nvPr/>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54259CFE-A925-BD23-0152-E35221774C66}"/>
                </a:ext>
              </a:extLst>
            </p:cNvPr>
            <p:cNvPicPr>
              <a:picLocks noChangeAspect="1"/>
            </p:cNvPicPr>
            <p:nvPr/>
          </p:nvPicPr>
          <p:blipFill>
            <a:blip r:embed="rId4"/>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FE8877FC-7666-DF07-F4D5-412BF1909581}"/>
                </a:ext>
              </a:extLst>
            </p:cNvPr>
            <p:cNvPicPr>
              <a:picLocks noChangeAspect="1"/>
            </p:cNvPicPr>
            <p:nvPr/>
          </p:nvPicPr>
          <p:blipFill>
            <a:blip r:embed="rId5"/>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2790D6D8-E07A-BE28-784B-E075D42A3806}"/>
                </a:ext>
              </a:extLst>
            </p:cNvPr>
            <p:cNvGrpSpPr/>
            <p:nvPr/>
          </p:nvGrpSpPr>
          <p:grpSpPr>
            <a:xfrm>
              <a:off x="9464997" y="129350"/>
              <a:ext cx="2626277" cy="580939"/>
              <a:chOff x="9464997" y="129350"/>
              <a:chExt cx="2626277" cy="580939"/>
            </a:xfrm>
          </p:grpSpPr>
          <p:sp>
            <p:nvSpPr>
              <p:cNvPr id="12" name="Rectangle : coins arrondis 11">
                <a:extLst>
                  <a:ext uri="{FF2B5EF4-FFF2-40B4-BE49-F238E27FC236}">
                    <a16:creationId xmlns:a16="http://schemas.microsoft.com/office/drawing/2014/main" id="{C19B63D6-2761-0712-5B99-82F9EF9B0455}"/>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Rectangle : coins arrondis 12">
                <a:extLst>
                  <a:ext uri="{FF2B5EF4-FFF2-40B4-BE49-F238E27FC236}">
                    <a16:creationId xmlns:a16="http://schemas.microsoft.com/office/drawing/2014/main" id="{39FC04D5-376D-628B-363B-F12FA154859C}"/>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 coins arrondis 13">
                <a:extLst>
                  <a:ext uri="{FF2B5EF4-FFF2-40B4-BE49-F238E27FC236}">
                    <a16:creationId xmlns:a16="http://schemas.microsoft.com/office/drawing/2014/main" id="{B5A3FD52-98F4-94C6-DABB-1D03C8C1FDA4}"/>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 coins arrondis 14">
                <a:extLst>
                  <a:ext uri="{FF2B5EF4-FFF2-40B4-BE49-F238E27FC236}">
                    <a16:creationId xmlns:a16="http://schemas.microsoft.com/office/drawing/2014/main" id="{C6DC03FC-091E-C735-9BF6-07FC0FAC4FD2}"/>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Rectangle 15">
                <a:extLst>
                  <a:ext uri="{FF2B5EF4-FFF2-40B4-BE49-F238E27FC236}">
                    <a16:creationId xmlns:a16="http://schemas.microsoft.com/office/drawing/2014/main" id="{8E9E406C-3131-C3A9-C962-C582FF2884FD}"/>
                  </a:ext>
                </a:extLst>
              </p:cNvPr>
              <p:cNvSpPr/>
              <p:nvPr/>
            </p:nvSpPr>
            <p:spPr>
              <a:xfrm>
                <a:off x="10071797" y="129350"/>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1" name="Image 10">
              <a:extLst>
                <a:ext uri="{FF2B5EF4-FFF2-40B4-BE49-F238E27FC236}">
                  <a16:creationId xmlns:a16="http://schemas.microsoft.com/office/drawing/2014/main" id="{F9A9AD24-97EA-6061-2888-9D4B003F592A}"/>
                </a:ext>
              </a:extLst>
            </p:cNvPr>
            <p:cNvPicPr>
              <a:picLocks noChangeAspect="1"/>
            </p:cNvPicPr>
            <p:nvPr/>
          </p:nvPicPr>
          <p:blipFill>
            <a:blip r:embed="rId6"/>
            <a:stretch>
              <a:fillRect/>
            </a:stretch>
          </p:blipFill>
          <p:spPr>
            <a:xfrm>
              <a:off x="9554107" y="218630"/>
              <a:ext cx="360000" cy="360000"/>
            </a:xfrm>
            <a:prstGeom prst="rect">
              <a:avLst/>
            </a:prstGeom>
          </p:spPr>
        </p:pic>
      </p:grpSp>
      <p:cxnSp>
        <p:nvCxnSpPr>
          <p:cNvPr id="17" name="Connecteur droit 16">
            <a:extLst>
              <a:ext uri="{FF2B5EF4-FFF2-40B4-BE49-F238E27FC236}">
                <a16:creationId xmlns:a16="http://schemas.microsoft.com/office/drawing/2014/main" id="{187AAB64-AA82-218B-947E-4DD51CED3CD1}"/>
              </a:ext>
            </a:extLst>
          </p:cNvPr>
          <p:cNvCxnSpPr/>
          <p:nvPr/>
        </p:nvCxnSpPr>
        <p:spPr>
          <a:xfrm>
            <a:off x="0" y="771525"/>
            <a:ext cx="12192000"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41A911B7-BC00-5F72-D39A-785BA0479979}"/>
              </a:ext>
            </a:extLst>
          </p:cNvPr>
          <p:cNvSpPr txBox="1"/>
          <p:nvPr/>
        </p:nvSpPr>
        <p:spPr>
          <a:xfrm>
            <a:off x="218115" y="110422"/>
            <a:ext cx="9110731" cy="569387"/>
          </a:xfrm>
          <a:prstGeom prst="rect">
            <a:avLst/>
          </a:prstGeom>
          <a:noFill/>
        </p:spPr>
        <p:txBody>
          <a:bodyPr wrap="square">
            <a:spAutoFit/>
          </a:bodyPr>
          <a:lstStyle/>
          <a:p>
            <a:pPr lvl="0"/>
            <a:r>
              <a:rPr lang="fr-FR" sz="3100" b="1" dirty="0">
                <a:solidFill>
                  <a:schemeClr val="accent3"/>
                </a:solidFill>
              </a:rPr>
              <a:t>Zinc-Finger </a:t>
            </a:r>
            <a:r>
              <a:rPr lang="fr-FR" sz="3100" b="1" dirty="0" err="1">
                <a:solidFill>
                  <a:schemeClr val="accent3"/>
                </a:solidFill>
              </a:rPr>
              <a:t>Nucleases</a:t>
            </a:r>
            <a:r>
              <a:rPr lang="fr-FR" sz="3100" b="1" dirty="0">
                <a:solidFill>
                  <a:schemeClr val="accent3"/>
                </a:solidFill>
              </a:rPr>
              <a:t> (</a:t>
            </a:r>
            <a:r>
              <a:rPr lang="fr-FR" sz="3100" b="1" dirty="0" err="1">
                <a:solidFill>
                  <a:schemeClr val="accent3"/>
                </a:solidFill>
              </a:rPr>
              <a:t>ZFNs</a:t>
            </a:r>
            <a:r>
              <a:rPr lang="fr-FR" sz="3100" b="1" dirty="0">
                <a:solidFill>
                  <a:schemeClr val="accent3"/>
                </a:solidFill>
              </a:rPr>
              <a:t>)</a:t>
            </a:r>
          </a:p>
        </p:txBody>
      </p:sp>
      <p:grpSp>
        <p:nvGrpSpPr>
          <p:cNvPr id="52" name="Groupe 51">
            <a:extLst>
              <a:ext uri="{FF2B5EF4-FFF2-40B4-BE49-F238E27FC236}">
                <a16:creationId xmlns:a16="http://schemas.microsoft.com/office/drawing/2014/main" id="{721A9471-C5F5-67A5-1BD5-6B090851539F}"/>
              </a:ext>
            </a:extLst>
          </p:cNvPr>
          <p:cNvGrpSpPr/>
          <p:nvPr/>
        </p:nvGrpSpPr>
        <p:grpSpPr>
          <a:xfrm>
            <a:off x="0" y="2645835"/>
            <a:ext cx="2766060" cy="2656923"/>
            <a:chOff x="0" y="2711937"/>
            <a:chExt cx="2766060" cy="2656923"/>
          </a:xfrm>
        </p:grpSpPr>
        <p:sp>
          <p:nvSpPr>
            <p:cNvPr id="25" name="Rectangle : avec coins arrondis en haut 24">
              <a:extLst>
                <a:ext uri="{FF2B5EF4-FFF2-40B4-BE49-F238E27FC236}">
                  <a16:creationId xmlns:a16="http://schemas.microsoft.com/office/drawing/2014/main" id="{DFA7EEC6-9DA2-4951-2730-BA72C9867A36}"/>
                </a:ext>
              </a:extLst>
            </p:cNvPr>
            <p:cNvSpPr/>
            <p:nvPr/>
          </p:nvSpPr>
          <p:spPr>
            <a:xfrm rot="5400000">
              <a:off x="54568" y="2657369"/>
              <a:ext cx="2656923" cy="2766060"/>
            </a:xfrm>
            <a:prstGeom prst="round2SameRect">
              <a:avLst>
                <a:gd name="adj1" fmla="val 10809"/>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3" name="Groupe 2">
              <a:extLst>
                <a:ext uri="{FF2B5EF4-FFF2-40B4-BE49-F238E27FC236}">
                  <a16:creationId xmlns:a16="http://schemas.microsoft.com/office/drawing/2014/main" id="{FC196C1F-EA78-4C4B-0CCD-DF93B3EFBCDD}"/>
                </a:ext>
              </a:extLst>
            </p:cNvPr>
            <p:cNvGrpSpPr/>
            <p:nvPr/>
          </p:nvGrpSpPr>
          <p:grpSpPr>
            <a:xfrm>
              <a:off x="71514" y="2780291"/>
              <a:ext cx="2632872" cy="720000"/>
              <a:chOff x="71514" y="2316811"/>
              <a:chExt cx="2632872" cy="720000"/>
            </a:xfrm>
          </p:grpSpPr>
          <p:sp>
            <p:nvSpPr>
              <p:cNvPr id="4" name="ZoneTexte 3">
                <a:extLst>
                  <a:ext uri="{FF2B5EF4-FFF2-40B4-BE49-F238E27FC236}">
                    <a16:creationId xmlns:a16="http://schemas.microsoft.com/office/drawing/2014/main" id="{1809A094-4BC1-F35B-86D8-99EA3E2497DB}"/>
                  </a:ext>
                </a:extLst>
              </p:cNvPr>
              <p:cNvSpPr txBox="1"/>
              <p:nvPr/>
            </p:nvSpPr>
            <p:spPr>
              <a:xfrm>
                <a:off x="839954" y="2353646"/>
                <a:ext cx="1864432" cy="646331"/>
              </a:xfrm>
              <a:prstGeom prst="rect">
                <a:avLst/>
              </a:prstGeom>
              <a:noFill/>
            </p:spPr>
            <p:txBody>
              <a:bodyPr wrap="square" rtlCol="0">
                <a:spAutoFit/>
              </a:bodyPr>
              <a:lstStyle/>
              <a:p>
                <a:pPr algn="just"/>
                <a:r>
                  <a:rPr lang="en-US" sz="1200" dirty="0"/>
                  <a:t>First generation of engineered nucleases, discovered in </a:t>
                </a:r>
                <a:r>
                  <a:rPr lang="en-US" sz="1200" b="1" dirty="0"/>
                  <a:t>1985.</a:t>
                </a:r>
                <a:endParaRPr lang="fr-FR" b="1" dirty="0"/>
              </a:p>
            </p:txBody>
          </p:sp>
          <p:pic>
            <p:nvPicPr>
              <p:cNvPr id="5" name="Image 4">
                <a:extLst>
                  <a:ext uri="{FF2B5EF4-FFF2-40B4-BE49-F238E27FC236}">
                    <a16:creationId xmlns:a16="http://schemas.microsoft.com/office/drawing/2014/main" id="{CD368803-7EDF-C1FD-7954-EC3AC636A7D2}"/>
                  </a:ext>
                </a:extLst>
              </p:cNvPr>
              <p:cNvPicPr>
                <a:picLocks noChangeAspect="1"/>
              </p:cNvPicPr>
              <p:nvPr/>
            </p:nvPicPr>
            <p:blipFill>
              <a:blip r:embed="rId7"/>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DA99337E-2861-17B4-0CF9-E0C1F206A14A}"/>
                </a:ext>
              </a:extLst>
            </p:cNvPr>
            <p:cNvGrpSpPr/>
            <p:nvPr/>
          </p:nvGrpSpPr>
          <p:grpSpPr>
            <a:xfrm>
              <a:off x="74170" y="3668910"/>
              <a:ext cx="2630216" cy="720000"/>
              <a:chOff x="74170" y="3340479"/>
              <a:chExt cx="2630216" cy="720000"/>
            </a:xfrm>
          </p:grpSpPr>
          <p:sp>
            <p:nvSpPr>
              <p:cNvPr id="23" name="ZoneTexte 22">
                <a:extLst>
                  <a:ext uri="{FF2B5EF4-FFF2-40B4-BE49-F238E27FC236}">
                    <a16:creationId xmlns:a16="http://schemas.microsoft.com/office/drawing/2014/main" id="{643AB8E0-E105-3653-6DB2-2AE6AF3AD2B3}"/>
                  </a:ext>
                </a:extLst>
              </p:cNvPr>
              <p:cNvSpPr txBox="1"/>
              <p:nvPr/>
            </p:nvSpPr>
            <p:spPr>
              <a:xfrm>
                <a:off x="839954" y="3484305"/>
                <a:ext cx="1864432" cy="461665"/>
              </a:xfrm>
              <a:prstGeom prst="rect">
                <a:avLst/>
              </a:prstGeom>
              <a:noFill/>
            </p:spPr>
            <p:txBody>
              <a:bodyPr wrap="square">
                <a:spAutoFit/>
              </a:bodyPr>
              <a:lstStyle/>
              <a:p>
                <a:pPr algn="just"/>
                <a:r>
                  <a:rPr lang="en-US" sz="1200" b="0" i="0" u="none" strike="noStrike" baseline="0" dirty="0"/>
                  <a:t>Allows </a:t>
                </a:r>
                <a:r>
                  <a:rPr lang="fr-FR" sz="1200" b="1" i="0" u="none" strike="noStrike" baseline="0" dirty="0" err="1"/>
                  <a:t>gene</a:t>
                </a:r>
                <a:r>
                  <a:rPr lang="fr-FR" sz="1200" b="1" i="0" u="none" strike="noStrike" baseline="0" dirty="0"/>
                  <a:t> knockout </a:t>
                </a:r>
                <a:r>
                  <a:rPr lang="fr-FR" sz="1200" b="0" i="0" u="none" strike="noStrike" baseline="0" dirty="0"/>
                  <a:t>and </a:t>
                </a:r>
                <a:r>
                  <a:rPr lang="fr-FR" sz="1200" b="1" i="0" u="none" strike="noStrike" baseline="0" dirty="0" err="1"/>
                  <a:t>gene</a:t>
                </a:r>
                <a:r>
                  <a:rPr lang="fr-FR" sz="1200" b="1" i="0" u="none" strike="noStrike" baseline="0" dirty="0"/>
                  <a:t> replacement.</a:t>
                </a:r>
                <a:endParaRPr lang="en-US" sz="1200" b="1" dirty="0"/>
              </a:p>
            </p:txBody>
          </p:sp>
          <p:pic>
            <p:nvPicPr>
              <p:cNvPr id="24" name="Image 23">
                <a:extLst>
                  <a:ext uri="{FF2B5EF4-FFF2-40B4-BE49-F238E27FC236}">
                    <a16:creationId xmlns:a16="http://schemas.microsoft.com/office/drawing/2014/main" id="{FFE17425-C62D-2B3E-77E2-C24BA022F326}"/>
                  </a:ext>
                </a:extLst>
              </p:cNvPr>
              <p:cNvPicPr>
                <a:picLocks noChangeAspect="1"/>
              </p:cNvPicPr>
              <p:nvPr/>
            </p:nvPicPr>
            <p:blipFill>
              <a:blip r:embed="rId8"/>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0315C50F-A88D-5941-E528-C03CD4A571C7}"/>
                </a:ext>
              </a:extLst>
            </p:cNvPr>
            <p:cNvGrpSpPr/>
            <p:nvPr/>
          </p:nvGrpSpPr>
          <p:grpSpPr>
            <a:xfrm>
              <a:off x="71514" y="4557529"/>
              <a:ext cx="2670354" cy="720000"/>
              <a:chOff x="71514" y="4632743"/>
              <a:chExt cx="2670354" cy="720000"/>
            </a:xfrm>
          </p:grpSpPr>
          <p:pic>
            <p:nvPicPr>
              <p:cNvPr id="34" name="Image 33">
                <a:extLst>
                  <a:ext uri="{FF2B5EF4-FFF2-40B4-BE49-F238E27FC236}">
                    <a16:creationId xmlns:a16="http://schemas.microsoft.com/office/drawing/2014/main" id="{11B7006F-28CC-A209-E417-7B1EE46E6934}"/>
                  </a:ext>
                </a:extLst>
              </p:cNvPr>
              <p:cNvPicPr>
                <a:picLocks noChangeAspect="1"/>
              </p:cNvPicPr>
              <p:nvPr/>
            </p:nvPicPr>
            <p:blipFill>
              <a:blip r:embed="rId9"/>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4E150B2E-60A2-3DE0-0E23-7542B3F4EF22}"/>
                  </a:ext>
                </a:extLst>
              </p:cNvPr>
              <p:cNvSpPr txBox="1"/>
              <p:nvPr/>
            </p:nvSpPr>
            <p:spPr>
              <a:xfrm>
                <a:off x="791514" y="4761911"/>
                <a:ext cx="1950354" cy="461665"/>
              </a:xfrm>
              <a:prstGeom prst="rect">
                <a:avLst/>
              </a:prstGeom>
              <a:noFill/>
            </p:spPr>
            <p:txBody>
              <a:bodyPr wrap="square">
                <a:spAutoFit/>
              </a:bodyPr>
              <a:lstStyle/>
              <a:p>
                <a:pPr algn="just"/>
                <a:r>
                  <a:rPr lang="en-US" sz="1200" b="0" i="0" u="none" strike="noStrike" baseline="0" dirty="0"/>
                  <a:t>Target sequence has to be </a:t>
                </a:r>
                <a:r>
                  <a:rPr lang="en-US" sz="1200" b="1" i="0" u="none" strike="noStrike" baseline="0" dirty="0"/>
                  <a:t>rich in G bases</a:t>
                </a:r>
                <a:r>
                  <a:rPr lang="en-US" sz="1200" b="0" i="0" u="none" strike="noStrike" baseline="0" dirty="0"/>
                  <a:t>.</a:t>
                </a:r>
              </a:p>
            </p:txBody>
          </p:sp>
        </p:grpSp>
      </p:grpSp>
      <p:grpSp>
        <p:nvGrpSpPr>
          <p:cNvPr id="50" name="Groupe 49">
            <a:extLst>
              <a:ext uri="{FF2B5EF4-FFF2-40B4-BE49-F238E27FC236}">
                <a16:creationId xmlns:a16="http://schemas.microsoft.com/office/drawing/2014/main" id="{0700F624-6253-C526-9E30-4B17B494F8F8}"/>
              </a:ext>
            </a:extLst>
          </p:cNvPr>
          <p:cNvGrpSpPr/>
          <p:nvPr/>
        </p:nvGrpSpPr>
        <p:grpSpPr>
          <a:xfrm>
            <a:off x="3038646" y="2284181"/>
            <a:ext cx="5246959" cy="3380230"/>
            <a:chOff x="3026550" y="1972513"/>
            <a:chExt cx="5246959" cy="3380230"/>
          </a:xfrm>
        </p:grpSpPr>
        <p:sp>
          <p:nvSpPr>
            <p:cNvPr id="20" name="Rectangle : coins arrondis 19">
              <a:extLst>
                <a:ext uri="{FF2B5EF4-FFF2-40B4-BE49-F238E27FC236}">
                  <a16:creationId xmlns:a16="http://schemas.microsoft.com/office/drawing/2014/main" id="{17E01AFE-58CE-6AC9-F4C1-6B793D41819C}"/>
                </a:ext>
              </a:extLst>
            </p:cNvPr>
            <p:cNvSpPr/>
            <p:nvPr/>
          </p:nvSpPr>
          <p:spPr>
            <a:xfrm>
              <a:off x="3229069" y="2251681"/>
              <a:ext cx="5044440" cy="3101062"/>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CD81CC7D-F353-95D7-5841-356D48791129}"/>
                </a:ext>
              </a:extLst>
            </p:cNvPr>
            <p:cNvSpPr/>
            <p:nvPr/>
          </p:nvSpPr>
          <p:spPr>
            <a:xfrm>
              <a:off x="3026550" y="1972513"/>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62B0350E-CB4A-CD18-3AC1-150CABB94BFC}"/>
                </a:ext>
              </a:extLst>
            </p:cNvPr>
            <p:cNvSpPr/>
            <p:nvPr/>
          </p:nvSpPr>
          <p:spPr>
            <a:xfrm>
              <a:off x="3468968" y="2050167"/>
              <a:ext cx="2297561"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44" name="Image 43">
              <a:extLst>
                <a:ext uri="{FF2B5EF4-FFF2-40B4-BE49-F238E27FC236}">
                  <a16:creationId xmlns:a16="http://schemas.microsoft.com/office/drawing/2014/main" id="{FC4ECBC6-36CC-1AF7-6B9E-ABBC18AC43BD}"/>
                </a:ext>
              </a:extLst>
            </p:cNvPr>
            <p:cNvPicPr>
              <a:picLocks noChangeAspect="1"/>
            </p:cNvPicPr>
            <p:nvPr/>
          </p:nvPicPr>
          <p:blipFill>
            <a:blip r:embed="rId10"/>
            <a:srcRect l="3247" t="5158" r="2539"/>
            <a:stretch/>
          </p:blipFill>
          <p:spPr>
            <a:xfrm>
              <a:off x="3813338" y="4107599"/>
              <a:ext cx="3987684" cy="1050288"/>
            </a:xfrm>
            <a:prstGeom prst="rect">
              <a:avLst/>
            </a:prstGeom>
          </p:spPr>
        </p:pic>
        <p:sp>
          <p:nvSpPr>
            <p:cNvPr id="49" name="ZoneTexte 48">
              <a:extLst>
                <a:ext uri="{FF2B5EF4-FFF2-40B4-BE49-F238E27FC236}">
                  <a16:creationId xmlns:a16="http://schemas.microsoft.com/office/drawing/2014/main" id="{DF26DFF1-6C2E-2533-4CEF-6D3E4B73A80B}"/>
                </a:ext>
              </a:extLst>
            </p:cNvPr>
            <p:cNvSpPr txBox="1"/>
            <p:nvPr/>
          </p:nvSpPr>
          <p:spPr>
            <a:xfrm>
              <a:off x="3362324" y="2490432"/>
              <a:ext cx="4889713" cy="1569660"/>
            </a:xfrm>
            <a:prstGeom prst="rect">
              <a:avLst/>
            </a:prstGeom>
            <a:noFill/>
          </p:spPr>
          <p:txBody>
            <a:bodyPr wrap="square">
              <a:spAutoFit/>
            </a:bodyPr>
            <a:lstStyle/>
            <a:p>
              <a:pPr marL="285750" indent="-285750" algn="just">
                <a:buFont typeface="Wingdings" panose="05000000000000000000" pitchFamily="2" charset="2"/>
                <a:buChar char="Ø"/>
              </a:pPr>
              <a:r>
                <a:rPr lang="fr-FR" sz="1200" b="0" i="0" u="none" strike="noStrike" baseline="0" dirty="0">
                  <a:solidFill>
                    <a:srgbClr val="231F20"/>
                  </a:solidFill>
                </a:rPr>
                <a:t>A zinc-finge</a:t>
              </a:r>
              <a:r>
                <a:rPr lang="fr-FR" sz="1200" dirty="0">
                  <a:solidFill>
                    <a:srgbClr val="231F20"/>
                  </a:solidFill>
                </a:rPr>
                <a:t>r </a:t>
              </a:r>
              <a:r>
                <a:rPr lang="en-US" sz="1200" dirty="0">
                  <a:solidFill>
                    <a:srgbClr val="231F20"/>
                  </a:solidFill>
                </a:rPr>
                <a:t>nuclease</a:t>
              </a:r>
              <a:r>
                <a:rPr lang="fr-FR" sz="1200" dirty="0">
                  <a:solidFill>
                    <a:srgbClr val="231F20"/>
                  </a:solidFill>
                </a:rPr>
                <a:t> </a:t>
              </a:r>
              <a:r>
                <a:rPr lang="fr-FR" sz="1200" dirty="0" err="1">
                  <a:solidFill>
                    <a:srgbClr val="231F20"/>
                  </a:solidFill>
                </a:rPr>
                <a:t>is</a:t>
              </a:r>
              <a:r>
                <a:rPr lang="fr-FR" sz="1200" dirty="0">
                  <a:solidFill>
                    <a:srgbClr val="231F20"/>
                  </a:solidFill>
                </a:rPr>
                <a:t> a </a:t>
              </a:r>
              <a:r>
                <a:rPr lang="fr-FR" sz="1200" b="1" dirty="0">
                  <a:solidFill>
                    <a:srgbClr val="231F20"/>
                  </a:solidFill>
                </a:rPr>
                <a:t>dimer</a:t>
              </a:r>
              <a:r>
                <a:rPr lang="fr-FR" sz="1200" dirty="0">
                  <a:solidFill>
                    <a:srgbClr val="231F20"/>
                  </a:solidFill>
                </a:rPr>
                <a:t>, </a:t>
              </a:r>
              <a:r>
                <a:rPr lang="fr-FR" sz="1200" dirty="0" err="1">
                  <a:solidFill>
                    <a:srgbClr val="231F20"/>
                  </a:solidFill>
                </a:rPr>
                <a:t>composed</a:t>
              </a:r>
              <a:r>
                <a:rPr lang="fr-FR" sz="1200" dirty="0">
                  <a:solidFill>
                    <a:srgbClr val="231F20"/>
                  </a:solidFill>
                </a:rPr>
                <a:t> of </a:t>
              </a:r>
              <a:r>
                <a:rPr lang="fr-FR" sz="1200" dirty="0" err="1">
                  <a:solidFill>
                    <a:srgbClr val="231F20"/>
                  </a:solidFill>
                </a:rPr>
                <a:t>two</a:t>
              </a:r>
              <a:r>
                <a:rPr lang="fr-FR" sz="1200" dirty="0">
                  <a:solidFill>
                    <a:srgbClr val="231F20"/>
                  </a:solidFill>
                </a:rPr>
                <a:t> zinc-</a:t>
              </a:r>
              <a:r>
                <a:rPr lang="fr-FR" sz="1200" dirty="0" err="1">
                  <a:solidFill>
                    <a:srgbClr val="231F20"/>
                  </a:solidFill>
                </a:rPr>
                <a:t>fingers</a:t>
              </a:r>
              <a:r>
                <a:rPr lang="fr-FR" sz="1200" dirty="0">
                  <a:solidFill>
                    <a:srgbClr val="231F20"/>
                  </a:solidFill>
                </a:rPr>
                <a:t>, </a:t>
              </a:r>
              <a:r>
                <a:rPr lang="fr-FR" sz="1200" dirty="0" err="1">
                  <a:solidFill>
                    <a:srgbClr val="231F20"/>
                  </a:solidFill>
                </a:rPr>
                <a:t>separated</a:t>
              </a:r>
              <a:r>
                <a:rPr lang="fr-FR" sz="1200" dirty="0">
                  <a:solidFill>
                    <a:srgbClr val="231F20"/>
                  </a:solidFill>
                </a:rPr>
                <a:t> by a linker. </a:t>
              </a:r>
              <a:r>
                <a:rPr lang="fr-FR" sz="1200" dirty="0" err="1">
                  <a:solidFill>
                    <a:srgbClr val="231F20"/>
                  </a:solidFill>
                </a:rPr>
                <a:t>Each</a:t>
              </a:r>
              <a:r>
                <a:rPr lang="fr-FR" sz="1200" dirty="0">
                  <a:solidFill>
                    <a:srgbClr val="231F20"/>
                  </a:solidFill>
                </a:rPr>
                <a:t> zinc-finger </a:t>
              </a:r>
              <a:r>
                <a:rPr lang="fr-FR" sz="1200" dirty="0" err="1">
                  <a:solidFill>
                    <a:srgbClr val="231F20"/>
                  </a:solidFill>
                </a:rPr>
                <a:t>counts</a:t>
              </a:r>
              <a:r>
                <a:rPr lang="fr-FR" sz="1200" dirty="0">
                  <a:solidFill>
                    <a:srgbClr val="231F20"/>
                  </a:solidFill>
                </a:rPr>
                <a:t> 300 </a:t>
              </a:r>
              <a:r>
                <a:rPr lang="fr-FR" sz="1200" dirty="0" err="1">
                  <a:solidFill>
                    <a:srgbClr val="231F20"/>
                  </a:solidFill>
                </a:rPr>
                <a:t>amino</a:t>
              </a:r>
              <a:r>
                <a:rPr lang="fr-FR" sz="1200" dirty="0">
                  <a:solidFill>
                    <a:srgbClr val="231F20"/>
                  </a:solidFill>
                </a:rPr>
                <a:t> </a:t>
              </a:r>
              <a:r>
                <a:rPr lang="fr-FR" sz="1200" dirty="0" err="1">
                  <a:solidFill>
                    <a:srgbClr val="231F20"/>
                  </a:solidFill>
                </a:rPr>
                <a:t>acids</a:t>
              </a:r>
              <a:r>
                <a:rPr lang="fr-FR" sz="1200" dirty="0">
                  <a:solidFill>
                    <a:srgbClr val="231F20"/>
                  </a:solidFill>
                </a:rPr>
                <a:t> in total, </a:t>
              </a:r>
              <a:r>
                <a:rPr lang="fr-FR" sz="1200" b="1" dirty="0" err="1">
                  <a:solidFill>
                    <a:srgbClr val="231F20"/>
                  </a:solidFill>
                </a:rPr>
                <a:t>distributed</a:t>
              </a:r>
              <a:r>
                <a:rPr lang="fr-FR" sz="1200" b="1" dirty="0">
                  <a:solidFill>
                    <a:srgbClr val="231F20"/>
                  </a:solidFill>
                </a:rPr>
                <a:t> in 3 or 4 </a:t>
              </a:r>
              <a:r>
                <a:rPr lang="fr-FR" sz="1200" b="1" dirty="0" err="1">
                  <a:solidFill>
                    <a:srgbClr val="231F20"/>
                  </a:solidFill>
                </a:rPr>
                <a:t>domains</a:t>
              </a:r>
              <a:r>
                <a:rPr lang="fr-FR" sz="1200" dirty="0">
                  <a:solidFill>
                    <a:srgbClr val="231F20"/>
                  </a:solidFill>
                </a:rPr>
                <a:t>, </a:t>
              </a:r>
              <a:r>
                <a:rPr lang="fr-FR" sz="1200" dirty="0" err="1">
                  <a:solidFill>
                    <a:srgbClr val="231F20"/>
                  </a:solidFill>
                </a:rPr>
                <a:t>each</a:t>
              </a:r>
              <a:r>
                <a:rPr lang="fr-FR" sz="1200" dirty="0">
                  <a:solidFill>
                    <a:srgbClr val="231F20"/>
                  </a:solidFill>
                </a:rPr>
                <a:t> </a:t>
              </a:r>
              <a:r>
                <a:rPr lang="fr-FR" sz="1200" dirty="0" err="1">
                  <a:solidFill>
                    <a:srgbClr val="231F20"/>
                  </a:solidFill>
                </a:rPr>
                <a:t>composed</a:t>
              </a:r>
              <a:r>
                <a:rPr lang="fr-FR" sz="1200" dirty="0">
                  <a:solidFill>
                    <a:srgbClr val="231F20"/>
                  </a:solidFill>
                </a:rPr>
                <a:t> of 30 </a:t>
              </a:r>
              <a:r>
                <a:rPr lang="fr-FR" sz="1200" dirty="0" err="1">
                  <a:solidFill>
                    <a:srgbClr val="231F20"/>
                  </a:solidFill>
                </a:rPr>
                <a:t>amino</a:t>
              </a:r>
              <a:r>
                <a:rPr lang="fr-FR" sz="1200" dirty="0">
                  <a:solidFill>
                    <a:srgbClr val="231F20"/>
                  </a:solidFill>
                </a:rPr>
                <a:t> </a:t>
              </a:r>
              <a:r>
                <a:rPr lang="fr-FR" sz="1200" dirty="0" err="1">
                  <a:solidFill>
                    <a:srgbClr val="231F20"/>
                  </a:solidFill>
                </a:rPr>
                <a:t>acids</a:t>
              </a:r>
              <a:r>
                <a:rPr lang="fr-FR" sz="1200" dirty="0">
                  <a:solidFill>
                    <a:srgbClr val="231F20"/>
                  </a:solidFill>
                </a:rPr>
                <a:t>. </a:t>
              </a:r>
              <a:r>
                <a:rPr lang="fr-FR" sz="1200" dirty="0" err="1">
                  <a:solidFill>
                    <a:srgbClr val="231F20"/>
                  </a:solidFill>
                </a:rPr>
                <a:t>Also</a:t>
              </a:r>
              <a:r>
                <a:rPr lang="fr-FR" sz="1200" dirty="0">
                  <a:solidFill>
                    <a:srgbClr val="231F20"/>
                  </a:solidFill>
                </a:rPr>
                <a:t>, </a:t>
              </a:r>
              <a:r>
                <a:rPr lang="fr-FR" sz="1200" dirty="0" err="1">
                  <a:solidFill>
                    <a:srgbClr val="231F20"/>
                  </a:solidFill>
                </a:rPr>
                <a:t>each</a:t>
              </a:r>
              <a:r>
                <a:rPr lang="fr-FR" sz="1200" dirty="0">
                  <a:solidFill>
                    <a:srgbClr val="231F20"/>
                  </a:solidFill>
                </a:rPr>
                <a:t> </a:t>
              </a:r>
              <a:r>
                <a:rPr lang="fr-FR" sz="1200" dirty="0" err="1">
                  <a:solidFill>
                    <a:srgbClr val="231F20"/>
                  </a:solidFill>
                </a:rPr>
                <a:t>monomer</a:t>
              </a:r>
              <a:r>
                <a:rPr lang="fr-FR" sz="1200" dirty="0">
                  <a:solidFill>
                    <a:srgbClr val="231F20"/>
                  </a:solidFill>
                </a:rPr>
                <a:t> </a:t>
              </a:r>
              <a:r>
                <a:rPr lang="en-US" sz="1200" b="1" i="0" u="none" strike="noStrike" baseline="0" dirty="0">
                  <a:solidFill>
                    <a:srgbClr val="231F20"/>
                  </a:solidFill>
                </a:rPr>
                <a:t>recognizes 9 to 18 base pairs </a:t>
              </a:r>
              <a:r>
                <a:rPr lang="en-US" sz="1200" b="0" i="0" u="none" strike="noStrike" baseline="0" dirty="0">
                  <a:solidFill>
                    <a:srgbClr val="231F20"/>
                  </a:solidFill>
                </a:rPr>
                <a:t>of  a specific “half site” sequence of DNA</a:t>
              </a:r>
              <a:r>
                <a:rPr lang="en-US" sz="1200" dirty="0">
                  <a:solidFill>
                    <a:srgbClr val="231F20"/>
                  </a:solidFill>
                </a:rPr>
                <a:t> (</a:t>
              </a:r>
              <a:r>
                <a:rPr lang="en-US" sz="1200" dirty="0" err="1">
                  <a:solidFill>
                    <a:srgbClr val="231F20"/>
                  </a:solidFill>
                </a:rPr>
                <a:t>FokI</a:t>
              </a:r>
              <a:r>
                <a:rPr lang="en-US" sz="1200" dirty="0">
                  <a:solidFill>
                    <a:srgbClr val="231F20"/>
                  </a:solidFill>
                </a:rPr>
                <a:t>)</a:t>
              </a:r>
              <a:r>
                <a:rPr lang="en-US" sz="1200" b="0" i="0" u="none" strike="noStrike" baseline="0" dirty="0">
                  <a:solidFill>
                    <a:srgbClr val="231F20"/>
                  </a:solidFill>
                </a:rPr>
                <a:t>.</a:t>
              </a:r>
            </a:p>
            <a:p>
              <a:pPr marL="285750" indent="-285750" algn="just">
                <a:buFont typeface="Wingdings" panose="05000000000000000000" pitchFamily="2" charset="2"/>
                <a:buChar char="Ø"/>
              </a:pPr>
              <a:r>
                <a:rPr lang="en-US" sz="1200" dirty="0">
                  <a:solidFill>
                    <a:srgbClr val="231F20"/>
                  </a:solidFill>
                </a:rPr>
                <a:t>ZFNs are working </a:t>
              </a:r>
              <a:r>
                <a:rPr lang="en-US" sz="1200" i="1" dirty="0">
                  <a:solidFill>
                    <a:srgbClr val="231F20"/>
                  </a:solidFill>
                </a:rPr>
                <a:t>via</a:t>
              </a:r>
              <a:r>
                <a:rPr lang="en-US" sz="1200" dirty="0">
                  <a:solidFill>
                    <a:srgbClr val="231F20"/>
                  </a:solidFill>
                </a:rPr>
                <a:t> a </a:t>
              </a:r>
              <a:r>
                <a:rPr lang="en-US" sz="1200" b="1" dirty="0">
                  <a:solidFill>
                    <a:srgbClr val="231F20"/>
                  </a:solidFill>
                </a:rPr>
                <a:t>double-strand break (DBS) at predefined genome loci.</a:t>
              </a:r>
            </a:p>
            <a:p>
              <a:pPr marL="285750" indent="-285750" algn="just">
                <a:buFont typeface="Wingdings" panose="05000000000000000000" pitchFamily="2" charset="2"/>
                <a:buChar char="Ø"/>
              </a:pPr>
              <a:r>
                <a:rPr lang="en-US" sz="1200" dirty="0">
                  <a:solidFill>
                    <a:srgbClr val="231F20"/>
                  </a:solidFill>
                </a:rPr>
                <a:t>They recognize </a:t>
              </a:r>
              <a:r>
                <a:rPr lang="en-US" sz="1200" b="1" dirty="0">
                  <a:solidFill>
                    <a:srgbClr val="231F20"/>
                  </a:solidFill>
                </a:rPr>
                <a:t>triplets of base pairs.</a:t>
              </a:r>
              <a:endParaRPr lang="fr-FR" sz="1200" b="1" dirty="0"/>
            </a:p>
          </p:txBody>
        </p:sp>
        <p:pic>
          <p:nvPicPr>
            <p:cNvPr id="36" name="Image 35" descr="Une image contenant symbole, cercle, Graphique, conception&#10;&#10;Description générée automatiquement">
              <a:extLst>
                <a:ext uri="{FF2B5EF4-FFF2-40B4-BE49-F238E27FC236}">
                  <a16:creationId xmlns:a16="http://schemas.microsoft.com/office/drawing/2014/main" id="{754FA025-47AE-43CE-72C0-A2C1977C2260}"/>
                </a:ext>
              </a:extLst>
            </p:cNvPr>
            <p:cNvPicPr>
              <a:picLocks noChangeAspect="1"/>
            </p:cNvPicPr>
            <p:nvPr/>
          </p:nvPicPr>
          <p:blipFill>
            <a:blip r:embed="rId11"/>
            <a:stretch>
              <a:fillRect/>
            </a:stretch>
          </p:blipFill>
          <p:spPr>
            <a:xfrm>
              <a:off x="3084375" y="2029268"/>
              <a:ext cx="468000" cy="468000"/>
            </a:xfrm>
            <a:prstGeom prst="rect">
              <a:avLst/>
            </a:prstGeom>
          </p:spPr>
        </p:pic>
      </p:grpSp>
      <p:grpSp>
        <p:nvGrpSpPr>
          <p:cNvPr id="48" name="Groupe 47">
            <a:extLst>
              <a:ext uri="{FF2B5EF4-FFF2-40B4-BE49-F238E27FC236}">
                <a16:creationId xmlns:a16="http://schemas.microsoft.com/office/drawing/2014/main" id="{031E1847-4EDE-A72E-EF40-87DE419431C4}"/>
              </a:ext>
            </a:extLst>
          </p:cNvPr>
          <p:cNvGrpSpPr/>
          <p:nvPr/>
        </p:nvGrpSpPr>
        <p:grpSpPr>
          <a:xfrm>
            <a:off x="8558191" y="1965257"/>
            <a:ext cx="3265759" cy="4018079"/>
            <a:chOff x="8558191" y="1965257"/>
            <a:chExt cx="3265759" cy="4018079"/>
          </a:xfrm>
        </p:grpSpPr>
        <p:grpSp>
          <p:nvGrpSpPr>
            <p:cNvPr id="40" name="Groupe 39">
              <a:extLst>
                <a:ext uri="{FF2B5EF4-FFF2-40B4-BE49-F238E27FC236}">
                  <a16:creationId xmlns:a16="http://schemas.microsoft.com/office/drawing/2014/main" id="{E99BF6EE-F978-4657-6114-C0549B801D49}"/>
                </a:ext>
              </a:extLst>
            </p:cNvPr>
            <p:cNvGrpSpPr/>
            <p:nvPr/>
          </p:nvGrpSpPr>
          <p:grpSpPr>
            <a:xfrm>
              <a:off x="8558191" y="1965257"/>
              <a:ext cx="3265759" cy="1634838"/>
              <a:chOff x="8558191" y="1965257"/>
              <a:chExt cx="3265759" cy="1634838"/>
            </a:xfrm>
          </p:grpSpPr>
          <p:sp>
            <p:nvSpPr>
              <p:cNvPr id="26" name="Rectangle : coins arrondis 25">
                <a:extLst>
                  <a:ext uri="{FF2B5EF4-FFF2-40B4-BE49-F238E27FC236}">
                    <a16:creationId xmlns:a16="http://schemas.microsoft.com/office/drawing/2014/main" id="{C447A88E-A0FF-F66A-E668-4CD25591DCD2}"/>
                  </a:ext>
                </a:extLst>
              </p:cNvPr>
              <p:cNvSpPr/>
              <p:nvPr/>
            </p:nvSpPr>
            <p:spPr>
              <a:xfrm>
                <a:off x="8760710" y="2244425"/>
                <a:ext cx="3063240" cy="1355670"/>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8E93A2CB-07EB-ED5A-FEEB-C66E327BD9A7}"/>
                  </a:ext>
                </a:extLst>
              </p:cNvPr>
              <p:cNvSpPr/>
              <p:nvPr/>
            </p:nvSpPr>
            <p:spPr>
              <a:xfrm>
                <a:off x="8558191" y="1965257"/>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21BB37B3-1ABC-0D32-DF69-19FF82BA1C6D}"/>
                  </a:ext>
                </a:extLst>
              </p:cNvPr>
              <p:cNvSpPr/>
              <p:nvPr/>
            </p:nvSpPr>
            <p:spPr>
              <a:xfrm>
                <a:off x="9000609" y="2035590"/>
                <a:ext cx="2297561"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51" name="ZoneTexte 50">
                <a:extLst>
                  <a:ext uri="{FF2B5EF4-FFF2-40B4-BE49-F238E27FC236}">
                    <a16:creationId xmlns:a16="http://schemas.microsoft.com/office/drawing/2014/main" id="{CC5504F4-4B30-DA78-F88C-BE319A35251C}"/>
                  </a:ext>
                </a:extLst>
              </p:cNvPr>
              <p:cNvSpPr txBox="1"/>
              <p:nvPr/>
            </p:nvSpPr>
            <p:spPr>
              <a:xfrm>
                <a:off x="8848724" y="2461322"/>
                <a:ext cx="2975225" cy="1138773"/>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err="1"/>
                  <a:t>Cardiovascular</a:t>
                </a:r>
                <a:r>
                  <a:rPr lang="fr-FR" sz="1200" dirty="0"/>
                  <a:t> diseases</a:t>
                </a:r>
                <a:r>
                  <a:rPr lang="fr-FR" sz="1200" baseline="30000" dirty="0"/>
                  <a:t>1</a:t>
                </a:r>
              </a:p>
              <a:p>
                <a:pPr algn="just"/>
                <a:endParaRPr lang="fr-FR" sz="1200" baseline="30000" dirty="0"/>
              </a:p>
              <a:p>
                <a:pPr marL="285750" indent="-285750" algn="just">
                  <a:buFont typeface="Wingdings" panose="05000000000000000000" pitchFamily="2" charset="2"/>
                  <a:buChar char="Ø"/>
                </a:pPr>
                <a:r>
                  <a:rPr lang="fr-FR" sz="1200" dirty="0"/>
                  <a:t>Viral infections, </a:t>
                </a:r>
                <a:r>
                  <a:rPr lang="fr-FR" sz="1200" dirty="0" err="1"/>
                  <a:t>such</a:t>
                </a:r>
                <a:r>
                  <a:rPr lang="fr-FR" sz="1200" dirty="0"/>
                  <a:t> as HIV and HPV.</a:t>
                </a:r>
                <a:r>
                  <a:rPr lang="en-US" sz="1200" baseline="30000" dirty="0"/>
                  <a:t>2 </a:t>
                </a:r>
                <a:r>
                  <a:rPr lang="en-US" sz="1200" dirty="0"/>
                  <a:t>For HIV, in February 2022, a total of 9 clinical trials were conducted related to ZFNs.</a:t>
                </a:r>
                <a:r>
                  <a:rPr lang="en-US" sz="1200" baseline="30000" dirty="0"/>
                  <a:t>3</a:t>
                </a:r>
                <a:endParaRPr lang="fr-FR" sz="1200" baseline="30000" dirty="0"/>
              </a:p>
            </p:txBody>
          </p:sp>
          <p:pic>
            <p:nvPicPr>
              <p:cNvPr id="39" name="Image 38" descr="Une image contenant symbole, Police, Graphique, logo&#10;&#10;Description générée automatiquement">
                <a:extLst>
                  <a:ext uri="{FF2B5EF4-FFF2-40B4-BE49-F238E27FC236}">
                    <a16:creationId xmlns:a16="http://schemas.microsoft.com/office/drawing/2014/main" id="{03742B38-D8B9-6BBC-282B-D2493B075E18}"/>
                  </a:ext>
                </a:extLst>
              </p:cNvPr>
              <p:cNvPicPr>
                <a:picLocks noChangeAspect="1"/>
              </p:cNvPicPr>
              <p:nvPr/>
            </p:nvPicPr>
            <p:blipFill>
              <a:blip r:embed="rId12"/>
              <a:stretch>
                <a:fillRect/>
              </a:stretch>
            </p:blipFill>
            <p:spPr>
              <a:xfrm>
                <a:off x="8594191" y="2003382"/>
                <a:ext cx="468000" cy="468000"/>
              </a:xfrm>
              <a:prstGeom prst="rect">
                <a:avLst/>
              </a:prstGeom>
            </p:spPr>
          </p:pic>
        </p:grpSp>
        <p:grpSp>
          <p:nvGrpSpPr>
            <p:cNvPr id="38" name="Groupe 37">
              <a:extLst>
                <a:ext uri="{FF2B5EF4-FFF2-40B4-BE49-F238E27FC236}">
                  <a16:creationId xmlns:a16="http://schemas.microsoft.com/office/drawing/2014/main" id="{A9B2083E-7250-7A29-2262-85DCFB6CC081}"/>
                </a:ext>
              </a:extLst>
            </p:cNvPr>
            <p:cNvGrpSpPr/>
            <p:nvPr/>
          </p:nvGrpSpPr>
          <p:grpSpPr>
            <a:xfrm>
              <a:off x="8558191" y="3918207"/>
              <a:ext cx="3265759" cy="2065129"/>
              <a:chOff x="8558191" y="4380407"/>
              <a:chExt cx="3265759" cy="2065129"/>
            </a:xfrm>
          </p:grpSpPr>
          <p:sp>
            <p:nvSpPr>
              <p:cNvPr id="45" name="Rectangle : coins arrondis 44">
                <a:extLst>
                  <a:ext uri="{FF2B5EF4-FFF2-40B4-BE49-F238E27FC236}">
                    <a16:creationId xmlns:a16="http://schemas.microsoft.com/office/drawing/2014/main" id="{54011447-FDF3-29BB-51A8-6DBDFCBD7366}"/>
                  </a:ext>
                </a:extLst>
              </p:cNvPr>
              <p:cNvSpPr/>
              <p:nvPr/>
            </p:nvSpPr>
            <p:spPr>
              <a:xfrm>
                <a:off x="8760710" y="4659575"/>
                <a:ext cx="3063240" cy="1753926"/>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2ACF08A5-2417-69E1-5543-50A9CB926A78}"/>
                  </a:ext>
                </a:extLst>
              </p:cNvPr>
              <p:cNvSpPr/>
              <p:nvPr/>
            </p:nvSpPr>
            <p:spPr>
              <a:xfrm>
                <a:off x="8558191" y="4380407"/>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BF4DB812-5DBA-B9E1-83D0-8D54AD4797C0}"/>
                  </a:ext>
                </a:extLst>
              </p:cNvPr>
              <p:cNvSpPr/>
              <p:nvPr/>
            </p:nvSpPr>
            <p:spPr>
              <a:xfrm>
                <a:off x="9000609" y="4450740"/>
                <a:ext cx="2297561"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ZoneTexte 40">
                <a:extLst>
                  <a:ext uri="{FF2B5EF4-FFF2-40B4-BE49-F238E27FC236}">
                    <a16:creationId xmlns:a16="http://schemas.microsoft.com/office/drawing/2014/main" id="{CCC31EC6-1BD6-3135-DE7E-2AE445A773DA}"/>
                  </a:ext>
                </a:extLst>
              </p:cNvPr>
              <p:cNvSpPr txBox="1"/>
              <p:nvPr/>
            </p:nvSpPr>
            <p:spPr>
              <a:xfrm>
                <a:off x="8884920" y="4875876"/>
                <a:ext cx="2939030" cy="1569660"/>
              </a:xfrm>
              <a:prstGeom prst="rect">
                <a:avLst/>
              </a:prstGeom>
              <a:noFill/>
            </p:spPr>
            <p:txBody>
              <a:bodyPr wrap="square">
                <a:spAutoFit/>
              </a:bodyPr>
              <a:lstStyle/>
              <a:p>
                <a:pPr marL="285750" indent="-285750" algn="just">
                  <a:buFont typeface="Wingdings" panose="05000000000000000000" pitchFamily="2" charset="2"/>
                  <a:buChar char="Ø"/>
                </a:pPr>
                <a:r>
                  <a:rPr lang="fr-FR" sz="1200" i="0" dirty="0" err="1">
                    <a:effectLst/>
                  </a:rPr>
                  <a:t>Yeast</a:t>
                </a:r>
                <a:endParaRPr lang="fr-FR" sz="1200" dirty="0"/>
              </a:p>
              <a:p>
                <a:pPr marL="285750" indent="-285750" algn="just">
                  <a:buFont typeface="Wingdings" panose="05000000000000000000" pitchFamily="2" charset="2"/>
                  <a:buChar char="Ø"/>
                </a:pPr>
                <a:r>
                  <a:rPr lang="fr-FR" sz="1200" i="0" dirty="0">
                    <a:effectLst/>
                  </a:rPr>
                  <a:t>Drosophila</a:t>
                </a:r>
              </a:p>
              <a:p>
                <a:pPr marL="285750" indent="-285750" algn="just">
                  <a:buFont typeface="Wingdings" panose="05000000000000000000" pitchFamily="2" charset="2"/>
                  <a:buChar char="Ø"/>
                </a:pPr>
                <a:r>
                  <a:rPr lang="fr-FR" sz="1200" dirty="0" err="1"/>
                  <a:t>R</a:t>
                </a:r>
                <a:r>
                  <a:rPr lang="fr-FR" sz="1200" i="0" dirty="0" err="1">
                    <a:effectLst/>
                  </a:rPr>
                  <a:t>oundworms</a:t>
                </a:r>
                <a:endParaRPr lang="fr-FR" sz="1200" dirty="0"/>
              </a:p>
              <a:p>
                <a:pPr marL="285750" indent="-285750" algn="just">
                  <a:buFont typeface="Wingdings" panose="05000000000000000000" pitchFamily="2" charset="2"/>
                  <a:buChar char="Ø"/>
                </a:pPr>
                <a:r>
                  <a:rPr lang="fr-FR" sz="1200" dirty="0" err="1"/>
                  <a:t>Zebrafish</a:t>
                </a:r>
                <a:endParaRPr lang="fr-FR" sz="1200" dirty="0"/>
              </a:p>
              <a:p>
                <a:pPr marL="285750" indent="-285750" algn="just">
                  <a:buFont typeface="Wingdings" panose="05000000000000000000" pitchFamily="2" charset="2"/>
                  <a:buChar char="Ø"/>
                </a:pPr>
                <a:r>
                  <a:rPr lang="fr-FR" sz="1200" i="0" dirty="0" err="1">
                    <a:effectLst/>
                  </a:rPr>
                  <a:t>Nematode</a:t>
                </a:r>
                <a:r>
                  <a:rPr lang="fr-FR" sz="1200" i="0" dirty="0">
                    <a:effectLst/>
                  </a:rPr>
                  <a:t> </a:t>
                </a:r>
                <a:r>
                  <a:rPr lang="fr-FR" sz="1200" i="0" dirty="0" err="1">
                    <a:effectLst/>
                  </a:rPr>
                  <a:t>species</a:t>
                </a:r>
                <a:endParaRPr lang="fr-FR" sz="1200" dirty="0"/>
              </a:p>
              <a:p>
                <a:pPr marL="285750" indent="-285750" algn="just">
                  <a:buFont typeface="Wingdings" panose="05000000000000000000" pitchFamily="2" charset="2"/>
                  <a:buChar char="Ø"/>
                </a:pPr>
                <a:r>
                  <a:rPr lang="fr-FR" sz="1200" dirty="0" err="1"/>
                  <a:t>Humans</a:t>
                </a:r>
                <a:endParaRPr lang="fr-FR" sz="1200" dirty="0"/>
              </a:p>
              <a:p>
                <a:pPr marL="285750" indent="-285750" algn="just">
                  <a:buFont typeface="Wingdings" panose="05000000000000000000" pitchFamily="2" charset="2"/>
                  <a:buChar char="Ø"/>
                </a:pPr>
                <a:r>
                  <a:rPr lang="fr-FR" sz="1200" dirty="0"/>
                  <a:t>Plants (</a:t>
                </a:r>
                <a:r>
                  <a:rPr lang="fr-FR" sz="1200" dirty="0" err="1"/>
                  <a:t>soybeans</a:t>
                </a:r>
                <a:r>
                  <a:rPr lang="fr-FR" sz="1200" dirty="0"/>
                  <a:t>, </a:t>
                </a:r>
                <a:r>
                  <a:rPr lang="fr-FR" sz="1200" dirty="0" err="1"/>
                  <a:t>thale</a:t>
                </a:r>
                <a:r>
                  <a:rPr lang="fr-FR" sz="1200" dirty="0"/>
                  <a:t> </a:t>
                </a:r>
                <a:r>
                  <a:rPr lang="fr-FR" sz="1200" dirty="0" err="1"/>
                  <a:t>cress</a:t>
                </a:r>
                <a:r>
                  <a:rPr lang="fr-FR" sz="1200" dirty="0"/>
                  <a:t>)</a:t>
                </a:r>
              </a:p>
              <a:p>
                <a:pPr marL="285750" indent="-285750" algn="just">
                  <a:buFont typeface="Wingdings" panose="05000000000000000000" pitchFamily="2" charset="2"/>
                  <a:buChar char="Ø"/>
                </a:pPr>
                <a:r>
                  <a:rPr lang="fr-FR" sz="1200" i="0" dirty="0" err="1">
                    <a:effectLst/>
                  </a:rPr>
                  <a:t>Algae</a:t>
                </a:r>
                <a:endParaRPr lang="fr-FR" sz="1200" dirty="0"/>
              </a:p>
            </p:txBody>
          </p:sp>
          <p:pic>
            <p:nvPicPr>
              <p:cNvPr id="42" name="Image 41" descr="Une image contenant cercle, Graphique, Police, symbole&#10;&#10;Description générée automatiquement">
                <a:extLst>
                  <a:ext uri="{FF2B5EF4-FFF2-40B4-BE49-F238E27FC236}">
                    <a16:creationId xmlns:a16="http://schemas.microsoft.com/office/drawing/2014/main" id="{72D1A5A3-3C55-7D5E-458C-DA1B53ED400B}"/>
                  </a:ext>
                </a:extLst>
              </p:cNvPr>
              <p:cNvPicPr>
                <a:picLocks noChangeAspect="1"/>
              </p:cNvPicPr>
              <p:nvPr/>
            </p:nvPicPr>
            <p:blipFill>
              <a:blip r:embed="rId13"/>
              <a:stretch>
                <a:fillRect/>
              </a:stretch>
            </p:blipFill>
            <p:spPr>
              <a:xfrm>
                <a:off x="8607429" y="4438745"/>
                <a:ext cx="468000" cy="468000"/>
              </a:xfrm>
              <a:prstGeom prst="rect">
                <a:avLst/>
              </a:prstGeom>
            </p:spPr>
          </p:pic>
        </p:grpSp>
      </p:grpSp>
      <p:grpSp>
        <p:nvGrpSpPr>
          <p:cNvPr id="29" name="Groupe 28">
            <a:extLst>
              <a:ext uri="{FF2B5EF4-FFF2-40B4-BE49-F238E27FC236}">
                <a16:creationId xmlns:a16="http://schemas.microsoft.com/office/drawing/2014/main" id="{5173AAB4-4D57-2D33-7D7E-CED3764AC2A5}"/>
              </a:ext>
            </a:extLst>
          </p:cNvPr>
          <p:cNvGrpSpPr/>
          <p:nvPr/>
        </p:nvGrpSpPr>
        <p:grpSpPr>
          <a:xfrm>
            <a:off x="645225" y="945343"/>
            <a:ext cx="10937024" cy="565150"/>
            <a:chOff x="645225" y="945343"/>
            <a:chExt cx="10937024" cy="565150"/>
          </a:xfrm>
        </p:grpSpPr>
        <p:sp>
          <p:nvSpPr>
            <p:cNvPr id="32" name="Ellipse 31">
              <a:extLst>
                <a:ext uri="{FF2B5EF4-FFF2-40B4-BE49-F238E27FC236}">
                  <a16:creationId xmlns:a16="http://schemas.microsoft.com/office/drawing/2014/main" id="{BBCDB752-0210-80C6-30DA-E840F526D30E}"/>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texte 9">
              <a:extLst>
                <a:ext uri="{FF2B5EF4-FFF2-40B4-BE49-F238E27FC236}">
                  <a16:creationId xmlns:a16="http://schemas.microsoft.com/office/drawing/2014/main" id="{DBC5693F-CAEB-290E-EC15-7F81D4FA8A23}"/>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err="1"/>
                <a:t>ZFNs</a:t>
              </a:r>
              <a:r>
                <a:rPr lang="fr-FR" sz="1800" b="1" dirty="0"/>
                <a:t> are a versatile, effective and mature platform of </a:t>
              </a:r>
              <a:r>
                <a:rPr lang="fr-FR" sz="1800" b="1" dirty="0" err="1"/>
                <a:t>genome</a:t>
              </a:r>
              <a:r>
                <a:rPr lang="fr-FR" sz="1800" b="1" dirty="0"/>
                <a:t> </a:t>
              </a:r>
              <a:r>
                <a:rPr lang="fr-FR" sz="1800" b="1" dirty="0" err="1"/>
                <a:t>editing</a:t>
              </a:r>
              <a:r>
                <a:rPr lang="fr-FR" sz="1800" b="1" dirty="0"/>
                <a:t> but </a:t>
              </a:r>
              <a:r>
                <a:rPr lang="fr-FR" sz="1800" b="1" dirty="0" err="1"/>
                <a:t>they</a:t>
              </a:r>
              <a:r>
                <a:rPr lang="fr-FR" sz="1800" b="1" dirty="0"/>
                <a:t> </a:t>
              </a:r>
              <a:r>
                <a:rPr lang="fr-FR" sz="1800" b="1" dirty="0" err="1"/>
                <a:t>also</a:t>
              </a:r>
              <a:r>
                <a:rPr lang="fr-FR" sz="1800" b="1" dirty="0"/>
                <a:t> </a:t>
              </a:r>
              <a:r>
                <a:rPr lang="fr-FR" sz="1800" b="1" dirty="0" err="1"/>
                <a:t>present</a:t>
              </a:r>
              <a:r>
                <a:rPr lang="fr-FR" sz="1800" b="1" dirty="0"/>
                <a:t> important </a:t>
              </a:r>
              <a:r>
                <a:rPr lang="fr-FR" sz="1800" b="1" dirty="0" err="1"/>
                <a:t>cytotoxicity</a:t>
              </a:r>
              <a:r>
                <a:rPr lang="fr-FR" sz="1800" b="1" dirty="0"/>
                <a:t> and </a:t>
              </a:r>
              <a:r>
                <a:rPr lang="fr-FR" sz="1800" b="1" dirty="0" err="1"/>
                <a:t>lack</a:t>
              </a:r>
              <a:r>
                <a:rPr lang="fr-FR" sz="1800" b="1" dirty="0"/>
                <a:t> of </a:t>
              </a:r>
              <a:r>
                <a:rPr lang="fr-FR" sz="1800" b="1" dirty="0" err="1"/>
                <a:t>specificity</a:t>
              </a:r>
              <a:r>
                <a:rPr lang="fr-FR" sz="1800" b="1" dirty="0"/>
                <a:t>.</a:t>
              </a:r>
            </a:p>
          </p:txBody>
        </p:sp>
      </p:grpSp>
      <p:sp>
        <p:nvSpPr>
          <p:cNvPr id="53" name="ZoneTexte 52">
            <a:extLst>
              <a:ext uri="{FF2B5EF4-FFF2-40B4-BE49-F238E27FC236}">
                <a16:creationId xmlns:a16="http://schemas.microsoft.com/office/drawing/2014/main" id="{F68B8638-956E-56B8-32EC-86A10EC7B214}"/>
              </a:ext>
            </a:extLst>
          </p:cNvPr>
          <p:cNvSpPr txBox="1"/>
          <p:nvPr/>
        </p:nvSpPr>
        <p:spPr>
          <a:xfrm>
            <a:off x="6997777" y="0"/>
            <a:ext cx="1003223"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1472900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D753-1710-F73F-B9C8-92C294D4FB5A}"/>
            </a:ext>
          </a:extLst>
        </p:cNvPr>
        <p:cNvGrpSpPr/>
        <p:nvPr/>
      </p:nvGrpSpPr>
      <p:grpSpPr>
        <a:xfrm>
          <a:off x="0" y="0"/>
          <a:ext cx="0" cy="0"/>
          <a:chOff x="0" y="0"/>
          <a:chExt cx="0" cy="0"/>
        </a:xfrm>
      </p:grpSpPr>
      <p:grpSp>
        <p:nvGrpSpPr>
          <p:cNvPr id="6" name="Groupe 5">
            <a:extLst>
              <a:ext uri="{FF2B5EF4-FFF2-40B4-BE49-F238E27FC236}">
                <a16:creationId xmlns:a16="http://schemas.microsoft.com/office/drawing/2014/main" id="{7692076D-647C-3BF6-FA26-0B9D15660BCB}"/>
              </a:ext>
            </a:extLst>
          </p:cNvPr>
          <p:cNvGrpSpPr/>
          <p:nvPr/>
        </p:nvGrpSpPr>
        <p:grpSpPr>
          <a:xfrm>
            <a:off x="9464997" y="129350"/>
            <a:ext cx="2626277" cy="580939"/>
            <a:chOff x="9464997" y="129350"/>
            <a:chExt cx="2626277" cy="580939"/>
          </a:xfrm>
        </p:grpSpPr>
        <p:pic>
          <p:nvPicPr>
            <p:cNvPr id="7" name="Picture 2">
              <a:extLst>
                <a:ext uri="{FF2B5EF4-FFF2-40B4-BE49-F238E27FC236}">
                  <a16:creationId xmlns:a16="http://schemas.microsoft.com/office/drawing/2014/main" id="{6E16176A-5FEE-48BE-6B42-5F55BB6FD814}"/>
                </a:ext>
              </a:extLst>
            </p:cNvPr>
            <p:cNvPicPr>
              <a:picLocks noChangeAspect="1" noChangeArrowheads="1"/>
            </p:cNvPicPr>
            <p:nvPr/>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6608C72E-C6DE-21C9-0688-30D2657769D2}"/>
                </a:ext>
              </a:extLst>
            </p:cNvPr>
            <p:cNvPicPr>
              <a:picLocks noChangeAspect="1"/>
            </p:cNvPicPr>
            <p:nvPr/>
          </p:nvPicPr>
          <p:blipFill>
            <a:blip r:embed="rId4"/>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97A5D966-4722-1C45-1000-67DD21555440}"/>
                </a:ext>
              </a:extLst>
            </p:cNvPr>
            <p:cNvPicPr>
              <a:picLocks noChangeAspect="1"/>
            </p:cNvPicPr>
            <p:nvPr/>
          </p:nvPicPr>
          <p:blipFill>
            <a:blip r:embed="rId5"/>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34B43B06-D022-EBA9-41FF-C289B6A69D38}"/>
                </a:ext>
              </a:extLst>
            </p:cNvPr>
            <p:cNvGrpSpPr/>
            <p:nvPr/>
          </p:nvGrpSpPr>
          <p:grpSpPr>
            <a:xfrm>
              <a:off x="9464997" y="129350"/>
              <a:ext cx="2626277" cy="580939"/>
              <a:chOff x="9464997" y="129350"/>
              <a:chExt cx="2626277" cy="580939"/>
            </a:xfrm>
          </p:grpSpPr>
          <p:sp>
            <p:nvSpPr>
              <p:cNvPr id="12" name="Rectangle : coins arrondis 11">
                <a:extLst>
                  <a:ext uri="{FF2B5EF4-FFF2-40B4-BE49-F238E27FC236}">
                    <a16:creationId xmlns:a16="http://schemas.microsoft.com/office/drawing/2014/main" id="{D097023B-868F-A6CA-D15F-90911C7C2C02}"/>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938A4C42-7B22-68B2-9667-04425E832872}"/>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FA7D15B7-A36E-9802-C6D0-F436356638EE}"/>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F7BB9E89-658E-5001-4692-71F880879685}"/>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57C4A9E3-1EAD-D48F-B150-F2110A4EED5E}"/>
                  </a:ext>
                </a:extLst>
              </p:cNvPr>
              <p:cNvSpPr/>
              <p:nvPr/>
            </p:nvSpPr>
            <p:spPr>
              <a:xfrm>
                <a:off x="10071797" y="129350"/>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1" name="Image 10">
              <a:extLst>
                <a:ext uri="{FF2B5EF4-FFF2-40B4-BE49-F238E27FC236}">
                  <a16:creationId xmlns:a16="http://schemas.microsoft.com/office/drawing/2014/main" id="{EE162ACA-FA4C-FDF6-F64D-15D8C0A5C19B}"/>
                </a:ext>
              </a:extLst>
            </p:cNvPr>
            <p:cNvPicPr>
              <a:picLocks noChangeAspect="1"/>
            </p:cNvPicPr>
            <p:nvPr/>
          </p:nvPicPr>
          <p:blipFill>
            <a:blip r:embed="rId6"/>
            <a:stretch>
              <a:fillRect/>
            </a:stretch>
          </p:blipFill>
          <p:spPr>
            <a:xfrm>
              <a:off x="9554107" y="218630"/>
              <a:ext cx="360000" cy="360000"/>
            </a:xfrm>
            <a:prstGeom prst="rect">
              <a:avLst/>
            </a:prstGeom>
          </p:spPr>
        </p:pic>
      </p:grpSp>
      <p:cxnSp>
        <p:nvCxnSpPr>
          <p:cNvPr id="17" name="Connecteur droit 16">
            <a:extLst>
              <a:ext uri="{FF2B5EF4-FFF2-40B4-BE49-F238E27FC236}">
                <a16:creationId xmlns:a16="http://schemas.microsoft.com/office/drawing/2014/main" id="{5D050D18-23E4-ACB1-9194-F8EFEAE668EE}"/>
              </a:ext>
            </a:extLst>
          </p:cNvPr>
          <p:cNvCxnSpPr/>
          <p:nvPr/>
        </p:nvCxnSpPr>
        <p:spPr>
          <a:xfrm>
            <a:off x="0" y="771525"/>
            <a:ext cx="12192000" cy="0"/>
          </a:xfrm>
          <a:prstGeom prst="line">
            <a:avLst/>
          </a:prstGeom>
          <a:ln w="38100">
            <a:solidFill>
              <a:schemeClr val="accent3"/>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5B93896A-0E5B-6870-9A42-8D527994636B}"/>
              </a:ext>
            </a:extLst>
          </p:cNvPr>
          <p:cNvSpPr txBox="1"/>
          <p:nvPr/>
        </p:nvSpPr>
        <p:spPr>
          <a:xfrm>
            <a:off x="218115" y="110422"/>
            <a:ext cx="9110731" cy="569387"/>
          </a:xfrm>
          <a:prstGeom prst="rect">
            <a:avLst/>
          </a:prstGeom>
          <a:noFill/>
        </p:spPr>
        <p:txBody>
          <a:bodyPr wrap="square">
            <a:spAutoFit/>
          </a:bodyPr>
          <a:lstStyle/>
          <a:p>
            <a:pPr lvl="0"/>
            <a:r>
              <a:rPr lang="fr-FR" sz="3100" b="1" dirty="0">
                <a:solidFill>
                  <a:schemeClr val="accent3"/>
                </a:solidFill>
              </a:rPr>
              <a:t>Zinc-Finger </a:t>
            </a:r>
            <a:r>
              <a:rPr lang="fr-FR" sz="3100" b="1" dirty="0" err="1">
                <a:solidFill>
                  <a:schemeClr val="accent3"/>
                </a:solidFill>
              </a:rPr>
              <a:t>Nucleases</a:t>
            </a:r>
            <a:r>
              <a:rPr lang="fr-FR" sz="3100" b="1" dirty="0">
                <a:solidFill>
                  <a:schemeClr val="accent3"/>
                </a:solidFill>
              </a:rPr>
              <a:t> (</a:t>
            </a:r>
            <a:r>
              <a:rPr lang="fr-FR" sz="3100" b="1" dirty="0" err="1">
                <a:solidFill>
                  <a:schemeClr val="accent3"/>
                </a:solidFill>
              </a:rPr>
              <a:t>ZFNs</a:t>
            </a:r>
            <a:r>
              <a:rPr lang="fr-FR" sz="3100" b="1" dirty="0">
                <a:solidFill>
                  <a:schemeClr val="accent3"/>
                </a:solidFill>
              </a:rPr>
              <a:t>)</a:t>
            </a:r>
          </a:p>
        </p:txBody>
      </p:sp>
      <p:grpSp>
        <p:nvGrpSpPr>
          <p:cNvPr id="52" name="Groupe 51">
            <a:extLst>
              <a:ext uri="{FF2B5EF4-FFF2-40B4-BE49-F238E27FC236}">
                <a16:creationId xmlns:a16="http://schemas.microsoft.com/office/drawing/2014/main" id="{A39E3A47-A415-5911-4C0F-43F791C62FDF}"/>
              </a:ext>
            </a:extLst>
          </p:cNvPr>
          <p:cNvGrpSpPr/>
          <p:nvPr/>
        </p:nvGrpSpPr>
        <p:grpSpPr>
          <a:xfrm>
            <a:off x="300401" y="1024586"/>
            <a:ext cx="8705746" cy="1335136"/>
            <a:chOff x="300401" y="1186511"/>
            <a:chExt cx="8705746" cy="1335136"/>
          </a:xfrm>
        </p:grpSpPr>
        <p:sp>
          <p:nvSpPr>
            <p:cNvPr id="20" name="Rectangle : coins arrondis 19">
              <a:extLst>
                <a:ext uri="{FF2B5EF4-FFF2-40B4-BE49-F238E27FC236}">
                  <a16:creationId xmlns:a16="http://schemas.microsoft.com/office/drawing/2014/main" id="{90C17700-3F07-F671-9FBE-8D353DA18FD3}"/>
                </a:ext>
              </a:extLst>
            </p:cNvPr>
            <p:cNvSpPr/>
            <p:nvPr/>
          </p:nvSpPr>
          <p:spPr>
            <a:xfrm>
              <a:off x="371100" y="1446274"/>
              <a:ext cx="8635047" cy="1075373"/>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3332627B-0B35-2FAB-46DD-33CEF22C0E52}"/>
                </a:ext>
              </a:extLst>
            </p:cNvPr>
            <p:cNvSpPr/>
            <p:nvPr/>
          </p:nvSpPr>
          <p:spPr>
            <a:xfrm>
              <a:off x="300401" y="1186511"/>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0FC04CA8-2F88-A21B-98C9-FCE53AD22DB2}"/>
                </a:ext>
              </a:extLst>
            </p:cNvPr>
            <p:cNvSpPr/>
            <p:nvPr/>
          </p:nvSpPr>
          <p:spPr>
            <a:xfrm>
              <a:off x="742819" y="1264165"/>
              <a:ext cx="3415295"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31" name="ZoneTexte 30">
              <a:extLst>
                <a:ext uri="{FF2B5EF4-FFF2-40B4-BE49-F238E27FC236}">
                  <a16:creationId xmlns:a16="http://schemas.microsoft.com/office/drawing/2014/main" id="{2F27C723-4C44-ACDF-BB39-7F206F2066C1}"/>
                </a:ext>
              </a:extLst>
            </p:cNvPr>
            <p:cNvSpPr txBox="1"/>
            <p:nvPr/>
          </p:nvSpPr>
          <p:spPr>
            <a:xfrm>
              <a:off x="525797" y="1682234"/>
              <a:ext cx="8480350"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They have proven to be the </a:t>
              </a:r>
              <a:r>
                <a:rPr lang="en-US" sz="1200" b="1" dirty="0"/>
                <a:t>most versatile and effective </a:t>
              </a:r>
              <a:r>
                <a:rPr lang="en-US" sz="1200" dirty="0"/>
                <a:t>class of targeting agents. Also, it’s </a:t>
              </a:r>
              <a:r>
                <a:rPr lang="en-US" sz="1200" b="1" dirty="0"/>
                <a:t>a mature platform.</a:t>
              </a:r>
            </a:p>
            <a:p>
              <a:pPr marL="285750" indent="-285750" algn="just">
                <a:buFont typeface="Wingdings" panose="05000000000000000000" pitchFamily="2" charset="2"/>
                <a:buChar char="Ø"/>
              </a:pPr>
              <a:r>
                <a:rPr lang="en-US" sz="1200" dirty="0">
                  <a:solidFill>
                    <a:srgbClr val="231F20"/>
                  </a:solidFill>
                </a:rPr>
                <a:t>They are </a:t>
              </a:r>
              <a:r>
                <a:rPr lang="en-US" sz="1200" b="1" dirty="0">
                  <a:solidFill>
                    <a:srgbClr val="231F20"/>
                  </a:solidFill>
                </a:rPr>
                <a:t>relatively </a:t>
              </a:r>
              <a:r>
                <a:rPr lang="en-US" sz="1200" b="1" dirty="0"/>
                <a:t>easy to deliver </a:t>
              </a:r>
              <a:r>
                <a:rPr lang="en-US" sz="1200" dirty="0"/>
                <a:t>as the small size of ZFN expression elements is suitable for a variety of viral vectors.</a:t>
              </a:r>
            </a:p>
            <a:p>
              <a:pPr marL="285750" indent="-285750" algn="just">
                <a:buFont typeface="Wingdings" panose="05000000000000000000" pitchFamily="2" charset="2"/>
                <a:buChar char="Ø"/>
              </a:pPr>
              <a:r>
                <a:rPr lang="en-US" sz="1200" dirty="0"/>
                <a:t>They tolerate a </a:t>
              </a:r>
              <a:r>
                <a:rPr lang="en-US" sz="1200" b="1" dirty="0"/>
                <a:t>small number of positional mismatches</a:t>
              </a:r>
              <a:r>
                <a:rPr lang="en-US" sz="1200" dirty="0"/>
                <a:t>.</a:t>
              </a:r>
            </a:p>
          </p:txBody>
        </p:sp>
        <p:pic>
          <p:nvPicPr>
            <p:cNvPr id="38" name="Image 37" descr="Une image contenant symbole, Graphique, logo, Police&#10;&#10;Description générée automatiquement">
              <a:extLst>
                <a:ext uri="{FF2B5EF4-FFF2-40B4-BE49-F238E27FC236}">
                  <a16:creationId xmlns:a16="http://schemas.microsoft.com/office/drawing/2014/main" id="{B20A30FC-E658-415C-5206-E2E4861E5137}"/>
                </a:ext>
              </a:extLst>
            </p:cNvPr>
            <p:cNvPicPr>
              <a:picLocks noChangeAspect="1"/>
            </p:cNvPicPr>
            <p:nvPr/>
          </p:nvPicPr>
          <p:blipFill>
            <a:blip r:embed="rId7"/>
            <a:stretch>
              <a:fillRect/>
            </a:stretch>
          </p:blipFill>
          <p:spPr>
            <a:xfrm>
              <a:off x="355251" y="1231335"/>
              <a:ext cx="468000" cy="468000"/>
            </a:xfrm>
            <a:prstGeom prst="rect">
              <a:avLst/>
            </a:prstGeom>
          </p:spPr>
        </p:pic>
      </p:grpSp>
      <p:grpSp>
        <p:nvGrpSpPr>
          <p:cNvPr id="57" name="Groupe 56">
            <a:extLst>
              <a:ext uri="{FF2B5EF4-FFF2-40B4-BE49-F238E27FC236}">
                <a16:creationId xmlns:a16="http://schemas.microsoft.com/office/drawing/2014/main" id="{61FA34A3-A305-E77A-03CE-9BDEBD2331DA}"/>
              </a:ext>
            </a:extLst>
          </p:cNvPr>
          <p:cNvGrpSpPr/>
          <p:nvPr/>
        </p:nvGrpSpPr>
        <p:grpSpPr>
          <a:xfrm>
            <a:off x="300401" y="2535278"/>
            <a:ext cx="8710919" cy="1759410"/>
            <a:chOff x="300401" y="2887258"/>
            <a:chExt cx="8710919" cy="1759410"/>
          </a:xfrm>
        </p:grpSpPr>
        <p:sp>
          <p:nvSpPr>
            <p:cNvPr id="26" name="Rectangle : coins arrondis 25">
              <a:extLst>
                <a:ext uri="{FF2B5EF4-FFF2-40B4-BE49-F238E27FC236}">
                  <a16:creationId xmlns:a16="http://schemas.microsoft.com/office/drawing/2014/main" id="{8C477EB3-2C1E-40F9-D467-4F6D60FE71C9}"/>
                </a:ext>
              </a:extLst>
            </p:cNvPr>
            <p:cNvSpPr/>
            <p:nvPr/>
          </p:nvSpPr>
          <p:spPr>
            <a:xfrm>
              <a:off x="371100" y="3166425"/>
              <a:ext cx="8640220" cy="1480243"/>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4767DDA8-D2B6-7060-6CDB-069476A0B5D1}"/>
                </a:ext>
              </a:extLst>
            </p:cNvPr>
            <p:cNvSpPr/>
            <p:nvPr/>
          </p:nvSpPr>
          <p:spPr>
            <a:xfrm>
              <a:off x="300401" y="2887258"/>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251EBC80-93CD-A20D-C11E-7CDBD518A5C9}"/>
                </a:ext>
              </a:extLst>
            </p:cNvPr>
            <p:cNvSpPr/>
            <p:nvPr/>
          </p:nvSpPr>
          <p:spPr>
            <a:xfrm>
              <a:off x="742819" y="2957591"/>
              <a:ext cx="3415295"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0" name="ZoneTexte 39">
              <a:extLst>
                <a:ext uri="{FF2B5EF4-FFF2-40B4-BE49-F238E27FC236}">
                  <a16:creationId xmlns:a16="http://schemas.microsoft.com/office/drawing/2014/main" id="{39E7E675-CCCC-460E-C554-513E1F5EB06B}"/>
                </a:ext>
              </a:extLst>
            </p:cNvPr>
            <p:cNvSpPr txBox="1"/>
            <p:nvPr/>
          </p:nvSpPr>
          <p:spPr>
            <a:xfrm>
              <a:off x="525797" y="3390380"/>
              <a:ext cx="8475225" cy="1200329"/>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The main problem with the use of ZFNs for genome editing is </a:t>
              </a:r>
              <a:r>
                <a:rPr lang="en-US" sz="1200" b="1" i="0" u="none" strike="noStrike" baseline="0" dirty="0">
                  <a:solidFill>
                    <a:srgbClr val="231F20"/>
                  </a:solidFill>
                </a:rPr>
                <a:t>off-target mutations</a:t>
              </a:r>
              <a:r>
                <a:rPr lang="en-US" sz="1200" dirty="0">
                  <a:solidFill>
                    <a:srgbClr val="231F20"/>
                  </a:solidFill>
                </a:rPr>
                <a:t>, leading to a </a:t>
              </a:r>
              <a:r>
                <a:rPr lang="en-US" sz="1200" b="1" dirty="0">
                  <a:solidFill>
                    <a:srgbClr val="231F20"/>
                  </a:solidFill>
                </a:rPr>
                <a:t>lack of specificity </a:t>
              </a:r>
              <a:r>
                <a:rPr lang="en-US" sz="1200" dirty="0">
                  <a:solidFill>
                    <a:srgbClr val="231F20"/>
                  </a:solidFill>
                </a:rPr>
                <a:t>and a </a:t>
              </a:r>
              <a:r>
                <a:rPr lang="en-US" sz="1200" b="1" dirty="0">
                  <a:solidFill>
                    <a:srgbClr val="231F20"/>
                  </a:solidFill>
                </a:rPr>
                <a:t>high cytotoxicity</a:t>
              </a:r>
              <a:r>
                <a:rPr lang="en-US" sz="1200" dirty="0">
                  <a:solidFill>
                    <a:srgbClr val="231F20"/>
                  </a:solidFill>
                </a:rPr>
                <a:t>.</a:t>
              </a:r>
            </a:p>
            <a:p>
              <a:pPr marL="285750" indent="-285750" algn="just">
                <a:buFont typeface="Wingdings" panose="05000000000000000000" pitchFamily="2" charset="2"/>
                <a:buChar char="Ø"/>
              </a:pPr>
              <a:r>
                <a:rPr lang="en-US" sz="1200" dirty="0">
                  <a:solidFill>
                    <a:srgbClr val="231F20"/>
                  </a:solidFill>
                </a:rPr>
                <a:t>With ZFNs, it’s difficult to target </a:t>
              </a:r>
              <a:r>
                <a:rPr lang="en-US" sz="1200" b="1" dirty="0">
                  <a:solidFill>
                    <a:srgbClr val="231F20"/>
                  </a:solidFill>
                </a:rPr>
                <a:t>a non-G-rich region </a:t>
              </a:r>
              <a:r>
                <a:rPr lang="en-US" sz="1200" dirty="0">
                  <a:solidFill>
                    <a:srgbClr val="231F20"/>
                  </a:solidFill>
                </a:rPr>
                <a:t>of DNA. Thus, they </a:t>
              </a:r>
              <a:r>
                <a:rPr lang="en-US" sz="1200" b="1" dirty="0">
                  <a:solidFill>
                    <a:srgbClr val="231F20"/>
                  </a:solidFill>
                </a:rPr>
                <a:t>lack target flexibility.</a:t>
              </a:r>
            </a:p>
            <a:p>
              <a:pPr marL="285750" indent="-285750" algn="just">
                <a:buFont typeface="Wingdings" panose="05000000000000000000" pitchFamily="2" charset="2"/>
                <a:buChar char="Ø"/>
              </a:pPr>
              <a:r>
                <a:rPr lang="en-US" sz="1200" dirty="0">
                  <a:solidFill>
                    <a:srgbClr val="231F20"/>
                  </a:solidFill>
                </a:rPr>
                <a:t>They require a </a:t>
              </a:r>
              <a:r>
                <a:rPr lang="en-US" sz="1200" b="1" dirty="0">
                  <a:solidFill>
                    <a:srgbClr val="231F20"/>
                  </a:solidFill>
                </a:rPr>
                <a:t>substantial protein engineering</a:t>
              </a:r>
              <a:r>
                <a:rPr lang="en-US" sz="1200" dirty="0">
                  <a:solidFill>
                    <a:srgbClr val="231F20"/>
                  </a:solidFill>
                </a:rPr>
                <a:t>, hindering their used in non-specialized laboratories (in opposition with TALENs and CRISPR).</a:t>
              </a:r>
            </a:p>
            <a:p>
              <a:pPr algn="just"/>
              <a:r>
                <a:rPr lang="en-US" sz="1200" dirty="0">
                  <a:solidFill>
                    <a:srgbClr val="231F20"/>
                  </a:solidFill>
                  <a:sym typeface="Wingdings" panose="05000000000000000000" pitchFamily="2" charset="2"/>
                </a:rPr>
                <a:t> </a:t>
              </a:r>
              <a:r>
                <a:rPr lang="en-US" sz="1200" b="1" dirty="0">
                  <a:solidFill>
                    <a:srgbClr val="231F20"/>
                  </a:solidFill>
                  <a:sym typeface="Wingdings" panose="05000000000000000000" pitchFamily="2" charset="2"/>
                </a:rPr>
                <a:t>Globally, ZFNs are difficult to design, costly and not specific enough.</a:t>
              </a:r>
              <a:endParaRPr lang="en-US" sz="1200" b="1" dirty="0">
                <a:solidFill>
                  <a:srgbClr val="231F20"/>
                </a:solidFill>
              </a:endParaRPr>
            </a:p>
          </p:txBody>
        </p:sp>
        <p:pic>
          <p:nvPicPr>
            <p:cNvPr id="55" name="Image 54" descr="Une image contenant Graphique, symbole, Police, logo&#10;&#10;Description générée automatiquement">
              <a:extLst>
                <a:ext uri="{FF2B5EF4-FFF2-40B4-BE49-F238E27FC236}">
                  <a16:creationId xmlns:a16="http://schemas.microsoft.com/office/drawing/2014/main" id="{832699EB-DD9D-71D5-DD54-779AEACF69C5}"/>
                </a:ext>
              </a:extLst>
            </p:cNvPr>
            <p:cNvPicPr>
              <a:picLocks noChangeAspect="1"/>
            </p:cNvPicPr>
            <p:nvPr/>
          </p:nvPicPr>
          <p:blipFill>
            <a:blip r:embed="rId8"/>
            <a:stretch>
              <a:fillRect/>
            </a:stretch>
          </p:blipFill>
          <p:spPr>
            <a:xfrm>
              <a:off x="338810" y="2954389"/>
              <a:ext cx="468000" cy="468000"/>
            </a:xfrm>
            <a:prstGeom prst="rect">
              <a:avLst/>
            </a:prstGeom>
          </p:spPr>
        </p:pic>
      </p:grpSp>
      <p:grpSp>
        <p:nvGrpSpPr>
          <p:cNvPr id="58" name="Groupe 57">
            <a:extLst>
              <a:ext uri="{FF2B5EF4-FFF2-40B4-BE49-F238E27FC236}">
                <a16:creationId xmlns:a16="http://schemas.microsoft.com/office/drawing/2014/main" id="{8FCF5820-6759-9146-20CF-82CA732DC09D}"/>
              </a:ext>
            </a:extLst>
          </p:cNvPr>
          <p:cNvGrpSpPr/>
          <p:nvPr/>
        </p:nvGrpSpPr>
        <p:grpSpPr>
          <a:xfrm>
            <a:off x="300401" y="4470244"/>
            <a:ext cx="8710919" cy="1734894"/>
            <a:chOff x="300401" y="4915661"/>
            <a:chExt cx="8710919" cy="1734894"/>
          </a:xfrm>
        </p:grpSpPr>
        <p:sp>
          <p:nvSpPr>
            <p:cNvPr id="41" name="Rectangle : coins arrondis 40">
              <a:extLst>
                <a:ext uri="{FF2B5EF4-FFF2-40B4-BE49-F238E27FC236}">
                  <a16:creationId xmlns:a16="http://schemas.microsoft.com/office/drawing/2014/main" id="{08A0262B-92E0-3E94-20A1-F8BDE4A75BA6}"/>
                </a:ext>
              </a:extLst>
            </p:cNvPr>
            <p:cNvSpPr/>
            <p:nvPr/>
          </p:nvSpPr>
          <p:spPr>
            <a:xfrm>
              <a:off x="372399" y="5221998"/>
              <a:ext cx="8633750" cy="1428557"/>
            </a:xfrm>
            <a:prstGeom prst="round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72A44B21-00BE-7183-EB49-343BE86C91A4}"/>
                </a:ext>
              </a:extLst>
            </p:cNvPr>
            <p:cNvSpPr/>
            <p:nvPr/>
          </p:nvSpPr>
          <p:spPr>
            <a:xfrm>
              <a:off x="300401" y="4915661"/>
              <a:ext cx="576000" cy="576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F34F4E1F-6B36-5ABF-7133-549A26E450FA}"/>
                </a:ext>
              </a:extLst>
            </p:cNvPr>
            <p:cNvSpPr/>
            <p:nvPr/>
          </p:nvSpPr>
          <p:spPr>
            <a:xfrm>
              <a:off x="742819" y="4985994"/>
              <a:ext cx="3415295" cy="42573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56" name="ZoneTexte 55">
              <a:extLst>
                <a:ext uri="{FF2B5EF4-FFF2-40B4-BE49-F238E27FC236}">
                  <a16:creationId xmlns:a16="http://schemas.microsoft.com/office/drawing/2014/main" id="{DF6EF5FD-4FC0-3539-67CA-DF3A15771329}"/>
                </a:ext>
              </a:extLst>
            </p:cNvPr>
            <p:cNvSpPr txBox="1"/>
            <p:nvPr/>
          </p:nvSpPr>
          <p:spPr>
            <a:xfrm>
              <a:off x="525797" y="5450226"/>
              <a:ext cx="8485523" cy="1200329"/>
            </a:xfrm>
            <a:prstGeom prst="rect">
              <a:avLst/>
            </a:prstGeom>
            <a:noFill/>
          </p:spPr>
          <p:txBody>
            <a:bodyPr wrap="square">
              <a:spAutoFit/>
            </a:bodyPr>
            <a:lstStyle/>
            <a:p>
              <a:pPr marL="285750" indent="-285750" algn="just">
                <a:buFont typeface="Wingdings" panose="05000000000000000000" pitchFamily="2" charset="2"/>
                <a:buChar char="Ø"/>
              </a:pPr>
              <a:r>
                <a:rPr lang="en-US" sz="1200" b="1" dirty="0">
                  <a:solidFill>
                    <a:srgbClr val="231F20"/>
                  </a:solidFill>
                </a:rPr>
                <a:t>Ob</a:t>
              </a:r>
              <a:r>
                <a:rPr lang="en-US" sz="1200" b="1" i="0" u="none" strike="noStrike" baseline="0" dirty="0">
                  <a:solidFill>
                    <a:srgbClr val="231F20"/>
                  </a:solidFill>
                </a:rPr>
                <a:t>ligate heterodimeric ZFN architectures</a:t>
              </a:r>
              <a:r>
                <a:rPr lang="en-US" sz="1200" b="0" i="0" u="none" strike="noStrike" baseline="0" dirty="0">
                  <a:solidFill>
                    <a:srgbClr val="231F20"/>
                  </a:solidFill>
                </a:rPr>
                <a:t> – </a:t>
              </a:r>
              <a:r>
                <a:rPr lang="en-US" sz="1200" b="1" dirty="0">
                  <a:solidFill>
                    <a:srgbClr val="231F20"/>
                  </a:solidFill>
                </a:rPr>
                <a:t>enhances</a:t>
              </a:r>
              <a:r>
                <a:rPr lang="en-US" sz="1200" dirty="0">
                  <a:solidFill>
                    <a:srgbClr val="231F20"/>
                  </a:solidFill>
                </a:rPr>
                <a:t> </a:t>
              </a:r>
              <a:r>
                <a:rPr lang="en-US" sz="1200" b="1" i="0" u="none" strike="noStrike" baseline="0" dirty="0">
                  <a:solidFill>
                    <a:srgbClr val="231F20"/>
                  </a:solidFill>
                </a:rPr>
                <a:t>the specificity</a:t>
              </a:r>
              <a:r>
                <a:rPr lang="en-US" sz="1200" dirty="0">
                  <a:solidFill>
                    <a:srgbClr val="231F20"/>
                  </a:solidFill>
                </a:rPr>
                <a:t> </a:t>
              </a:r>
              <a:r>
                <a:rPr lang="en-US" sz="1200" b="0" i="0" u="none" strike="noStrike" baseline="0" dirty="0">
                  <a:solidFill>
                    <a:srgbClr val="231F20"/>
                  </a:solidFill>
                </a:rPr>
                <a:t>rely on charge–charge repulsion to prevent unwanted homodimerization of the </a:t>
              </a:r>
              <a:r>
                <a:rPr lang="en-US" sz="1200" b="0" i="0" u="none" strike="noStrike" baseline="0" dirty="0" err="1">
                  <a:solidFill>
                    <a:srgbClr val="231F20"/>
                  </a:solidFill>
                </a:rPr>
                <a:t>FokI</a:t>
              </a:r>
              <a:r>
                <a:rPr lang="en-US" sz="1200" b="0" i="0" u="none" strike="noStrike" baseline="0" dirty="0">
                  <a:solidFill>
                    <a:srgbClr val="231F20"/>
                  </a:solidFill>
                </a:rPr>
                <a:t> cleavage </a:t>
              </a:r>
              <a:r>
                <a:rPr lang="fr-FR" sz="1200" b="0" i="0" u="none" strike="noStrike" baseline="0" dirty="0" err="1">
                  <a:solidFill>
                    <a:srgbClr val="231F20"/>
                  </a:solidFill>
                </a:rPr>
                <a:t>domain</a:t>
              </a:r>
              <a:r>
                <a:rPr lang="fr-FR" sz="1200" dirty="0">
                  <a:solidFill>
                    <a:srgbClr val="231F20"/>
                  </a:solidFill>
                </a:rPr>
                <a:t> </a:t>
              </a:r>
              <a:r>
                <a:rPr lang="en-US" sz="1200" b="0" i="0" u="none" strike="noStrike" baseline="0" dirty="0">
                  <a:solidFill>
                    <a:srgbClr val="231F20"/>
                  </a:solidFill>
                </a:rPr>
                <a:t>thereby minimizing the potential for ZFNs to </a:t>
              </a:r>
              <a:r>
                <a:rPr lang="fr-FR" sz="1200" b="0" i="0" u="none" strike="noStrike" baseline="0" dirty="0" err="1">
                  <a:solidFill>
                    <a:srgbClr val="231F20"/>
                  </a:solidFill>
                </a:rPr>
                <a:t>dimerize</a:t>
              </a:r>
              <a:r>
                <a:rPr lang="fr-FR" sz="1200" b="0" i="0" u="none" strike="noStrike" baseline="0" dirty="0">
                  <a:solidFill>
                    <a:srgbClr val="231F20"/>
                  </a:solidFill>
                </a:rPr>
                <a:t> at off-</a:t>
              </a:r>
              <a:r>
                <a:rPr lang="fr-FR" sz="1200" b="0" i="0" u="none" strike="noStrike" baseline="0" dirty="0" err="1">
                  <a:solidFill>
                    <a:srgbClr val="231F20"/>
                  </a:solidFill>
                </a:rPr>
                <a:t>target</a:t>
              </a:r>
              <a:r>
                <a:rPr lang="fr-FR" sz="1200" b="0" i="0" u="none" strike="noStrike" baseline="0" dirty="0">
                  <a:solidFill>
                    <a:srgbClr val="231F20"/>
                  </a:solidFill>
                </a:rPr>
                <a:t> sites.</a:t>
              </a:r>
            </a:p>
            <a:p>
              <a:pPr marL="285750" indent="-285750" algn="just">
                <a:buFont typeface="Wingdings" panose="05000000000000000000" pitchFamily="2" charset="2"/>
                <a:buChar char="Ø"/>
              </a:pPr>
              <a:r>
                <a:rPr lang="fr-FR" sz="1200" b="1" dirty="0"/>
                <a:t>OPEN</a:t>
              </a:r>
              <a:r>
                <a:rPr lang="fr-FR" sz="1200" dirty="0"/>
                <a:t> (</a:t>
              </a:r>
              <a:r>
                <a:rPr lang="fr-FR" sz="1200" dirty="0" err="1"/>
                <a:t>Oligomerized</a:t>
              </a:r>
              <a:r>
                <a:rPr lang="fr-FR" sz="1200" dirty="0"/>
                <a:t> Pool Engineering) – </a:t>
              </a:r>
              <a:r>
                <a:rPr lang="fr-FR" sz="1200" dirty="0" err="1"/>
                <a:t>increases</a:t>
              </a:r>
              <a:r>
                <a:rPr lang="fr-FR" sz="1200" dirty="0"/>
                <a:t> the </a:t>
              </a:r>
              <a:r>
                <a:rPr lang="fr-FR" sz="1200" dirty="0" err="1"/>
                <a:t>precision</a:t>
              </a:r>
              <a:r>
                <a:rPr lang="fr-FR" sz="1200" dirty="0"/>
                <a:t> of the </a:t>
              </a:r>
              <a:r>
                <a:rPr lang="fr-FR" sz="1200" dirty="0" err="1"/>
                <a:t>mutagenesis</a:t>
              </a:r>
              <a:r>
                <a:rPr lang="fr-FR" sz="1200" dirty="0"/>
                <a:t>. </a:t>
              </a:r>
            </a:p>
            <a:p>
              <a:pPr marL="285750" indent="-285750" algn="just">
                <a:buFont typeface="Wingdings" panose="05000000000000000000" pitchFamily="2" charset="2"/>
                <a:buChar char="Ø"/>
              </a:pPr>
              <a:r>
                <a:rPr lang="fr-FR" sz="1200" b="1" dirty="0" err="1"/>
                <a:t>CoDA</a:t>
              </a:r>
              <a:r>
                <a:rPr lang="fr-FR" sz="1200" dirty="0"/>
                <a:t> (</a:t>
              </a:r>
              <a:r>
                <a:rPr lang="fr-FR" sz="1200" dirty="0" err="1"/>
                <a:t>context-dependant</a:t>
              </a:r>
              <a:r>
                <a:rPr lang="fr-FR" sz="1200" dirty="0"/>
                <a:t> </a:t>
              </a:r>
              <a:r>
                <a:rPr lang="fr-FR" sz="1200" dirty="0" err="1"/>
                <a:t>assembly</a:t>
              </a:r>
              <a:r>
                <a:rPr lang="fr-FR" sz="1200" dirty="0"/>
                <a:t>) – simplifies </a:t>
              </a:r>
              <a:r>
                <a:rPr lang="fr-FR" sz="1200" dirty="0" err="1"/>
                <a:t>creation’s</a:t>
              </a:r>
              <a:r>
                <a:rPr lang="fr-FR" sz="1200" dirty="0"/>
                <a:t> process </a:t>
              </a:r>
              <a:r>
                <a:rPr lang="en-US" sz="1200" b="0" i="0" dirty="0">
                  <a:effectLst/>
                </a:rPr>
                <a:t>of ZFNs, enabling rapid alteration of genes in various organisms.</a:t>
              </a:r>
              <a:endParaRPr lang="fr-FR" sz="1200" b="0" i="0" u="none" strike="noStrike" baseline="0" dirty="0"/>
            </a:p>
          </p:txBody>
        </p:sp>
        <p:pic>
          <p:nvPicPr>
            <p:cNvPr id="60" name="Image 59" descr="Une image contenant Graphique, clipart, Police, graphisme&#10;&#10;Description générée automatiquement">
              <a:extLst>
                <a:ext uri="{FF2B5EF4-FFF2-40B4-BE49-F238E27FC236}">
                  <a16:creationId xmlns:a16="http://schemas.microsoft.com/office/drawing/2014/main" id="{A788BF7D-FA16-5005-DAAF-19A945DC30BB}"/>
                </a:ext>
              </a:extLst>
            </p:cNvPr>
            <p:cNvPicPr>
              <a:picLocks noChangeAspect="1"/>
            </p:cNvPicPr>
            <p:nvPr/>
          </p:nvPicPr>
          <p:blipFill>
            <a:blip r:embed="rId9"/>
            <a:stretch>
              <a:fillRect/>
            </a:stretch>
          </p:blipFill>
          <p:spPr>
            <a:xfrm>
              <a:off x="372401" y="4982860"/>
              <a:ext cx="432000" cy="432000"/>
            </a:xfrm>
            <a:prstGeom prst="rect">
              <a:avLst/>
            </a:prstGeom>
          </p:spPr>
        </p:pic>
      </p:grpSp>
      <p:cxnSp>
        <p:nvCxnSpPr>
          <p:cNvPr id="29" name="Connecteur droit 28">
            <a:extLst>
              <a:ext uri="{FF2B5EF4-FFF2-40B4-BE49-F238E27FC236}">
                <a16:creationId xmlns:a16="http://schemas.microsoft.com/office/drawing/2014/main" id="{3774FF56-0152-ADE5-AE60-90117FAF88B2}"/>
              </a:ext>
            </a:extLst>
          </p:cNvPr>
          <p:cNvCxnSpPr/>
          <p:nvPr/>
        </p:nvCxnSpPr>
        <p:spPr>
          <a:xfrm>
            <a:off x="-342900" y="1094449"/>
            <a:ext cx="1185149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0" name="Groupe 69">
            <a:extLst>
              <a:ext uri="{FF2B5EF4-FFF2-40B4-BE49-F238E27FC236}">
                <a16:creationId xmlns:a16="http://schemas.microsoft.com/office/drawing/2014/main" id="{F52F1CF6-FB4A-0D8F-80EC-4CD0282C004E}"/>
              </a:ext>
            </a:extLst>
          </p:cNvPr>
          <p:cNvGrpSpPr/>
          <p:nvPr/>
        </p:nvGrpSpPr>
        <p:grpSpPr>
          <a:xfrm>
            <a:off x="9425943" y="3995482"/>
            <a:ext cx="2766061" cy="1941654"/>
            <a:chOff x="9425943" y="3649164"/>
            <a:chExt cx="2766061" cy="1941654"/>
          </a:xfrm>
        </p:grpSpPr>
        <p:sp>
          <p:nvSpPr>
            <p:cNvPr id="32" name="Rectangle : avec coins arrondis en haut 31">
              <a:extLst>
                <a:ext uri="{FF2B5EF4-FFF2-40B4-BE49-F238E27FC236}">
                  <a16:creationId xmlns:a16="http://schemas.microsoft.com/office/drawing/2014/main" id="{C3937C19-3183-DC31-C354-78CA5711CC9D}"/>
                </a:ext>
              </a:extLst>
            </p:cNvPr>
            <p:cNvSpPr/>
            <p:nvPr/>
          </p:nvSpPr>
          <p:spPr>
            <a:xfrm rot="16200000">
              <a:off x="9838146" y="3236961"/>
              <a:ext cx="1941654" cy="2766060"/>
            </a:xfrm>
            <a:prstGeom prst="round2SameRect">
              <a:avLst>
                <a:gd name="adj1" fmla="val 10809"/>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54" name="ZoneTexte 53">
              <a:extLst>
                <a:ext uri="{FF2B5EF4-FFF2-40B4-BE49-F238E27FC236}">
                  <a16:creationId xmlns:a16="http://schemas.microsoft.com/office/drawing/2014/main" id="{3B295697-3D23-E3AF-EE48-BB00EF0C244A}"/>
                </a:ext>
              </a:extLst>
            </p:cNvPr>
            <p:cNvSpPr txBox="1"/>
            <p:nvPr/>
          </p:nvSpPr>
          <p:spPr>
            <a:xfrm>
              <a:off x="9498985" y="4267379"/>
              <a:ext cx="2693015" cy="132343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b="0" i="0" u="none" strike="noStrike" baseline="0" dirty="0"/>
                <a:t>1. </a:t>
              </a:r>
              <a:r>
                <a:rPr lang="fr-FR" sz="1000" dirty="0" err="1"/>
                <a:t>Nishiga</a:t>
              </a:r>
              <a:r>
                <a:rPr lang="fr-FR" sz="1000" dirty="0"/>
                <a:t> M. </a:t>
              </a:r>
              <a:r>
                <a:rPr lang="fr-FR" sz="1000" i="1" dirty="0"/>
                <a:t>et al.</a:t>
              </a:r>
              <a:r>
                <a:rPr lang="fr-FR" sz="1000" dirty="0"/>
                <a:t>, </a:t>
              </a:r>
              <a:r>
                <a:rPr lang="fr-FR" sz="1000" dirty="0" err="1"/>
                <a:t>Therapeutic</a:t>
              </a:r>
              <a:r>
                <a:rPr lang="fr-FR" sz="1000" dirty="0"/>
                <a:t> </a:t>
              </a:r>
              <a:r>
                <a:rPr lang="fr-FR" sz="1000" dirty="0" err="1"/>
                <a:t>genome</a:t>
              </a:r>
              <a:r>
                <a:rPr lang="fr-FR" sz="1000" dirty="0"/>
                <a:t> </a:t>
              </a:r>
              <a:r>
                <a:rPr lang="fr-FR" sz="1000" dirty="0" err="1"/>
                <a:t>editing</a:t>
              </a:r>
              <a:r>
                <a:rPr lang="fr-FR" sz="1000" dirty="0"/>
                <a:t> in </a:t>
              </a:r>
              <a:r>
                <a:rPr lang="fr-FR" sz="1000" dirty="0" err="1"/>
                <a:t>cardiovascular</a:t>
              </a:r>
              <a:r>
                <a:rPr lang="fr-FR" sz="1000" dirty="0"/>
                <a:t> </a:t>
              </a:r>
              <a:r>
                <a:rPr lang="fr-FR" sz="1000" dirty="0" err="1"/>
                <a:t>diseases</a:t>
              </a:r>
              <a:r>
                <a:rPr lang="fr-FR" sz="1000" dirty="0"/>
                <a:t>, Adv Drug </a:t>
              </a:r>
              <a:r>
                <a:rPr lang="fr-FR" sz="1000" dirty="0" err="1"/>
                <a:t>Deliv</a:t>
              </a:r>
              <a:r>
                <a:rPr lang="fr-FR" sz="1000" dirty="0"/>
                <a:t> </a:t>
              </a:r>
              <a:r>
                <a:rPr lang="fr-FR" sz="1000" dirty="0" err="1"/>
                <a:t>Rev</a:t>
              </a:r>
              <a:r>
                <a:rPr lang="fr-FR" sz="1000" dirty="0"/>
                <a:t>, 168, 147-157 (2021)</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b="0" i="0" u="none" strike="noStrike" baseline="0" dirty="0"/>
                <a:t>2. </a:t>
              </a:r>
              <a:r>
                <a:rPr lang="fr-FR" sz="1000" dirty="0"/>
                <a:t>Cui Z. </a:t>
              </a:r>
              <a:r>
                <a:rPr lang="fr-FR" sz="1000" i="1" dirty="0"/>
                <a:t>et al.</a:t>
              </a:r>
              <a:r>
                <a:rPr lang="fr-FR" sz="1000" dirty="0"/>
                <a:t>, The </a:t>
              </a:r>
              <a:r>
                <a:rPr lang="fr-FR" sz="1000" dirty="0" err="1"/>
                <a:t>comparison</a:t>
              </a:r>
              <a:r>
                <a:rPr lang="fr-FR" sz="1000" dirty="0"/>
                <a:t> of </a:t>
              </a:r>
              <a:r>
                <a:rPr lang="fr-FR" sz="1000" dirty="0" err="1"/>
                <a:t>ZFNs</a:t>
              </a:r>
              <a:r>
                <a:rPr lang="fr-FR" sz="1000" dirty="0"/>
                <a:t>, </a:t>
              </a:r>
              <a:r>
                <a:rPr lang="fr-FR" sz="1000" dirty="0" err="1"/>
                <a:t>TALENs</a:t>
              </a:r>
              <a:r>
                <a:rPr lang="fr-FR" sz="1000" dirty="0"/>
                <a:t> and SpCas9 by GUIDE-</a:t>
              </a:r>
              <a:r>
                <a:rPr lang="fr-FR" sz="1000" dirty="0" err="1"/>
                <a:t>seq</a:t>
              </a:r>
              <a:r>
                <a:rPr lang="fr-FR" sz="1000" dirty="0"/>
                <a:t> in HPV-</a:t>
              </a:r>
              <a:r>
                <a:rPr lang="fr-FR" sz="1000" dirty="0" err="1"/>
                <a:t>targeted</a:t>
              </a:r>
              <a:r>
                <a:rPr lang="fr-FR" sz="1000" dirty="0"/>
                <a:t> </a:t>
              </a:r>
              <a:r>
                <a:rPr lang="fr-FR" sz="1000" dirty="0" err="1"/>
                <a:t>gene</a:t>
              </a:r>
              <a:r>
                <a:rPr lang="fr-FR" sz="1000" dirty="0"/>
                <a:t> </a:t>
              </a:r>
              <a:r>
                <a:rPr lang="fr-FR" sz="1000" dirty="0" err="1"/>
                <a:t>therapy</a:t>
              </a:r>
              <a:r>
                <a:rPr lang="fr-FR" sz="1000" dirty="0"/>
                <a:t>, Mol </a:t>
              </a:r>
              <a:r>
                <a:rPr lang="fr-FR" sz="1000" dirty="0" err="1"/>
                <a:t>Ther</a:t>
              </a:r>
              <a:r>
                <a:rPr lang="fr-FR" sz="1000" dirty="0"/>
                <a:t> </a:t>
              </a:r>
              <a:r>
                <a:rPr lang="fr-FR" sz="1000" dirty="0" err="1"/>
                <a:t>Nucleic</a:t>
              </a:r>
              <a:r>
                <a:rPr lang="fr-FR" sz="1000" dirty="0"/>
                <a:t> </a:t>
              </a:r>
              <a:r>
                <a:rPr lang="fr-FR" sz="1000" dirty="0" err="1"/>
                <a:t>Acids</a:t>
              </a:r>
              <a:r>
                <a:rPr lang="fr-FR" sz="1000" dirty="0"/>
                <a:t>, 26, 1466-1478 (2021)</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dirty="0"/>
                <a:t>3. </a:t>
              </a:r>
              <a:r>
                <a:rPr lang="en-US" sz="1000" dirty="0"/>
                <a:t>ClinicalTrials.gov</a:t>
              </a:r>
              <a:endParaRPr lang="fr-FR" sz="1000" dirty="0"/>
            </a:p>
          </p:txBody>
        </p:sp>
        <p:sp>
          <p:nvSpPr>
            <p:cNvPr id="59" name="ZoneTexte 58">
              <a:extLst>
                <a:ext uri="{FF2B5EF4-FFF2-40B4-BE49-F238E27FC236}">
                  <a16:creationId xmlns:a16="http://schemas.microsoft.com/office/drawing/2014/main" id="{49A27EFB-6DD0-40DB-519C-1C09C48BE5F3}"/>
                </a:ext>
              </a:extLst>
            </p:cNvPr>
            <p:cNvSpPr txBox="1"/>
            <p:nvPr/>
          </p:nvSpPr>
          <p:spPr>
            <a:xfrm>
              <a:off x="10110886" y="3769250"/>
              <a:ext cx="2081118" cy="338554"/>
            </a:xfrm>
            <a:prstGeom prst="rect">
              <a:avLst/>
            </a:prstGeom>
            <a:noFill/>
          </p:spPr>
          <p:txBody>
            <a:bodyPr wrap="square">
              <a:spAutoFit/>
            </a:bodyPr>
            <a:lstStyle/>
            <a:p>
              <a:pPr lvl="0" algn="ctr"/>
              <a:r>
                <a:rPr lang="fr-FR" sz="1600" b="1" u="sng" dirty="0"/>
                <a:t>Main Sources</a:t>
              </a:r>
            </a:p>
          </p:txBody>
        </p:sp>
        <p:pic>
          <p:nvPicPr>
            <p:cNvPr id="61" name="Image 60">
              <a:extLst>
                <a:ext uri="{FF2B5EF4-FFF2-40B4-BE49-F238E27FC236}">
                  <a16:creationId xmlns:a16="http://schemas.microsoft.com/office/drawing/2014/main" id="{4326FA9E-225D-2AEB-F6D5-B70A9C25B357}"/>
                </a:ext>
              </a:extLst>
            </p:cNvPr>
            <p:cNvPicPr>
              <a:picLocks noChangeAspect="1"/>
            </p:cNvPicPr>
            <p:nvPr/>
          </p:nvPicPr>
          <p:blipFill>
            <a:blip r:embed="rId10"/>
            <a:stretch>
              <a:fillRect/>
            </a:stretch>
          </p:blipFill>
          <p:spPr>
            <a:xfrm>
              <a:off x="9642885" y="3745358"/>
              <a:ext cx="468000" cy="468000"/>
            </a:xfrm>
            <a:prstGeom prst="rect">
              <a:avLst/>
            </a:prstGeom>
          </p:spPr>
        </p:pic>
      </p:grpSp>
      <p:grpSp>
        <p:nvGrpSpPr>
          <p:cNvPr id="69" name="Groupe 68">
            <a:extLst>
              <a:ext uri="{FF2B5EF4-FFF2-40B4-BE49-F238E27FC236}">
                <a16:creationId xmlns:a16="http://schemas.microsoft.com/office/drawing/2014/main" id="{F257AC2F-4677-CA8A-42F8-BA42864E09B8}"/>
              </a:ext>
            </a:extLst>
          </p:cNvPr>
          <p:cNvGrpSpPr/>
          <p:nvPr/>
        </p:nvGrpSpPr>
        <p:grpSpPr>
          <a:xfrm>
            <a:off x="9425942" y="1672078"/>
            <a:ext cx="2766060" cy="1860661"/>
            <a:chOff x="9425942" y="1236931"/>
            <a:chExt cx="2766060" cy="1860661"/>
          </a:xfrm>
        </p:grpSpPr>
        <p:sp>
          <p:nvSpPr>
            <p:cNvPr id="25" name="Rectangle : avec coins arrondis en haut 24">
              <a:extLst>
                <a:ext uri="{FF2B5EF4-FFF2-40B4-BE49-F238E27FC236}">
                  <a16:creationId xmlns:a16="http://schemas.microsoft.com/office/drawing/2014/main" id="{8D841DCC-9C80-D7F6-1B6D-A02275E8C16C}"/>
                </a:ext>
              </a:extLst>
            </p:cNvPr>
            <p:cNvSpPr/>
            <p:nvPr/>
          </p:nvSpPr>
          <p:spPr>
            <a:xfrm rot="16200000">
              <a:off x="9878641" y="784232"/>
              <a:ext cx="1860661" cy="2766060"/>
            </a:xfrm>
            <a:prstGeom prst="round2SameRect">
              <a:avLst>
                <a:gd name="adj1" fmla="val 10809"/>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 name="ZoneTexte 2">
              <a:extLst>
                <a:ext uri="{FF2B5EF4-FFF2-40B4-BE49-F238E27FC236}">
                  <a16:creationId xmlns:a16="http://schemas.microsoft.com/office/drawing/2014/main" id="{59F64C51-C087-3941-06E6-59175EBB71DC}"/>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C2222E93-22A7-1869-57FD-4F157D9E7446}"/>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D242D4DA-2D9D-5DCE-5D94-4963EB67346D}"/>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72DC2C47-E2C6-F145-E217-42E6B00A7374}"/>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1B1CC8F0-5434-2098-77A7-D3FAEB267C1F}"/>
                  </a:ext>
                </a:extLst>
              </p:cNvPr>
              <p:cNvPicPr>
                <a:picLocks noChangeAspect="1"/>
              </p:cNvPicPr>
              <p:nvPr/>
            </p:nvPicPr>
            <p:blipFill>
              <a:blip r:embed="rId11"/>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1205B667-343A-C85D-5F7F-BAB1AC54622F}"/>
                  </a:ext>
                </a:extLst>
              </p:cNvPr>
              <p:cNvPicPr>
                <a:picLocks noChangeAspect="1"/>
              </p:cNvPicPr>
              <p:nvPr/>
            </p:nvPicPr>
            <p:blipFill>
              <a:blip r:embed="rId11"/>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F0BAABC9-2F0B-D9AF-2482-7F8AD3B63121}"/>
                  </a:ext>
                </a:extLst>
              </p:cNvPr>
              <p:cNvPicPr>
                <a:picLocks noChangeAspect="1"/>
              </p:cNvPicPr>
              <p:nvPr/>
            </p:nvPicPr>
            <p:blipFill>
              <a:blip r:embed="rId11"/>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0B616CC8-21FD-2C17-FD55-F46EC669A249}"/>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4570DFBB-9B26-3B12-D3AA-52FAB979DB8A}"/>
                  </a:ext>
                </a:extLst>
              </p:cNvPr>
              <p:cNvPicPr>
                <a:picLocks noChangeAspect="1"/>
              </p:cNvPicPr>
              <p:nvPr/>
            </p:nvPicPr>
            <p:blipFill>
              <a:blip r:embed="rId12"/>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F86778F4-3F50-777E-B9F3-F0FEF5E465A5}"/>
                  </a:ext>
                </a:extLst>
              </p:cNvPr>
              <p:cNvPicPr>
                <a:picLocks noChangeAspect="1"/>
              </p:cNvPicPr>
              <p:nvPr/>
            </p:nvPicPr>
            <p:blipFill>
              <a:blip r:embed="rId12"/>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7A374F33-E9CA-D06E-7183-17FAC34A7740}"/>
                  </a:ext>
                </a:extLst>
              </p:cNvPr>
              <p:cNvPicPr>
                <a:picLocks noChangeAspect="1"/>
              </p:cNvPicPr>
              <p:nvPr/>
            </p:nvPicPr>
            <p:blipFill>
              <a:blip r:embed="rId12"/>
              <a:stretch>
                <a:fillRect/>
              </a:stretch>
            </p:blipFill>
            <p:spPr>
              <a:xfrm>
                <a:off x="2163181" y="4804916"/>
                <a:ext cx="252000" cy="252000"/>
              </a:xfrm>
              <a:prstGeom prst="rect">
                <a:avLst/>
              </a:prstGeom>
              <a:ln>
                <a:noFill/>
              </a:ln>
            </p:spPr>
          </p:pic>
        </p:grpSp>
        <p:sp>
          <p:nvSpPr>
            <p:cNvPr id="44" name="Rectangle 43">
              <a:extLst>
                <a:ext uri="{FF2B5EF4-FFF2-40B4-BE49-F238E27FC236}">
                  <a16:creationId xmlns:a16="http://schemas.microsoft.com/office/drawing/2014/main" id="{0B82F88F-61D0-E757-DB3E-50695B3BDF61}"/>
                </a:ext>
              </a:extLst>
            </p:cNvPr>
            <p:cNvSpPr/>
            <p:nvPr/>
          </p:nvSpPr>
          <p:spPr>
            <a:xfrm>
              <a:off x="11498995" y="2726511"/>
              <a:ext cx="592279" cy="338554"/>
            </a:xfrm>
            <a:prstGeom prst="rect">
              <a:avLst/>
            </a:prstGeom>
            <a:solidFill>
              <a:srgbClr val="BDD3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5" name="Groupe 44">
              <a:extLst>
                <a:ext uri="{FF2B5EF4-FFF2-40B4-BE49-F238E27FC236}">
                  <a16:creationId xmlns:a16="http://schemas.microsoft.com/office/drawing/2014/main" id="{F2B356BC-26BA-D072-E854-E1F7A9AB85DC}"/>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07AFA5BF-641B-EC43-B672-5120FC6C04F9}"/>
                  </a:ext>
                </a:extLst>
              </p:cNvPr>
              <p:cNvPicPr>
                <a:picLocks noChangeAspect="1"/>
              </p:cNvPicPr>
              <p:nvPr/>
            </p:nvPicPr>
            <p:blipFill>
              <a:blip r:embed="rId13"/>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AC8B22F0-DBB5-6708-2213-65F63021009A}"/>
                  </a:ext>
                </a:extLst>
              </p:cNvPr>
              <p:cNvPicPr>
                <a:picLocks noChangeAspect="1"/>
              </p:cNvPicPr>
              <p:nvPr/>
            </p:nvPicPr>
            <p:blipFill>
              <a:blip r:embed="rId13"/>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E29A1456-B5C6-C174-9546-A206B4B802D5}"/>
                  </a:ext>
                </a:extLst>
              </p:cNvPr>
              <p:cNvPicPr>
                <a:picLocks noChangeAspect="1"/>
              </p:cNvPicPr>
              <p:nvPr/>
            </p:nvPicPr>
            <p:blipFill>
              <a:blip r:embed="rId13"/>
              <a:stretch>
                <a:fillRect/>
              </a:stretch>
            </p:blipFill>
            <p:spPr>
              <a:xfrm>
                <a:off x="3082343" y="4589203"/>
                <a:ext cx="252000" cy="252000"/>
              </a:xfrm>
              <a:prstGeom prst="rect">
                <a:avLst/>
              </a:prstGeom>
            </p:spPr>
          </p:pic>
        </p:grpSp>
        <p:sp>
          <p:nvSpPr>
            <p:cNvPr id="49" name="Rectangle 48">
              <a:extLst>
                <a:ext uri="{FF2B5EF4-FFF2-40B4-BE49-F238E27FC236}">
                  <a16:creationId xmlns:a16="http://schemas.microsoft.com/office/drawing/2014/main" id="{D672B75F-CCAE-CE61-F794-19EE8B8BEB22}"/>
                </a:ext>
              </a:extLst>
            </p:cNvPr>
            <p:cNvSpPr/>
            <p:nvPr/>
          </p:nvSpPr>
          <p:spPr>
            <a:xfrm>
              <a:off x="11811443" y="2327153"/>
              <a:ext cx="252001" cy="338554"/>
            </a:xfrm>
            <a:prstGeom prst="rect">
              <a:avLst/>
            </a:prstGeom>
            <a:solidFill>
              <a:srgbClr val="BDD3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FB896D7A-6B9E-FDBB-964F-6980C004A068}"/>
                </a:ext>
              </a:extLst>
            </p:cNvPr>
            <p:cNvSpPr/>
            <p:nvPr/>
          </p:nvSpPr>
          <p:spPr>
            <a:xfrm>
              <a:off x="11503787" y="2327153"/>
              <a:ext cx="252001" cy="338554"/>
            </a:xfrm>
            <a:prstGeom prst="rect">
              <a:avLst/>
            </a:prstGeom>
            <a:solidFill>
              <a:srgbClr val="BDD3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BDE71B08-8626-7A84-272C-AD087410EEF5}"/>
                </a:ext>
              </a:extLst>
            </p:cNvPr>
            <p:cNvSpPr/>
            <p:nvPr/>
          </p:nvSpPr>
          <p:spPr>
            <a:xfrm>
              <a:off x="11503787" y="1944455"/>
              <a:ext cx="559657" cy="338554"/>
            </a:xfrm>
            <a:prstGeom prst="rect">
              <a:avLst/>
            </a:prstGeom>
            <a:solidFill>
              <a:srgbClr val="BDD3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5" name="Groupe 64">
              <a:extLst>
                <a:ext uri="{FF2B5EF4-FFF2-40B4-BE49-F238E27FC236}">
                  <a16:creationId xmlns:a16="http://schemas.microsoft.com/office/drawing/2014/main" id="{5F38695D-5386-F15F-C52F-702F63E139D9}"/>
                </a:ext>
              </a:extLst>
            </p:cNvPr>
            <p:cNvGrpSpPr/>
            <p:nvPr/>
          </p:nvGrpSpPr>
          <p:grpSpPr>
            <a:xfrm>
              <a:off x="9569854" y="1383601"/>
              <a:ext cx="2616976" cy="468000"/>
              <a:chOff x="9569854" y="1347584"/>
              <a:chExt cx="2616976" cy="468000"/>
            </a:xfrm>
          </p:grpSpPr>
          <p:sp>
            <p:nvSpPr>
              <p:cNvPr id="66" name="ZoneTexte 65">
                <a:extLst>
                  <a:ext uri="{FF2B5EF4-FFF2-40B4-BE49-F238E27FC236}">
                    <a16:creationId xmlns:a16="http://schemas.microsoft.com/office/drawing/2014/main" id="{2C6E9018-7000-A573-0C8F-12351DF881A3}"/>
                  </a:ext>
                </a:extLst>
              </p:cNvPr>
              <p:cNvSpPr txBox="1"/>
              <p:nvPr/>
            </p:nvSpPr>
            <p:spPr>
              <a:xfrm>
                <a:off x="10056601" y="1412307"/>
                <a:ext cx="2130229" cy="338554"/>
              </a:xfrm>
              <a:prstGeom prst="rect">
                <a:avLst/>
              </a:prstGeom>
              <a:noFill/>
            </p:spPr>
            <p:txBody>
              <a:bodyPr wrap="square">
                <a:spAutoFit/>
              </a:bodyPr>
              <a:lstStyle/>
              <a:p>
                <a:pPr lvl="0" algn="ctr"/>
                <a:r>
                  <a:rPr lang="fr-FR" sz="1600" b="1" u="sng" dirty="0" err="1"/>
                  <a:t>Alcimed’s</a:t>
                </a:r>
                <a:r>
                  <a:rPr lang="fr-FR" sz="1600" b="1" u="sng" dirty="0"/>
                  <a:t> feeling</a:t>
                </a:r>
              </a:p>
            </p:txBody>
          </p:sp>
          <p:pic>
            <p:nvPicPr>
              <p:cNvPr id="67" name="Image 66">
                <a:extLst>
                  <a:ext uri="{FF2B5EF4-FFF2-40B4-BE49-F238E27FC236}">
                    <a16:creationId xmlns:a16="http://schemas.microsoft.com/office/drawing/2014/main" id="{D0524805-3CBE-948F-E6E7-B8DA6A3A3853}"/>
                  </a:ext>
                </a:extLst>
              </p:cNvPr>
              <p:cNvPicPr>
                <a:picLocks noChangeAspect="1"/>
              </p:cNvPicPr>
              <p:nvPr/>
            </p:nvPicPr>
            <p:blipFill>
              <a:blip r:embed="rId14"/>
              <a:stretch>
                <a:fillRect/>
              </a:stretch>
            </p:blipFill>
            <p:spPr>
              <a:xfrm>
                <a:off x="9569854" y="1347584"/>
                <a:ext cx="468000" cy="468000"/>
              </a:xfrm>
              <a:prstGeom prst="rect">
                <a:avLst/>
              </a:prstGeom>
            </p:spPr>
          </p:pic>
        </p:grpSp>
      </p:grpSp>
      <p:sp>
        <p:nvSpPr>
          <p:cNvPr id="71" name="ZoneTexte 70">
            <a:extLst>
              <a:ext uri="{FF2B5EF4-FFF2-40B4-BE49-F238E27FC236}">
                <a16:creationId xmlns:a16="http://schemas.microsoft.com/office/drawing/2014/main" id="{06C6CB4D-B662-D0E4-919C-5F83B41039F0}"/>
              </a:ext>
            </a:extLst>
          </p:cNvPr>
          <p:cNvSpPr txBox="1"/>
          <p:nvPr/>
        </p:nvSpPr>
        <p:spPr>
          <a:xfrm>
            <a:off x="6997777" y="0"/>
            <a:ext cx="1003223" cy="707886"/>
          </a:xfrm>
          <a:prstGeom prst="rect">
            <a:avLst/>
          </a:prstGeom>
          <a:noFill/>
        </p:spPr>
        <p:txBody>
          <a:bodyPr wrap="square" rtlCol="0">
            <a:spAutoFit/>
          </a:bodyPr>
          <a:lstStyle/>
          <a:p>
            <a:r>
              <a:rPr lang="fr-FR" sz="4000" b="1" dirty="0">
                <a:highlight>
                  <a:srgbClr val="FFFF00"/>
                </a:highlight>
              </a:rPr>
              <a:t>OK</a:t>
            </a:r>
          </a:p>
        </p:txBody>
      </p:sp>
      <p:sp>
        <p:nvSpPr>
          <p:cNvPr id="2" name="Rectangle 1">
            <a:extLst>
              <a:ext uri="{FF2B5EF4-FFF2-40B4-BE49-F238E27FC236}">
                <a16:creationId xmlns:a16="http://schemas.microsoft.com/office/drawing/2014/main" id="{2CE03AA2-C27C-28BD-1249-19E28C97BF3D}"/>
              </a:ext>
            </a:extLst>
          </p:cNvPr>
          <p:cNvSpPr/>
          <p:nvPr/>
        </p:nvSpPr>
        <p:spPr>
          <a:xfrm>
            <a:off x="3797378" y="4601025"/>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NP : no directe application on </a:t>
            </a:r>
            <a:r>
              <a:rPr lang="fr-FR" dirty="0" err="1"/>
              <a:t>bacteria</a:t>
            </a:r>
            <a:r>
              <a:rPr lang="fr-FR" dirty="0"/>
              <a:t> host</a:t>
            </a:r>
          </a:p>
        </p:txBody>
      </p:sp>
    </p:spTree>
    <p:extLst>
      <p:ext uri="{BB962C8B-B14F-4D97-AF65-F5344CB8AC3E}">
        <p14:creationId xmlns:p14="http://schemas.microsoft.com/office/powerpoint/2010/main" val="2397604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2271-44D1-1642-B919-3429DC976013}"/>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D5CB93D1-3E94-21D7-BF8A-4ECFED594836}"/>
              </a:ext>
            </a:extLst>
          </p:cNvPr>
          <p:cNvCxnSpPr/>
          <p:nvPr/>
        </p:nvCxnSpPr>
        <p:spPr>
          <a:xfrm>
            <a:off x="0" y="771525"/>
            <a:ext cx="12192000"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9481BF9E-3B44-73E3-9E20-04B911A21FEF}"/>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5"/>
                </a:solidFill>
              </a:rPr>
              <a:t>Meganucleases</a:t>
            </a:r>
            <a:r>
              <a:rPr lang="fr-FR" sz="3100" b="1" dirty="0">
                <a:solidFill>
                  <a:schemeClr val="accent5"/>
                </a:solidFill>
              </a:rPr>
              <a:t> (</a:t>
            </a:r>
            <a:r>
              <a:rPr lang="fr-FR" sz="3100" b="1" dirty="0" err="1">
                <a:solidFill>
                  <a:schemeClr val="accent5"/>
                </a:solidFill>
              </a:rPr>
              <a:t>MNs</a:t>
            </a:r>
            <a:r>
              <a:rPr lang="fr-FR" sz="3100" b="1" dirty="0">
                <a:solidFill>
                  <a:schemeClr val="accent5"/>
                </a:solidFill>
              </a:rPr>
              <a:t>)</a:t>
            </a:r>
          </a:p>
        </p:txBody>
      </p:sp>
      <p:grpSp>
        <p:nvGrpSpPr>
          <p:cNvPr id="54" name="Groupe 53">
            <a:extLst>
              <a:ext uri="{FF2B5EF4-FFF2-40B4-BE49-F238E27FC236}">
                <a16:creationId xmlns:a16="http://schemas.microsoft.com/office/drawing/2014/main" id="{AD60C4C6-D6DA-0580-2B3D-CC3E7A9A2CC5}"/>
              </a:ext>
            </a:extLst>
          </p:cNvPr>
          <p:cNvGrpSpPr/>
          <p:nvPr/>
        </p:nvGrpSpPr>
        <p:grpSpPr>
          <a:xfrm>
            <a:off x="0" y="2412124"/>
            <a:ext cx="2766060" cy="3483429"/>
            <a:chOff x="0" y="2248456"/>
            <a:chExt cx="2766060" cy="3483429"/>
          </a:xfrm>
        </p:grpSpPr>
        <p:sp>
          <p:nvSpPr>
            <p:cNvPr id="25" name="Rectangle : avec coins arrondis en haut 24">
              <a:extLst>
                <a:ext uri="{FF2B5EF4-FFF2-40B4-BE49-F238E27FC236}">
                  <a16:creationId xmlns:a16="http://schemas.microsoft.com/office/drawing/2014/main" id="{CC37AEED-EEE7-1D3B-EB44-6633FD82D5BC}"/>
                </a:ext>
              </a:extLst>
            </p:cNvPr>
            <p:cNvSpPr/>
            <p:nvPr/>
          </p:nvSpPr>
          <p:spPr>
            <a:xfrm rot="5400000">
              <a:off x="-358685" y="2607141"/>
              <a:ext cx="3483429"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3" name="Groupe 2">
              <a:extLst>
                <a:ext uri="{FF2B5EF4-FFF2-40B4-BE49-F238E27FC236}">
                  <a16:creationId xmlns:a16="http://schemas.microsoft.com/office/drawing/2014/main" id="{D0A43AA3-7567-9F9E-2242-A46B25F59056}"/>
                </a:ext>
              </a:extLst>
            </p:cNvPr>
            <p:cNvGrpSpPr/>
            <p:nvPr/>
          </p:nvGrpSpPr>
          <p:grpSpPr>
            <a:xfrm>
              <a:off x="86148" y="2316811"/>
              <a:ext cx="2632872" cy="867832"/>
              <a:chOff x="71514" y="2316811"/>
              <a:chExt cx="2632872" cy="867832"/>
            </a:xfrm>
          </p:grpSpPr>
          <p:sp>
            <p:nvSpPr>
              <p:cNvPr id="4" name="ZoneTexte 3">
                <a:extLst>
                  <a:ext uri="{FF2B5EF4-FFF2-40B4-BE49-F238E27FC236}">
                    <a16:creationId xmlns:a16="http://schemas.microsoft.com/office/drawing/2014/main" id="{941798D7-B755-17F3-B744-3E5279075533}"/>
                  </a:ext>
                </a:extLst>
              </p:cNvPr>
              <p:cNvSpPr txBox="1"/>
              <p:nvPr/>
            </p:nvSpPr>
            <p:spPr>
              <a:xfrm>
                <a:off x="839954" y="2353646"/>
                <a:ext cx="1864432" cy="830997"/>
              </a:xfrm>
              <a:prstGeom prst="rect">
                <a:avLst/>
              </a:prstGeom>
              <a:noFill/>
            </p:spPr>
            <p:txBody>
              <a:bodyPr wrap="square" rtlCol="0">
                <a:spAutoFit/>
              </a:bodyPr>
              <a:lstStyle/>
              <a:p>
                <a:pPr algn="just"/>
                <a:r>
                  <a:rPr lang="en-US" sz="1200" dirty="0"/>
                  <a:t>Discovered in </a:t>
                </a:r>
                <a:r>
                  <a:rPr lang="en-US" sz="1200" b="1" dirty="0"/>
                  <a:t>1990s</a:t>
                </a:r>
                <a:r>
                  <a:rPr lang="en-US" sz="1200" dirty="0"/>
                  <a:t>, it was the first method used for plants genome editing.</a:t>
                </a:r>
              </a:p>
            </p:txBody>
          </p:sp>
          <p:pic>
            <p:nvPicPr>
              <p:cNvPr id="5" name="Image 4">
                <a:extLst>
                  <a:ext uri="{FF2B5EF4-FFF2-40B4-BE49-F238E27FC236}">
                    <a16:creationId xmlns:a16="http://schemas.microsoft.com/office/drawing/2014/main" id="{C1859684-F7C2-7092-F278-48932F868A23}"/>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3EC6FFA6-51E7-455A-4AF0-1DBE80431D46}"/>
                </a:ext>
              </a:extLst>
            </p:cNvPr>
            <p:cNvGrpSpPr/>
            <p:nvPr/>
          </p:nvGrpSpPr>
          <p:grpSpPr>
            <a:xfrm>
              <a:off x="87476" y="3309241"/>
              <a:ext cx="2630216" cy="720000"/>
              <a:chOff x="74170" y="3340479"/>
              <a:chExt cx="2630216" cy="720000"/>
            </a:xfrm>
          </p:grpSpPr>
          <p:sp>
            <p:nvSpPr>
              <p:cNvPr id="23" name="ZoneTexte 22">
                <a:extLst>
                  <a:ext uri="{FF2B5EF4-FFF2-40B4-BE49-F238E27FC236}">
                    <a16:creationId xmlns:a16="http://schemas.microsoft.com/office/drawing/2014/main" id="{2ABF531F-B417-C5D6-5A73-920912893DF3}"/>
                  </a:ext>
                </a:extLst>
              </p:cNvPr>
              <p:cNvSpPr txBox="1"/>
              <p:nvPr/>
            </p:nvSpPr>
            <p:spPr>
              <a:xfrm>
                <a:off x="839954" y="3358264"/>
                <a:ext cx="1864432" cy="646331"/>
              </a:xfrm>
              <a:prstGeom prst="rect">
                <a:avLst/>
              </a:prstGeom>
              <a:noFill/>
            </p:spPr>
            <p:txBody>
              <a:bodyPr wrap="square">
                <a:spAutoFit/>
              </a:bodyPr>
              <a:lstStyle/>
              <a:p>
                <a:pPr algn="just"/>
                <a:r>
                  <a:rPr lang="en-US" sz="1200" b="0" i="0" u="none" strike="noStrike" baseline="0" dirty="0"/>
                  <a:t>Allows targeted </a:t>
                </a:r>
                <a:r>
                  <a:rPr lang="en-US" sz="1200" b="1" i="0" u="none" strike="noStrike" baseline="0" dirty="0"/>
                  <a:t>gene</a:t>
                </a:r>
                <a:r>
                  <a:rPr lang="en-US" sz="1200" b="0" i="0" u="none" strike="noStrike" baseline="0" dirty="0"/>
                  <a:t> </a:t>
                </a:r>
                <a:r>
                  <a:rPr lang="en-US" sz="1200" b="1" i="0" u="none" strike="noStrike" baseline="0" dirty="0"/>
                  <a:t>knockout</a:t>
                </a:r>
                <a:r>
                  <a:rPr lang="en-US" sz="1200" b="0" i="0" u="none" strike="noStrike" baseline="0" dirty="0"/>
                  <a:t> and </a:t>
                </a:r>
                <a:r>
                  <a:rPr lang="en-US" sz="1200" b="1" i="0" u="none" strike="noStrike" baseline="0" dirty="0"/>
                  <a:t>gene</a:t>
                </a:r>
                <a:r>
                  <a:rPr lang="en-US" sz="1200" b="0" i="0" u="none" strike="noStrike" baseline="0" dirty="0"/>
                  <a:t> </a:t>
                </a:r>
                <a:r>
                  <a:rPr lang="en-US" sz="1200" b="1" i="0" u="none" strike="noStrike" baseline="0" dirty="0"/>
                  <a:t>modification</a:t>
                </a:r>
                <a:r>
                  <a:rPr lang="en-US" sz="1200" b="0" i="0" u="none" strike="noStrike" baseline="0" dirty="0"/>
                  <a:t>.</a:t>
                </a:r>
                <a:endParaRPr lang="en-US" sz="1200" b="1" dirty="0"/>
              </a:p>
            </p:txBody>
          </p:sp>
          <p:pic>
            <p:nvPicPr>
              <p:cNvPr id="24" name="Image 23">
                <a:extLst>
                  <a:ext uri="{FF2B5EF4-FFF2-40B4-BE49-F238E27FC236}">
                    <a16:creationId xmlns:a16="http://schemas.microsoft.com/office/drawing/2014/main" id="{32F76A83-6F74-3695-59B5-9C74522BCD5A}"/>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65D6F59C-38EF-4E52-D805-1B1E4771575C}"/>
                </a:ext>
              </a:extLst>
            </p:cNvPr>
            <p:cNvGrpSpPr/>
            <p:nvPr/>
          </p:nvGrpSpPr>
          <p:grpSpPr>
            <a:xfrm>
              <a:off x="71514" y="4153839"/>
              <a:ext cx="2662140" cy="1569660"/>
              <a:chOff x="71514" y="4204970"/>
              <a:chExt cx="2662140" cy="1569660"/>
            </a:xfrm>
          </p:grpSpPr>
          <p:pic>
            <p:nvPicPr>
              <p:cNvPr id="34" name="Image 33">
                <a:extLst>
                  <a:ext uri="{FF2B5EF4-FFF2-40B4-BE49-F238E27FC236}">
                    <a16:creationId xmlns:a16="http://schemas.microsoft.com/office/drawing/2014/main" id="{B17F7EFC-7B51-3AF9-6B8F-FCC7163E82D3}"/>
                  </a:ext>
                </a:extLst>
              </p:cNvPr>
              <p:cNvPicPr>
                <a:picLocks noChangeAspect="1"/>
              </p:cNvPicPr>
              <p:nvPr/>
            </p:nvPicPr>
            <p:blipFill>
              <a:blip r:embed="rId4"/>
              <a:stretch>
                <a:fillRect/>
              </a:stretch>
            </p:blipFill>
            <p:spPr>
              <a:xfrm>
                <a:off x="71514" y="4629800"/>
                <a:ext cx="720000" cy="720000"/>
              </a:xfrm>
              <a:prstGeom prst="rect">
                <a:avLst/>
              </a:prstGeom>
            </p:spPr>
          </p:pic>
          <p:sp>
            <p:nvSpPr>
              <p:cNvPr id="35" name="ZoneTexte 34">
                <a:extLst>
                  <a:ext uri="{FF2B5EF4-FFF2-40B4-BE49-F238E27FC236}">
                    <a16:creationId xmlns:a16="http://schemas.microsoft.com/office/drawing/2014/main" id="{F5678B9A-31DF-E0A5-D209-E610180C7F7E}"/>
                  </a:ext>
                </a:extLst>
              </p:cNvPr>
              <p:cNvSpPr txBox="1"/>
              <p:nvPr/>
            </p:nvSpPr>
            <p:spPr>
              <a:xfrm>
                <a:off x="759108" y="4204970"/>
                <a:ext cx="1974546" cy="1569660"/>
              </a:xfrm>
              <a:prstGeom prst="rect">
                <a:avLst/>
              </a:prstGeom>
              <a:noFill/>
            </p:spPr>
            <p:txBody>
              <a:bodyPr wrap="square">
                <a:spAutoFit/>
              </a:bodyPr>
              <a:lstStyle/>
              <a:p>
                <a:pPr marL="171450" indent="-171450" algn="just">
                  <a:buFontTx/>
                  <a:buChar char="-"/>
                </a:pPr>
                <a:r>
                  <a:rPr lang="en-US" sz="1200" b="0" i="0" u="none" strike="noStrike" baseline="0" dirty="0"/>
                  <a:t>Identification of a </a:t>
                </a:r>
                <a:r>
                  <a:rPr lang="en-US" sz="1200" b="1" i="0" u="none" strike="noStrike" baseline="0" dirty="0"/>
                  <a:t>suitable target sequence </a:t>
                </a:r>
                <a:r>
                  <a:rPr lang="en-US" sz="1200" b="0" i="0" u="none" strike="noStrike" baseline="0" dirty="0"/>
                  <a:t>within the genomic region of interest</a:t>
                </a:r>
              </a:p>
              <a:p>
                <a:pPr marL="171450" indent="-171450" algn="just">
                  <a:buFontTx/>
                  <a:buChar char="-"/>
                </a:pPr>
                <a:r>
                  <a:rPr lang="en-US" sz="1200" dirty="0"/>
                  <a:t>Preparation of a </a:t>
                </a:r>
                <a:r>
                  <a:rPr lang="en-US" sz="1200" b="1" dirty="0"/>
                  <a:t>wide library of variants</a:t>
                </a:r>
                <a:r>
                  <a:rPr lang="en-US" sz="1200" dirty="0"/>
                  <a:t> to be tested</a:t>
                </a:r>
                <a:endParaRPr lang="fr-FR" sz="1200" dirty="0"/>
              </a:p>
            </p:txBody>
          </p:sp>
        </p:grpSp>
      </p:grpSp>
      <p:grpSp>
        <p:nvGrpSpPr>
          <p:cNvPr id="29" name="Groupe 28">
            <a:extLst>
              <a:ext uri="{FF2B5EF4-FFF2-40B4-BE49-F238E27FC236}">
                <a16:creationId xmlns:a16="http://schemas.microsoft.com/office/drawing/2014/main" id="{4CAB55E6-D3F4-02F4-BF93-6937F8EDE496}"/>
              </a:ext>
            </a:extLst>
          </p:cNvPr>
          <p:cNvGrpSpPr/>
          <p:nvPr/>
        </p:nvGrpSpPr>
        <p:grpSpPr>
          <a:xfrm>
            <a:off x="9416948" y="126389"/>
            <a:ext cx="2674326" cy="583900"/>
            <a:chOff x="9416948" y="126389"/>
            <a:chExt cx="2674326" cy="583900"/>
          </a:xfrm>
        </p:grpSpPr>
        <p:grpSp>
          <p:nvGrpSpPr>
            <p:cNvPr id="6" name="Groupe 5">
              <a:extLst>
                <a:ext uri="{FF2B5EF4-FFF2-40B4-BE49-F238E27FC236}">
                  <a16:creationId xmlns:a16="http://schemas.microsoft.com/office/drawing/2014/main" id="{8D46E65A-090F-A82B-BD97-76D3208BC2E4}"/>
                </a:ext>
              </a:extLst>
            </p:cNvPr>
            <p:cNvGrpSpPr/>
            <p:nvPr/>
          </p:nvGrpSpPr>
          <p:grpSpPr>
            <a:xfrm>
              <a:off x="9464997" y="129350"/>
              <a:ext cx="2626277" cy="580939"/>
              <a:chOff x="9464997" y="129350"/>
              <a:chExt cx="2626277" cy="580939"/>
            </a:xfrm>
          </p:grpSpPr>
          <p:pic>
            <p:nvPicPr>
              <p:cNvPr id="7" name="Picture 2">
                <a:extLst>
                  <a:ext uri="{FF2B5EF4-FFF2-40B4-BE49-F238E27FC236}">
                    <a16:creationId xmlns:a16="http://schemas.microsoft.com/office/drawing/2014/main" id="{C8DBE397-04E9-7B7C-4447-F4493FCD1DEC}"/>
                  </a:ext>
                </a:extLst>
              </p:cNvPr>
              <p:cNvPicPr>
                <a:picLocks noChangeAspect="1" noChangeArrowheads="1"/>
              </p:cNvPicPr>
              <p:nvPr/>
            </p:nvPicPr>
            <p:blipFill>
              <a:blip r:embed="rId5">
                <a:duotone>
                  <a:prstClr val="black"/>
                  <a:schemeClr val="tx1">
                    <a:tint val="45000"/>
                    <a:satMod val="400000"/>
                  </a:schemeClr>
                </a:duotone>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A089F66D-0C58-A5DC-0C3D-270475150788}"/>
                  </a:ext>
                </a:extLst>
              </p:cNvPr>
              <p:cNvPicPr>
                <a:picLocks noChangeAspect="1"/>
              </p:cNvPicPr>
              <p:nvPr/>
            </p:nvPicPr>
            <p:blipFill>
              <a:blip r:embed="rId7"/>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DFEC4BEE-218C-A855-FCC4-9AD392253C22}"/>
                  </a:ext>
                </a:extLst>
              </p:cNvPr>
              <p:cNvPicPr>
                <a:picLocks noChangeAspect="1"/>
              </p:cNvPicPr>
              <p:nvPr/>
            </p:nvPicPr>
            <p:blipFill>
              <a:blip r:embed="rId8"/>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B1EE9D9C-B487-FB9C-6FB9-58173D90D6A7}"/>
                  </a:ext>
                </a:extLst>
              </p:cNvPr>
              <p:cNvGrpSpPr/>
              <p:nvPr/>
            </p:nvGrpSpPr>
            <p:grpSpPr>
              <a:xfrm>
                <a:off x="9464997" y="129350"/>
                <a:ext cx="2626277" cy="580939"/>
                <a:chOff x="9464997" y="129350"/>
                <a:chExt cx="2626277" cy="580939"/>
              </a:xfrm>
            </p:grpSpPr>
            <p:sp>
              <p:nvSpPr>
                <p:cNvPr id="12" name="Rectangle : coins arrondis 11">
                  <a:extLst>
                    <a:ext uri="{FF2B5EF4-FFF2-40B4-BE49-F238E27FC236}">
                      <a16:creationId xmlns:a16="http://schemas.microsoft.com/office/drawing/2014/main" id="{CDC8BF85-FE26-F8E1-7CC2-93FA0A077992}"/>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03BDF7CF-1033-9F20-E4A7-4967AF4CE42E}"/>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DDF93E46-BE6E-0A9F-065D-884DF99EFA45}"/>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9821C1EC-C146-2B84-9836-86D20CE2E5AC}"/>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BE8D136D-6373-9377-D804-D0FF0FFAA1FD}"/>
                    </a:ext>
                  </a:extLst>
                </p:cNvPr>
                <p:cNvSpPr/>
                <p:nvPr/>
              </p:nvSpPr>
              <p:spPr>
                <a:xfrm>
                  <a:off x="10766697" y="129350"/>
                  <a:ext cx="13245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1" name="Image 10">
                <a:extLst>
                  <a:ext uri="{FF2B5EF4-FFF2-40B4-BE49-F238E27FC236}">
                    <a16:creationId xmlns:a16="http://schemas.microsoft.com/office/drawing/2014/main" id="{08789DAD-EF11-3A48-3F11-278C4DADD9D9}"/>
                  </a:ext>
                </a:extLst>
              </p:cNvPr>
              <p:cNvPicPr>
                <a:picLocks noChangeAspect="1"/>
              </p:cNvPicPr>
              <p:nvPr/>
            </p:nvPicPr>
            <p:blipFill>
              <a:blip r:embed="rId9"/>
              <a:stretch>
                <a:fillRect/>
              </a:stretch>
            </p:blipFill>
            <p:spPr>
              <a:xfrm>
                <a:off x="9554107" y="218630"/>
                <a:ext cx="360000" cy="360000"/>
              </a:xfrm>
              <a:prstGeom prst="rect">
                <a:avLst/>
              </a:prstGeom>
            </p:spPr>
          </p:pic>
        </p:grpSp>
        <p:sp>
          <p:nvSpPr>
            <p:cNvPr id="2" name="Rectangle 1">
              <a:extLst>
                <a:ext uri="{FF2B5EF4-FFF2-40B4-BE49-F238E27FC236}">
                  <a16:creationId xmlns:a16="http://schemas.microsoft.com/office/drawing/2014/main" id="{4CAC8183-E5BF-DAAF-800A-21E63975A82C}"/>
                </a:ext>
              </a:extLst>
            </p:cNvPr>
            <p:cNvSpPr/>
            <p:nvPr/>
          </p:nvSpPr>
          <p:spPr>
            <a:xfrm>
              <a:off x="9416948" y="126389"/>
              <a:ext cx="633310"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44" name="Groupe 43">
            <a:extLst>
              <a:ext uri="{FF2B5EF4-FFF2-40B4-BE49-F238E27FC236}">
                <a16:creationId xmlns:a16="http://schemas.microsoft.com/office/drawing/2014/main" id="{EF35F879-B2F1-1B91-D12B-B88AE1C7CBDC}"/>
              </a:ext>
            </a:extLst>
          </p:cNvPr>
          <p:cNvGrpSpPr/>
          <p:nvPr/>
        </p:nvGrpSpPr>
        <p:grpSpPr>
          <a:xfrm>
            <a:off x="3038646" y="1834920"/>
            <a:ext cx="5246959" cy="4637837"/>
            <a:chOff x="3026550" y="1972513"/>
            <a:chExt cx="5246959" cy="4637837"/>
          </a:xfrm>
        </p:grpSpPr>
        <p:sp>
          <p:nvSpPr>
            <p:cNvPr id="20" name="Rectangle : coins arrondis 19">
              <a:extLst>
                <a:ext uri="{FF2B5EF4-FFF2-40B4-BE49-F238E27FC236}">
                  <a16:creationId xmlns:a16="http://schemas.microsoft.com/office/drawing/2014/main" id="{A3D293EA-0622-BD00-5964-D1A0810FAE08}"/>
                </a:ext>
              </a:extLst>
            </p:cNvPr>
            <p:cNvSpPr/>
            <p:nvPr/>
          </p:nvSpPr>
          <p:spPr>
            <a:xfrm>
              <a:off x="3229069" y="2251680"/>
              <a:ext cx="5044440" cy="4358670"/>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44781817-DF51-C7B5-2E4B-1856C059D507}"/>
                </a:ext>
              </a:extLst>
            </p:cNvPr>
            <p:cNvSpPr/>
            <p:nvPr/>
          </p:nvSpPr>
          <p:spPr>
            <a:xfrm>
              <a:off x="3026550" y="1972513"/>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DE163C2F-0C66-75AC-68C9-0F9DD6205711}"/>
                </a:ext>
              </a:extLst>
            </p:cNvPr>
            <p:cNvSpPr/>
            <p:nvPr/>
          </p:nvSpPr>
          <p:spPr>
            <a:xfrm>
              <a:off x="3468968" y="2050167"/>
              <a:ext cx="2297561"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42" name="Groupe 41">
              <a:extLst>
                <a:ext uri="{FF2B5EF4-FFF2-40B4-BE49-F238E27FC236}">
                  <a16:creationId xmlns:a16="http://schemas.microsoft.com/office/drawing/2014/main" id="{11CF2FA6-7937-37DA-2D3B-DBCC39B3F66E}"/>
                </a:ext>
              </a:extLst>
            </p:cNvPr>
            <p:cNvGrpSpPr/>
            <p:nvPr/>
          </p:nvGrpSpPr>
          <p:grpSpPr>
            <a:xfrm>
              <a:off x="3383024" y="2478112"/>
              <a:ext cx="4869013" cy="3966895"/>
              <a:chOff x="3383024" y="2478112"/>
              <a:chExt cx="4869013" cy="3966895"/>
            </a:xfrm>
          </p:grpSpPr>
          <p:sp>
            <p:nvSpPr>
              <p:cNvPr id="49" name="ZoneTexte 48">
                <a:extLst>
                  <a:ext uri="{FF2B5EF4-FFF2-40B4-BE49-F238E27FC236}">
                    <a16:creationId xmlns:a16="http://schemas.microsoft.com/office/drawing/2014/main" id="{B0BCFD49-A2B2-ED81-C47C-49689EBE4A4C}"/>
                  </a:ext>
                </a:extLst>
              </p:cNvPr>
              <p:cNvSpPr txBox="1"/>
              <p:nvPr/>
            </p:nvSpPr>
            <p:spPr>
              <a:xfrm>
                <a:off x="3383024" y="2478112"/>
                <a:ext cx="4869013" cy="3231654"/>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err="1"/>
                  <a:t>Meganucleases</a:t>
                </a:r>
                <a:r>
                  <a:rPr lang="en-US" sz="1200" dirty="0"/>
                  <a:t> are a subclass of </a:t>
                </a:r>
                <a:r>
                  <a:rPr lang="en-US" sz="1200" b="1" dirty="0"/>
                  <a:t>endonucleases</a:t>
                </a:r>
                <a:r>
                  <a:rPr lang="en-US" sz="1200" dirty="0"/>
                  <a:t>.</a:t>
                </a:r>
              </a:p>
              <a:p>
                <a:pPr marL="285750" indent="-285750" algn="just">
                  <a:buFont typeface="Wingdings" panose="05000000000000000000" pitchFamily="2" charset="2"/>
                  <a:buChar char="Ø"/>
                </a:pPr>
                <a:r>
                  <a:rPr lang="en-US" sz="1200" dirty="0"/>
                  <a:t>They are composed of </a:t>
                </a:r>
                <a:r>
                  <a:rPr lang="en-US" sz="1200" b="1" dirty="0"/>
                  <a:t>homing nucleases </a:t>
                </a:r>
                <a:r>
                  <a:rPr lang="en-US" sz="1200" dirty="0"/>
                  <a:t>(HEs) and </a:t>
                </a:r>
                <a:r>
                  <a:rPr lang="en-US" sz="1200" b="1" dirty="0"/>
                  <a:t>synthetic nucleases</a:t>
                </a:r>
                <a:r>
                  <a:rPr lang="en-US" sz="1200" dirty="0"/>
                  <a:t>.</a:t>
                </a:r>
              </a:p>
              <a:p>
                <a:pPr marL="285750" indent="-285750" algn="just">
                  <a:buFont typeface="Wingdings" panose="05000000000000000000" pitchFamily="2" charset="2"/>
                  <a:buChar char="Ø"/>
                </a:pPr>
                <a:r>
                  <a:rPr lang="en-US" sz="1200" dirty="0"/>
                  <a:t>Homing nucleases are found in </a:t>
                </a:r>
                <a:r>
                  <a:rPr lang="en-US" sz="1200" b="1" dirty="0"/>
                  <a:t>eukaryotic organisms</a:t>
                </a:r>
                <a:r>
                  <a:rPr lang="en-US" sz="1200" dirty="0"/>
                  <a:t> such as plants, algae, fungi while synthetic nucleases are obtained by </a:t>
                </a:r>
                <a:r>
                  <a:rPr lang="en-US" sz="1200" b="1" dirty="0"/>
                  <a:t>swapping or modifying domains from different HEs</a:t>
                </a:r>
                <a:r>
                  <a:rPr lang="en-US" sz="1200" dirty="0"/>
                  <a:t>.</a:t>
                </a:r>
              </a:p>
              <a:p>
                <a:pPr marL="285750" indent="-285750" algn="just">
                  <a:buFont typeface="Wingdings" panose="05000000000000000000" pitchFamily="2" charset="2"/>
                  <a:buChar char="Ø"/>
                </a:pPr>
                <a:r>
                  <a:rPr lang="en-US" sz="1200" dirty="0"/>
                  <a:t>They are </a:t>
                </a:r>
                <a:r>
                  <a:rPr lang="en-US" sz="1200" b="1" dirty="0"/>
                  <a:t>small molecules </a:t>
                </a:r>
                <a:r>
                  <a:rPr lang="en-US" sz="1200" dirty="0"/>
                  <a:t>of 180 to 440 residues, with </a:t>
                </a:r>
                <a:r>
                  <a:rPr lang="en-US" sz="1200" b="1" dirty="0"/>
                  <a:t>no repetition </a:t>
                </a:r>
                <a:r>
                  <a:rPr lang="en-US" sz="1200" dirty="0"/>
                  <a:t>in their sequence.</a:t>
                </a:r>
              </a:p>
              <a:p>
                <a:pPr marL="285750" indent="-285750" algn="just">
                  <a:buFont typeface="Wingdings" panose="05000000000000000000" pitchFamily="2" charset="2"/>
                  <a:buChar char="Ø"/>
                </a:pPr>
                <a:r>
                  <a:rPr lang="fr-FR" sz="1200" dirty="0" err="1"/>
                  <a:t>They</a:t>
                </a:r>
                <a:r>
                  <a:rPr lang="fr-FR" sz="1200" dirty="0"/>
                  <a:t> </a:t>
                </a:r>
                <a:r>
                  <a:rPr lang="fr-FR" sz="1200" dirty="0" err="1"/>
                  <a:t>recognize</a:t>
                </a:r>
                <a:r>
                  <a:rPr lang="fr-FR" sz="1200" dirty="0"/>
                  <a:t> </a:t>
                </a:r>
                <a:r>
                  <a:rPr lang="fr-FR" sz="1200" b="1" dirty="0"/>
                  <a:t>long DNA </a:t>
                </a:r>
                <a:r>
                  <a:rPr lang="fr-FR" sz="1200" b="1" dirty="0" err="1"/>
                  <a:t>target</a:t>
                </a:r>
                <a:r>
                  <a:rPr lang="fr-FR" sz="1200" b="1" dirty="0"/>
                  <a:t> sites </a:t>
                </a:r>
                <a:r>
                  <a:rPr lang="fr-FR" sz="1200" dirty="0"/>
                  <a:t>of 12 to 40 </a:t>
                </a:r>
                <a:r>
                  <a:rPr lang="fr-FR" sz="1200" dirty="0" err="1"/>
                  <a:t>bp</a:t>
                </a:r>
                <a:r>
                  <a:rPr lang="fr-FR" sz="1200" dirty="0"/>
                  <a:t>.</a:t>
                </a:r>
              </a:p>
              <a:p>
                <a:pPr marL="285750" indent="-285750" algn="just">
                  <a:buFont typeface="Wingdings" panose="05000000000000000000" pitchFamily="2" charset="2"/>
                  <a:buChar char="Ø"/>
                </a:pPr>
                <a:r>
                  <a:rPr lang="fr-FR" sz="1200" dirty="0" err="1"/>
                  <a:t>They</a:t>
                </a:r>
                <a:r>
                  <a:rPr lang="fr-FR" sz="1200" dirty="0"/>
                  <a:t> are </a:t>
                </a:r>
                <a:r>
                  <a:rPr lang="fr-FR" sz="1200" dirty="0" err="1"/>
                  <a:t>generally</a:t>
                </a:r>
                <a:r>
                  <a:rPr lang="fr-FR" sz="1200" dirty="0"/>
                  <a:t> </a:t>
                </a:r>
                <a:r>
                  <a:rPr lang="fr-FR" sz="1200" dirty="0" err="1"/>
                  <a:t>cleaving</a:t>
                </a:r>
                <a:r>
                  <a:rPr lang="fr-FR" sz="1200" dirty="0"/>
                  <a:t> DNA as </a:t>
                </a:r>
                <a:r>
                  <a:rPr lang="fr-FR" sz="1200" b="1" dirty="0" err="1"/>
                  <a:t>dimers</a:t>
                </a:r>
                <a:r>
                  <a:rPr lang="fr-FR" sz="1200" dirty="0"/>
                  <a:t>.</a:t>
                </a:r>
              </a:p>
              <a:p>
                <a:pPr marL="285750" indent="-285750" algn="just">
                  <a:buFont typeface="Wingdings" panose="05000000000000000000" pitchFamily="2" charset="2"/>
                  <a:buChar char="Ø"/>
                </a:pPr>
                <a:r>
                  <a:rPr lang="fr-FR" sz="1200" dirty="0" err="1"/>
                  <a:t>They</a:t>
                </a:r>
                <a:r>
                  <a:rPr lang="fr-FR" sz="1200" dirty="0"/>
                  <a:t> are unique platform </a:t>
                </a:r>
                <a:r>
                  <a:rPr lang="en-US" sz="1200" dirty="0"/>
                  <a:t>in that their </a:t>
                </a:r>
                <a:r>
                  <a:rPr lang="en-US" sz="1200" b="1" dirty="0"/>
                  <a:t>DNA binding and cleavage activities are integrated</a:t>
                </a:r>
                <a:r>
                  <a:rPr lang="fr-FR" sz="1200" b="1" dirty="0"/>
                  <a:t>.</a:t>
                </a:r>
              </a:p>
              <a:p>
                <a:pPr marL="285750" indent="-285750" algn="just">
                  <a:buFont typeface="Wingdings" panose="05000000000000000000" pitchFamily="2" charset="2"/>
                  <a:buChar char="Ø"/>
                </a:pPr>
                <a:r>
                  <a:rPr lang="fr-FR" sz="1200" b="0" i="0" u="none" strike="noStrike" baseline="0" dirty="0">
                    <a:solidFill>
                      <a:srgbClr val="231F20"/>
                    </a:solidFill>
                  </a:rPr>
                  <a:t>There are </a:t>
                </a:r>
                <a:r>
                  <a:rPr lang="fr-FR" sz="1200" b="1" i="0" u="none" strike="noStrike" baseline="0" dirty="0">
                    <a:solidFill>
                      <a:srgbClr val="231F20"/>
                    </a:solidFill>
                  </a:rPr>
                  <a:t>6 </a:t>
                </a:r>
                <a:r>
                  <a:rPr lang="fr-FR" sz="1200" b="1" i="0" u="none" strike="noStrike" baseline="0" dirty="0" err="1">
                    <a:solidFill>
                      <a:srgbClr val="231F20"/>
                    </a:solidFill>
                  </a:rPr>
                  <a:t>families</a:t>
                </a:r>
                <a:r>
                  <a:rPr lang="fr-FR" sz="1200" b="1" i="0" u="none" strike="noStrike" baseline="0" dirty="0">
                    <a:solidFill>
                      <a:srgbClr val="231F20"/>
                    </a:solidFill>
                  </a:rPr>
                  <a:t> </a:t>
                </a:r>
                <a:r>
                  <a:rPr lang="fr-FR" sz="1200" b="0" i="0" u="none" strike="noStrike" baseline="0" dirty="0">
                    <a:solidFill>
                      <a:srgbClr val="231F20"/>
                    </a:solidFill>
                  </a:rPr>
                  <a:t>of </a:t>
                </a:r>
                <a:r>
                  <a:rPr lang="fr-FR" sz="1200" b="0" i="0" u="none" strike="noStrike" baseline="0" dirty="0" err="1">
                    <a:solidFill>
                      <a:srgbClr val="231F20"/>
                    </a:solidFill>
                  </a:rPr>
                  <a:t>meganucleases</a:t>
                </a:r>
                <a:r>
                  <a:rPr lang="fr-FR" sz="1200" b="0" i="0" u="none" strike="noStrike" baseline="0" dirty="0">
                    <a:solidFill>
                      <a:srgbClr val="231F20"/>
                    </a:solidFill>
                  </a:rPr>
                  <a:t> : </a:t>
                </a:r>
                <a:r>
                  <a:rPr lang="fr-FR" sz="1200" dirty="0"/>
                  <a:t>LAGLIDADG, </a:t>
                </a:r>
                <a:r>
                  <a:rPr lang="fr-FR" sz="1200" dirty="0" err="1"/>
                  <a:t>His</a:t>
                </a:r>
                <a:r>
                  <a:rPr lang="fr-FR" sz="1200" dirty="0"/>
                  <a:t>-Cys box, GIY-YIG, HNH, PD(D/E)XK, </a:t>
                </a:r>
                <a:r>
                  <a:rPr lang="fr-FR" sz="1200" dirty="0" err="1"/>
                  <a:t>EDxHD</a:t>
                </a:r>
                <a:r>
                  <a:rPr lang="fr-FR" sz="1200" dirty="0"/>
                  <a:t>, </a:t>
                </a:r>
                <a:r>
                  <a:rPr lang="fr-FR" sz="1200" dirty="0" err="1"/>
                  <a:t>with</a:t>
                </a:r>
                <a:r>
                  <a:rPr lang="fr-FR" sz="1200" dirty="0"/>
                  <a:t> </a:t>
                </a:r>
                <a:r>
                  <a:rPr lang="fr-FR" sz="1200" b="1" dirty="0"/>
                  <a:t>LAGLIDADG</a:t>
                </a:r>
                <a:r>
                  <a:rPr lang="fr-FR" sz="1200" dirty="0"/>
                  <a:t> the </a:t>
                </a:r>
                <a:r>
                  <a:rPr lang="fr-FR" sz="1200" dirty="0" err="1"/>
                  <a:t>most</a:t>
                </a:r>
                <a:r>
                  <a:rPr lang="fr-FR" sz="1200" dirty="0"/>
                  <a:t> abondant one.</a:t>
                </a:r>
              </a:p>
              <a:p>
                <a:pPr marL="285750" indent="-285750" algn="just">
                  <a:buFont typeface="Wingdings" panose="05000000000000000000" pitchFamily="2" charset="2"/>
                  <a:buChar char="Ø"/>
                </a:pPr>
                <a:r>
                  <a:rPr lang="en-US" sz="1200" dirty="0"/>
                  <a:t>They have not been able to flourish due to development of newer techniques.</a:t>
                </a:r>
                <a:endParaRPr lang="fr-FR" sz="1200" dirty="0"/>
              </a:p>
            </p:txBody>
          </p:sp>
          <p:pic>
            <p:nvPicPr>
              <p:cNvPr id="33" name="Image 32">
                <a:extLst>
                  <a:ext uri="{FF2B5EF4-FFF2-40B4-BE49-F238E27FC236}">
                    <a16:creationId xmlns:a16="http://schemas.microsoft.com/office/drawing/2014/main" id="{5E23BAB7-9F35-6901-D0FB-5E1013AAD758}"/>
                  </a:ext>
                </a:extLst>
              </p:cNvPr>
              <p:cNvPicPr>
                <a:picLocks noChangeAspect="1"/>
              </p:cNvPicPr>
              <p:nvPr/>
            </p:nvPicPr>
            <p:blipFill>
              <a:blip r:embed="rId10"/>
              <a:srcRect l="36326" r="3911"/>
              <a:stretch/>
            </p:blipFill>
            <p:spPr>
              <a:xfrm>
                <a:off x="4845980" y="5658897"/>
                <a:ext cx="1943100" cy="786110"/>
              </a:xfrm>
              <a:prstGeom prst="rect">
                <a:avLst/>
              </a:prstGeom>
            </p:spPr>
          </p:pic>
        </p:grpSp>
        <p:pic>
          <p:nvPicPr>
            <p:cNvPr id="32" name="Image 31" descr="Une image contenant symbole, cercle, Graphique, conception&#10;&#10;Description générée automatiquement">
              <a:extLst>
                <a:ext uri="{FF2B5EF4-FFF2-40B4-BE49-F238E27FC236}">
                  <a16:creationId xmlns:a16="http://schemas.microsoft.com/office/drawing/2014/main" id="{9D6FE6FA-0E02-8ECF-F21A-5C236F65B5BC}"/>
                </a:ext>
              </a:extLst>
            </p:cNvPr>
            <p:cNvPicPr>
              <a:picLocks noChangeAspect="1"/>
            </p:cNvPicPr>
            <p:nvPr/>
          </p:nvPicPr>
          <p:blipFill>
            <a:blip r:embed="rId11"/>
            <a:stretch>
              <a:fillRect/>
            </a:stretch>
          </p:blipFill>
          <p:spPr>
            <a:xfrm>
              <a:off x="3084375" y="2029268"/>
              <a:ext cx="468000" cy="468000"/>
            </a:xfrm>
            <a:prstGeom prst="rect">
              <a:avLst/>
            </a:prstGeom>
          </p:spPr>
        </p:pic>
      </p:grpSp>
      <p:grpSp>
        <p:nvGrpSpPr>
          <p:cNvPr id="53" name="Groupe 52">
            <a:extLst>
              <a:ext uri="{FF2B5EF4-FFF2-40B4-BE49-F238E27FC236}">
                <a16:creationId xmlns:a16="http://schemas.microsoft.com/office/drawing/2014/main" id="{AE1847A3-6B38-8143-2723-C0E1E8B3D366}"/>
              </a:ext>
            </a:extLst>
          </p:cNvPr>
          <p:cNvGrpSpPr/>
          <p:nvPr/>
        </p:nvGrpSpPr>
        <p:grpSpPr>
          <a:xfrm>
            <a:off x="8558191" y="2545093"/>
            <a:ext cx="3265760" cy="3217491"/>
            <a:chOff x="8558191" y="2397038"/>
            <a:chExt cx="3265760" cy="3217491"/>
          </a:xfrm>
        </p:grpSpPr>
        <p:grpSp>
          <p:nvGrpSpPr>
            <p:cNvPr id="51" name="Groupe 50">
              <a:extLst>
                <a:ext uri="{FF2B5EF4-FFF2-40B4-BE49-F238E27FC236}">
                  <a16:creationId xmlns:a16="http://schemas.microsoft.com/office/drawing/2014/main" id="{2A8944BF-9BD0-D5BE-30F2-A5BACF347A1D}"/>
                </a:ext>
              </a:extLst>
            </p:cNvPr>
            <p:cNvGrpSpPr/>
            <p:nvPr/>
          </p:nvGrpSpPr>
          <p:grpSpPr>
            <a:xfrm>
              <a:off x="8558191" y="2397038"/>
              <a:ext cx="3265760" cy="1014471"/>
              <a:chOff x="8558191" y="2397038"/>
              <a:chExt cx="3265760" cy="1014471"/>
            </a:xfrm>
          </p:grpSpPr>
          <p:sp>
            <p:nvSpPr>
              <p:cNvPr id="26" name="Rectangle : coins arrondis 25">
                <a:extLst>
                  <a:ext uri="{FF2B5EF4-FFF2-40B4-BE49-F238E27FC236}">
                    <a16:creationId xmlns:a16="http://schemas.microsoft.com/office/drawing/2014/main" id="{C7E9CCDD-C397-AB98-F48C-ABB41D63E776}"/>
                  </a:ext>
                </a:extLst>
              </p:cNvPr>
              <p:cNvSpPr/>
              <p:nvPr/>
            </p:nvSpPr>
            <p:spPr>
              <a:xfrm>
                <a:off x="8760710" y="2676206"/>
                <a:ext cx="3063240" cy="735303"/>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0074D39B-6CFD-01D1-7283-6EAFC38813C3}"/>
                  </a:ext>
                </a:extLst>
              </p:cNvPr>
              <p:cNvSpPr/>
              <p:nvPr/>
            </p:nvSpPr>
            <p:spPr>
              <a:xfrm>
                <a:off x="8558191" y="2397038"/>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2B6DC9A3-78B3-01A4-E7F7-67919C489245}"/>
                  </a:ext>
                </a:extLst>
              </p:cNvPr>
              <p:cNvSpPr/>
              <p:nvPr/>
            </p:nvSpPr>
            <p:spPr>
              <a:xfrm>
                <a:off x="9000609" y="2467371"/>
                <a:ext cx="2297561"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36" name="ZoneTexte 35">
                <a:extLst>
                  <a:ext uri="{FF2B5EF4-FFF2-40B4-BE49-F238E27FC236}">
                    <a16:creationId xmlns:a16="http://schemas.microsoft.com/office/drawing/2014/main" id="{C2F4CCA0-C6B9-3F6D-C1C2-C4831E059EA0}"/>
                  </a:ext>
                </a:extLst>
              </p:cNvPr>
              <p:cNvSpPr txBox="1"/>
              <p:nvPr/>
            </p:nvSpPr>
            <p:spPr>
              <a:xfrm>
                <a:off x="8851901" y="2894323"/>
                <a:ext cx="2972050" cy="461665"/>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Viral infections</a:t>
                </a:r>
                <a:r>
                  <a:rPr lang="en-US" sz="1200" baseline="30000" dirty="0">
                    <a:solidFill>
                      <a:srgbClr val="231F20"/>
                    </a:solidFill>
                  </a:rPr>
                  <a:t>1</a:t>
                </a:r>
                <a:endParaRPr lang="en-US" sz="1200" b="0" i="0" u="none" strike="noStrike" baseline="0" dirty="0">
                  <a:solidFill>
                    <a:srgbClr val="231F20"/>
                  </a:solidFill>
                </a:endParaRPr>
              </a:p>
              <a:p>
                <a:pPr marL="285750" indent="-285750" algn="just">
                  <a:buFont typeface="Wingdings" panose="05000000000000000000" pitchFamily="2" charset="2"/>
                  <a:buChar char="Ø"/>
                </a:pPr>
                <a:r>
                  <a:rPr lang="en-US" sz="1200" b="0" i="0" u="none" strike="noStrike" baseline="0" dirty="0">
                    <a:solidFill>
                      <a:srgbClr val="231F20"/>
                    </a:solidFill>
                  </a:rPr>
                  <a:t>Immunotherapy</a:t>
                </a:r>
                <a:r>
                  <a:rPr lang="en-US" sz="1200" b="0" i="0" u="none" strike="noStrike" baseline="30000" dirty="0">
                    <a:solidFill>
                      <a:srgbClr val="231F20"/>
                    </a:solidFill>
                  </a:rPr>
                  <a:t>2</a:t>
                </a:r>
              </a:p>
            </p:txBody>
          </p:sp>
          <p:pic>
            <p:nvPicPr>
              <p:cNvPr id="38" name="Image 37" descr="Une image contenant symbole, Police, Graphique, logo&#10;&#10;Description générée automatiquement">
                <a:extLst>
                  <a:ext uri="{FF2B5EF4-FFF2-40B4-BE49-F238E27FC236}">
                    <a16:creationId xmlns:a16="http://schemas.microsoft.com/office/drawing/2014/main" id="{7230156D-7625-8AFB-DF51-34A8AF87634A}"/>
                  </a:ext>
                </a:extLst>
              </p:cNvPr>
              <p:cNvPicPr>
                <a:picLocks noChangeAspect="1"/>
              </p:cNvPicPr>
              <p:nvPr/>
            </p:nvPicPr>
            <p:blipFill>
              <a:blip r:embed="rId12"/>
              <a:stretch>
                <a:fillRect/>
              </a:stretch>
            </p:blipFill>
            <p:spPr>
              <a:xfrm>
                <a:off x="8594191" y="2435163"/>
                <a:ext cx="468000" cy="468000"/>
              </a:xfrm>
              <a:prstGeom prst="rect">
                <a:avLst/>
              </a:prstGeom>
            </p:spPr>
          </p:pic>
        </p:grpSp>
        <p:grpSp>
          <p:nvGrpSpPr>
            <p:cNvPr id="52" name="Groupe 51">
              <a:extLst>
                <a:ext uri="{FF2B5EF4-FFF2-40B4-BE49-F238E27FC236}">
                  <a16:creationId xmlns:a16="http://schemas.microsoft.com/office/drawing/2014/main" id="{D4DC7BBD-F23F-AC4C-211F-B9E93FE6495D}"/>
                </a:ext>
              </a:extLst>
            </p:cNvPr>
            <p:cNvGrpSpPr/>
            <p:nvPr/>
          </p:nvGrpSpPr>
          <p:grpSpPr>
            <a:xfrm>
              <a:off x="8558191" y="3919263"/>
              <a:ext cx="3265759" cy="1695266"/>
              <a:chOff x="8558191" y="3919263"/>
              <a:chExt cx="3265759" cy="1695266"/>
            </a:xfrm>
          </p:grpSpPr>
          <p:sp>
            <p:nvSpPr>
              <p:cNvPr id="45" name="Rectangle : coins arrondis 44">
                <a:extLst>
                  <a:ext uri="{FF2B5EF4-FFF2-40B4-BE49-F238E27FC236}">
                    <a16:creationId xmlns:a16="http://schemas.microsoft.com/office/drawing/2014/main" id="{3EF2CBD3-0CD8-22A9-B11D-270524235793}"/>
                  </a:ext>
                </a:extLst>
              </p:cNvPr>
              <p:cNvSpPr/>
              <p:nvPr/>
            </p:nvSpPr>
            <p:spPr>
              <a:xfrm>
                <a:off x="8760710" y="4198430"/>
                <a:ext cx="3063240" cy="1416099"/>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45E710F0-97F8-0300-3E7A-4B64B613F18B}"/>
                  </a:ext>
                </a:extLst>
              </p:cNvPr>
              <p:cNvSpPr/>
              <p:nvPr/>
            </p:nvSpPr>
            <p:spPr>
              <a:xfrm>
                <a:off x="8558191" y="3919263"/>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6E1C70FA-C910-B597-825C-6B694B309FF7}"/>
                  </a:ext>
                </a:extLst>
              </p:cNvPr>
              <p:cNvSpPr/>
              <p:nvPr/>
            </p:nvSpPr>
            <p:spPr>
              <a:xfrm>
                <a:off x="9000609" y="3989596"/>
                <a:ext cx="2297561"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50" name="ZoneTexte 49">
                <a:extLst>
                  <a:ext uri="{FF2B5EF4-FFF2-40B4-BE49-F238E27FC236}">
                    <a16:creationId xmlns:a16="http://schemas.microsoft.com/office/drawing/2014/main" id="{319A4480-96EA-00E4-A43D-FD2142329AF9}"/>
                  </a:ext>
                </a:extLst>
              </p:cNvPr>
              <p:cNvSpPr txBox="1"/>
              <p:nvPr/>
            </p:nvSpPr>
            <p:spPr>
              <a:xfrm>
                <a:off x="8851901" y="4414200"/>
                <a:ext cx="2972049" cy="1200329"/>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Bacteria</a:t>
                </a:r>
              </a:p>
              <a:p>
                <a:pPr marL="285750" indent="-285750" algn="just">
                  <a:buFont typeface="Wingdings" panose="05000000000000000000" pitchFamily="2" charset="2"/>
                  <a:buChar char="Ø"/>
                </a:pPr>
                <a:r>
                  <a:rPr lang="en-US" sz="1200" dirty="0">
                    <a:solidFill>
                      <a:srgbClr val="231F20"/>
                    </a:solidFill>
                  </a:rPr>
                  <a:t>Fungi</a:t>
                </a:r>
              </a:p>
              <a:p>
                <a:pPr marL="285750" indent="-285750" algn="just">
                  <a:buFont typeface="Wingdings" panose="05000000000000000000" pitchFamily="2" charset="2"/>
                  <a:buChar char="Ø"/>
                </a:pPr>
                <a:r>
                  <a:rPr lang="en-US" sz="1200" b="0" i="0" u="none" strike="noStrike" dirty="0">
                    <a:solidFill>
                      <a:srgbClr val="231F20"/>
                    </a:solidFill>
                  </a:rPr>
                  <a:t>Yeast</a:t>
                </a:r>
              </a:p>
              <a:p>
                <a:pPr marL="285750" indent="-285750" algn="just">
                  <a:buFont typeface="Wingdings" panose="05000000000000000000" pitchFamily="2" charset="2"/>
                  <a:buChar char="Ø"/>
                </a:pPr>
                <a:r>
                  <a:rPr lang="en-US" sz="1200" dirty="0">
                    <a:solidFill>
                      <a:srgbClr val="231F20"/>
                    </a:solidFill>
                  </a:rPr>
                  <a:t>Plants</a:t>
                </a:r>
              </a:p>
              <a:p>
                <a:pPr marL="285750" indent="-285750" algn="just">
                  <a:buFont typeface="Wingdings" panose="05000000000000000000" pitchFamily="2" charset="2"/>
                  <a:buChar char="Ø"/>
                </a:pPr>
                <a:r>
                  <a:rPr lang="en-US" sz="1200" b="0" i="0" u="none" strike="noStrike" dirty="0">
                    <a:solidFill>
                      <a:srgbClr val="231F20"/>
                    </a:solidFill>
                  </a:rPr>
                  <a:t>Algae</a:t>
                </a:r>
              </a:p>
              <a:p>
                <a:pPr marL="285750" indent="-285750" algn="just">
                  <a:buFont typeface="Wingdings" panose="05000000000000000000" pitchFamily="2" charset="2"/>
                  <a:buChar char="Ø"/>
                </a:pPr>
                <a:r>
                  <a:rPr lang="en-US" sz="1200" dirty="0">
                    <a:solidFill>
                      <a:srgbClr val="231F20"/>
                    </a:solidFill>
                  </a:rPr>
                  <a:t>Archaea</a:t>
                </a:r>
                <a:endParaRPr lang="en-US" sz="1200" b="0" i="0" u="none" strike="noStrike" dirty="0">
                  <a:solidFill>
                    <a:srgbClr val="231F20"/>
                  </a:solidFill>
                </a:endParaRPr>
              </a:p>
            </p:txBody>
          </p:sp>
          <p:pic>
            <p:nvPicPr>
              <p:cNvPr id="40" name="Image 39" descr="Une image contenant cercle, Graphique, Police, symbole&#10;&#10;Description générée automatiquement">
                <a:extLst>
                  <a:ext uri="{FF2B5EF4-FFF2-40B4-BE49-F238E27FC236}">
                    <a16:creationId xmlns:a16="http://schemas.microsoft.com/office/drawing/2014/main" id="{242AD55A-99E7-67AA-3D8E-BFC3381E33A6}"/>
                  </a:ext>
                </a:extLst>
              </p:cNvPr>
              <p:cNvPicPr>
                <a:picLocks noChangeAspect="1"/>
              </p:cNvPicPr>
              <p:nvPr/>
            </p:nvPicPr>
            <p:blipFill>
              <a:blip r:embed="rId13"/>
              <a:stretch>
                <a:fillRect/>
              </a:stretch>
            </p:blipFill>
            <p:spPr>
              <a:xfrm>
                <a:off x="8612977" y="3973263"/>
                <a:ext cx="468000" cy="468000"/>
              </a:xfrm>
              <a:prstGeom prst="rect">
                <a:avLst/>
              </a:prstGeom>
            </p:spPr>
          </p:pic>
        </p:grpSp>
      </p:grpSp>
      <p:sp>
        <p:nvSpPr>
          <p:cNvPr id="31" name="ZoneTexte 30">
            <a:extLst>
              <a:ext uri="{FF2B5EF4-FFF2-40B4-BE49-F238E27FC236}">
                <a16:creationId xmlns:a16="http://schemas.microsoft.com/office/drawing/2014/main" id="{8A4DC350-AB58-E80D-2ABA-70327B94AA94}"/>
              </a:ext>
            </a:extLst>
          </p:cNvPr>
          <p:cNvSpPr txBox="1"/>
          <p:nvPr/>
        </p:nvSpPr>
        <p:spPr>
          <a:xfrm>
            <a:off x="5645227" y="0"/>
            <a:ext cx="1905000" cy="707886"/>
          </a:xfrm>
          <a:prstGeom prst="rect">
            <a:avLst/>
          </a:prstGeom>
          <a:noFill/>
        </p:spPr>
        <p:txBody>
          <a:bodyPr wrap="square" rtlCol="0">
            <a:spAutoFit/>
          </a:bodyPr>
          <a:lstStyle/>
          <a:p>
            <a:r>
              <a:rPr lang="fr-FR" sz="4000" b="1" dirty="0">
                <a:highlight>
                  <a:srgbClr val="FFFF00"/>
                </a:highlight>
              </a:rPr>
              <a:t>OK</a:t>
            </a:r>
          </a:p>
        </p:txBody>
      </p:sp>
      <p:grpSp>
        <p:nvGrpSpPr>
          <p:cNvPr id="37" name="Groupe 36">
            <a:extLst>
              <a:ext uri="{FF2B5EF4-FFF2-40B4-BE49-F238E27FC236}">
                <a16:creationId xmlns:a16="http://schemas.microsoft.com/office/drawing/2014/main" id="{1A1DB5AD-7405-6498-8399-7C7E91959F83}"/>
              </a:ext>
            </a:extLst>
          </p:cNvPr>
          <p:cNvGrpSpPr/>
          <p:nvPr/>
        </p:nvGrpSpPr>
        <p:grpSpPr>
          <a:xfrm>
            <a:off x="645225" y="945343"/>
            <a:ext cx="10937024" cy="565150"/>
            <a:chOff x="645225" y="945343"/>
            <a:chExt cx="10937024" cy="565150"/>
          </a:xfrm>
        </p:grpSpPr>
        <p:sp>
          <p:nvSpPr>
            <p:cNvPr id="39" name="Ellipse 38">
              <a:extLst>
                <a:ext uri="{FF2B5EF4-FFF2-40B4-BE49-F238E27FC236}">
                  <a16:creationId xmlns:a16="http://schemas.microsoft.com/office/drawing/2014/main" id="{18AF3535-82F5-8628-1FDF-4195ED9F153B}"/>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texte 9">
              <a:extLst>
                <a:ext uri="{FF2B5EF4-FFF2-40B4-BE49-F238E27FC236}">
                  <a16:creationId xmlns:a16="http://schemas.microsoft.com/office/drawing/2014/main" id="{22643889-9466-CB0B-24DC-6DFD8AD87061}"/>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err="1"/>
                <a:t>MNs</a:t>
              </a:r>
              <a:r>
                <a:rPr lang="fr-FR" sz="1800" b="1" dirty="0"/>
                <a:t> are </a:t>
              </a:r>
              <a:r>
                <a:rPr lang="fr-FR" sz="1800" b="1" dirty="0" err="1"/>
                <a:t>very</a:t>
              </a:r>
              <a:r>
                <a:rPr lang="fr-FR" sz="1800" b="1" dirty="0"/>
                <a:t> </a:t>
              </a:r>
              <a:r>
                <a:rPr lang="fr-FR" sz="1800" b="1" dirty="0" err="1"/>
                <a:t>specific</a:t>
              </a:r>
              <a:r>
                <a:rPr lang="fr-FR" sz="1800" b="1" dirty="0"/>
                <a:t> </a:t>
              </a:r>
              <a:r>
                <a:rPr lang="fr-FR" sz="1800" b="1" dirty="0" err="1"/>
                <a:t>gene</a:t>
              </a:r>
              <a:r>
                <a:rPr lang="fr-FR" sz="1800" b="1" dirty="0"/>
                <a:t> </a:t>
              </a:r>
              <a:r>
                <a:rPr lang="fr-FR" sz="1800" b="1" dirty="0" err="1"/>
                <a:t>editing</a:t>
              </a:r>
              <a:r>
                <a:rPr lang="fr-FR" sz="1800" b="1" dirty="0"/>
                <a:t> </a:t>
              </a:r>
              <a:r>
                <a:rPr lang="fr-FR" sz="1800" b="1" dirty="0" err="1"/>
                <a:t>tools</a:t>
              </a:r>
              <a:r>
                <a:rPr lang="fr-FR" sz="1800" b="1" dirty="0"/>
                <a:t>, </a:t>
              </a:r>
              <a:r>
                <a:rPr lang="fr-FR" sz="1800" b="1" dirty="0" err="1"/>
                <a:t>with</a:t>
              </a:r>
              <a:r>
                <a:rPr lang="fr-FR" sz="1800" b="1" dirty="0"/>
                <a:t> a </a:t>
              </a:r>
              <a:r>
                <a:rPr lang="fr-FR" sz="1800" b="1" dirty="0" err="1"/>
                <a:t>wide</a:t>
              </a:r>
              <a:r>
                <a:rPr lang="fr-FR" sz="1800" b="1" dirty="0"/>
                <a:t> </a:t>
              </a:r>
              <a:r>
                <a:rPr lang="fr-FR" sz="1800" b="1" dirty="0" err="1"/>
                <a:t>variety</a:t>
              </a:r>
              <a:r>
                <a:rPr lang="fr-FR" sz="1800" b="1" dirty="0"/>
                <a:t> of variants </a:t>
              </a:r>
              <a:r>
                <a:rPr lang="fr-FR" sz="1800" b="1" dirty="0" err="1"/>
                <a:t>available</a:t>
              </a:r>
              <a:r>
                <a:rPr lang="fr-FR" sz="1800" b="1" dirty="0"/>
                <a:t>; </a:t>
              </a:r>
              <a:r>
                <a:rPr lang="fr-FR" sz="1800" b="1" dirty="0" err="1"/>
                <a:t>however</a:t>
              </a:r>
              <a:r>
                <a:rPr lang="fr-FR" sz="1800" b="1" dirty="0"/>
                <a:t>, </a:t>
              </a:r>
              <a:r>
                <a:rPr lang="fr-FR" sz="1800" b="1" dirty="0" err="1"/>
                <a:t>they</a:t>
              </a:r>
              <a:r>
                <a:rPr lang="fr-FR" sz="1800" b="1" dirty="0"/>
                <a:t> are </a:t>
              </a:r>
              <a:r>
                <a:rPr lang="fr-FR" sz="1800" b="1" dirty="0" err="1"/>
                <a:t>difficult</a:t>
              </a:r>
              <a:r>
                <a:rPr lang="fr-FR" sz="1800" b="1" dirty="0"/>
                <a:t> to design, </a:t>
              </a:r>
              <a:r>
                <a:rPr lang="fr-FR" sz="1800" b="1" dirty="0" err="1"/>
                <a:t>with</a:t>
              </a:r>
              <a:r>
                <a:rPr lang="fr-FR" sz="1800" b="1" dirty="0"/>
                <a:t> </a:t>
              </a:r>
              <a:r>
                <a:rPr lang="fr-FR" sz="1800" b="1" dirty="0" err="1"/>
                <a:t>limited</a:t>
              </a:r>
              <a:r>
                <a:rPr lang="fr-FR" sz="1800" b="1" dirty="0"/>
                <a:t> </a:t>
              </a:r>
              <a:r>
                <a:rPr lang="fr-FR" sz="1800" b="1" dirty="0" err="1"/>
                <a:t>therapeutical</a:t>
              </a:r>
              <a:r>
                <a:rPr lang="fr-FR" sz="1800" b="1" dirty="0"/>
                <a:t> applications.</a:t>
              </a:r>
            </a:p>
          </p:txBody>
        </p:sp>
      </p:grpSp>
    </p:spTree>
    <p:extLst>
      <p:ext uri="{BB962C8B-B14F-4D97-AF65-F5344CB8AC3E}">
        <p14:creationId xmlns:p14="http://schemas.microsoft.com/office/powerpoint/2010/main" val="425745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082B0-F13C-5D67-6341-9ED3349203D9}"/>
            </a:ext>
          </a:extLst>
        </p:cNvPr>
        <p:cNvGrpSpPr/>
        <p:nvPr/>
      </p:nvGrpSpPr>
      <p:grpSpPr>
        <a:xfrm>
          <a:off x="0" y="0"/>
          <a:ext cx="0" cy="0"/>
          <a:chOff x="0" y="0"/>
          <a:chExt cx="0" cy="0"/>
        </a:xfrm>
      </p:grpSpPr>
      <p:sp>
        <p:nvSpPr>
          <p:cNvPr id="25" name="Rectangle : avec coins arrondis en haut 24">
            <a:extLst>
              <a:ext uri="{FF2B5EF4-FFF2-40B4-BE49-F238E27FC236}">
                <a16:creationId xmlns:a16="http://schemas.microsoft.com/office/drawing/2014/main" id="{2418B0D8-F265-3980-A929-BCBFC1BA418F}"/>
              </a:ext>
            </a:extLst>
          </p:cNvPr>
          <p:cNvSpPr/>
          <p:nvPr/>
        </p:nvSpPr>
        <p:spPr>
          <a:xfrm rot="16200000">
            <a:off x="9878641" y="820249"/>
            <a:ext cx="1860661"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 name="ZoneTexte 2">
            <a:extLst>
              <a:ext uri="{FF2B5EF4-FFF2-40B4-BE49-F238E27FC236}">
                <a16:creationId xmlns:a16="http://schemas.microsoft.com/office/drawing/2014/main" id="{6F4C5BD3-7B85-5A14-B620-3F1646C37506}"/>
              </a:ext>
            </a:extLst>
          </p:cNvPr>
          <p:cNvSpPr txBox="1"/>
          <p:nvPr/>
        </p:nvSpPr>
        <p:spPr>
          <a:xfrm>
            <a:off x="9498986" y="2040502"/>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5044AF80-7A21-D91B-85A6-B04092F43DC4}"/>
              </a:ext>
            </a:extLst>
          </p:cNvPr>
          <p:cNvSpPr txBox="1"/>
          <p:nvPr/>
        </p:nvSpPr>
        <p:spPr>
          <a:xfrm>
            <a:off x="9498986" y="2406498"/>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72FA52ED-D60B-A5F8-2FF1-7B710B18FFF7}"/>
              </a:ext>
            </a:extLst>
          </p:cNvPr>
          <p:cNvSpPr txBox="1"/>
          <p:nvPr/>
        </p:nvSpPr>
        <p:spPr>
          <a:xfrm>
            <a:off x="9498986" y="2778370"/>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53212F71-C99D-4313-2FEC-0301A232DAEC}"/>
              </a:ext>
            </a:extLst>
          </p:cNvPr>
          <p:cNvGrpSpPr/>
          <p:nvPr/>
        </p:nvGrpSpPr>
        <p:grpSpPr>
          <a:xfrm>
            <a:off x="11205745" y="2029243"/>
            <a:ext cx="857700" cy="252000"/>
            <a:chOff x="1557481" y="4197166"/>
            <a:chExt cx="857700" cy="252000"/>
          </a:xfrm>
        </p:grpSpPr>
        <p:pic>
          <p:nvPicPr>
            <p:cNvPr id="23" name="Image 22">
              <a:extLst>
                <a:ext uri="{FF2B5EF4-FFF2-40B4-BE49-F238E27FC236}">
                  <a16:creationId xmlns:a16="http://schemas.microsoft.com/office/drawing/2014/main" id="{5D16A8CD-8948-BA95-E9BB-7820F71229E1}"/>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690EACCA-D28E-F2D4-DF2B-EB775ACC2DA1}"/>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F36572F3-03E5-11DA-0F7C-7CA02D06EFF0}"/>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E809B9FF-C10A-BF37-2208-09F0F546481C}"/>
              </a:ext>
            </a:extLst>
          </p:cNvPr>
          <p:cNvGrpSpPr/>
          <p:nvPr/>
        </p:nvGrpSpPr>
        <p:grpSpPr>
          <a:xfrm>
            <a:off x="11205745" y="2788944"/>
            <a:ext cx="857700" cy="252000"/>
            <a:chOff x="1557481" y="4804916"/>
            <a:chExt cx="857700" cy="252000"/>
          </a:xfrm>
        </p:grpSpPr>
        <p:pic>
          <p:nvPicPr>
            <p:cNvPr id="35" name="Image 34">
              <a:extLst>
                <a:ext uri="{FF2B5EF4-FFF2-40B4-BE49-F238E27FC236}">
                  <a16:creationId xmlns:a16="http://schemas.microsoft.com/office/drawing/2014/main" id="{4E8E5A84-362B-51D4-5111-0CF133CA423F}"/>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190CD5CE-5903-5E8B-FE28-AD88861E3329}"/>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875881E1-6EFC-9373-B307-D70B10BA4509}"/>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5945E5FC-85F7-9063-691D-4954422D11A7}"/>
              </a:ext>
            </a:extLst>
          </p:cNvPr>
          <p:cNvGrpSpPr/>
          <p:nvPr/>
        </p:nvGrpSpPr>
        <p:grpSpPr>
          <a:xfrm>
            <a:off x="11205745" y="2421280"/>
            <a:ext cx="857699" cy="252000"/>
            <a:chOff x="2476644" y="4589203"/>
            <a:chExt cx="857699" cy="252000"/>
          </a:xfrm>
        </p:grpSpPr>
        <p:pic>
          <p:nvPicPr>
            <p:cNvPr id="46" name="Image 45">
              <a:extLst>
                <a:ext uri="{FF2B5EF4-FFF2-40B4-BE49-F238E27FC236}">
                  <a16:creationId xmlns:a16="http://schemas.microsoft.com/office/drawing/2014/main" id="{CA46B03F-7DB6-2AF8-DEAD-DEE9D75B4E66}"/>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9D890E11-6D0F-0685-4F04-9514A8B795E9}"/>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42F31627-681C-25CB-6E66-D6EF36910959}"/>
                </a:ext>
              </a:extLst>
            </p:cNvPr>
            <p:cNvPicPr>
              <a:picLocks noChangeAspect="1"/>
            </p:cNvPicPr>
            <p:nvPr/>
          </p:nvPicPr>
          <p:blipFill>
            <a:blip r:embed="rId4"/>
            <a:stretch>
              <a:fillRect/>
            </a:stretch>
          </p:blipFill>
          <p:spPr>
            <a:xfrm>
              <a:off x="3082343" y="4589203"/>
              <a:ext cx="252000" cy="252000"/>
            </a:xfrm>
            <a:prstGeom prst="rect">
              <a:avLst/>
            </a:prstGeom>
          </p:spPr>
        </p:pic>
      </p:grpSp>
      <p:cxnSp>
        <p:nvCxnSpPr>
          <p:cNvPr id="29" name="Connecteur droit 28">
            <a:extLst>
              <a:ext uri="{FF2B5EF4-FFF2-40B4-BE49-F238E27FC236}">
                <a16:creationId xmlns:a16="http://schemas.microsoft.com/office/drawing/2014/main" id="{3A3E8C16-5B3A-F1EC-1191-A36C71F0CF4D}"/>
              </a:ext>
            </a:extLst>
          </p:cNvPr>
          <p:cNvCxnSpPr/>
          <p:nvPr/>
        </p:nvCxnSpPr>
        <p:spPr>
          <a:xfrm>
            <a:off x="0" y="771525"/>
            <a:ext cx="12192000"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sp>
        <p:nvSpPr>
          <p:cNvPr id="38" name="ZoneTexte 37">
            <a:extLst>
              <a:ext uri="{FF2B5EF4-FFF2-40B4-BE49-F238E27FC236}">
                <a16:creationId xmlns:a16="http://schemas.microsoft.com/office/drawing/2014/main" id="{58FE46B8-D736-0721-0311-54AAEFE6DF8E}"/>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5"/>
                </a:solidFill>
              </a:rPr>
              <a:t>Meganucleases</a:t>
            </a:r>
            <a:r>
              <a:rPr lang="fr-FR" sz="3100" b="1" dirty="0">
                <a:solidFill>
                  <a:schemeClr val="accent5"/>
                </a:solidFill>
              </a:rPr>
              <a:t> (</a:t>
            </a:r>
            <a:r>
              <a:rPr lang="fr-FR" sz="3100" b="1" dirty="0" err="1">
                <a:solidFill>
                  <a:schemeClr val="accent5"/>
                </a:solidFill>
              </a:rPr>
              <a:t>MNs</a:t>
            </a:r>
            <a:r>
              <a:rPr lang="fr-FR" sz="3100" b="1" dirty="0">
                <a:solidFill>
                  <a:schemeClr val="accent5"/>
                </a:solidFill>
              </a:rPr>
              <a:t>)</a:t>
            </a:r>
          </a:p>
        </p:txBody>
      </p:sp>
      <p:grpSp>
        <p:nvGrpSpPr>
          <p:cNvPr id="52" name="Groupe 51">
            <a:extLst>
              <a:ext uri="{FF2B5EF4-FFF2-40B4-BE49-F238E27FC236}">
                <a16:creationId xmlns:a16="http://schemas.microsoft.com/office/drawing/2014/main" id="{5163841A-3BF3-0659-8A6A-AFA3EB0F9E68}"/>
              </a:ext>
            </a:extLst>
          </p:cNvPr>
          <p:cNvGrpSpPr/>
          <p:nvPr/>
        </p:nvGrpSpPr>
        <p:grpSpPr>
          <a:xfrm>
            <a:off x="9416948" y="126389"/>
            <a:ext cx="2674326" cy="583900"/>
            <a:chOff x="9416948" y="126389"/>
            <a:chExt cx="2674326" cy="583900"/>
          </a:xfrm>
        </p:grpSpPr>
        <p:grpSp>
          <p:nvGrpSpPr>
            <p:cNvPr id="55" name="Groupe 54">
              <a:extLst>
                <a:ext uri="{FF2B5EF4-FFF2-40B4-BE49-F238E27FC236}">
                  <a16:creationId xmlns:a16="http://schemas.microsoft.com/office/drawing/2014/main" id="{175A918D-D79D-C08D-D102-E7CDBD5B071C}"/>
                </a:ext>
              </a:extLst>
            </p:cNvPr>
            <p:cNvGrpSpPr/>
            <p:nvPr/>
          </p:nvGrpSpPr>
          <p:grpSpPr>
            <a:xfrm>
              <a:off x="9464997" y="129350"/>
              <a:ext cx="2626277" cy="580939"/>
              <a:chOff x="9464997" y="129350"/>
              <a:chExt cx="2626277" cy="580939"/>
            </a:xfrm>
          </p:grpSpPr>
          <p:pic>
            <p:nvPicPr>
              <p:cNvPr id="60" name="Picture 2">
                <a:extLst>
                  <a:ext uri="{FF2B5EF4-FFF2-40B4-BE49-F238E27FC236}">
                    <a16:creationId xmlns:a16="http://schemas.microsoft.com/office/drawing/2014/main" id="{A9218A34-BDC7-F4A3-BF9C-C033BDAF9CC0}"/>
                  </a:ext>
                </a:extLst>
              </p:cNvPr>
              <p:cNvPicPr>
                <a:picLocks noChangeAspect="1" noChangeArrowheads="1"/>
              </p:cNvPicPr>
              <p:nvPr/>
            </p:nvPicPr>
            <p:blipFill>
              <a:blip r:embed="rId5">
                <a:duotone>
                  <a:prstClr val="black"/>
                  <a:schemeClr val="tx1">
                    <a:tint val="45000"/>
                    <a:satMod val="400000"/>
                  </a:schemeClr>
                </a:duotone>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62" name="Image 61">
                <a:extLst>
                  <a:ext uri="{FF2B5EF4-FFF2-40B4-BE49-F238E27FC236}">
                    <a16:creationId xmlns:a16="http://schemas.microsoft.com/office/drawing/2014/main" id="{BB919DC0-5001-7CA3-3A9A-CD6D2BDA61AE}"/>
                  </a:ext>
                </a:extLst>
              </p:cNvPr>
              <p:cNvPicPr>
                <a:picLocks noChangeAspect="1"/>
              </p:cNvPicPr>
              <p:nvPr/>
            </p:nvPicPr>
            <p:blipFill>
              <a:blip r:embed="rId7"/>
              <a:stretch>
                <a:fillRect/>
              </a:stretch>
            </p:blipFill>
            <p:spPr>
              <a:xfrm>
                <a:off x="10228477" y="228513"/>
                <a:ext cx="360000" cy="360000"/>
              </a:xfrm>
              <a:prstGeom prst="rect">
                <a:avLst/>
              </a:prstGeom>
            </p:spPr>
          </p:pic>
          <p:pic>
            <p:nvPicPr>
              <p:cNvPr id="63" name="Image 62">
                <a:extLst>
                  <a:ext uri="{FF2B5EF4-FFF2-40B4-BE49-F238E27FC236}">
                    <a16:creationId xmlns:a16="http://schemas.microsoft.com/office/drawing/2014/main" id="{BDF624AB-BCEE-2856-E35C-5D3DE54520DC}"/>
                  </a:ext>
                </a:extLst>
              </p:cNvPr>
              <p:cNvPicPr>
                <a:picLocks noChangeAspect="1"/>
              </p:cNvPicPr>
              <p:nvPr/>
            </p:nvPicPr>
            <p:blipFill>
              <a:blip r:embed="rId8"/>
              <a:stretch>
                <a:fillRect/>
              </a:stretch>
            </p:blipFill>
            <p:spPr>
              <a:xfrm>
                <a:off x="11595089" y="233166"/>
                <a:ext cx="360000" cy="360000"/>
              </a:xfrm>
              <a:prstGeom prst="rect">
                <a:avLst/>
              </a:prstGeom>
            </p:spPr>
          </p:pic>
          <p:grpSp>
            <p:nvGrpSpPr>
              <p:cNvPr id="64" name="Groupe 63">
                <a:extLst>
                  <a:ext uri="{FF2B5EF4-FFF2-40B4-BE49-F238E27FC236}">
                    <a16:creationId xmlns:a16="http://schemas.microsoft.com/office/drawing/2014/main" id="{63BC861D-6B79-2722-CE8E-61DCE792DD6E}"/>
                  </a:ext>
                </a:extLst>
              </p:cNvPr>
              <p:cNvGrpSpPr/>
              <p:nvPr/>
            </p:nvGrpSpPr>
            <p:grpSpPr>
              <a:xfrm>
                <a:off x="9464997" y="129350"/>
                <a:ext cx="2626277" cy="580939"/>
                <a:chOff x="9464997" y="129350"/>
                <a:chExt cx="2626277" cy="580939"/>
              </a:xfrm>
            </p:grpSpPr>
            <p:sp>
              <p:nvSpPr>
                <p:cNvPr id="66" name="Rectangle : coins arrondis 65">
                  <a:extLst>
                    <a:ext uri="{FF2B5EF4-FFF2-40B4-BE49-F238E27FC236}">
                      <a16:creationId xmlns:a16="http://schemas.microsoft.com/office/drawing/2014/main" id="{3EF0004B-9277-097B-B35C-727C62FA5677}"/>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 coins arrondis 66">
                  <a:extLst>
                    <a:ext uri="{FF2B5EF4-FFF2-40B4-BE49-F238E27FC236}">
                      <a16:creationId xmlns:a16="http://schemas.microsoft.com/office/drawing/2014/main" id="{AE799E35-9523-8FAF-7118-30C4BD08568D}"/>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 coins arrondis 67">
                  <a:extLst>
                    <a:ext uri="{FF2B5EF4-FFF2-40B4-BE49-F238E27FC236}">
                      <a16:creationId xmlns:a16="http://schemas.microsoft.com/office/drawing/2014/main" id="{B922A7FE-7FFE-5913-0C8A-9AAA80E00E7D}"/>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 coins arrondis 68">
                  <a:extLst>
                    <a:ext uri="{FF2B5EF4-FFF2-40B4-BE49-F238E27FC236}">
                      <a16:creationId xmlns:a16="http://schemas.microsoft.com/office/drawing/2014/main" id="{8DBD6F5E-F6A0-FDB6-1E54-6B55FFC2C2C8}"/>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37DC53EF-64F5-E81C-1D84-08D80A6CA5E3}"/>
                    </a:ext>
                  </a:extLst>
                </p:cNvPr>
                <p:cNvSpPr/>
                <p:nvPr/>
              </p:nvSpPr>
              <p:spPr>
                <a:xfrm>
                  <a:off x="10766697" y="129350"/>
                  <a:ext cx="13245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65" name="Image 64">
                <a:extLst>
                  <a:ext uri="{FF2B5EF4-FFF2-40B4-BE49-F238E27FC236}">
                    <a16:creationId xmlns:a16="http://schemas.microsoft.com/office/drawing/2014/main" id="{28862CC9-0753-1EF2-2417-3F97063F4F42}"/>
                  </a:ext>
                </a:extLst>
              </p:cNvPr>
              <p:cNvPicPr>
                <a:picLocks noChangeAspect="1"/>
              </p:cNvPicPr>
              <p:nvPr/>
            </p:nvPicPr>
            <p:blipFill>
              <a:blip r:embed="rId9"/>
              <a:stretch>
                <a:fillRect/>
              </a:stretch>
            </p:blipFill>
            <p:spPr>
              <a:xfrm>
                <a:off x="9554107" y="218630"/>
                <a:ext cx="360000" cy="360000"/>
              </a:xfrm>
              <a:prstGeom prst="rect">
                <a:avLst/>
              </a:prstGeom>
            </p:spPr>
          </p:pic>
        </p:grpSp>
        <p:sp>
          <p:nvSpPr>
            <p:cNvPr id="58" name="Rectangle 57">
              <a:extLst>
                <a:ext uri="{FF2B5EF4-FFF2-40B4-BE49-F238E27FC236}">
                  <a16:creationId xmlns:a16="http://schemas.microsoft.com/office/drawing/2014/main" id="{585B19CF-7EA5-BF00-FBF8-CCFE19AC5538}"/>
                </a:ext>
              </a:extLst>
            </p:cNvPr>
            <p:cNvSpPr/>
            <p:nvPr/>
          </p:nvSpPr>
          <p:spPr>
            <a:xfrm>
              <a:off x="9416948" y="126389"/>
              <a:ext cx="633310"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15" name="Groupe 14">
            <a:extLst>
              <a:ext uri="{FF2B5EF4-FFF2-40B4-BE49-F238E27FC236}">
                <a16:creationId xmlns:a16="http://schemas.microsoft.com/office/drawing/2014/main" id="{33EE3B83-04D4-1CA3-F4E5-8E8128D6BD51}"/>
              </a:ext>
            </a:extLst>
          </p:cNvPr>
          <p:cNvGrpSpPr/>
          <p:nvPr/>
        </p:nvGrpSpPr>
        <p:grpSpPr>
          <a:xfrm>
            <a:off x="300401" y="1019037"/>
            <a:ext cx="8705746" cy="1722969"/>
            <a:chOff x="300401" y="1019037"/>
            <a:chExt cx="8705746" cy="1722969"/>
          </a:xfrm>
        </p:grpSpPr>
        <p:sp>
          <p:nvSpPr>
            <p:cNvPr id="20" name="Rectangle : coins arrondis 19">
              <a:extLst>
                <a:ext uri="{FF2B5EF4-FFF2-40B4-BE49-F238E27FC236}">
                  <a16:creationId xmlns:a16="http://schemas.microsoft.com/office/drawing/2014/main" id="{AF344FF8-0C0E-2200-E00B-A54B2FE9BA1F}"/>
                </a:ext>
              </a:extLst>
            </p:cNvPr>
            <p:cNvSpPr/>
            <p:nvPr/>
          </p:nvSpPr>
          <p:spPr>
            <a:xfrm>
              <a:off x="371100" y="1278800"/>
              <a:ext cx="8635047" cy="1463206"/>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76A3D995-EDC9-D742-3A74-C5BB54317627}"/>
                </a:ext>
              </a:extLst>
            </p:cNvPr>
            <p:cNvSpPr/>
            <p:nvPr/>
          </p:nvSpPr>
          <p:spPr>
            <a:xfrm>
              <a:off x="300401" y="1019037"/>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DBBDCDCB-1BDF-12DD-A327-E6B1CE237586}"/>
                </a:ext>
              </a:extLst>
            </p:cNvPr>
            <p:cNvSpPr/>
            <p:nvPr/>
          </p:nvSpPr>
          <p:spPr>
            <a:xfrm>
              <a:off x="742819" y="1096691"/>
              <a:ext cx="3415295"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31" name="ZoneTexte 30">
              <a:extLst>
                <a:ext uri="{FF2B5EF4-FFF2-40B4-BE49-F238E27FC236}">
                  <a16:creationId xmlns:a16="http://schemas.microsoft.com/office/drawing/2014/main" id="{37BD7900-D7BE-3C4B-E104-D69A6BA21C3B}"/>
                </a:ext>
              </a:extLst>
            </p:cNvPr>
            <p:cNvSpPr txBox="1"/>
            <p:nvPr/>
          </p:nvSpPr>
          <p:spPr>
            <a:xfrm>
              <a:off x="502919" y="1525949"/>
              <a:ext cx="8503228" cy="1200329"/>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err="1"/>
                <a:t>They</a:t>
              </a:r>
              <a:r>
                <a:rPr lang="fr-FR" sz="1200" dirty="0"/>
                <a:t> are </a:t>
              </a:r>
              <a:r>
                <a:rPr lang="fr-FR" sz="1200" b="1" dirty="0" err="1"/>
                <a:t>specific</a:t>
              </a:r>
              <a:r>
                <a:rPr lang="fr-FR" sz="1200" b="1" dirty="0"/>
                <a:t> to long </a:t>
              </a:r>
              <a:r>
                <a:rPr lang="fr-FR" sz="1200" b="1" dirty="0" err="1"/>
                <a:t>target</a:t>
              </a:r>
              <a:r>
                <a:rPr lang="fr-FR" sz="1200" b="1" dirty="0"/>
                <a:t> sites.</a:t>
              </a:r>
            </a:p>
            <a:p>
              <a:pPr marL="285750" indent="-285750" algn="just">
                <a:buFont typeface="Wingdings" panose="05000000000000000000" pitchFamily="2" charset="2"/>
                <a:buChar char="Ø"/>
              </a:pPr>
              <a:r>
                <a:rPr lang="en-US" sz="1200" dirty="0"/>
                <a:t>These nucleases a</a:t>
              </a:r>
              <a:r>
                <a:rPr lang="fr-FR" sz="1200" dirty="0" err="1"/>
                <a:t>llow</a:t>
              </a:r>
              <a:r>
                <a:rPr lang="fr-FR" sz="1200" dirty="0"/>
                <a:t> the modification </a:t>
              </a:r>
              <a:r>
                <a:rPr lang="fr-FR" sz="1200" b="1" dirty="0"/>
                <a:t>of a user-</a:t>
              </a:r>
              <a:r>
                <a:rPr lang="fr-FR" sz="1200" b="1" dirty="0" err="1"/>
                <a:t>defined</a:t>
              </a:r>
              <a:r>
                <a:rPr lang="fr-FR" sz="1200" b="1" dirty="0"/>
                <a:t> </a:t>
              </a:r>
              <a:r>
                <a:rPr lang="en-US" sz="1200" b="1" dirty="0"/>
                <a:t>target locus </a:t>
              </a:r>
              <a:r>
                <a:rPr lang="en-US" sz="1200" dirty="0"/>
                <a:t>in the genome.</a:t>
              </a:r>
              <a:endParaRPr lang="en-US" sz="1200" b="0" i="0" u="none" strike="noStrike" baseline="0" dirty="0">
                <a:solidFill>
                  <a:srgbClr val="231F20"/>
                </a:solidFill>
              </a:endParaRPr>
            </a:p>
            <a:p>
              <a:pPr marL="285750" indent="-285750" algn="just">
                <a:buFont typeface="Wingdings" panose="05000000000000000000" pitchFamily="2" charset="2"/>
                <a:buChar char="Ø"/>
              </a:pPr>
              <a:r>
                <a:rPr lang="fr-FR" sz="1200" b="0" i="0" u="none" strike="noStrike" baseline="0" dirty="0" err="1">
                  <a:solidFill>
                    <a:srgbClr val="231F20"/>
                  </a:solidFill>
                </a:rPr>
                <a:t>They</a:t>
              </a:r>
              <a:r>
                <a:rPr lang="fr-FR" sz="1200" b="0" i="0" u="none" strike="noStrike" baseline="0" dirty="0">
                  <a:solidFill>
                    <a:srgbClr val="231F20"/>
                  </a:solidFill>
                </a:rPr>
                <a:t> </a:t>
              </a:r>
              <a:r>
                <a:rPr lang="en-US" sz="1200" b="0" i="0" u="none" strike="noStrike" baseline="0" dirty="0">
                  <a:solidFill>
                    <a:srgbClr val="231F20"/>
                  </a:solidFill>
                </a:rPr>
                <a:t>make extensive sequence-specific contacts with their DNA substrate allowing an </a:t>
              </a:r>
              <a:r>
                <a:rPr lang="en-US" sz="1200" b="1" i="0" u="none" strike="noStrike" baseline="0" dirty="0">
                  <a:solidFill>
                    <a:srgbClr val="231F20"/>
                  </a:solidFill>
                </a:rPr>
                <a:t>exquisite specificity</a:t>
              </a:r>
              <a:r>
                <a:rPr lang="en-US" sz="1200" i="0" u="none" strike="noStrike" baseline="0" dirty="0">
                  <a:solidFill>
                    <a:srgbClr val="231F20"/>
                  </a:solidFill>
                </a:rPr>
                <a:t>.</a:t>
              </a:r>
            </a:p>
            <a:p>
              <a:pPr marL="285750" indent="-285750" algn="just">
                <a:buFont typeface="Wingdings" panose="05000000000000000000" pitchFamily="2" charset="2"/>
                <a:buChar char="Ø"/>
              </a:pPr>
              <a:r>
                <a:rPr lang="en-US" sz="1200" dirty="0"/>
                <a:t>These enzymes can be engineered to target </a:t>
              </a:r>
              <a:r>
                <a:rPr lang="en-US" sz="1200" b="1" dirty="0"/>
                <a:t>specific DNA sequences</a:t>
              </a:r>
              <a:r>
                <a:rPr lang="en-US" sz="1200" dirty="0"/>
                <a:t>.</a:t>
              </a:r>
            </a:p>
            <a:p>
              <a:pPr marL="285750" indent="-285750" algn="just">
                <a:buFont typeface="Wingdings" panose="05000000000000000000" pitchFamily="2" charset="2"/>
                <a:buChar char="Ø"/>
              </a:pPr>
              <a:r>
                <a:rPr lang="en-US" sz="1200" dirty="0"/>
                <a:t>They are </a:t>
              </a:r>
              <a:r>
                <a:rPr lang="en-US" sz="1200" b="1" dirty="0"/>
                <a:t>easy to deliver </a:t>
              </a:r>
              <a:r>
                <a:rPr lang="en-US" sz="1200" dirty="0"/>
                <a:t>as plasmids, mRNA or viral vectors.</a:t>
              </a:r>
            </a:p>
            <a:p>
              <a:pPr marL="285750" indent="-285750" algn="just">
                <a:buFont typeface="Wingdings" panose="05000000000000000000" pitchFamily="2" charset="2"/>
                <a:buChar char="Ø"/>
              </a:pPr>
              <a:r>
                <a:rPr lang="en-US" sz="1200" dirty="0"/>
                <a:t>They present </a:t>
              </a:r>
              <a:r>
                <a:rPr lang="en-US" sz="1200" b="1" dirty="0"/>
                <a:t>no</a:t>
              </a:r>
              <a:r>
                <a:rPr lang="en-US" sz="1200" dirty="0"/>
                <a:t> </a:t>
              </a:r>
              <a:r>
                <a:rPr lang="en-US" sz="1200" b="1" dirty="0"/>
                <a:t>cytotoxicity </a:t>
              </a:r>
              <a:r>
                <a:rPr lang="en-US" sz="1200" dirty="0"/>
                <a:t>and</a:t>
              </a:r>
              <a:r>
                <a:rPr lang="en-US" sz="1200" b="1" dirty="0"/>
                <a:t> </a:t>
              </a:r>
              <a:r>
                <a:rPr lang="en-US" sz="1200" dirty="0"/>
                <a:t>have</a:t>
              </a:r>
              <a:r>
                <a:rPr lang="en-US" sz="1200" b="1" dirty="0"/>
                <a:t> a very low off-target activity.</a:t>
              </a:r>
              <a:endParaRPr lang="en-US" sz="1200" dirty="0"/>
            </a:p>
          </p:txBody>
        </p:sp>
        <p:pic>
          <p:nvPicPr>
            <p:cNvPr id="6" name="Image 5" descr="Une image contenant symbole, Graphique, logo, Police&#10;&#10;Description générée automatiquement">
              <a:extLst>
                <a:ext uri="{FF2B5EF4-FFF2-40B4-BE49-F238E27FC236}">
                  <a16:creationId xmlns:a16="http://schemas.microsoft.com/office/drawing/2014/main" id="{FD639F95-9F87-75FC-BBF6-6C6E917D9F77}"/>
                </a:ext>
              </a:extLst>
            </p:cNvPr>
            <p:cNvPicPr>
              <a:picLocks noChangeAspect="1"/>
            </p:cNvPicPr>
            <p:nvPr/>
          </p:nvPicPr>
          <p:blipFill>
            <a:blip r:embed="rId10"/>
            <a:stretch>
              <a:fillRect/>
            </a:stretch>
          </p:blipFill>
          <p:spPr>
            <a:xfrm>
              <a:off x="348562" y="1065402"/>
              <a:ext cx="468000" cy="468000"/>
            </a:xfrm>
            <a:prstGeom prst="rect">
              <a:avLst/>
            </a:prstGeom>
          </p:spPr>
        </p:pic>
      </p:grpSp>
      <p:grpSp>
        <p:nvGrpSpPr>
          <p:cNvPr id="16" name="Groupe 15">
            <a:extLst>
              <a:ext uri="{FF2B5EF4-FFF2-40B4-BE49-F238E27FC236}">
                <a16:creationId xmlns:a16="http://schemas.microsoft.com/office/drawing/2014/main" id="{003DCCEC-1BD1-79CD-766F-012C816533C5}"/>
              </a:ext>
            </a:extLst>
          </p:cNvPr>
          <p:cNvGrpSpPr/>
          <p:nvPr/>
        </p:nvGrpSpPr>
        <p:grpSpPr>
          <a:xfrm>
            <a:off x="300401" y="2793046"/>
            <a:ext cx="8710919" cy="2072699"/>
            <a:chOff x="300401" y="2769247"/>
            <a:chExt cx="8710919" cy="2072699"/>
          </a:xfrm>
        </p:grpSpPr>
        <p:sp>
          <p:nvSpPr>
            <p:cNvPr id="26" name="Rectangle : coins arrondis 25">
              <a:extLst>
                <a:ext uri="{FF2B5EF4-FFF2-40B4-BE49-F238E27FC236}">
                  <a16:creationId xmlns:a16="http://schemas.microsoft.com/office/drawing/2014/main" id="{CC807824-60FF-E70C-6A05-5A2E0286756A}"/>
                </a:ext>
              </a:extLst>
            </p:cNvPr>
            <p:cNvSpPr/>
            <p:nvPr/>
          </p:nvSpPr>
          <p:spPr>
            <a:xfrm>
              <a:off x="376273" y="3048413"/>
              <a:ext cx="8635047" cy="1793533"/>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AACD995C-201D-37E4-5BEF-B5D842D634C1}"/>
                </a:ext>
              </a:extLst>
            </p:cNvPr>
            <p:cNvSpPr/>
            <p:nvPr/>
          </p:nvSpPr>
          <p:spPr>
            <a:xfrm>
              <a:off x="300401" y="2769247"/>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92D2353B-085C-2E16-3C25-60F00C013512}"/>
                </a:ext>
              </a:extLst>
            </p:cNvPr>
            <p:cNvSpPr/>
            <p:nvPr/>
          </p:nvSpPr>
          <p:spPr>
            <a:xfrm>
              <a:off x="742819" y="2839580"/>
              <a:ext cx="3415295"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0" name="ZoneTexte 39">
              <a:extLst>
                <a:ext uri="{FF2B5EF4-FFF2-40B4-BE49-F238E27FC236}">
                  <a16:creationId xmlns:a16="http://schemas.microsoft.com/office/drawing/2014/main" id="{1654AD70-8DAF-82A6-A3B2-11DBA5DD54D8}"/>
                </a:ext>
              </a:extLst>
            </p:cNvPr>
            <p:cNvSpPr txBox="1"/>
            <p:nvPr/>
          </p:nvSpPr>
          <p:spPr>
            <a:xfrm>
              <a:off x="525797" y="3272286"/>
              <a:ext cx="8475225" cy="1569660"/>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err="1"/>
                <a:t>They</a:t>
              </a:r>
              <a:r>
                <a:rPr lang="fr-FR" sz="1200" dirty="0"/>
                <a:t> are </a:t>
              </a:r>
              <a:r>
                <a:rPr lang="fr-FR" sz="1200" b="1" dirty="0" err="1"/>
                <a:t>challenging</a:t>
              </a:r>
              <a:r>
                <a:rPr lang="fr-FR" sz="1200" b="1" dirty="0"/>
                <a:t> to design and use </a:t>
              </a:r>
              <a:r>
                <a:rPr lang="fr-FR" sz="1200" dirty="0" err="1"/>
                <a:t>since</a:t>
              </a:r>
              <a:r>
                <a:rPr lang="fr-FR" sz="1200" dirty="0"/>
                <a:t> </a:t>
              </a:r>
              <a:r>
                <a:rPr lang="fr-FR" sz="1200" dirty="0" err="1"/>
                <a:t>their</a:t>
              </a:r>
              <a:r>
                <a:rPr lang="fr-FR" sz="1200" dirty="0"/>
                <a:t> binding </a:t>
              </a:r>
              <a:r>
                <a:rPr lang="fr-FR" sz="1200" dirty="0" err="1"/>
                <a:t>domains</a:t>
              </a:r>
              <a:r>
                <a:rPr lang="fr-FR" sz="1200" dirty="0"/>
                <a:t> on DNA are </a:t>
              </a:r>
              <a:r>
                <a:rPr lang="fr-FR" sz="1200" dirty="0" err="1"/>
                <a:t>shared</a:t>
              </a:r>
              <a:r>
                <a:rPr lang="fr-FR" sz="1200" dirty="0"/>
                <a:t> </a:t>
              </a:r>
              <a:r>
                <a:rPr lang="fr-FR" sz="1200" dirty="0" err="1"/>
                <a:t>so</a:t>
              </a:r>
              <a:r>
                <a:rPr lang="fr-FR" sz="1200" dirty="0"/>
                <a:t> the modification of a DNA-binding </a:t>
              </a:r>
              <a:r>
                <a:rPr lang="fr-FR" sz="1200" dirty="0" err="1"/>
                <a:t>domain</a:t>
              </a:r>
              <a:r>
                <a:rPr lang="fr-FR" sz="1200" dirty="0"/>
                <a:t> can affect the </a:t>
              </a:r>
              <a:r>
                <a:rPr lang="fr-FR" sz="1200" dirty="0" err="1"/>
                <a:t>activity</a:t>
              </a:r>
              <a:r>
                <a:rPr lang="fr-FR" sz="1200" dirty="0"/>
                <a:t> of the </a:t>
              </a:r>
              <a:r>
                <a:rPr lang="fr-FR" sz="1200" dirty="0" err="1"/>
                <a:t>nuclease</a:t>
              </a:r>
              <a:r>
                <a:rPr lang="fr-FR" sz="1200" dirty="0"/>
                <a:t>. </a:t>
              </a:r>
            </a:p>
            <a:p>
              <a:pPr marL="285750" indent="-285750" algn="just">
                <a:buFont typeface="Wingdings" panose="05000000000000000000" pitchFamily="2" charset="2"/>
                <a:buChar char="Ø"/>
              </a:pPr>
              <a:r>
                <a:rPr lang="en-US" sz="1200" dirty="0"/>
                <a:t>Custom </a:t>
              </a:r>
              <a:r>
                <a:rPr lang="en-US" sz="1200" dirty="0" err="1"/>
                <a:t>meganucleases</a:t>
              </a:r>
              <a:r>
                <a:rPr lang="en-US" sz="1200" dirty="0"/>
                <a:t> are not </a:t>
              </a:r>
              <a:r>
                <a:rPr lang="en-US" sz="1200" b="1" dirty="0"/>
                <a:t>currently commercially available</a:t>
              </a:r>
              <a:r>
                <a:rPr lang="en-US" sz="1200" dirty="0"/>
                <a:t>.</a:t>
              </a:r>
            </a:p>
            <a:p>
              <a:pPr marL="285750" indent="-285750" algn="just">
                <a:buFont typeface="Wingdings" panose="05000000000000000000" pitchFamily="2" charset="2"/>
                <a:buChar char="Ø"/>
              </a:pPr>
              <a:r>
                <a:rPr lang="fr-FR" sz="1200" dirty="0"/>
                <a:t>T</a:t>
              </a:r>
              <a:r>
                <a:rPr lang="en-US" sz="1200" dirty="0"/>
                <a:t>he naturally occurring </a:t>
              </a:r>
              <a:r>
                <a:rPr lang="en-US" sz="1200" dirty="0" err="1"/>
                <a:t>meganucleases</a:t>
              </a:r>
              <a:r>
                <a:rPr lang="en-US" sz="1200" dirty="0"/>
                <a:t> have </a:t>
              </a:r>
              <a:r>
                <a:rPr lang="en-US" sz="1200" b="1" dirty="0"/>
                <a:t>limited clinical applications</a:t>
              </a:r>
              <a:r>
                <a:rPr lang="en-US" sz="1200" dirty="0"/>
                <a:t>.</a:t>
              </a:r>
            </a:p>
            <a:p>
              <a:pPr marL="285750" indent="-285750" algn="just">
                <a:buFont typeface="Wingdings" panose="05000000000000000000" pitchFamily="2" charset="2"/>
                <a:buChar char="Ø"/>
              </a:pPr>
              <a:r>
                <a:rPr lang="en-US" sz="1200" b="0" i="0" u="none" strike="noStrike" baseline="0" dirty="0">
                  <a:solidFill>
                    <a:srgbClr val="231F20"/>
                  </a:solidFill>
                </a:rPr>
                <a:t>Unlike ZFNs and TALENs, their </a:t>
              </a:r>
              <a:r>
                <a:rPr lang="en-US" sz="1200" b="1" i="0" u="none" strike="noStrike" baseline="0" dirty="0">
                  <a:solidFill>
                    <a:srgbClr val="231F20"/>
                  </a:solidFill>
                </a:rPr>
                <a:t>binding and cleavage domains are not modular.</a:t>
              </a:r>
            </a:p>
            <a:p>
              <a:pPr marL="285750" indent="-285750" algn="just">
                <a:buFont typeface="Wingdings" panose="05000000000000000000" pitchFamily="2" charset="2"/>
                <a:buChar char="Ø"/>
              </a:pPr>
              <a:r>
                <a:rPr lang="en-US" sz="1200" dirty="0"/>
                <a:t>Developing a new </a:t>
              </a:r>
              <a:r>
                <a:rPr lang="en-US" sz="1200" dirty="0" err="1"/>
                <a:t>meganuclease</a:t>
              </a:r>
              <a:r>
                <a:rPr lang="en-US" sz="1200" dirty="0"/>
                <a:t> variant that targets a new sequence requires a significant amount of </a:t>
              </a:r>
              <a:r>
                <a:rPr lang="en-US" sz="1200" b="1" dirty="0"/>
                <a:t>protein engineering, mutant screening and selection, and </a:t>
              </a:r>
              <a:r>
                <a:rPr lang="en-US" sz="1200" b="1" dirty="0" err="1"/>
                <a:t>optimisation</a:t>
              </a:r>
              <a:r>
                <a:rPr lang="en-US" sz="1200" b="1" dirty="0"/>
                <a:t> procedures.</a:t>
              </a:r>
            </a:p>
            <a:p>
              <a:pPr marL="285750" indent="-285750" algn="just">
                <a:buFont typeface="Wingdings" panose="05000000000000000000" pitchFamily="2" charset="2"/>
                <a:buChar char="Ø"/>
              </a:pPr>
              <a:r>
                <a:rPr lang="en-US" sz="1200" dirty="0"/>
                <a:t>Their </a:t>
              </a:r>
              <a:r>
                <a:rPr lang="en-US" sz="1200" b="1" dirty="0"/>
                <a:t>on-target efficiency is highly variable , </a:t>
              </a:r>
              <a:r>
                <a:rPr lang="en-US" sz="1200" dirty="0"/>
                <a:t>dependent of the selected MN, cell type, target sequence, and use.</a:t>
              </a:r>
              <a:endParaRPr lang="fr-FR" sz="1200" b="1" dirty="0"/>
            </a:p>
          </p:txBody>
        </p:sp>
        <p:pic>
          <p:nvPicPr>
            <p:cNvPr id="7" name="Image 6" descr="Une image contenant Graphique, symbole, Police, logo&#10;&#10;Description générée automatiquement">
              <a:extLst>
                <a:ext uri="{FF2B5EF4-FFF2-40B4-BE49-F238E27FC236}">
                  <a16:creationId xmlns:a16="http://schemas.microsoft.com/office/drawing/2014/main" id="{B5CC1089-3889-8D7B-A230-996CB652621F}"/>
                </a:ext>
              </a:extLst>
            </p:cNvPr>
            <p:cNvPicPr>
              <a:picLocks noChangeAspect="1"/>
            </p:cNvPicPr>
            <p:nvPr/>
          </p:nvPicPr>
          <p:blipFill>
            <a:blip r:embed="rId11"/>
            <a:stretch>
              <a:fillRect/>
            </a:stretch>
          </p:blipFill>
          <p:spPr>
            <a:xfrm>
              <a:off x="343799" y="2823247"/>
              <a:ext cx="468000" cy="468000"/>
            </a:xfrm>
            <a:prstGeom prst="rect">
              <a:avLst/>
            </a:prstGeom>
          </p:spPr>
        </p:pic>
      </p:grpSp>
      <p:grpSp>
        <p:nvGrpSpPr>
          <p:cNvPr id="17" name="Groupe 16">
            <a:extLst>
              <a:ext uri="{FF2B5EF4-FFF2-40B4-BE49-F238E27FC236}">
                <a16:creationId xmlns:a16="http://schemas.microsoft.com/office/drawing/2014/main" id="{87740656-FDB2-A83E-010D-BDD4791BA4B6}"/>
              </a:ext>
            </a:extLst>
          </p:cNvPr>
          <p:cNvGrpSpPr/>
          <p:nvPr/>
        </p:nvGrpSpPr>
        <p:grpSpPr>
          <a:xfrm>
            <a:off x="300401" y="4916785"/>
            <a:ext cx="8710918" cy="1511728"/>
            <a:chOff x="300401" y="4916785"/>
            <a:chExt cx="8710918" cy="1511728"/>
          </a:xfrm>
        </p:grpSpPr>
        <p:sp>
          <p:nvSpPr>
            <p:cNvPr id="41" name="Rectangle : coins arrondis 40">
              <a:extLst>
                <a:ext uri="{FF2B5EF4-FFF2-40B4-BE49-F238E27FC236}">
                  <a16:creationId xmlns:a16="http://schemas.microsoft.com/office/drawing/2014/main" id="{CB4F79B5-664F-98ED-F1BE-3254E1F8EAF4}"/>
                </a:ext>
              </a:extLst>
            </p:cNvPr>
            <p:cNvSpPr/>
            <p:nvPr/>
          </p:nvSpPr>
          <p:spPr>
            <a:xfrm>
              <a:off x="371100" y="5223122"/>
              <a:ext cx="8640219" cy="1205391"/>
            </a:xfrm>
            <a:prstGeom prst="round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FC419160-4CA1-87BB-D744-8E5960A3CD4D}"/>
                </a:ext>
              </a:extLst>
            </p:cNvPr>
            <p:cNvSpPr/>
            <p:nvPr/>
          </p:nvSpPr>
          <p:spPr>
            <a:xfrm>
              <a:off x="300401" y="4916785"/>
              <a:ext cx="576000" cy="576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1FA22F16-E586-4112-B16B-175E21D03835}"/>
                </a:ext>
              </a:extLst>
            </p:cNvPr>
            <p:cNvSpPr/>
            <p:nvPr/>
          </p:nvSpPr>
          <p:spPr>
            <a:xfrm>
              <a:off x="742819" y="4987118"/>
              <a:ext cx="3415295" cy="42573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72" name="ZoneTexte 71">
              <a:extLst>
                <a:ext uri="{FF2B5EF4-FFF2-40B4-BE49-F238E27FC236}">
                  <a16:creationId xmlns:a16="http://schemas.microsoft.com/office/drawing/2014/main" id="{6165D693-4F61-1379-FB87-708F36CF89AB}"/>
                </a:ext>
              </a:extLst>
            </p:cNvPr>
            <p:cNvSpPr txBox="1"/>
            <p:nvPr/>
          </p:nvSpPr>
          <p:spPr>
            <a:xfrm>
              <a:off x="525797" y="5412850"/>
              <a:ext cx="8475226" cy="1015663"/>
            </a:xfrm>
            <a:prstGeom prst="rect">
              <a:avLst/>
            </a:prstGeom>
            <a:noFill/>
          </p:spPr>
          <p:txBody>
            <a:bodyPr wrap="square">
              <a:spAutoFit/>
            </a:bodyPr>
            <a:lstStyle/>
            <a:p>
              <a:pPr marL="285750" indent="-285750" algn="just">
                <a:buFont typeface="Wingdings" panose="05000000000000000000" pitchFamily="2" charset="2"/>
                <a:buChar char="Ø"/>
              </a:pPr>
              <a:r>
                <a:rPr lang="en-US" sz="1200" b="1" dirty="0" err="1">
                  <a:solidFill>
                    <a:srgbClr val="231F20"/>
                  </a:solidFill>
                </a:rPr>
                <a:t>M</a:t>
              </a:r>
              <a:r>
                <a:rPr lang="en-US" sz="1200" b="1" i="0" u="none" strike="noStrike" baseline="0" dirty="0" err="1">
                  <a:solidFill>
                    <a:srgbClr val="231F20"/>
                  </a:solidFill>
                </a:rPr>
                <a:t>egaTALs</a:t>
              </a:r>
              <a:r>
                <a:rPr lang="en-US" sz="1200" b="0" i="0" u="none" strike="noStrike" baseline="0" dirty="0">
                  <a:solidFill>
                    <a:srgbClr val="231F20"/>
                  </a:solidFill>
                </a:rPr>
                <a:t>, resulting from the fusion of a rare-cleaving MNs to a TALE-binding domain have been reported to </a:t>
              </a:r>
              <a:r>
                <a:rPr lang="en-US" sz="1200" b="1" i="0" u="none" strike="noStrike" baseline="0" dirty="0">
                  <a:solidFill>
                    <a:srgbClr val="231F20"/>
                  </a:solidFill>
                </a:rPr>
                <a:t>induce highly specific gene modifications</a:t>
              </a:r>
              <a:r>
                <a:rPr lang="en-US" sz="1200" b="0" i="0" u="none" strike="noStrike" baseline="0" dirty="0">
                  <a:solidFill>
                    <a:srgbClr val="231F20"/>
                  </a:solidFill>
                </a:rPr>
                <a:t>.</a:t>
              </a:r>
            </a:p>
            <a:p>
              <a:pPr marL="285750" indent="-285750" algn="just">
                <a:buFont typeface="Wingdings" panose="05000000000000000000" pitchFamily="2" charset="2"/>
                <a:buChar char="Ø"/>
              </a:pPr>
              <a:r>
                <a:rPr lang="en-US" sz="1200" b="1" dirty="0"/>
                <a:t>Recombinant adeno-associated viruses </a:t>
              </a:r>
              <a:r>
                <a:rPr lang="en-US" sz="1200" dirty="0"/>
                <a:t>have been developed to transport the genetic tools in cells.</a:t>
              </a:r>
              <a:r>
                <a:rPr lang="en-US" sz="1200" baseline="30000" dirty="0"/>
                <a:t> </a:t>
              </a:r>
              <a:r>
                <a:rPr lang="en-US" sz="1200" dirty="0"/>
                <a:t>Their applications are limited due to difficulty in preparing the engineered constructs, off-target activity, probable genome mutations and the reduced site specificity and integration.</a:t>
              </a:r>
              <a:r>
                <a:rPr lang="en-US" sz="1200" baseline="30000" dirty="0"/>
                <a:t>3</a:t>
              </a:r>
            </a:p>
          </p:txBody>
        </p:sp>
        <p:pic>
          <p:nvPicPr>
            <p:cNvPr id="8" name="Image 7" descr="Une image contenant Graphique, clipart, Police, graphisme&#10;&#10;Description générée automatiquement">
              <a:extLst>
                <a:ext uri="{FF2B5EF4-FFF2-40B4-BE49-F238E27FC236}">
                  <a16:creationId xmlns:a16="http://schemas.microsoft.com/office/drawing/2014/main" id="{2652A6F9-F7A2-61CC-412C-0CDBBBA63F88}"/>
                </a:ext>
              </a:extLst>
            </p:cNvPr>
            <p:cNvPicPr>
              <a:picLocks noChangeAspect="1"/>
            </p:cNvPicPr>
            <p:nvPr/>
          </p:nvPicPr>
          <p:blipFill>
            <a:blip r:embed="rId12"/>
            <a:stretch>
              <a:fillRect/>
            </a:stretch>
          </p:blipFill>
          <p:spPr>
            <a:xfrm>
              <a:off x="345725" y="4988785"/>
              <a:ext cx="432000" cy="432000"/>
            </a:xfrm>
            <a:prstGeom prst="rect">
              <a:avLst/>
            </a:prstGeom>
          </p:spPr>
        </p:pic>
      </p:grpSp>
      <p:grpSp>
        <p:nvGrpSpPr>
          <p:cNvPr id="9" name="Groupe 8">
            <a:extLst>
              <a:ext uri="{FF2B5EF4-FFF2-40B4-BE49-F238E27FC236}">
                <a16:creationId xmlns:a16="http://schemas.microsoft.com/office/drawing/2014/main" id="{CA6054A7-B7A0-5D9B-18D3-DE42132B2938}"/>
              </a:ext>
            </a:extLst>
          </p:cNvPr>
          <p:cNvGrpSpPr/>
          <p:nvPr/>
        </p:nvGrpSpPr>
        <p:grpSpPr>
          <a:xfrm>
            <a:off x="9569854" y="1383601"/>
            <a:ext cx="2616976" cy="468000"/>
            <a:chOff x="9569854" y="1347584"/>
            <a:chExt cx="2616976" cy="468000"/>
          </a:xfrm>
        </p:grpSpPr>
        <p:sp>
          <p:nvSpPr>
            <p:cNvPr id="10" name="ZoneTexte 9">
              <a:extLst>
                <a:ext uri="{FF2B5EF4-FFF2-40B4-BE49-F238E27FC236}">
                  <a16:creationId xmlns:a16="http://schemas.microsoft.com/office/drawing/2014/main" id="{2803FA0E-C01F-B802-33F6-1148D0E3B37F}"/>
                </a:ext>
              </a:extLst>
            </p:cNvPr>
            <p:cNvSpPr txBox="1"/>
            <p:nvPr/>
          </p:nvSpPr>
          <p:spPr>
            <a:xfrm>
              <a:off x="10056601" y="1412307"/>
              <a:ext cx="2130229" cy="338554"/>
            </a:xfrm>
            <a:prstGeom prst="rect">
              <a:avLst/>
            </a:prstGeom>
            <a:noFill/>
          </p:spPr>
          <p:txBody>
            <a:bodyPr wrap="square">
              <a:spAutoFit/>
            </a:bodyPr>
            <a:lstStyle/>
            <a:p>
              <a:pPr lvl="0" algn="ctr"/>
              <a:r>
                <a:rPr lang="fr-FR" sz="1600" b="1" u="sng" dirty="0" err="1"/>
                <a:t>Alcimed’s</a:t>
              </a:r>
              <a:r>
                <a:rPr lang="fr-FR" sz="1600" b="1" u="sng" dirty="0"/>
                <a:t> feeling</a:t>
              </a:r>
            </a:p>
          </p:txBody>
        </p:sp>
        <p:pic>
          <p:nvPicPr>
            <p:cNvPr id="11" name="Image 10">
              <a:extLst>
                <a:ext uri="{FF2B5EF4-FFF2-40B4-BE49-F238E27FC236}">
                  <a16:creationId xmlns:a16="http://schemas.microsoft.com/office/drawing/2014/main" id="{C6531B28-B0BB-CBD6-E7D9-B45DA0A2BC47}"/>
                </a:ext>
              </a:extLst>
            </p:cNvPr>
            <p:cNvPicPr>
              <a:picLocks noChangeAspect="1"/>
            </p:cNvPicPr>
            <p:nvPr/>
          </p:nvPicPr>
          <p:blipFill>
            <a:blip r:embed="rId13"/>
            <a:stretch>
              <a:fillRect/>
            </a:stretch>
          </p:blipFill>
          <p:spPr>
            <a:xfrm>
              <a:off x="9569854" y="1347584"/>
              <a:ext cx="468000" cy="468000"/>
            </a:xfrm>
            <a:prstGeom prst="rect">
              <a:avLst/>
            </a:prstGeom>
          </p:spPr>
        </p:pic>
      </p:grpSp>
      <p:grpSp>
        <p:nvGrpSpPr>
          <p:cNvPr id="18" name="Groupe 17">
            <a:extLst>
              <a:ext uri="{FF2B5EF4-FFF2-40B4-BE49-F238E27FC236}">
                <a16:creationId xmlns:a16="http://schemas.microsoft.com/office/drawing/2014/main" id="{494C6C4E-38D6-2763-ABEF-7AD4423CBD5F}"/>
              </a:ext>
            </a:extLst>
          </p:cNvPr>
          <p:cNvGrpSpPr/>
          <p:nvPr/>
        </p:nvGrpSpPr>
        <p:grpSpPr>
          <a:xfrm>
            <a:off x="9415644" y="3653725"/>
            <a:ext cx="2776360" cy="2526120"/>
            <a:chOff x="9415644" y="3324292"/>
            <a:chExt cx="2776360" cy="2526120"/>
          </a:xfrm>
        </p:grpSpPr>
        <p:sp>
          <p:nvSpPr>
            <p:cNvPr id="32" name="Rectangle : avec coins arrondis en haut 31">
              <a:extLst>
                <a:ext uri="{FF2B5EF4-FFF2-40B4-BE49-F238E27FC236}">
                  <a16:creationId xmlns:a16="http://schemas.microsoft.com/office/drawing/2014/main" id="{0426321A-6DF3-6D32-8B79-2FA8F7D1495D}"/>
                </a:ext>
              </a:extLst>
            </p:cNvPr>
            <p:cNvSpPr/>
            <p:nvPr/>
          </p:nvSpPr>
          <p:spPr>
            <a:xfrm rot="16200000">
              <a:off x="9545913" y="3204322"/>
              <a:ext cx="2526120"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73" name="ZoneTexte 72">
              <a:extLst>
                <a:ext uri="{FF2B5EF4-FFF2-40B4-BE49-F238E27FC236}">
                  <a16:creationId xmlns:a16="http://schemas.microsoft.com/office/drawing/2014/main" id="{43BB3D17-A366-9258-A360-D8C55950F1D9}"/>
                </a:ext>
              </a:extLst>
            </p:cNvPr>
            <p:cNvSpPr txBox="1"/>
            <p:nvPr/>
          </p:nvSpPr>
          <p:spPr>
            <a:xfrm>
              <a:off x="9415644" y="3911420"/>
              <a:ext cx="2771186" cy="1938992"/>
            </a:xfrm>
            <a:prstGeom prst="rect">
              <a:avLst/>
            </a:prstGeom>
            <a:noFill/>
          </p:spPr>
          <p:txBody>
            <a:bodyPr wrap="square" rtlCol="0">
              <a:spAutoFit/>
            </a:bodyPr>
            <a:lstStyle/>
            <a:p>
              <a:pPr algn="just"/>
              <a:r>
                <a:rPr lang="fr-FR" sz="1000" dirty="0"/>
                <a:t>1. Yoon Y. </a:t>
              </a:r>
              <a:r>
                <a:rPr lang="fr-FR" sz="1000" i="1" dirty="0"/>
                <a:t>et al.</a:t>
              </a:r>
              <a:r>
                <a:rPr lang="fr-FR" sz="1000" dirty="0"/>
                <a:t>, </a:t>
              </a:r>
              <a:r>
                <a:rPr lang="fr-FR" sz="1000" dirty="0" err="1"/>
                <a:t>Streamlined</a:t>
              </a:r>
              <a:r>
                <a:rPr lang="fr-FR" sz="1000" dirty="0"/>
                <a:t> ex vivo and in vivo </a:t>
              </a:r>
              <a:r>
                <a:rPr lang="fr-FR" sz="1000" dirty="0" err="1"/>
                <a:t>genome</a:t>
              </a:r>
              <a:r>
                <a:rPr lang="fr-FR" sz="1000" dirty="0"/>
                <a:t> </a:t>
              </a:r>
              <a:r>
                <a:rPr lang="fr-FR" sz="1000" dirty="0" err="1"/>
                <a:t>editing</a:t>
              </a:r>
              <a:r>
                <a:rPr lang="fr-FR" sz="1000" dirty="0"/>
                <a:t> in mouse </a:t>
              </a:r>
              <a:r>
                <a:rPr lang="fr-FR" sz="1000" dirty="0" err="1"/>
                <a:t>embryos</a:t>
              </a:r>
              <a:r>
                <a:rPr lang="fr-FR" sz="1000" dirty="0"/>
                <a:t> </a:t>
              </a:r>
              <a:r>
                <a:rPr lang="fr-FR" sz="1000" dirty="0" err="1"/>
                <a:t>using</a:t>
              </a:r>
              <a:r>
                <a:rPr lang="fr-FR" sz="1000" dirty="0"/>
                <a:t> recombinant </a:t>
              </a:r>
              <a:r>
                <a:rPr lang="fr-FR" sz="1000" dirty="0" err="1"/>
                <a:t>adeno-associated</a:t>
              </a:r>
              <a:r>
                <a:rPr lang="fr-FR" sz="1000" dirty="0"/>
                <a:t> </a:t>
              </a:r>
              <a:r>
                <a:rPr lang="fr-FR" sz="1000" dirty="0" err="1"/>
                <a:t>viruses</a:t>
              </a:r>
              <a:r>
                <a:rPr lang="fr-FR" sz="1000" dirty="0"/>
                <a:t>, Nat Commun, 9, 1-12 (2018)</a:t>
              </a:r>
              <a:endParaRPr lang="fr-FR" sz="1000" baseline="30000" dirty="0"/>
            </a:p>
            <a:p>
              <a:pPr algn="just"/>
              <a:r>
                <a:rPr lang="fr-FR" sz="1000" dirty="0"/>
                <a:t>2.</a:t>
              </a:r>
              <a:r>
                <a:rPr lang="fr-FR" sz="1000" baseline="30000" dirty="0"/>
                <a:t> </a:t>
              </a:r>
              <a:r>
                <a:rPr lang="en-US" sz="1000" dirty="0"/>
                <a:t>Weber N.D.</a:t>
              </a:r>
              <a:r>
                <a:rPr lang="en-US" sz="1000" i="1" dirty="0"/>
                <a:t> et al.</a:t>
              </a:r>
              <a:r>
                <a:rPr lang="en-US" sz="1000" dirty="0"/>
                <a:t>, DNA cleavage enzymes for treatment of persistent viral infections: recent advances and the pathway forward, Virology, 454–5, 353– 361 (2014) </a:t>
              </a:r>
            </a:p>
            <a:p>
              <a:pPr algn="just"/>
              <a:r>
                <a:rPr lang="en-US" sz="1000" dirty="0"/>
                <a:t>3.</a:t>
              </a:r>
              <a:r>
                <a:rPr lang="en-US" sz="1000" baseline="30000" dirty="0"/>
                <a:t> </a:t>
              </a:r>
              <a:r>
                <a:rPr lang="fr-FR" sz="1000" dirty="0" err="1"/>
                <a:t>Sather</a:t>
              </a:r>
              <a:r>
                <a:rPr lang="fr-FR" sz="1000" dirty="0"/>
                <a:t> B.D. </a:t>
              </a:r>
              <a:r>
                <a:rPr lang="fr-FR" sz="1000" i="1" dirty="0"/>
                <a:t>et </a:t>
              </a:r>
              <a:r>
                <a:rPr lang="fr-FR" sz="1000" i="1" dirty="0" err="1"/>
                <a:t>al.</a:t>
              </a:r>
              <a:r>
                <a:rPr lang="fr-FR" sz="1000" dirty="0" err="1"/>
                <a:t>,Efficient</a:t>
              </a:r>
              <a:r>
                <a:rPr lang="fr-FR" sz="1000" dirty="0"/>
                <a:t> modification of CCR5 in </a:t>
              </a:r>
              <a:r>
                <a:rPr lang="fr-FR" sz="1000" dirty="0" err="1"/>
                <a:t>primary</a:t>
              </a:r>
              <a:r>
                <a:rPr lang="fr-FR" sz="1000" dirty="0"/>
                <a:t> </a:t>
              </a:r>
              <a:r>
                <a:rPr lang="fr-FR" sz="1000" dirty="0" err="1"/>
                <a:t>human</a:t>
              </a:r>
              <a:r>
                <a:rPr lang="fr-FR" sz="1000" dirty="0"/>
                <a:t> </a:t>
              </a:r>
              <a:r>
                <a:rPr lang="fr-FR" sz="1000" dirty="0" err="1"/>
                <a:t>hematopoietic</a:t>
              </a:r>
              <a:r>
                <a:rPr lang="fr-FR" sz="1000" dirty="0"/>
                <a:t> </a:t>
              </a:r>
              <a:r>
                <a:rPr lang="fr-FR" sz="1000" dirty="0" err="1"/>
                <a:t>cells</a:t>
              </a:r>
              <a:r>
                <a:rPr lang="fr-FR" sz="1000" dirty="0"/>
                <a:t> </a:t>
              </a:r>
              <a:r>
                <a:rPr lang="fr-FR" sz="1000" dirty="0" err="1"/>
                <a:t>using</a:t>
              </a:r>
              <a:r>
                <a:rPr lang="fr-FR" sz="1000" dirty="0"/>
                <a:t> a </a:t>
              </a:r>
              <a:r>
                <a:rPr lang="fr-FR" sz="1000" dirty="0" err="1"/>
                <a:t>megaTAL</a:t>
              </a:r>
              <a:r>
                <a:rPr lang="fr-FR" sz="1000" dirty="0"/>
                <a:t> </a:t>
              </a:r>
              <a:r>
                <a:rPr lang="fr-FR" sz="1000" dirty="0" err="1"/>
                <a:t>nuclease</a:t>
              </a:r>
              <a:r>
                <a:rPr lang="fr-FR" sz="1000" dirty="0"/>
                <a:t> and AAV </a:t>
              </a:r>
              <a:r>
                <a:rPr lang="fr-FR" sz="1000" dirty="0" err="1"/>
                <a:t>donor</a:t>
              </a:r>
              <a:r>
                <a:rPr lang="fr-FR" sz="1000" dirty="0"/>
                <a:t> </a:t>
              </a:r>
              <a:r>
                <a:rPr lang="fr-FR" sz="1000" dirty="0" err="1"/>
                <a:t>template</a:t>
              </a:r>
              <a:r>
                <a:rPr lang="fr-FR" sz="1000" dirty="0"/>
                <a:t>, Sc </a:t>
              </a:r>
              <a:r>
                <a:rPr lang="fr-FR" sz="1000" dirty="0" err="1"/>
                <a:t>Transl</a:t>
              </a:r>
              <a:r>
                <a:rPr lang="fr-FR" sz="1000" dirty="0"/>
                <a:t> Med, 7, 307ra156 (2015)</a:t>
              </a:r>
            </a:p>
          </p:txBody>
        </p:sp>
        <p:grpSp>
          <p:nvGrpSpPr>
            <p:cNvPr id="12" name="Groupe 11">
              <a:extLst>
                <a:ext uri="{FF2B5EF4-FFF2-40B4-BE49-F238E27FC236}">
                  <a16:creationId xmlns:a16="http://schemas.microsoft.com/office/drawing/2014/main" id="{E72DC267-95A2-6851-C0CB-E33D9F598CB1}"/>
                </a:ext>
              </a:extLst>
            </p:cNvPr>
            <p:cNvGrpSpPr/>
            <p:nvPr/>
          </p:nvGrpSpPr>
          <p:grpSpPr>
            <a:xfrm>
              <a:off x="9642885" y="3415925"/>
              <a:ext cx="2549119" cy="468000"/>
              <a:chOff x="9642885" y="4013432"/>
              <a:chExt cx="2549119" cy="468000"/>
            </a:xfrm>
          </p:grpSpPr>
          <p:sp>
            <p:nvSpPr>
              <p:cNvPr id="13" name="ZoneTexte 12">
                <a:extLst>
                  <a:ext uri="{FF2B5EF4-FFF2-40B4-BE49-F238E27FC236}">
                    <a16:creationId xmlns:a16="http://schemas.microsoft.com/office/drawing/2014/main" id="{EA7E9FBF-8C1C-ABC9-ADA8-40FC3FA4DB5C}"/>
                  </a:ext>
                </a:extLst>
              </p:cNvPr>
              <p:cNvSpPr txBox="1"/>
              <p:nvPr/>
            </p:nvSpPr>
            <p:spPr>
              <a:xfrm>
                <a:off x="10110886" y="4037324"/>
                <a:ext cx="2081118" cy="338554"/>
              </a:xfrm>
              <a:prstGeom prst="rect">
                <a:avLst/>
              </a:prstGeom>
              <a:noFill/>
            </p:spPr>
            <p:txBody>
              <a:bodyPr wrap="square">
                <a:spAutoFit/>
              </a:bodyPr>
              <a:lstStyle/>
              <a:p>
                <a:pPr lvl="0" algn="ctr"/>
                <a:r>
                  <a:rPr lang="fr-FR" sz="1600" b="1" u="sng" dirty="0"/>
                  <a:t>Main Sources</a:t>
                </a:r>
              </a:p>
            </p:txBody>
          </p:sp>
          <p:pic>
            <p:nvPicPr>
              <p:cNvPr id="14" name="Image 13">
                <a:extLst>
                  <a:ext uri="{FF2B5EF4-FFF2-40B4-BE49-F238E27FC236}">
                    <a16:creationId xmlns:a16="http://schemas.microsoft.com/office/drawing/2014/main" id="{F409421C-EE82-A8DB-9FC4-B7319CFAD783}"/>
                  </a:ext>
                </a:extLst>
              </p:cNvPr>
              <p:cNvPicPr>
                <a:picLocks noChangeAspect="1"/>
              </p:cNvPicPr>
              <p:nvPr/>
            </p:nvPicPr>
            <p:blipFill>
              <a:blip r:embed="rId14"/>
              <a:stretch>
                <a:fillRect/>
              </a:stretch>
            </p:blipFill>
            <p:spPr>
              <a:xfrm>
                <a:off x="9642885" y="4013432"/>
                <a:ext cx="468000" cy="468000"/>
              </a:xfrm>
              <a:prstGeom prst="rect">
                <a:avLst/>
              </a:prstGeom>
            </p:spPr>
          </p:pic>
        </p:grpSp>
      </p:grpSp>
      <p:sp>
        <p:nvSpPr>
          <p:cNvPr id="44" name="Rectangle 43">
            <a:extLst>
              <a:ext uri="{FF2B5EF4-FFF2-40B4-BE49-F238E27FC236}">
                <a16:creationId xmlns:a16="http://schemas.microsoft.com/office/drawing/2014/main" id="{7608D36C-C179-B67F-078D-F100C77667DE}"/>
              </a:ext>
            </a:extLst>
          </p:cNvPr>
          <p:cNvSpPr/>
          <p:nvPr/>
        </p:nvSpPr>
        <p:spPr>
          <a:xfrm>
            <a:off x="11495730" y="2387447"/>
            <a:ext cx="605699" cy="667921"/>
          </a:xfrm>
          <a:prstGeom prst="rect">
            <a:avLst/>
          </a:prstGeom>
          <a:solidFill>
            <a:srgbClr val="C3FE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D6A92E1A-F104-5E6F-07DC-002538ECB510}"/>
              </a:ext>
            </a:extLst>
          </p:cNvPr>
          <p:cNvSpPr/>
          <p:nvPr/>
        </p:nvSpPr>
        <p:spPr>
          <a:xfrm>
            <a:off x="11796204" y="1971655"/>
            <a:ext cx="302850" cy="344071"/>
          </a:xfrm>
          <a:prstGeom prst="rect">
            <a:avLst/>
          </a:prstGeom>
          <a:solidFill>
            <a:srgbClr val="C3FEE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B5AD747D-0EB1-A17A-EF84-EF047885E612}"/>
              </a:ext>
            </a:extLst>
          </p:cNvPr>
          <p:cNvSpPr txBox="1"/>
          <p:nvPr/>
        </p:nvSpPr>
        <p:spPr>
          <a:xfrm>
            <a:off x="5645227" y="0"/>
            <a:ext cx="1905000"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2963118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F5C0-A90F-D1F8-B09A-1F591A189741}"/>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A9B9A113-B9B7-0F40-FF76-ACCBA5AA2310}"/>
              </a:ext>
            </a:extLst>
          </p:cNvPr>
          <p:cNvCxnSpPr/>
          <p:nvPr/>
        </p:nvCxnSpPr>
        <p:spPr>
          <a:xfrm>
            <a:off x="0" y="771525"/>
            <a:ext cx="12192000"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6E981814-DAAC-EF2E-9F2D-6C416805C392}"/>
              </a:ext>
            </a:extLst>
          </p:cNvPr>
          <p:cNvSpPr txBox="1"/>
          <p:nvPr/>
        </p:nvSpPr>
        <p:spPr>
          <a:xfrm>
            <a:off x="218115" y="167310"/>
            <a:ext cx="10648800" cy="492443"/>
          </a:xfrm>
          <a:prstGeom prst="rect">
            <a:avLst/>
          </a:prstGeom>
          <a:noFill/>
        </p:spPr>
        <p:txBody>
          <a:bodyPr wrap="square">
            <a:spAutoFit/>
          </a:bodyPr>
          <a:lstStyle/>
          <a:p>
            <a:pPr lvl="0"/>
            <a:r>
              <a:rPr lang="fr-FR" sz="2600" b="1" dirty="0">
                <a:solidFill>
                  <a:schemeClr val="accent2"/>
                </a:solidFill>
              </a:rPr>
              <a:t>Transcription </a:t>
            </a:r>
            <a:r>
              <a:rPr lang="fr-FR" sz="2600" b="1" dirty="0" err="1">
                <a:solidFill>
                  <a:schemeClr val="accent2"/>
                </a:solidFill>
              </a:rPr>
              <a:t>Activator</a:t>
            </a:r>
            <a:r>
              <a:rPr lang="fr-FR" sz="2600" b="1" dirty="0">
                <a:solidFill>
                  <a:schemeClr val="accent2"/>
                </a:solidFill>
              </a:rPr>
              <a:t>-Like </a:t>
            </a:r>
            <a:r>
              <a:rPr lang="fr-FR" sz="2600" b="1" dirty="0" err="1">
                <a:solidFill>
                  <a:schemeClr val="accent2"/>
                </a:solidFill>
              </a:rPr>
              <a:t>Effector</a:t>
            </a:r>
            <a:r>
              <a:rPr lang="fr-FR" sz="2600" b="1" dirty="0">
                <a:solidFill>
                  <a:schemeClr val="accent2"/>
                </a:solidFill>
              </a:rPr>
              <a:t> </a:t>
            </a:r>
            <a:r>
              <a:rPr lang="fr-FR" sz="2600" b="1" dirty="0" err="1">
                <a:solidFill>
                  <a:schemeClr val="accent2"/>
                </a:solidFill>
              </a:rPr>
              <a:t>Nucleases</a:t>
            </a:r>
            <a:r>
              <a:rPr lang="fr-FR" sz="2600" b="1" dirty="0">
                <a:solidFill>
                  <a:schemeClr val="accent2"/>
                </a:solidFill>
              </a:rPr>
              <a:t> (</a:t>
            </a:r>
            <a:r>
              <a:rPr lang="fr-FR" sz="2600" b="1" dirty="0" err="1">
                <a:solidFill>
                  <a:schemeClr val="accent2"/>
                </a:solidFill>
              </a:rPr>
              <a:t>TALENs</a:t>
            </a:r>
            <a:r>
              <a:rPr lang="fr-FR" sz="2600" b="1" dirty="0">
                <a:solidFill>
                  <a:schemeClr val="accent2"/>
                </a:solidFill>
              </a:rPr>
              <a:t>)</a:t>
            </a:r>
          </a:p>
        </p:txBody>
      </p:sp>
      <p:grpSp>
        <p:nvGrpSpPr>
          <p:cNvPr id="54" name="Groupe 53">
            <a:extLst>
              <a:ext uri="{FF2B5EF4-FFF2-40B4-BE49-F238E27FC236}">
                <a16:creationId xmlns:a16="http://schemas.microsoft.com/office/drawing/2014/main" id="{02160FAE-943B-E8D3-7C00-0110E7C16470}"/>
              </a:ext>
            </a:extLst>
          </p:cNvPr>
          <p:cNvGrpSpPr/>
          <p:nvPr/>
        </p:nvGrpSpPr>
        <p:grpSpPr>
          <a:xfrm>
            <a:off x="0" y="2477809"/>
            <a:ext cx="2766060" cy="2970021"/>
            <a:chOff x="0" y="2221107"/>
            <a:chExt cx="2766060" cy="2970021"/>
          </a:xfrm>
        </p:grpSpPr>
        <p:sp>
          <p:nvSpPr>
            <p:cNvPr id="25" name="Rectangle : avec coins arrondis en haut 24">
              <a:extLst>
                <a:ext uri="{FF2B5EF4-FFF2-40B4-BE49-F238E27FC236}">
                  <a16:creationId xmlns:a16="http://schemas.microsoft.com/office/drawing/2014/main" id="{90B34D4C-F61A-5C86-B7CB-53B1DC7282BC}"/>
                </a:ext>
              </a:extLst>
            </p:cNvPr>
            <p:cNvSpPr/>
            <p:nvPr/>
          </p:nvSpPr>
          <p:spPr>
            <a:xfrm rot="5400000">
              <a:off x="-101981" y="2323088"/>
              <a:ext cx="2970021" cy="2766060"/>
            </a:xfrm>
            <a:prstGeom prst="round2SameRect">
              <a:avLst>
                <a:gd name="adj1" fmla="val 10809"/>
                <a:gd name="adj2" fmla="val 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3" name="Groupe 2">
              <a:extLst>
                <a:ext uri="{FF2B5EF4-FFF2-40B4-BE49-F238E27FC236}">
                  <a16:creationId xmlns:a16="http://schemas.microsoft.com/office/drawing/2014/main" id="{79FE039C-8196-F75B-F5CB-E8F58E4423E0}"/>
                </a:ext>
              </a:extLst>
            </p:cNvPr>
            <p:cNvGrpSpPr/>
            <p:nvPr/>
          </p:nvGrpSpPr>
          <p:grpSpPr>
            <a:xfrm>
              <a:off x="71514" y="2289460"/>
              <a:ext cx="2632872" cy="720000"/>
              <a:chOff x="71514" y="2316811"/>
              <a:chExt cx="2632872" cy="720000"/>
            </a:xfrm>
          </p:grpSpPr>
          <p:sp>
            <p:nvSpPr>
              <p:cNvPr id="4" name="ZoneTexte 3">
                <a:extLst>
                  <a:ext uri="{FF2B5EF4-FFF2-40B4-BE49-F238E27FC236}">
                    <a16:creationId xmlns:a16="http://schemas.microsoft.com/office/drawing/2014/main" id="{37D93972-147B-062D-E5D6-7D29886BD50B}"/>
                  </a:ext>
                </a:extLst>
              </p:cNvPr>
              <p:cNvSpPr txBox="1"/>
              <p:nvPr/>
            </p:nvSpPr>
            <p:spPr>
              <a:xfrm>
                <a:off x="839954" y="2353646"/>
                <a:ext cx="1864432" cy="646331"/>
              </a:xfrm>
              <a:prstGeom prst="rect">
                <a:avLst/>
              </a:prstGeom>
              <a:noFill/>
            </p:spPr>
            <p:txBody>
              <a:bodyPr wrap="square" rtlCol="0">
                <a:spAutoFit/>
              </a:bodyPr>
              <a:lstStyle/>
              <a:p>
                <a:r>
                  <a:rPr lang="en-US" sz="1200" dirty="0"/>
                  <a:t>TALENs were discovered in </a:t>
                </a:r>
                <a:r>
                  <a:rPr lang="en-US" sz="1200" b="1" dirty="0"/>
                  <a:t>2009</a:t>
                </a:r>
                <a:r>
                  <a:rPr lang="en-US" sz="1200" dirty="0"/>
                  <a:t> in bacteria.</a:t>
                </a:r>
                <a:endParaRPr lang="fr-FR" b="1" dirty="0"/>
              </a:p>
            </p:txBody>
          </p:sp>
          <p:pic>
            <p:nvPicPr>
              <p:cNvPr id="5" name="Image 4">
                <a:extLst>
                  <a:ext uri="{FF2B5EF4-FFF2-40B4-BE49-F238E27FC236}">
                    <a16:creationId xmlns:a16="http://schemas.microsoft.com/office/drawing/2014/main" id="{ABB6EF7C-749E-9506-B115-A0D0807E5207}"/>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3900D1F7-78BE-3D3C-372E-BD10AA85D778}"/>
                </a:ext>
              </a:extLst>
            </p:cNvPr>
            <p:cNvGrpSpPr/>
            <p:nvPr/>
          </p:nvGrpSpPr>
          <p:grpSpPr>
            <a:xfrm>
              <a:off x="74170" y="3185511"/>
              <a:ext cx="2630216" cy="1015663"/>
              <a:chOff x="74170" y="3236916"/>
              <a:chExt cx="2630216" cy="1015663"/>
            </a:xfrm>
          </p:grpSpPr>
          <p:sp>
            <p:nvSpPr>
              <p:cNvPr id="23" name="ZoneTexte 22">
                <a:extLst>
                  <a:ext uri="{FF2B5EF4-FFF2-40B4-BE49-F238E27FC236}">
                    <a16:creationId xmlns:a16="http://schemas.microsoft.com/office/drawing/2014/main" id="{6122E308-22B6-89D2-409A-C6D7F71F9A00}"/>
                  </a:ext>
                </a:extLst>
              </p:cNvPr>
              <p:cNvSpPr txBox="1"/>
              <p:nvPr/>
            </p:nvSpPr>
            <p:spPr>
              <a:xfrm>
                <a:off x="839954" y="3236916"/>
                <a:ext cx="1864432" cy="1015663"/>
              </a:xfrm>
              <a:prstGeom prst="rect">
                <a:avLst/>
              </a:prstGeom>
              <a:noFill/>
            </p:spPr>
            <p:txBody>
              <a:bodyPr wrap="square">
                <a:spAutoFit/>
              </a:bodyPr>
              <a:lstStyle/>
              <a:p>
                <a:r>
                  <a:rPr lang="en-US" sz="1200" b="0" i="0" u="none" strike="noStrike" baseline="0" dirty="0"/>
                  <a:t>Allows </a:t>
                </a:r>
                <a:r>
                  <a:rPr lang="fr-FR" sz="1200" b="1" dirty="0" err="1"/>
                  <a:t>mutagenesis</a:t>
                </a:r>
                <a:r>
                  <a:rPr lang="fr-FR" sz="1200" dirty="0"/>
                  <a:t> and </a:t>
                </a:r>
                <a:r>
                  <a:rPr lang="fr-FR" sz="1200" b="1" dirty="0" err="1"/>
                  <a:t>precise</a:t>
                </a:r>
                <a:r>
                  <a:rPr lang="fr-FR" sz="1200" b="1" dirty="0"/>
                  <a:t> modification </a:t>
                </a:r>
                <a:r>
                  <a:rPr lang="fr-FR" sz="1200" dirty="0"/>
                  <a:t>of </a:t>
                </a:r>
                <a:r>
                  <a:rPr lang="fr-FR" sz="1200" dirty="0" err="1"/>
                  <a:t>nonprotein</a:t>
                </a:r>
                <a:r>
                  <a:rPr lang="fr-FR" sz="1200" dirty="0"/>
                  <a:t> </a:t>
                </a:r>
                <a:r>
                  <a:rPr lang="fr-FR" sz="1200" dirty="0" err="1"/>
                  <a:t>coding</a:t>
                </a:r>
                <a:r>
                  <a:rPr lang="fr-FR" sz="1200" dirty="0"/>
                  <a:t> </a:t>
                </a:r>
                <a:r>
                  <a:rPr lang="fr-FR" sz="1200" dirty="0" err="1"/>
                  <a:t>genes</a:t>
                </a:r>
                <a:r>
                  <a:rPr lang="fr-FR" sz="1200" dirty="0"/>
                  <a:t>.</a:t>
                </a:r>
                <a:endParaRPr lang="en-US" sz="1200" b="1" dirty="0"/>
              </a:p>
            </p:txBody>
          </p:sp>
          <p:pic>
            <p:nvPicPr>
              <p:cNvPr id="24" name="Image 23">
                <a:extLst>
                  <a:ext uri="{FF2B5EF4-FFF2-40B4-BE49-F238E27FC236}">
                    <a16:creationId xmlns:a16="http://schemas.microsoft.com/office/drawing/2014/main" id="{72B09E4D-1E00-C019-7000-46A419A0DD44}"/>
                  </a:ext>
                </a:extLst>
              </p:cNvPr>
              <p:cNvPicPr>
                <a:picLocks noChangeAspect="1"/>
              </p:cNvPicPr>
              <p:nvPr/>
            </p:nvPicPr>
            <p:blipFill>
              <a:blip r:embed="rId3"/>
              <a:stretch>
                <a:fillRect/>
              </a:stretch>
            </p:blipFill>
            <p:spPr>
              <a:xfrm>
                <a:off x="74170" y="3380624"/>
                <a:ext cx="720000" cy="720000"/>
              </a:xfrm>
              <a:prstGeom prst="rect">
                <a:avLst/>
              </a:prstGeom>
            </p:spPr>
          </p:pic>
        </p:grpSp>
        <p:grpSp>
          <p:nvGrpSpPr>
            <p:cNvPr id="30" name="Groupe 29">
              <a:extLst>
                <a:ext uri="{FF2B5EF4-FFF2-40B4-BE49-F238E27FC236}">
                  <a16:creationId xmlns:a16="http://schemas.microsoft.com/office/drawing/2014/main" id="{3B6FAC98-8E44-6FFE-D2E6-174A45267EA5}"/>
                </a:ext>
              </a:extLst>
            </p:cNvPr>
            <p:cNvGrpSpPr/>
            <p:nvPr/>
          </p:nvGrpSpPr>
          <p:grpSpPr>
            <a:xfrm>
              <a:off x="71514" y="4377225"/>
              <a:ext cx="2694546" cy="720000"/>
              <a:chOff x="71514" y="4632743"/>
              <a:chExt cx="2694546" cy="720000"/>
            </a:xfrm>
          </p:grpSpPr>
          <p:pic>
            <p:nvPicPr>
              <p:cNvPr id="34" name="Image 33">
                <a:extLst>
                  <a:ext uri="{FF2B5EF4-FFF2-40B4-BE49-F238E27FC236}">
                    <a16:creationId xmlns:a16="http://schemas.microsoft.com/office/drawing/2014/main" id="{BDE63211-8D74-F1E5-A2B4-54832E5630FD}"/>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B5CF48A7-E599-9E25-2CFD-19BBE1CDD554}"/>
                  </a:ext>
                </a:extLst>
              </p:cNvPr>
              <p:cNvSpPr txBox="1"/>
              <p:nvPr/>
            </p:nvSpPr>
            <p:spPr>
              <a:xfrm>
                <a:off x="791514" y="4669578"/>
                <a:ext cx="1974546" cy="646331"/>
              </a:xfrm>
              <a:prstGeom prst="rect">
                <a:avLst/>
              </a:prstGeom>
              <a:noFill/>
            </p:spPr>
            <p:txBody>
              <a:bodyPr wrap="square">
                <a:spAutoFit/>
              </a:bodyPr>
              <a:lstStyle/>
              <a:p>
                <a:pPr algn="just"/>
                <a:r>
                  <a:rPr lang="en-US" sz="1200" b="0" i="0" u="none" strike="noStrike" baseline="0" dirty="0"/>
                  <a:t>A </a:t>
                </a:r>
                <a:r>
                  <a:rPr lang="en-US" sz="1200" b="1" i="0" u="none" strike="noStrike" baseline="0" dirty="0"/>
                  <a:t>T base </a:t>
                </a:r>
                <a:r>
                  <a:rPr lang="en-US" sz="1200" b="0" i="0" u="none" strike="noStrike" baseline="0" dirty="0"/>
                  <a:t>has to be present at </a:t>
                </a:r>
                <a:r>
                  <a:rPr lang="en-US" sz="1200" b="1" i="0" u="none" strike="noStrike" baseline="0" dirty="0"/>
                  <a:t>each 5’ end </a:t>
                </a:r>
                <a:r>
                  <a:rPr lang="en-US" sz="1200" b="0" i="0" u="none" strike="noStrike" baseline="0" dirty="0"/>
                  <a:t>of binding sites.</a:t>
                </a:r>
                <a:endParaRPr lang="fr-FR" sz="1200" dirty="0"/>
              </a:p>
            </p:txBody>
          </p:sp>
        </p:grpSp>
      </p:grpSp>
      <p:grpSp>
        <p:nvGrpSpPr>
          <p:cNvPr id="29" name="Groupe 28">
            <a:extLst>
              <a:ext uri="{FF2B5EF4-FFF2-40B4-BE49-F238E27FC236}">
                <a16:creationId xmlns:a16="http://schemas.microsoft.com/office/drawing/2014/main" id="{CFCD30D6-C995-C733-BBCF-E02C0E97E804}"/>
              </a:ext>
            </a:extLst>
          </p:cNvPr>
          <p:cNvGrpSpPr/>
          <p:nvPr/>
        </p:nvGrpSpPr>
        <p:grpSpPr>
          <a:xfrm>
            <a:off x="9438503" y="106406"/>
            <a:ext cx="2652772" cy="603883"/>
            <a:chOff x="9438503" y="106406"/>
            <a:chExt cx="2652772" cy="603883"/>
          </a:xfrm>
        </p:grpSpPr>
        <p:grpSp>
          <p:nvGrpSpPr>
            <p:cNvPr id="6" name="Groupe 5">
              <a:extLst>
                <a:ext uri="{FF2B5EF4-FFF2-40B4-BE49-F238E27FC236}">
                  <a16:creationId xmlns:a16="http://schemas.microsoft.com/office/drawing/2014/main" id="{130EB179-6A44-3607-3419-A5A3B1089C2F}"/>
                </a:ext>
              </a:extLst>
            </p:cNvPr>
            <p:cNvGrpSpPr/>
            <p:nvPr/>
          </p:nvGrpSpPr>
          <p:grpSpPr>
            <a:xfrm>
              <a:off x="9464997" y="129350"/>
              <a:ext cx="2626278" cy="580939"/>
              <a:chOff x="9464997" y="129350"/>
              <a:chExt cx="2626278" cy="580939"/>
            </a:xfrm>
          </p:grpSpPr>
          <p:pic>
            <p:nvPicPr>
              <p:cNvPr id="7" name="Picture 2">
                <a:extLst>
                  <a:ext uri="{FF2B5EF4-FFF2-40B4-BE49-F238E27FC236}">
                    <a16:creationId xmlns:a16="http://schemas.microsoft.com/office/drawing/2014/main" id="{DF7E396D-20B8-813A-42AF-C1295329AD31}"/>
                  </a:ext>
                </a:extLst>
              </p:cNvPr>
              <p:cNvPicPr>
                <a:picLocks noChangeAspect="1" noChangeArrowheads="1"/>
              </p:cNvPicPr>
              <p:nvPr/>
            </p:nvPicPr>
            <p:blipFill>
              <a:blip r:embed="rId5">
                <a:duotone>
                  <a:prstClr val="black"/>
                  <a:schemeClr val="tx1">
                    <a:tint val="45000"/>
                    <a:satMod val="400000"/>
                  </a:schemeClr>
                </a:duotone>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13BD12A0-5146-DC30-D63B-7D077850D97D}"/>
                  </a:ext>
                </a:extLst>
              </p:cNvPr>
              <p:cNvPicPr>
                <a:picLocks noChangeAspect="1"/>
              </p:cNvPicPr>
              <p:nvPr/>
            </p:nvPicPr>
            <p:blipFill>
              <a:blip r:embed="rId7"/>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864FDBED-607E-9F0E-41E3-5BF51AA383C3}"/>
                  </a:ext>
                </a:extLst>
              </p:cNvPr>
              <p:cNvPicPr>
                <a:picLocks noChangeAspect="1"/>
              </p:cNvPicPr>
              <p:nvPr/>
            </p:nvPicPr>
            <p:blipFill>
              <a:blip r:embed="rId8"/>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DF63DE17-DE62-2D8F-278F-791EA383BA50}"/>
                  </a:ext>
                </a:extLst>
              </p:cNvPr>
              <p:cNvGrpSpPr/>
              <p:nvPr/>
            </p:nvGrpSpPr>
            <p:grpSpPr>
              <a:xfrm>
                <a:off x="9464997" y="129350"/>
                <a:ext cx="2626278" cy="580939"/>
                <a:chOff x="9464997" y="129350"/>
                <a:chExt cx="2626278" cy="580939"/>
              </a:xfrm>
            </p:grpSpPr>
            <p:sp>
              <p:nvSpPr>
                <p:cNvPr id="12" name="Rectangle : coins arrondis 11">
                  <a:extLst>
                    <a:ext uri="{FF2B5EF4-FFF2-40B4-BE49-F238E27FC236}">
                      <a16:creationId xmlns:a16="http://schemas.microsoft.com/office/drawing/2014/main" id="{AC183681-5653-B00C-B984-D4DFD7584777}"/>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Rectangle : coins arrondis 12">
                  <a:extLst>
                    <a:ext uri="{FF2B5EF4-FFF2-40B4-BE49-F238E27FC236}">
                      <a16:creationId xmlns:a16="http://schemas.microsoft.com/office/drawing/2014/main" id="{FF18F0D2-72B6-6338-45A7-0E376ABD1D6F}"/>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 coins arrondis 13">
                  <a:extLst>
                    <a:ext uri="{FF2B5EF4-FFF2-40B4-BE49-F238E27FC236}">
                      <a16:creationId xmlns:a16="http://schemas.microsoft.com/office/drawing/2014/main" id="{B8A3DCF7-87D3-CAC1-94B0-E448DF0E4115}"/>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 coins arrondis 14">
                  <a:extLst>
                    <a:ext uri="{FF2B5EF4-FFF2-40B4-BE49-F238E27FC236}">
                      <a16:creationId xmlns:a16="http://schemas.microsoft.com/office/drawing/2014/main" id="{8C8DA11B-C5D9-1AE0-05ED-FAC643E7E356}"/>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Rectangle 15">
                  <a:extLst>
                    <a:ext uri="{FF2B5EF4-FFF2-40B4-BE49-F238E27FC236}">
                      <a16:creationId xmlns:a16="http://schemas.microsoft.com/office/drawing/2014/main" id="{AD53EF4A-F109-3BFA-B371-E356C0CB37F5}"/>
                    </a:ext>
                  </a:extLst>
                </p:cNvPr>
                <p:cNvSpPr/>
                <p:nvPr/>
              </p:nvSpPr>
              <p:spPr>
                <a:xfrm>
                  <a:off x="11480841" y="129350"/>
                  <a:ext cx="610434"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1" name="Image 10">
                <a:extLst>
                  <a:ext uri="{FF2B5EF4-FFF2-40B4-BE49-F238E27FC236}">
                    <a16:creationId xmlns:a16="http://schemas.microsoft.com/office/drawing/2014/main" id="{8DE123D2-E054-8A94-84DD-C4701D61DA11}"/>
                  </a:ext>
                </a:extLst>
              </p:cNvPr>
              <p:cNvPicPr>
                <a:picLocks noChangeAspect="1"/>
              </p:cNvPicPr>
              <p:nvPr/>
            </p:nvPicPr>
            <p:blipFill>
              <a:blip r:embed="rId9"/>
              <a:stretch>
                <a:fillRect/>
              </a:stretch>
            </p:blipFill>
            <p:spPr>
              <a:xfrm>
                <a:off x="9554107" y="218630"/>
                <a:ext cx="360000" cy="360000"/>
              </a:xfrm>
              <a:prstGeom prst="rect">
                <a:avLst/>
              </a:prstGeom>
            </p:spPr>
          </p:pic>
        </p:grpSp>
        <p:sp>
          <p:nvSpPr>
            <p:cNvPr id="2" name="Rectangle 1">
              <a:extLst>
                <a:ext uri="{FF2B5EF4-FFF2-40B4-BE49-F238E27FC236}">
                  <a16:creationId xmlns:a16="http://schemas.microsoft.com/office/drawing/2014/main" id="{A6F83D46-3426-9769-6728-9CAC319E3D93}"/>
                </a:ext>
              </a:extLst>
            </p:cNvPr>
            <p:cNvSpPr/>
            <p:nvPr/>
          </p:nvSpPr>
          <p:spPr>
            <a:xfrm>
              <a:off x="9438503" y="106406"/>
              <a:ext cx="1284804"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43" name="Groupe 42">
            <a:extLst>
              <a:ext uri="{FF2B5EF4-FFF2-40B4-BE49-F238E27FC236}">
                <a16:creationId xmlns:a16="http://schemas.microsoft.com/office/drawing/2014/main" id="{0D93D48E-FC79-72C2-E3B9-4618283AD539}"/>
              </a:ext>
            </a:extLst>
          </p:cNvPr>
          <p:cNvGrpSpPr/>
          <p:nvPr/>
        </p:nvGrpSpPr>
        <p:grpSpPr>
          <a:xfrm>
            <a:off x="3032688" y="1972513"/>
            <a:ext cx="5246959" cy="3980612"/>
            <a:chOff x="3026550" y="1972513"/>
            <a:chExt cx="5246959" cy="3980612"/>
          </a:xfrm>
        </p:grpSpPr>
        <p:sp>
          <p:nvSpPr>
            <p:cNvPr id="20" name="Rectangle : coins arrondis 19">
              <a:extLst>
                <a:ext uri="{FF2B5EF4-FFF2-40B4-BE49-F238E27FC236}">
                  <a16:creationId xmlns:a16="http://schemas.microsoft.com/office/drawing/2014/main" id="{2809C9AF-E298-EC39-C89E-6DECB06E1B6A}"/>
                </a:ext>
              </a:extLst>
            </p:cNvPr>
            <p:cNvSpPr/>
            <p:nvPr/>
          </p:nvSpPr>
          <p:spPr>
            <a:xfrm>
              <a:off x="3229069" y="2251681"/>
              <a:ext cx="5044440" cy="3701444"/>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2A6E915C-D181-AEA8-ACEC-443CCFE6D79C}"/>
                </a:ext>
              </a:extLst>
            </p:cNvPr>
            <p:cNvSpPr/>
            <p:nvPr/>
          </p:nvSpPr>
          <p:spPr>
            <a:xfrm>
              <a:off x="3026550" y="1972513"/>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F5C9D1EC-58A3-1621-4E36-2E3F8E628833}"/>
                </a:ext>
              </a:extLst>
            </p:cNvPr>
            <p:cNvSpPr/>
            <p:nvPr/>
          </p:nvSpPr>
          <p:spPr>
            <a:xfrm>
              <a:off x="3468968" y="2050167"/>
              <a:ext cx="2297561"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36" name="Image 35" descr="Une image contenant symbole, cercle, Graphique, conception&#10;&#10;Description générée automatiquement">
              <a:extLst>
                <a:ext uri="{FF2B5EF4-FFF2-40B4-BE49-F238E27FC236}">
                  <a16:creationId xmlns:a16="http://schemas.microsoft.com/office/drawing/2014/main" id="{460C4491-A19C-93B7-2076-E9A06DB8FB3C}"/>
                </a:ext>
              </a:extLst>
            </p:cNvPr>
            <p:cNvPicPr>
              <a:picLocks noChangeAspect="1"/>
            </p:cNvPicPr>
            <p:nvPr/>
          </p:nvPicPr>
          <p:blipFill>
            <a:blip r:embed="rId10"/>
            <a:stretch>
              <a:fillRect/>
            </a:stretch>
          </p:blipFill>
          <p:spPr>
            <a:xfrm>
              <a:off x="3084375" y="2029268"/>
              <a:ext cx="468000" cy="468000"/>
            </a:xfrm>
            <a:prstGeom prst="rect">
              <a:avLst/>
            </a:prstGeom>
          </p:spPr>
        </p:pic>
        <p:pic>
          <p:nvPicPr>
            <p:cNvPr id="33" name="Image 32">
              <a:extLst>
                <a:ext uri="{FF2B5EF4-FFF2-40B4-BE49-F238E27FC236}">
                  <a16:creationId xmlns:a16="http://schemas.microsoft.com/office/drawing/2014/main" id="{D02D8FFF-F92C-47EE-752A-23CEA6798110}"/>
                </a:ext>
              </a:extLst>
            </p:cNvPr>
            <p:cNvPicPr>
              <a:picLocks noChangeAspect="1"/>
            </p:cNvPicPr>
            <p:nvPr/>
          </p:nvPicPr>
          <p:blipFill>
            <a:blip r:embed="rId11"/>
            <a:srcRect l="1915" r="5187"/>
            <a:stretch/>
          </p:blipFill>
          <p:spPr>
            <a:xfrm>
              <a:off x="3552375" y="4632743"/>
              <a:ext cx="4528969" cy="1085790"/>
            </a:xfrm>
            <a:prstGeom prst="rect">
              <a:avLst/>
            </a:prstGeom>
          </p:spPr>
        </p:pic>
        <p:sp>
          <p:nvSpPr>
            <p:cNvPr id="38" name="ZoneTexte 37">
              <a:extLst>
                <a:ext uri="{FF2B5EF4-FFF2-40B4-BE49-F238E27FC236}">
                  <a16:creationId xmlns:a16="http://schemas.microsoft.com/office/drawing/2014/main" id="{A237CF5A-B17C-EB2E-F817-6EFF1F9D4FEB}"/>
                </a:ext>
              </a:extLst>
            </p:cNvPr>
            <p:cNvSpPr txBox="1"/>
            <p:nvPr/>
          </p:nvSpPr>
          <p:spPr>
            <a:xfrm>
              <a:off x="3315765" y="2468057"/>
              <a:ext cx="4957744" cy="2123658"/>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They have the </a:t>
              </a:r>
              <a:r>
                <a:rPr lang="en-US" sz="1200" b="1" dirty="0"/>
                <a:t>same kind of structure as ZFNs</a:t>
              </a:r>
              <a:r>
                <a:rPr lang="en-US" sz="1200" dirty="0"/>
                <a:t>.</a:t>
              </a:r>
              <a:endParaRPr lang="fr-FR" sz="1200" b="1" dirty="0"/>
            </a:p>
            <a:p>
              <a:pPr marL="285750" indent="-285750" algn="just">
                <a:buFont typeface="Wingdings" panose="05000000000000000000" pitchFamily="2" charset="2"/>
                <a:buChar char="Ø"/>
              </a:pPr>
              <a:r>
                <a:rPr lang="en-US" sz="1200" b="0" i="0" u="none" strike="noStrike" baseline="0" dirty="0">
                  <a:solidFill>
                    <a:srgbClr val="231F20"/>
                  </a:solidFill>
                </a:rPr>
                <a:t>TALEs recognize between </a:t>
              </a:r>
              <a:r>
                <a:rPr lang="en-US" sz="1200" b="1" i="0" u="none" strike="noStrike" baseline="0" dirty="0">
                  <a:solidFill>
                    <a:srgbClr val="231F20"/>
                  </a:solidFill>
                </a:rPr>
                <a:t>14 and 20 bp of DNA per monomer</a:t>
              </a:r>
              <a:r>
                <a:rPr lang="en-US" sz="1200" b="0" i="0" u="none" strike="noStrike" baseline="0" dirty="0">
                  <a:solidFill>
                    <a:srgbClr val="231F20"/>
                  </a:solidFill>
                </a:rPr>
                <a:t>, with more bases typically leading to higher genome-editing </a:t>
              </a:r>
              <a:r>
                <a:rPr lang="fr-FR" sz="1200" b="0" i="0" u="none" strike="noStrike" baseline="0" dirty="0" err="1">
                  <a:solidFill>
                    <a:srgbClr val="231F20"/>
                  </a:solidFill>
                </a:rPr>
                <a:t>specificity</a:t>
              </a:r>
              <a:r>
                <a:rPr lang="fr-FR" sz="1200" b="0" i="0" u="none" strike="noStrike" baseline="0" dirty="0">
                  <a:solidFill>
                    <a:srgbClr val="231F20"/>
                  </a:solidFill>
                </a:rPr>
                <a:t>. </a:t>
              </a:r>
            </a:p>
            <a:p>
              <a:pPr marL="285750" indent="-285750" algn="just">
                <a:buFont typeface="Wingdings" panose="05000000000000000000" pitchFamily="2" charset="2"/>
                <a:buChar char="Ø"/>
              </a:pPr>
              <a:r>
                <a:rPr lang="fr-FR" sz="1200" b="0" i="0" u="none" strike="noStrike" baseline="0" dirty="0">
                  <a:solidFill>
                    <a:srgbClr val="231F20"/>
                  </a:solidFill>
                </a:rPr>
                <a:t>The TALE binding </a:t>
              </a:r>
              <a:r>
                <a:rPr lang="en-US" sz="1200" b="0" i="0" u="none" strike="noStrike" baseline="0" dirty="0">
                  <a:solidFill>
                    <a:srgbClr val="231F20"/>
                  </a:solidFill>
                </a:rPr>
                <a:t>domain consists of a series of repeat domains, each 34 residues in length. Each repeat </a:t>
              </a:r>
              <a:r>
                <a:rPr lang="fr-FR" sz="1200" b="0" i="0" u="none" strike="noStrike" baseline="0" dirty="0">
                  <a:solidFill>
                    <a:srgbClr val="231F20"/>
                  </a:solidFill>
                </a:rPr>
                <a:t>contacts DNA </a:t>
              </a:r>
              <a:r>
                <a:rPr lang="fr-FR" sz="1200" b="0" i="1" u="none" strike="noStrike" baseline="0" dirty="0">
                  <a:solidFill>
                    <a:srgbClr val="231F20"/>
                  </a:solidFill>
                </a:rPr>
                <a:t>via</a:t>
              </a:r>
              <a:r>
                <a:rPr lang="fr-FR" sz="1200" b="0" i="0" u="none" strike="noStrike" baseline="0" dirty="0">
                  <a:solidFill>
                    <a:srgbClr val="231F20"/>
                  </a:solidFill>
                </a:rPr>
                <a:t> the </a:t>
              </a:r>
              <a:r>
                <a:rPr lang="fr-FR" sz="1200" b="0" i="0" u="none" strike="noStrike" baseline="0" dirty="0" err="1">
                  <a:solidFill>
                    <a:srgbClr val="231F20"/>
                  </a:solidFill>
                </a:rPr>
                <a:t>amino</a:t>
              </a:r>
              <a:r>
                <a:rPr lang="fr-FR" sz="1200" b="0" i="0" u="none" strike="noStrike" baseline="0" dirty="0">
                  <a:solidFill>
                    <a:srgbClr val="231F20"/>
                  </a:solidFill>
                </a:rPr>
                <a:t> </a:t>
              </a:r>
              <a:r>
                <a:rPr lang="fr-FR" sz="1200" b="0" i="0" u="none" strike="noStrike" baseline="0" dirty="0" err="1">
                  <a:solidFill>
                    <a:srgbClr val="231F20"/>
                  </a:solidFill>
                </a:rPr>
                <a:t>acid</a:t>
              </a:r>
              <a:r>
                <a:rPr lang="fr-FR" sz="1200" b="0" i="0" u="none" strike="noStrike" baseline="0" dirty="0">
                  <a:solidFill>
                    <a:srgbClr val="231F20"/>
                  </a:solidFill>
                </a:rPr>
                <a:t> </a:t>
              </a:r>
              <a:r>
                <a:rPr lang="fr-FR" sz="1200" b="0" i="0" u="none" strike="noStrike" baseline="0" dirty="0" err="1">
                  <a:solidFill>
                    <a:srgbClr val="231F20"/>
                  </a:solidFill>
                </a:rPr>
                <a:t>residues</a:t>
              </a:r>
              <a:r>
                <a:rPr lang="fr-FR" sz="1200" b="0" i="0" u="none" strike="noStrike" baseline="0" dirty="0">
                  <a:solidFill>
                    <a:srgbClr val="231F20"/>
                  </a:solidFill>
                </a:rPr>
                <a:t> </a:t>
              </a:r>
              <a:r>
                <a:rPr lang="en-US" sz="1200" b="0" i="0" u="none" strike="noStrike" baseline="0" dirty="0">
                  <a:solidFill>
                    <a:srgbClr val="231F20"/>
                  </a:solidFill>
                </a:rPr>
                <a:t>at positions 12 and 13, known as </a:t>
              </a:r>
              <a:r>
                <a:rPr lang="en-US" sz="1200" b="1" i="0" u="none" strike="noStrike" baseline="0" dirty="0">
                  <a:solidFill>
                    <a:srgbClr val="231F20"/>
                  </a:solidFill>
                </a:rPr>
                <a:t>the repeat </a:t>
              </a:r>
              <a:r>
                <a:rPr lang="fr-FR" sz="1200" b="1" i="0" u="none" strike="noStrike" baseline="0" dirty="0">
                  <a:solidFill>
                    <a:srgbClr val="231F20"/>
                  </a:solidFill>
                </a:rPr>
                <a:t>variable </a:t>
              </a:r>
              <a:r>
                <a:rPr lang="fr-FR" sz="1200" b="1" i="0" u="none" strike="noStrike" baseline="0" dirty="0" err="1">
                  <a:solidFill>
                    <a:srgbClr val="231F20"/>
                  </a:solidFill>
                </a:rPr>
                <a:t>diresidues</a:t>
              </a:r>
              <a:r>
                <a:rPr lang="fr-FR" sz="1200" b="1" i="0" u="none" strike="noStrike" baseline="0" dirty="0">
                  <a:solidFill>
                    <a:srgbClr val="231F20"/>
                  </a:solidFill>
                </a:rPr>
                <a:t> (</a:t>
              </a:r>
              <a:r>
                <a:rPr lang="fr-FR" sz="1200" b="1" i="0" u="none" strike="noStrike" baseline="0" dirty="0" err="1">
                  <a:solidFill>
                    <a:srgbClr val="231F20"/>
                  </a:solidFill>
                </a:rPr>
                <a:t>RVDs</a:t>
              </a:r>
              <a:r>
                <a:rPr lang="fr-FR" sz="1200" b="1" i="0" u="none" strike="noStrike" baseline="0" dirty="0">
                  <a:solidFill>
                    <a:srgbClr val="231F20"/>
                  </a:solidFill>
                </a:rPr>
                <a:t>)</a:t>
              </a:r>
              <a:r>
                <a:rPr lang="fr-FR" sz="1200" b="0" i="0" u="none" strike="noStrike" baseline="0" dirty="0">
                  <a:solidFill>
                    <a:srgbClr val="231F20"/>
                  </a:solidFill>
                </a:rPr>
                <a:t>. </a:t>
              </a:r>
              <a:r>
                <a:rPr lang="fr-FR" sz="1200" dirty="0"/>
                <a:t>This </a:t>
              </a:r>
              <a:r>
                <a:rPr lang="fr-FR" sz="1200" b="1" dirty="0"/>
                <a:t>RVD </a:t>
              </a:r>
              <a:r>
                <a:rPr lang="fr-FR" sz="1200" b="1" dirty="0" err="1"/>
                <a:t>is</a:t>
              </a:r>
              <a:r>
                <a:rPr lang="fr-FR" sz="1200" b="1" dirty="0"/>
                <a:t> </a:t>
              </a:r>
              <a:r>
                <a:rPr lang="fr-FR" sz="1200" b="1" dirty="0" err="1"/>
                <a:t>specific</a:t>
              </a:r>
              <a:r>
                <a:rPr lang="fr-FR" sz="1200" b="1" dirty="0"/>
                <a:t> to one </a:t>
              </a:r>
              <a:r>
                <a:rPr lang="fr-FR" sz="1200" b="1" dirty="0" err="1"/>
                <a:t>nucleotide</a:t>
              </a:r>
              <a:r>
                <a:rPr lang="fr-FR" sz="1200" b="1" dirty="0"/>
                <a:t> base.</a:t>
              </a:r>
              <a:endParaRPr lang="fr-FR" sz="1200" b="1" dirty="0">
                <a:solidFill>
                  <a:srgbClr val="231F20"/>
                </a:solidFill>
              </a:endParaRPr>
            </a:p>
            <a:p>
              <a:pPr marL="285750" indent="-285750" algn="just">
                <a:buFont typeface="Wingdings" panose="05000000000000000000" pitchFamily="2" charset="2"/>
                <a:buChar char="Ø"/>
              </a:pPr>
              <a:r>
                <a:rPr lang="fr-FR" sz="1200" i="0" u="none" strike="noStrike" baseline="0" dirty="0">
                  <a:solidFill>
                    <a:srgbClr val="231F20"/>
                  </a:solidFill>
                </a:rPr>
                <a:t>E</a:t>
              </a:r>
              <a:r>
                <a:rPr lang="en-US" sz="1200" b="0" i="0" u="none" strike="noStrike" baseline="0" dirty="0">
                  <a:solidFill>
                    <a:srgbClr val="231F20"/>
                  </a:solidFill>
                </a:rPr>
                <a:t>ach TALE repeat recognizes </a:t>
              </a:r>
              <a:r>
                <a:rPr lang="en-US" sz="1200" b="1" i="0" u="none" strike="noStrike" baseline="0" dirty="0">
                  <a:solidFill>
                    <a:srgbClr val="231F20"/>
                  </a:solidFill>
                </a:rPr>
                <a:t>a single bp</a:t>
              </a:r>
              <a:r>
                <a:rPr lang="en-US" sz="1200" b="0" i="0" u="none" strike="noStrike" baseline="0" dirty="0">
                  <a:solidFill>
                    <a:srgbClr val="231F20"/>
                  </a:solidFill>
                </a:rPr>
                <a:t>, with little to no target site overlap from adjacent domains.</a:t>
              </a:r>
              <a:endParaRPr lang="fr-FR" sz="1200" dirty="0"/>
            </a:p>
          </p:txBody>
        </p:sp>
      </p:grpSp>
      <p:grpSp>
        <p:nvGrpSpPr>
          <p:cNvPr id="26" name="Groupe 25">
            <a:extLst>
              <a:ext uri="{FF2B5EF4-FFF2-40B4-BE49-F238E27FC236}">
                <a16:creationId xmlns:a16="http://schemas.microsoft.com/office/drawing/2014/main" id="{E5DD2628-F168-8FAA-FFA2-A72A22329FA7}"/>
              </a:ext>
            </a:extLst>
          </p:cNvPr>
          <p:cNvGrpSpPr/>
          <p:nvPr/>
        </p:nvGrpSpPr>
        <p:grpSpPr>
          <a:xfrm>
            <a:off x="645225" y="945343"/>
            <a:ext cx="10937024" cy="565150"/>
            <a:chOff x="645225" y="945343"/>
            <a:chExt cx="10937024" cy="565150"/>
          </a:xfrm>
        </p:grpSpPr>
        <p:sp>
          <p:nvSpPr>
            <p:cNvPr id="37" name="Ellipse 36">
              <a:extLst>
                <a:ext uri="{FF2B5EF4-FFF2-40B4-BE49-F238E27FC236}">
                  <a16:creationId xmlns:a16="http://schemas.microsoft.com/office/drawing/2014/main" id="{9000B2EC-FA10-4662-5783-A1906C53ED17}"/>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texte 9">
              <a:extLst>
                <a:ext uri="{FF2B5EF4-FFF2-40B4-BE49-F238E27FC236}">
                  <a16:creationId xmlns:a16="http://schemas.microsoft.com/office/drawing/2014/main" id="{D7CD9656-7DCC-FAA8-7AFE-310CBB434C72}"/>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err="1"/>
                <a:t>TALENs</a:t>
              </a:r>
              <a:r>
                <a:rPr lang="fr-FR" sz="1800" b="1" dirty="0"/>
                <a:t> are </a:t>
              </a:r>
              <a:r>
                <a:rPr lang="fr-FR" sz="1800" b="1" dirty="0" err="1"/>
                <a:t>highly</a:t>
              </a:r>
              <a:r>
                <a:rPr lang="fr-FR" sz="1800" b="1" dirty="0"/>
                <a:t> </a:t>
              </a:r>
              <a:r>
                <a:rPr lang="fr-FR" sz="1800" b="1" dirty="0" err="1"/>
                <a:t>specific</a:t>
              </a:r>
              <a:r>
                <a:rPr lang="fr-FR" sz="1800" b="1" dirty="0"/>
                <a:t> </a:t>
              </a:r>
              <a:r>
                <a:rPr lang="fr-FR" sz="1800" b="1" dirty="0" err="1"/>
                <a:t>editing</a:t>
              </a:r>
              <a:r>
                <a:rPr lang="fr-FR" sz="1800" b="1" dirty="0"/>
                <a:t> </a:t>
              </a:r>
              <a:r>
                <a:rPr lang="fr-FR" sz="1800" b="1" dirty="0" err="1"/>
                <a:t>tools</a:t>
              </a:r>
              <a:r>
                <a:rPr lang="fr-FR" sz="1800" b="1" dirty="0"/>
                <a:t>, </a:t>
              </a:r>
              <a:r>
                <a:rPr lang="fr-FR" sz="1800" b="1" dirty="0" err="1"/>
                <a:t>with</a:t>
              </a:r>
              <a:r>
                <a:rPr lang="fr-FR" sz="1800" b="1" dirty="0"/>
                <a:t> </a:t>
              </a:r>
              <a:r>
                <a:rPr lang="fr-FR" sz="1800" b="1" dirty="0" err="1"/>
                <a:t>variety</a:t>
              </a:r>
              <a:r>
                <a:rPr lang="fr-FR" sz="1800" b="1" dirty="0"/>
                <a:t> of techniques of </a:t>
              </a:r>
              <a:r>
                <a:rPr lang="fr-FR" sz="1800" b="1" dirty="0" err="1"/>
                <a:t>preparation</a:t>
              </a:r>
              <a:r>
                <a:rPr lang="fr-FR" sz="1800" b="1" dirty="0"/>
                <a:t> </a:t>
              </a:r>
              <a:r>
                <a:rPr lang="fr-FR" sz="1800" b="1" dirty="0" err="1"/>
                <a:t>even</a:t>
              </a:r>
              <a:r>
                <a:rPr lang="fr-FR" sz="1800" b="1" dirty="0"/>
                <a:t> </a:t>
              </a:r>
              <a:r>
                <a:rPr lang="fr-FR" sz="1800" b="1" dirty="0" err="1"/>
                <a:t>though</a:t>
              </a:r>
              <a:r>
                <a:rPr lang="fr-FR" sz="1800" b="1" dirty="0"/>
                <a:t> </a:t>
              </a:r>
              <a:r>
                <a:rPr lang="fr-FR" sz="1800" b="1" dirty="0" err="1"/>
                <a:t>they</a:t>
              </a:r>
              <a:r>
                <a:rPr lang="fr-FR" sz="1800" b="1" dirty="0"/>
                <a:t> are </a:t>
              </a:r>
              <a:r>
                <a:rPr lang="fr-FR" sz="1800" b="1" dirty="0" err="1"/>
                <a:t>complex</a:t>
              </a:r>
              <a:r>
                <a:rPr lang="fr-FR" sz="1800" b="1" dirty="0"/>
                <a:t>, long and </a:t>
              </a:r>
              <a:r>
                <a:rPr lang="fr-FR" sz="1800" b="1" dirty="0" err="1"/>
                <a:t>costly</a:t>
              </a:r>
              <a:r>
                <a:rPr lang="fr-FR" sz="1800" b="1" dirty="0"/>
                <a:t> to </a:t>
              </a:r>
              <a:r>
                <a:rPr lang="fr-FR" sz="1800" b="1" dirty="0" err="1"/>
                <a:t>produce</a:t>
              </a:r>
              <a:r>
                <a:rPr lang="fr-FR" sz="1800" b="1" dirty="0"/>
                <a:t>.  </a:t>
              </a:r>
            </a:p>
          </p:txBody>
        </p:sp>
      </p:grpSp>
      <p:grpSp>
        <p:nvGrpSpPr>
          <p:cNvPr id="52" name="Groupe 51">
            <a:extLst>
              <a:ext uri="{FF2B5EF4-FFF2-40B4-BE49-F238E27FC236}">
                <a16:creationId xmlns:a16="http://schemas.microsoft.com/office/drawing/2014/main" id="{50DFF950-1AAE-A568-B140-891D8BEDCC85}"/>
              </a:ext>
            </a:extLst>
          </p:cNvPr>
          <p:cNvGrpSpPr/>
          <p:nvPr/>
        </p:nvGrpSpPr>
        <p:grpSpPr>
          <a:xfrm>
            <a:off x="8546274" y="1978410"/>
            <a:ext cx="3265759" cy="3968818"/>
            <a:chOff x="8546274" y="1984307"/>
            <a:chExt cx="3265759" cy="3968818"/>
          </a:xfrm>
        </p:grpSpPr>
        <p:grpSp>
          <p:nvGrpSpPr>
            <p:cNvPr id="44" name="Groupe 43">
              <a:extLst>
                <a:ext uri="{FF2B5EF4-FFF2-40B4-BE49-F238E27FC236}">
                  <a16:creationId xmlns:a16="http://schemas.microsoft.com/office/drawing/2014/main" id="{69DCAFE2-81E2-5F22-122F-E01C3BFAD47F}"/>
                </a:ext>
              </a:extLst>
            </p:cNvPr>
            <p:cNvGrpSpPr/>
            <p:nvPr/>
          </p:nvGrpSpPr>
          <p:grpSpPr>
            <a:xfrm>
              <a:off x="8546274" y="1984307"/>
              <a:ext cx="3265759" cy="1383416"/>
              <a:chOff x="8558191" y="1965257"/>
              <a:chExt cx="3265759" cy="1383416"/>
            </a:xfrm>
          </p:grpSpPr>
          <p:sp>
            <p:nvSpPr>
              <p:cNvPr id="40" name="Rectangle : coins arrondis 39">
                <a:extLst>
                  <a:ext uri="{FF2B5EF4-FFF2-40B4-BE49-F238E27FC236}">
                    <a16:creationId xmlns:a16="http://schemas.microsoft.com/office/drawing/2014/main" id="{C49E96EE-E597-9755-7D18-0BBCA4D8D78B}"/>
                  </a:ext>
                </a:extLst>
              </p:cNvPr>
              <p:cNvSpPr/>
              <p:nvPr/>
            </p:nvSpPr>
            <p:spPr>
              <a:xfrm>
                <a:off x="8760710" y="2244425"/>
                <a:ext cx="3063240" cy="1104248"/>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62C4457D-D777-6F22-726C-F433FD2AAEAB}"/>
                  </a:ext>
                </a:extLst>
              </p:cNvPr>
              <p:cNvSpPr/>
              <p:nvPr/>
            </p:nvSpPr>
            <p:spPr>
              <a:xfrm>
                <a:off x="8558191" y="1965257"/>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EAAC647D-BFF4-8BBC-95B9-95AA7CFF6BDC}"/>
                  </a:ext>
                </a:extLst>
              </p:cNvPr>
              <p:cNvSpPr/>
              <p:nvPr/>
            </p:nvSpPr>
            <p:spPr>
              <a:xfrm>
                <a:off x="9000609" y="2035590"/>
                <a:ext cx="2297561"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51" name="ZoneTexte 50">
                <a:extLst>
                  <a:ext uri="{FF2B5EF4-FFF2-40B4-BE49-F238E27FC236}">
                    <a16:creationId xmlns:a16="http://schemas.microsoft.com/office/drawing/2014/main" id="{F03B8E8C-031E-22C0-7B1D-093327E521B1}"/>
                  </a:ext>
                </a:extLst>
              </p:cNvPr>
              <p:cNvSpPr txBox="1"/>
              <p:nvPr/>
            </p:nvSpPr>
            <p:spPr>
              <a:xfrm>
                <a:off x="8858250" y="2456349"/>
                <a:ext cx="2965700" cy="830997"/>
              </a:xfrm>
              <a:prstGeom prst="rect">
                <a:avLst/>
              </a:prstGeom>
              <a:noFill/>
            </p:spPr>
            <p:txBody>
              <a:bodyPr wrap="square">
                <a:spAutoFit/>
              </a:bodyPr>
              <a:lstStyle/>
              <a:p>
                <a:pPr marL="285750" indent="-285750" algn="just">
                  <a:buFont typeface="Wingdings" panose="05000000000000000000" pitchFamily="2" charset="2"/>
                  <a:buChar char="Ø"/>
                </a:pPr>
                <a:r>
                  <a:rPr lang="fr-FR" sz="1200" b="0" i="1" u="none" strike="noStrike" baseline="0" dirty="0"/>
                  <a:t>In vivo </a:t>
                </a:r>
                <a:r>
                  <a:rPr lang="fr-FR" sz="1200" b="0" i="0" u="none" strike="noStrike" baseline="0" dirty="0"/>
                  <a:t>investigation or </a:t>
                </a:r>
                <a:r>
                  <a:rPr lang="fr-FR" sz="1200" b="0" i="0" u="none" strike="noStrike" baseline="0" dirty="0" err="1"/>
                  <a:t>reparation</a:t>
                </a:r>
                <a:r>
                  <a:rPr lang="fr-FR" sz="1200" b="0" i="0" u="none" strike="noStrike" baseline="0" dirty="0"/>
                  <a:t> of DNA damages</a:t>
                </a:r>
                <a:r>
                  <a:rPr lang="fr-FR" sz="1200" b="0" i="0" u="none" strike="noStrike" baseline="30000" dirty="0"/>
                  <a:t>1</a:t>
                </a:r>
              </a:p>
              <a:p>
                <a:pPr marL="285750" indent="-285750" algn="just">
                  <a:buFont typeface="Wingdings" panose="05000000000000000000" pitchFamily="2" charset="2"/>
                  <a:buChar char="Ø"/>
                </a:pPr>
                <a:r>
                  <a:rPr lang="fr-FR" sz="1200" dirty="0"/>
                  <a:t>Cancer treatment</a:t>
                </a:r>
                <a:r>
                  <a:rPr lang="fr-FR" sz="1200" baseline="30000" dirty="0"/>
                  <a:t>2</a:t>
                </a:r>
              </a:p>
              <a:p>
                <a:pPr marL="285750" indent="-285750" algn="just">
                  <a:buFont typeface="Wingdings" panose="05000000000000000000" pitchFamily="2" charset="2"/>
                  <a:buChar char="Ø"/>
                </a:pPr>
                <a:r>
                  <a:rPr lang="fr-FR" sz="1200" dirty="0" err="1"/>
                  <a:t>Cardiovascular</a:t>
                </a:r>
                <a:r>
                  <a:rPr lang="fr-FR" sz="1200" dirty="0"/>
                  <a:t> diseases</a:t>
                </a:r>
                <a:r>
                  <a:rPr lang="fr-FR" sz="1200" baseline="30000" dirty="0"/>
                  <a:t>3</a:t>
                </a:r>
              </a:p>
            </p:txBody>
          </p:sp>
          <p:pic>
            <p:nvPicPr>
              <p:cNvPr id="39" name="Image 38" descr="Une image contenant symbole, Police, Graphique, logo&#10;&#10;Description générée automatiquement">
                <a:extLst>
                  <a:ext uri="{FF2B5EF4-FFF2-40B4-BE49-F238E27FC236}">
                    <a16:creationId xmlns:a16="http://schemas.microsoft.com/office/drawing/2014/main" id="{ABE219CF-B17E-6732-DC7B-716D0327BF18}"/>
                  </a:ext>
                </a:extLst>
              </p:cNvPr>
              <p:cNvPicPr>
                <a:picLocks noChangeAspect="1"/>
              </p:cNvPicPr>
              <p:nvPr/>
            </p:nvPicPr>
            <p:blipFill>
              <a:blip r:embed="rId12"/>
              <a:stretch>
                <a:fillRect/>
              </a:stretch>
            </p:blipFill>
            <p:spPr>
              <a:xfrm>
                <a:off x="8594191" y="2003382"/>
                <a:ext cx="468000" cy="468000"/>
              </a:xfrm>
              <a:prstGeom prst="rect">
                <a:avLst/>
              </a:prstGeom>
            </p:spPr>
          </p:pic>
        </p:grpSp>
        <p:grpSp>
          <p:nvGrpSpPr>
            <p:cNvPr id="50" name="Groupe 49">
              <a:extLst>
                <a:ext uri="{FF2B5EF4-FFF2-40B4-BE49-F238E27FC236}">
                  <a16:creationId xmlns:a16="http://schemas.microsoft.com/office/drawing/2014/main" id="{437BAC5D-F4B3-EE32-CD7C-CE258F7C32A6}"/>
                </a:ext>
              </a:extLst>
            </p:cNvPr>
            <p:cNvGrpSpPr/>
            <p:nvPr/>
          </p:nvGrpSpPr>
          <p:grpSpPr>
            <a:xfrm>
              <a:off x="8546274" y="4247057"/>
              <a:ext cx="3265759" cy="1706068"/>
              <a:chOff x="8558191" y="4380407"/>
              <a:chExt cx="3265759" cy="1706068"/>
            </a:xfrm>
          </p:grpSpPr>
          <p:sp>
            <p:nvSpPr>
              <p:cNvPr id="45" name="Rectangle : coins arrondis 44">
                <a:extLst>
                  <a:ext uri="{FF2B5EF4-FFF2-40B4-BE49-F238E27FC236}">
                    <a16:creationId xmlns:a16="http://schemas.microsoft.com/office/drawing/2014/main" id="{89091DBA-9BD4-5BDE-4454-8EC587E01F66}"/>
                  </a:ext>
                </a:extLst>
              </p:cNvPr>
              <p:cNvSpPr/>
              <p:nvPr/>
            </p:nvSpPr>
            <p:spPr>
              <a:xfrm>
                <a:off x="8760710" y="4659574"/>
                <a:ext cx="3063240" cy="1426901"/>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E04ADB66-1055-B585-9AB5-321D3DC34E33}"/>
                  </a:ext>
                </a:extLst>
              </p:cNvPr>
              <p:cNvSpPr/>
              <p:nvPr/>
            </p:nvSpPr>
            <p:spPr>
              <a:xfrm>
                <a:off x="8558191" y="4380407"/>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027A73C0-3B28-642E-7781-51096078F5DC}"/>
                  </a:ext>
                </a:extLst>
              </p:cNvPr>
              <p:cNvSpPr/>
              <p:nvPr/>
            </p:nvSpPr>
            <p:spPr>
              <a:xfrm>
                <a:off x="9000609" y="4450740"/>
                <a:ext cx="2297561"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42" name="Image 41" descr="Une image contenant cercle, Graphique, Police, symbole&#10;&#10;Description générée automatiquement">
                <a:extLst>
                  <a:ext uri="{FF2B5EF4-FFF2-40B4-BE49-F238E27FC236}">
                    <a16:creationId xmlns:a16="http://schemas.microsoft.com/office/drawing/2014/main" id="{19080627-DD8E-730E-FEFA-C7405B8D6C1E}"/>
                  </a:ext>
                </a:extLst>
              </p:cNvPr>
              <p:cNvPicPr>
                <a:picLocks noChangeAspect="1"/>
              </p:cNvPicPr>
              <p:nvPr/>
            </p:nvPicPr>
            <p:blipFill>
              <a:blip r:embed="rId13"/>
              <a:stretch>
                <a:fillRect/>
              </a:stretch>
            </p:blipFill>
            <p:spPr>
              <a:xfrm>
                <a:off x="8606340" y="4436417"/>
                <a:ext cx="468000" cy="468000"/>
              </a:xfrm>
              <a:prstGeom prst="rect">
                <a:avLst/>
              </a:prstGeom>
            </p:spPr>
          </p:pic>
          <p:sp>
            <p:nvSpPr>
              <p:cNvPr id="49" name="ZoneTexte 48">
                <a:extLst>
                  <a:ext uri="{FF2B5EF4-FFF2-40B4-BE49-F238E27FC236}">
                    <a16:creationId xmlns:a16="http://schemas.microsoft.com/office/drawing/2014/main" id="{E541E44B-3181-6710-6E89-4526D3C72A9E}"/>
                  </a:ext>
                </a:extLst>
              </p:cNvPr>
              <p:cNvSpPr txBox="1"/>
              <p:nvPr/>
            </p:nvSpPr>
            <p:spPr>
              <a:xfrm>
                <a:off x="8858251" y="4878180"/>
                <a:ext cx="1482850" cy="1200329"/>
              </a:xfrm>
              <a:prstGeom prst="rect">
                <a:avLst/>
              </a:prstGeom>
              <a:noFill/>
            </p:spPr>
            <p:txBody>
              <a:bodyPr wrap="square">
                <a:spAutoFit/>
              </a:bodyPr>
              <a:lstStyle/>
              <a:p>
                <a:pPr marL="171450" indent="-171450">
                  <a:buFont typeface="Wingdings" panose="05000000000000000000" pitchFamily="2" charset="2"/>
                  <a:buChar char="Ø"/>
                </a:pPr>
                <a:r>
                  <a:rPr lang="en-US" sz="1200" dirty="0"/>
                  <a:t>Roundworm</a:t>
                </a:r>
              </a:p>
              <a:p>
                <a:pPr marL="171450" indent="-171450">
                  <a:buFont typeface="Wingdings" panose="05000000000000000000" pitchFamily="2" charset="2"/>
                  <a:buChar char="Ø"/>
                </a:pPr>
                <a:r>
                  <a:rPr lang="en-US" sz="1200" dirty="0"/>
                  <a:t>Fruit fly</a:t>
                </a:r>
              </a:p>
              <a:p>
                <a:pPr marL="171450" indent="-171450">
                  <a:buFont typeface="Wingdings" panose="05000000000000000000" pitchFamily="2" charset="2"/>
                  <a:buChar char="Ø"/>
                </a:pPr>
                <a:r>
                  <a:rPr lang="en-US" sz="1200" dirty="0"/>
                  <a:t>Zebrafish</a:t>
                </a:r>
              </a:p>
              <a:p>
                <a:pPr marL="171450" indent="-171450">
                  <a:buFont typeface="Wingdings" panose="05000000000000000000" pitchFamily="2" charset="2"/>
                  <a:buChar char="Ø"/>
                </a:pPr>
                <a:r>
                  <a:rPr lang="en-US" sz="1200" dirty="0"/>
                  <a:t>Pig</a:t>
                </a:r>
              </a:p>
              <a:p>
                <a:pPr marL="171450" indent="-171450">
                  <a:buFont typeface="Wingdings" panose="05000000000000000000" pitchFamily="2" charset="2"/>
                  <a:buChar char="Ø"/>
                </a:pPr>
                <a:r>
                  <a:rPr lang="en-US" sz="1200" dirty="0"/>
                  <a:t>Rat</a:t>
                </a:r>
              </a:p>
              <a:p>
                <a:pPr marL="171450" indent="-171450">
                  <a:buFont typeface="Wingdings" panose="05000000000000000000" pitchFamily="2" charset="2"/>
                  <a:buChar char="Ø"/>
                </a:pPr>
                <a:r>
                  <a:rPr lang="en-US" sz="1200" dirty="0"/>
                  <a:t>Frog</a:t>
                </a:r>
                <a:endParaRPr lang="fr-FR" sz="1200" dirty="0"/>
              </a:p>
            </p:txBody>
          </p:sp>
        </p:grpSp>
      </p:grpSp>
      <p:sp>
        <p:nvSpPr>
          <p:cNvPr id="55" name="ZoneTexte 54">
            <a:extLst>
              <a:ext uri="{FF2B5EF4-FFF2-40B4-BE49-F238E27FC236}">
                <a16:creationId xmlns:a16="http://schemas.microsoft.com/office/drawing/2014/main" id="{1DF5C1A5-F0D5-7DD5-E60F-2EF1860F4BBA}"/>
              </a:ext>
            </a:extLst>
          </p:cNvPr>
          <p:cNvSpPr txBox="1"/>
          <p:nvPr/>
        </p:nvSpPr>
        <p:spPr>
          <a:xfrm>
            <a:off x="10586320" y="1222141"/>
            <a:ext cx="985787"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2100236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C995-D1EB-C567-DBBB-6099C7018908}"/>
            </a:ext>
          </a:extLst>
        </p:cNvPr>
        <p:cNvGrpSpPr/>
        <p:nvPr/>
      </p:nvGrpSpPr>
      <p:grpSpPr>
        <a:xfrm>
          <a:off x="0" y="0"/>
          <a:ext cx="0" cy="0"/>
          <a:chOff x="0" y="0"/>
          <a:chExt cx="0" cy="0"/>
        </a:xfrm>
      </p:grpSpPr>
      <p:cxnSp>
        <p:nvCxnSpPr>
          <p:cNvPr id="29" name="Connecteur droit 28">
            <a:extLst>
              <a:ext uri="{FF2B5EF4-FFF2-40B4-BE49-F238E27FC236}">
                <a16:creationId xmlns:a16="http://schemas.microsoft.com/office/drawing/2014/main" id="{863036DA-EED2-7A00-BD59-02F9393BAC01}"/>
              </a:ext>
            </a:extLst>
          </p:cNvPr>
          <p:cNvCxnSpPr/>
          <p:nvPr/>
        </p:nvCxnSpPr>
        <p:spPr>
          <a:xfrm>
            <a:off x="0" y="771525"/>
            <a:ext cx="12192000"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52" name="ZoneTexte 51">
            <a:extLst>
              <a:ext uri="{FF2B5EF4-FFF2-40B4-BE49-F238E27FC236}">
                <a16:creationId xmlns:a16="http://schemas.microsoft.com/office/drawing/2014/main" id="{589B12AD-58A8-8CF4-C38C-904714942A08}"/>
              </a:ext>
            </a:extLst>
          </p:cNvPr>
          <p:cNvSpPr txBox="1"/>
          <p:nvPr/>
        </p:nvSpPr>
        <p:spPr>
          <a:xfrm>
            <a:off x="218115" y="167310"/>
            <a:ext cx="10648800" cy="492443"/>
          </a:xfrm>
          <a:prstGeom prst="rect">
            <a:avLst/>
          </a:prstGeom>
          <a:noFill/>
        </p:spPr>
        <p:txBody>
          <a:bodyPr wrap="square">
            <a:spAutoFit/>
          </a:bodyPr>
          <a:lstStyle/>
          <a:p>
            <a:pPr lvl="0"/>
            <a:r>
              <a:rPr lang="fr-FR" sz="2600" b="1" dirty="0">
                <a:solidFill>
                  <a:schemeClr val="accent2"/>
                </a:solidFill>
              </a:rPr>
              <a:t>Transcription </a:t>
            </a:r>
            <a:r>
              <a:rPr lang="fr-FR" sz="2600" b="1" dirty="0" err="1">
                <a:solidFill>
                  <a:schemeClr val="accent2"/>
                </a:solidFill>
              </a:rPr>
              <a:t>Activator</a:t>
            </a:r>
            <a:r>
              <a:rPr lang="fr-FR" sz="2600" b="1" dirty="0">
                <a:solidFill>
                  <a:schemeClr val="accent2"/>
                </a:solidFill>
              </a:rPr>
              <a:t>-Like </a:t>
            </a:r>
            <a:r>
              <a:rPr lang="fr-FR" sz="2600" b="1" dirty="0" err="1">
                <a:solidFill>
                  <a:schemeClr val="accent2"/>
                </a:solidFill>
              </a:rPr>
              <a:t>Effector</a:t>
            </a:r>
            <a:r>
              <a:rPr lang="fr-FR" sz="2600" b="1" dirty="0">
                <a:solidFill>
                  <a:schemeClr val="accent2"/>
                </a:solidFill>
              </a:rPr>
              <a:t> </a:t>
            </a:r>
            <a:r>
              <a:rPr lang="fr-FR" sz="2600" b="1" dirty="0" err="1">
                <a:solidFill>
                  <a:schemeClr val="accent2"/>
                </a:solidFill>
              </a:rPr>
              <a:t>Nucleases</a:t>
            </a:r>
            <a:r>
              <a:rPr lang="fr-FR" sz="2600" b="1" dirty="0">
                <a:solidFill>
                  <a:schemeClr val="accent2"/>
                </a:solidFill>
              </a:rPr>
              <a:t> (</a:t>
            </a:r>
            <a:r>
              <a:rPr lang="fr-FR" sz="2600" b="1" dirty="0" err="1">
                <a:solidFill>
                  <a:schemeClr val="accent2"/>
                </a:solidFill>
              </a:rPr>
              <a:t>TALENs</a:t>
            </a:r>
            <a:r>
              <a:rPr lang="fr-FR" sz="2600" b="1" dirty="0">
                <a:solidFill>
                  <a:schemeClr val="accent2"/>
                </a:solidFill>
              </a:rPr>
              <a:t>)</a:t>
            </a:r>
          </a:p>
        </p:txBody>
      </p:sp>
      <p:grpSp>
        <p:nvGrpSpPr>
          <p:cNvPr id="57" name="Groupe 56">
            <a:extLst>
              <a:ext uri="{FF2B5EF4-FFF2-40B4-BE49-F238E27FC236}">
                <a16:creationId xmlns:a16="http://schemas.microsoft.com/office/drawing/2014/main" id="{E157E3A3-A03E-D3B3-2C1C-4C529E8D2165}"/>
              </a:ext>
            </a:extLst>
          </p:cNvPr>
          <p:cNvGrpSpPr/>
          <p:nvPr/>
        </p:nvGrpSpPr>
        <p:grpSpPr>
          <a:xfrm>
            <a:off x="9438503" y="106406"/>
            <a:ext cx="2652772" cy="603883"/>
            <a:chOff x="9438503" y="106406"/>
            <a:chExt cx="2652772" cy="603883"/>
          </a:xfrm>
        </p:grpSpPr>
        <p:grpSp>
          <p:nvGrpSpPr>
            <p:cNvPr id="58" name="Groupe 57">
              <a:extLst>
                <a:ext uri="{FF2B5EF4-FFF2-40B4-BE49-F238E27FC236}">
                  <a16:creationId xmlns:a16="http://schemas.microsoft.com/office/drawing/2014/main" id="{49F0BADF-6595-24FA-50EB-B5211A010953}"/>
                </a:ext>
              </a:extLst>
            </p:cNvPr>
            <p:cNvGrpSpPr/>
            <p:nvPr/>
          </p:nvGrpSpPr>
          <p:grpSpPr>
            <a:xfrm>
              <a:off x="9464997" y="129350"/>
              <a:ext cx="2626278" cy="580939"/>
              <a:chOff x="9464997" y="129350"/>
              <a:chExt cx="2626278" cy="580939"/>
            </a:xfrm>
          </p:grpSpPr>
          <p:pic>
            <p:nvPicPr>
              <p:cNvPr id="61" name="Picture 2">
                <a:extLst>
                  <a:ext uri="{FF2B5EF4-FFF2-40B4-BE49-F238E27FC236}">
                    <a16:creationId xmlns:a16="http://schemas.microsoft.com/office/drawing/2014/main" id="{55B48819-AA82-AF6E-3053-A80E548CCD5D}"/>
                  </a:ext>
                </a:extLst>
              </p:cNvPr>
              <p:cNvPicPr>
                <a:picLocks noChangeAspect="1" noChangeArrowheads="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62" name="Image 61">
                <a:extLst>
                  <a:ext uri="{FF2B5EF4-FFF2-40B4-BE49-F238E27FC236}">
                    <a16:creationId xmlns:a16="http://schemas.microsoft.com/office/drawing/2014/main" id="{3CECEA21-098C-918E-F58E-CE344FD0E59E}"/>
                  </a:ext>
                </a:extLst>
              </p:cNvPr>
              <p:cNvPicPr>
                <a:picLocks noChangeAspect="1"/>
              </p:cNvPicPr>
              <p:nvPr/>
            </p:nvPicPr>
            <p:blipFill>
              <a:blip r:embed="rId5"/>
              <a:stretch>
                <a:fillRect/>
              </a:stretch>
            </p:blipFill>
            <p:spPr>
              <a:xfrm>
                <a:off x="10228477" y="228513"/>
                <a:ext cx="360000" cy="360000"/>
              </a:xfrm>
              <a:prstGeom prst="rect">
                <a:avLst/>
              </a:prstGeom>
            </p:spPr>
          </p:pic>
          <p:pic>
            <p:nvPicPr>
              <p:cNvPr id="63" name="Image 62">
                <a:extLst>
                  <a:ext uri="{FF2B5EF4-FFF2-40B4-BE49-F238E27FC236}">
                    <a16:creationId xmlns:a16="http://schemas.microsoft.com/office/drawing/2014/main" id="{0B93B8E4-5D53-C6D2-F807-2D7A7079C04E}"/>
                  </a:ext>
                </a:extLst>
              </p:cNvPr>
              <p:cNvPicPr>
                <a:picLocks noChangeAspect="1"/>
              </p:cNvPicPr>
              <p:nvPr/>
            </p:nvPicPr>
            <p:blipFill>
              <a:blip r:embed="rId6"/>
              <a:stretch>
                <a:fillRect/>
              </a:stretch>
            </p:blipFill>
            <p:spPr>
              <a:xfrm>
                <a:off x="11595089" y="233166"/>
                <a:ext cx="360000" cy="360000"/>
              </a:xfrm>
              <a:prstGeom prst="rect">
                <a:avLst/>
              </a:prstGeom>
            </p:spPr>
          </p:pic>
          <p:grpSp>
            <p:nvGrpSpPr>
              <p:cNvPr id="64" name="Groupe 63">
                <a:extLst>
                  <a:ext uri="{FF2B5EF4-FFF2-40B4-BE49-F238E27FC236}">
                    <a16:creationId xmlns:a16="http://schemas.microsoft.com/office/drawing/2014/main" id="{9A9E7DF0-B27D-1123-FF1B-5DE4541A4CB1}"/>
                  </a:ext>
                </a:extLst>
              </p:cNvPr>
              <p:cNvGrpSpPr/>
              <p:nvPr/>
            </p:nvGrpSpPr>
            <p:grpSpPr>
              <a:xfrm>
                <a:off x="9464997" y="129350"/>
                <a:ext cx="2626278" cy="580939"/>
                <a:chOff x="9464997" y="129350"/>
                <a:chExt cx="2626278" cy="580939"/>
              </a:xfrm>
            </p:grpSpPr>
            <p:sp>
              <p:nvSpPr>
                <p:cNvPr id="66" name="Rectangle : coins arrondis 65">
                  <a:extLst>
                    <a:ext uri="{FF2B5EF4-FFF2-40B4-BE49-F238E27FC236}">
                      <a16:creationId xmlns:a16="http://schemas.microsoft.com/office/drawing/2014/main" id="{ABDE7C5E-AA65-5A82-3C0C-BB01381BFC1C}"/>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7" name="Rectangle : coins arrondis 66">
                  <a:extLst>
                    <a:ext uri="{FF2B5EF4-FFF2-40B4-BE49-F238E27FC236}">
                      <a16:creationId xmlns:a16="http://schemas.microsoft.com/office/drawing/2014/main" id="{1F5912C3-853C-A396-B8E3-BB31B616DB4A}"/>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8" name="Rectangle : coins arrondis 67">
                  <a:extLst>
                    <a:ext uri="{FF2B5EF4-FFF2-40B4-BE49-F238E27FC236}">
                      <a16:creationId xmlns:a16="http://schemas.microsoft.com/office/drawing/2014/main" id="{E8228B2D-6D8E-8672-9FEB-EB32A0A06DB8}"/>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9" name="Rectangle : coins arrondis 68">
                  <a:extLst>
                    <a:ext uri="{FF2B5EF4-FFF2-40B4-BE49-F238E27FC236}">
                      <a16:creationId xmlns:a16="http://schemas.microsoft.com/office/drawing/2014/main" id="{1CCDF618-808E-0D24-F361-6AEF3F773B41}"/>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0" name="Rectangle 69">
                  <a:extLst>
                    <a:ext uri="{FF2B5EF4-FFF2-40B4-BE49-F238E27FC236}">
                      <a16:creationId xmlns:a16="http://schemas.microsoft.com/office/drawing/2014/main" id="{45AE8207-E8BC-8273-2FDD-7A95F3BA5C81}"/>
                    </a:ext>
                  </a:extLst>
                </p:cNvPr>
                <p:cNvSpPr/>
                <p:nvPr/>
              </p:nvSpPr>
              <p:spPr>
                <a:xfrm>
                  <a:off x="11480841" y="129350"/>
                  <a:ext cx="610434"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65" name="Image 64">
                <a:extLst>
                  <a:ext uri="{FF2B5EF4-FFF2-40B4-BE49-F238E27FC236}">
                    <a16:creationId xmlns:a16="http://schemas.microsoft.com/office/drawing/2014/main" id="{06D72E81-D089-8E95-793C-4B36AA8927B9}"/>
                  </a:ext>
                </a:extLst>
              </p:cNvPr>
              <p:cNvPicPr>
                <a:picLocks noChangeAspect="1"/>
              </p:cNvPicPr>
              <p:nvPr/>
            </p:nvPicPr>
            <p:blipFill>
              <a:blip r:embed="rId7"/>
              <a:stretch>
                <a:fillRect/>
              </a:stretch>
            </p:blipFill>
            <p:spPr>
              <a:xfrm>
                <a:off x="9554107" y="218630"/>
                <a:ext cx="360000" cy="360000"/>
              </a:xfrm>
              <a:prstGeom prst="rect">
                <a:avLst/>
              </a:prstGeom>
            </p:spPr>
          </p:pic>
        </p:grpSp>
        <p:sp>
          <p:nvSpPr>
            <p:cNvPr id="59" name="Rectangle 58">
              <a:extLst>
                <a:ext uri="{FF2B5EF4-FFF2-40B4-BE49-F238E27FC236}">
                  <a16:creationId xmlns:a16="http://schemas.microsoft.com/office/drawing/2014/main" id="{A53AA7A4-EF6F-FE75-51E8-AC092B2C9CDE}"/>
                </a:ext>
              </a:extLst>
            </p:cNvPr>
            <p:cNvSpPr/>
            <p:nvPr/>
          </p:nvSpPr>
          <p:spPr>
            <a:xfrm>
              <a:off x="9438503" y="106406"/>
              <a:ext cx="1284804"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86" name="Groupe 85">
            <a:extLst>
              <a:ext uri="{FF2B5EF4-FFF2-40B4-BE49-F238E27FC236}">
                <a16:creationId xmlns:a16="http://schemas.microsoft.com/office/drawing/2014/main" id="{9E172FB4-3118-3775-69FB-8DC7359C30BA}"/>
              </a:ext>
            </a:extLst>
          </p:cNvPr>
          <p:cNvGrpSpPr/>
          <p:nvPr/>
        </p:nvGrpSpPr>
        <p:grpSpPr>
          <a:xfrm>
            <a:off x="300401" y="1015059"/>
            <a:ext cx="8705746" cy="1910566"/>
            <a:chOff x="300401" y="1015059"/>
            <a:chExt cx="8705746" cy="1910566"/>
          </a:xfrm>
        </p:grpSpPr>
        <p:sp>
          <p:nvSpPr>
            <p:cNvPr id="20" name="Rectangle : coins arrondis 19">
              <a:extLst>
                <a:ext uri="{FF2B5EF4-FFF2-40B4-BE49-F238E27FC236}">
                  <a16:creationId xmlns:a16="http://schemas.microsoft.com/office/drawing/2014/main" id="{34DD02DF-1CAB-DDD4-579A-09BF369AE1C3}"/>
                </a:ext>
              </a:extLst>
            </p:cNvPr>
            <p:cNvSpPr/>
            <p:nvPr/>
          </p:nvSpPr>
          <p:spPr>
            <a:xfrm>
              <a:off x="371100" y="1316047"/>
              <a:ext cx="8635047" cy="1609578"/>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E794B1C8-9B48-E02A-880C-B456857D9AEC}"/>
                </a:ext>
              </a:extLst>
            </p:cNvPr>
            <p:cNvSpPr/>
            <p:nvPr/>
          </p:nvSpPr>
          <p:spPr>
            <a:xfrm>
              <a:off x="300401" y="1015059"/>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3B7FCEC2-27CF-2C81-974F-FA41503E35F5}"/>
                </a:ext>
              </a:extLst>
            </p:cNvPr>
            <p:cNvSpPr/>
            <p:nvPr/>
          </p:nvSpPr>
          <p:spPr>
            <a:xfrm>
              <a:off x="742819" y="1092713"/>
              <a:ext cx="3415295"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38" name="Image 37" descr="Une image contenant symbole, Graphique, logo, Police&#10;&#10;Description générée automatiquement">
              <a:extLst>
                <a:ext uri="{FF2B5EF4-FFF2-40B4-BE49-F238E27FC236}">
                  <a16:creationId xmlns:a16="http://schemas.microsoft.com/office/drawing/2014/main" id="{647757A0-AEFF-FD13-3C88-1D3A5027E63E}"/>
                </a:ext>
              </a:extLst>
            </p:cNvPr>
            <p:cNvPicPr>
              <a:picLocks noChangeAspect="1"/>
            </p:cNvPicPr>
            <p:nvPr/>
          </p:nvPicPr>
          <p:blipFill>
            <a:blip r:embed="rId8"/>
            <a:stretch>
              <a:fillRect/>
            </a:stretch>
          </p:blipFill>
          <p:spPr>
            <a:xfrm>
              <a:off x="350488" y="1064646"/>
              <a:ext cx="468000" cy="468000"/>
            </a:xfrm>
            <a:prstGeom prst="rect">
              <a:avLst/>
            </a:prstGeom>
          </p:spPr>
        </p:pic>
        <p:sp>
          <p:nvSpPr>
            <p:cNvPr id="74" name="ZoneTexte 73">
              <a:extLst>
                <a:ext uri="{FF2B5EF4-FFF2-40B4-BE49-F238E27FC236}">
                  <a16:creationId xmlns:a16="http://schemas.microsoft.com/office/drawing/2014/main" id="{0441D3B9-7DC3-5ABC-8333-48ACD56C1BBA}"/>
                </a:ext>
              </a:extLst>
            </p:cNvPr>
            <p:cNvSpPr txBox="1"/>
            <p:nvPr/>
          </p:nvSpPr>
          <p:spPr>
            <a:xfrm>
              <a:off x="599872" y="1518357"/>
              <a:ext cx="8380423" cy="1384995"/>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There exists a </a:t>
              </a:r>
              <a:r>
                <a:rPr lang="en-US" sz="1200" b="1" i="0" u="none" strike="noStrike" baseline="0" dirty="0">
                  <a:solidFill>
                    <a:srgbClr val="231F20"/>
                  </a:solidFill>
                </a:rPr>
                <a:t>huge library of TALENs </a:t>
              </a:r>
              <a:r>
                <a:rPr lang="en-US" sz="1200" b="0" i="0" u="none" strike="noStrike" baseline="0" dirty="0">
                  <a:solidFill>
                    <a:srgbClr val="231F20"/>
                  </a:solidFill>
                </a:rPr>
                <a:t>capable of modifying nearly any gene thanks to their modular structure.</a:t>
              </a:r>
              <a:endParaRPr lang="en-US" sz="1200" dirty="0">
                <a:solidFill>
                  <a:srgbClr val="231F20"/>
                </a:solidFill>
              </a:endParaRPr>
            </a:p>
            <a:p>
              <a:pPr marL="285750" indent="-285750" algn="just">
                <a:buFont typeface="Wingdings" panose="05000000000000000000" pitchFamily="2" charset="2"/>
                <a:buChar char="Ø"/>
              </a:pPr>
              <a:r>
                <a:rPr lang="en-US" sz="1200" b="0" i="0" u="none" strike="noStrike" baseline="0" dirty="0"/>
                <a:t>TALEN repeats are </a:t>
              </a:r>
              <a:r>
                <a:rPr lang="en-US" sz="1200" b="1" i="0" u="none" strike="noStrike" baseline="0" dirty="0"/>
                <a:t>less complex to design and assemble </a:t>
              </a:r>
              <a:r>
                <a:rPr lang="en-US" sz="1200" b="0" i="0" u="none" strike="noStrike" baseline="0" dirty="0"/>
                <a:t>compared to the rigid ZF motifs used in ZFNs</a:t>
              </a:r>
              <a:r>
                <a:rPr lang="fr-FR" sz="1200" b="0" i="0" u="none" strike="noStrike" baseline="0" dirty="0"/>
                <a:t>.</a:t>
              </a:r>
            </a:p>
            <a:p>
              <a:pPr marL="285750" indent="-285750" algn="just">
                <a:buFont typeface="Wingdings" panose="05000000000000000000" pitchFamily="2" charset="2"/>
                <a:buChar char="Ø"/>
              </a:pPr>
              <a:r>
                <a:rPr lang="en-US" sz="1200" dirty="0"/>
                <a:t>They are </a:t>
              </a:r>
              <a:r>
                <a:rPr lang="en-US" sz="1200" b="1" dirty="0"/>
                <a:t>highly specific </a:t>
              </a:r>
              <a:r>
                <a:rPr lang="en-US" sz="1200" dirty="0"/>
                <a:t>due to their structures, reducing </a:t>
              </a:r>
              <a:r>
                <a:rPr lang="en-US" sz="1200" b="0" i="0" u="none" strike="noStrike" baseline="0" dirty="0"/>
                <a:t>unintended DNA cleavage at off-target sites.</a:t>
              </a:r>
              <a:endParaRPr lang="en-US" sz="1200" dirty="0"/>
            </a:p>
            <a:p>
              <a:pPr marL="285750" indent="-285750" algn="just">
                <a:buFont typeface="Wingdings" panose="05000000000000000000" pitchFamily="2" charset="2"/>
                <a:buChar char="Ø"/>
              </a:pPr>
              <a:r>
                <a:rPr lang="en-US" sz="1200" b="1" i="0" u="none" strike="noStrike" baseline="0" dirty="0">
                  <a:solidFill>
                    <a:srgbClr val="231F20"/>
                  </a:solidFill>
                </a:rPr>
                <a:t>No selection or directed evolution is necessary</a:t>
              </a:r>
              <a:r>
                <a:rPr lang="en-US" sz="1200" b="0" i="0" u="none" strike="noStrike" baseline="0" dirty="0">
                  <a:solidFill>
                    <a:srgbClr val="231F20"/>
                  </a:solidFill>
                </a:rPr>
                <a:t> to engineer TALE arrays, reducing time to assemble a functional nuclease. </a:t>
              </a:r>
              <a:endParaRPr lang="fr-FR" sz="1200" dirty="0"/>
            </a:p>
            <a:p>
              <a:pPr marL="285750" indent="-285750" algn="just">
                <a:buFont typeface="Wingdings" panose="05000000000000000000" pitchFamily="2" charset="2"/>
                <a:buChar char="Ø"/>
              </a:pPr>
              <a:r>
                <a:rPr lang="fr-FR" sz="1200" b="0" i="0" u="none" strike="noStrike" baseline="0" dirty="0">
                  <a:solidFill>
                    <a:srgbClr val="231F20"/>
                  </a:solidFill>
                </a:rPr>
                <a:t>TALE DNA-binding </a:t>
              </a:r>
              <a:r>
                <a:rPr lang="fr-FR" sz="1200" b="0" i="0" u="none" strike="noStrike" baseline="0" dirty="0" err="1">
                  <a:solidFill>
                    <a:srgbClr val="231F20"/>
                  </a:solidFill>
                </a:rPr>
                <a:t>domains</a:t>
              </a:r>
              <a:r>
                <a:rPr lang="fr-FR" sz="1200" b="0" i="0" u="none" strike="noStrike" baseline="0" dirty="0">
                  <a:solidFill>
                    <a:srgbClr val="231F20"/>
                  </a:solidFill>
                </a:rPr>
                <a:t> can </a:t>
              </a:r>
              <a:r>
                <a:rPr lang="en-US" sz="1200" b="0" i="0" u="none" strike="noStrike" baseline="0" dirty="0">
                  <a:solidFill>
                    <a:srgbClr val="231F20"/>
                  </a:solidFill>
                </a:rPr>
                <a:t>be constructed using a </a:t>
              </a:r>
              <a:r>
                <a:rPr lang="en-US" sz="1200" b="1" i="0" u="none" strike="noStrike" baseline="0" dirty="0">
                  <a:solidFill>
                    <a:srgbClr val="231F20"/>
                  </a:solidFill>
                </a:rPr>
                <a:t>variety of methods </a:t>
              </a:r>
              <a:r>
                <a:rPr lang="en-US" sz="1200" b="0" i="0" u="none" strike="noStrike" baseline="0" dirty="0">
                  <a:solidFill>
                    <a:srgbClr val="231F20"/>
                  </a:solidFill>
                </a:rPr>
                <a:t>:</a:t>
              </a:r>
              <a:r>
                <a:rPr lang="en-US" sz="1200" dirty="0">
                  <a:solidFill>
                    <a:srgbClr val="231F20"/>
                  </a:solidFill>
                </a:rPr>
                <a:t> </a:t>
              </a:r>
              <a:r>
                <a:rPr lang="fr-FR" sz="1200" b="0" i="0" u="none" strike="noStrike" baseline="0" dirty="0">
                  <a:solidFill>
                    <a:srgbClr val="231F20"/>
                  </a:solidFill>
                </a:rPr>
                <a:t>Golden </a:t>
              </a:r>
              <a:r>
                <a:rPr lang="fr-FR" sz="1200" b="0" i="0" u="none" strike="noStrike" baseline="0" dirty="0" err="1">
                  <a:solidFill>
                    <a:srgbClr val="231F20"/>
                  </a:solidFill>
                </a:rPr>
                <a:t>Gate</a:t>
              </a:r>
              <a:r>
                <a:rPr lang="fr-FR" sz="1200" b="0" i="0" u="none" strike="noStrike" baseline="0" dirty="0">
                  <a:solidFill>
                    <a:srgbClr val="231F20"/>
                  </a:solidFill>
                </a:rPr>
                <a:t> </a:t>
              </a:r>
              <a:r>
                <a:rPr lang="fr-FR" sz="1200" b="0" i="0" u="none" strike="noStrike" baseline="0" dirty="0" err="1">
                  <a:solidFill>
                    <a:srgbClr val="231F20"/>
                  </a:solidFill>
                </a:rPr>
                <a:t>assembly</a:t>
              </a:r>
              <a:r>
                <a:rPr lang="fr-FR" sz="1200" b="0" i="0" u="none" strike="noStrike" baseline="0" dirty="0">
                  <a:solidFill>
                    <a:srgbClr val="231F20"/>
                  </a:solidFill>
                </a:rPr>
                <a:t>. Gibson </a:t>
              </a:r>
              <a:r>
                <a:rPr lang="fr-FR" sz="1200" b="0" i="0" u="none" strike="noStrike" baseline="0" dirty="0" err="1">
                  <a:solidFill>
                    <a:srgbClr val="231F20"/>
                  </a:solidFill>
                </a:rPr>
                <a:t>assembly</a:t>
              </a:r>
              <a:r>
                <a:rPr lang="fr-FR" sz="1200" b="0" i="0" u="none" strike="noStrike" baseline="0" dirty="0">
                  <a:solidFill>
                    <a:srgbClr val="231F20"/>
                  </a:solidFill>
                </a:rPr>
                <a:t>, </a:t>
              </a:r>
              <a:r>
                <a:rPr lang="en-US" sz="1200" b="0" i="0" u="none" strike="noStrike" baseline="0" dirty="0">
                  <a:solidFill>
                    <a:srgbClr val="231F20"/>
                  </a:solidFill>
                </a:rPr>
                <a:t>FLASH assembly, iterative capped assembly and ligation </a:t>
              </a:r>
              <a:r>
                <a:rPr lang="fr-FR" sz="1200" b="0" i="0" u="none" strike="noStrike" baseline="0" dirty="0" err="1">
                  <a:solidFill>
                    <a:srgbClr val="231F20"/>
                  </a:solidFill>
                </a:rPr>
                <a:t>independent</a:t>
              </a:r>
              <a:r>
                <a:rPr lang="fr-FR" sz="1200" b="0" i="0" u="none" strike="noStrike" baseline="0" dirty="0">
                  <a:solidFill>
                    <a:srgbClr val="231F20"/>
                  </a:solidFill>
                </a:rPr>
                <a:t> </a:t>
              </a:r>
              <a:r>
                <a:rPr lang="fr-FR" sz="1200" b="0" i="0" u="none" strike="noStrike" baseline="0" dirty="0" err="1">
                  <a:solidFill>
                    <a:srgbClr val="231F20"/>
                  </a:solidFill>
                </a:rPr>
                <a:t>cloning</a:t>
              </a:r>
              <a:r>
                <a:rPr lang="fr-FR" sz="1200" b="0" i="0" u="none" strike="noStrike" baseline="0" dirty="0">
                  <a:solidFill>
                    <a:srgbClr val="231F20"/>
                  </a:solidFill>
                </a:rPr>
                <a:t>.</a:t>
              </a:r>
            </a:p>
          </p:txBody>
        </p:sp>
      </p:grpSp>
      <p:grpSp>
        <p:nvGrpSpPr>
          <p:cNvPr id="87" name="Groupe 86">
            <a:extLst>
              <a:ext uri="{FF2B5EF4-FFF2-40B4-BE49-F238E27FC236}">
                <a16:creationId xmlns:a16="http://schemas.microsoft.com/office/drawing/2014/main" id="{46D61B3A-8E86-C31B-6B64-68FF04B8A93F}"/>
              </a:ext>
            </a:extLst>
          </p:cNvPr>
          <p:cNvGrpSpPr/>
          <p:nvPr/>
        </p:nvGrpSpPr>
        <p:grpSpPr>
          <a:xfrm>
            <a:off x="300401" y="3187302"/>
            <a:ext cx="8710919" cy="2092092"/>
            <a:chOff x="300401" y="3101663"/>
            <a:chExt cx="8710919" cy="2092092"/>
          </a:xfrm>
        </p:grpSpPr>
        <p:sp>
          <p:nvSpPr>
            <p:cNvPr id="26" name="Rectangle : coins arrondis 25">
              <a:extLst>
                <a:ext uri="{FF2B5EF4-FFF2-40B4-BE49-F238E27FC236}">
                  <a16:creationId xmlns:a16="http://schemas.microsoft.com/office/drawing/2014/main" id="{C23A97E6-7E4F-F23E-35B4-2802F0579162}"/>
                </a:ext>
              </a:extLst>
            </p:cNvPr>
            <p:cNvSpPr/>
            <p:nvPr/>
          </p:nvSpPr>
          <p:spPr>
            <a:xfrm>
              <a:off x="502920" y="3380831"/>
              <a:ext cx="8508400" cy="1812924"/>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9617FFE1-02A4-DE04-EEEF-936FB69D9556}"/>
                </a:ext>
              </a:extLst>
            </p:cNvPr>
            <p:cNvSpPr/>
            <p:nvPr/>
          </p:nvSpPr>
          <p:spPr>
            <a:xfrm>
              <a:off x="300401" y="3101663"/>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B18F0E95-99ED-2C99-F8C9-FCA7E88C6F68}"/>
                </a:ext>
              </a:extLst>
            </p:cNvPr>
            <p:cNvSpPr/>
            <p:nvPr/>
          </p:nvSpPr>
          <p:spPr>
            <a:xfrm>
              <a:off x="742819" y="3171996"/>
              <a:ext cx="3415295"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55" name="Image 54" descr="Une image contenant Graphique, symbole, Police, logo&#10;&#10;Description générée automatiquement">
              <a:extLst>
                <a:ext uri="{FF2B5EF4-FFF2-40B4-BE49-F238E27FC236}">
                  <a16:creationId xmlns:a16="http://schemas.microsoft.com/office/drawing/2014/main" id="{E3459CF2-2FF5-5D56-6A3B-3BE77D9A26B9}"/>
                </a:ext>
              </a:extLst>
            </p:cNvPr>
            <p:cNvPicPr>
              <a:picLocks noChangeAspect="1"/>
            </p:cNvPicPr>
            <p:nvPr/>
          </p:nvPicPr>
          <p:blipFill>
            <a:blip r:embed="rId9"/>
            <a:stretch>
              <a:fillRect/>
            </a:stretch>
          </p:blipFill>
          <p:spPr>
            <a:xfrm>
              <a:off x="341984" y="3160857"/>
              <a:ext cx="468000" cy="468000"/>
            </a:xfrm>
            <a:prstGeom prst="rect">
              <a:avLst/>
            </a:prstGeom>
          </p:spPr>
        </p:pic>
        <p:sp>
          <p:nvSpPr>
            <p:cNvPr id="76" name="ZoneTexte 75">
              <a:extLst>
                <a:ext uri="{FF2B5EF4-FFF2-40B4-BE49-F238E27FC236}">
                  <a16:creationId xmlns:a16="http://schemas.microsoft.com/office/drawing/2014/main" id="{196B5ECD-5773-8B83-1CB4-64765592EA3C}"/>
                </a:ext>
              </a:extLst>
            </p:cNvPr>
            <p:cNvSpPr txBox="1"/>
            <p:nvPr/>
          </p:nvSpPr>
          <p:spPr>
            <a:xfrm>
              <a:off x="599871" y="3624094"/>
              <a:ext cx="8406275" cy="1569660"/>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t>For any new genomic locus to target, </a:t>
              </a:r>
              <a:r>
                <a:rPr lang="en-US" sz="1200" b="1" i="0" u="none" strike="noStrike" baseline="0" dirty="0"/>
                <a:t>TALENs require the repetition of the whole process </a:t>
              </a:r>
              <a:r>
                <a:rPr lang="en-US" sz="1200" b="0" i="0" u="none" strike="noStrike" baseline="0" dirty="0"/>
                <a:t>of protein module design, cloning, and assembling. It’s </a:t>
              </a:r>
              <a:r>
                <a:rPr lang="en-US" sz="1200" b="1" i="0" u="none" strike="noStrike" baseline="0" dirty="0"/>
                <a:t>time-consuming</a:t>
              </a:r>
              <a:r>
                <a:rPr lang="en-US" sz="1200" b="0" i="0" u="none" strike="noStrike" baseline="0" dirty="0"/>
                <a:t> and </a:t>
              </a:r>
              <a:r>
                <a:rPr lang="en-US" sz="1200" b="1" i="0" u="none" strike="noStrike" baseline="0" dirty="0"/>
                <a:t>impractical for </a:t>
              </a:r>
              <a:r>
                <a:rPr lang="fr-FR" sz="1200" b="1" i="0" u="none" strike="noStrike" baseline="0" dirty="0" err="1"/>
                <a:t>widespread</a:t>
              </a:r>
              <a:r>
                <a:rPr lang="fr-FR" sz="1200" b="1" i="0" u="none" strike="noStrike" baseline="0" dirty="0"/>
                <a:t> application</a:t>
              </a:r>
              <a:r>
                <a:rPr lang="fr-FR" sz="1200" b="0" i="0" u="none" strike="noStrike" baseline="0" dirty="0"/>
                <a:t>.</a:t>
              </a:r>
            </a:p>
            <a:p>
              <a:pPr marL="285750" indent="-285750" algn="just">
                <a:buFont typeface="Wingdings" panose="05000000000000000000" pitchFamily="2" charset="2"/>
                <a:buChar char="Ø"/>
              </a:pPr>
              <a:r>
                <a:rPr lang="en-US" sz="1200" b="0" i="0" u="none" strike="noStrike" baseline="0" dirty="0">
                  <a:solidFill>
                    <a:srgbClr val="231F20"/>
                  </a:solidFill>
                </a:rPr>
                <a:t>TALENs are substantially larger than ZFNs,</a:t>
              </a:r>
              <a:r>
                <a:rPr lang="en-US" sz="1200" dirty="0">
                  <a:solidFill>
                    <a:srgbClr val="231F20"/>
                  </a:solidFill>
                </a:rPr>
                <a:t> with h</a:t>
              </a:r>
              <a:r>
                <a:rPr lang="en-US" sz="1200" b="0" i="0" u="none" strike="noStrike" baseline="0" dirty="0">
                  <a:solidFill>
                    <a:srgbClr val="231F20"/>
                  </a:solidFill>
                </a:rPr>
                <a:t>ighly repetitive structure, making their </a:t>
              </a:r>
              <a:r>
                <a:rPr lang="en-US" sz="1200" b="1" i="0" u="none" strike="noStrike" baseline="0" dirty="0">
                  <a:solidFill>
                    <a:srgbClr val="231F20"/>
                  </a:solidFill>
                </a:rPr>
                <a:t>efficient delivery into cells challenging.</a:t>
              </a:r>
            </a:p>
            <a:p>
              <a:pPr marL="285750" indent="-285750" algn="just">
                <a:buFont typeface="Wingdings" panose="05000000000000000000" pitchFamily="2" charset="2"/>
                <a:buChar char="Ø"/>
              </a:pPr>
              <a:r>
                <a:rPr lang="en-US" sz="1200" b="0" i="0" u="none" strike="noStrike" baseline="0" dirty="0">
                  <a:solidFill>
                    <a:srgbClr val="231F20"/>
                  </a:solidFill>
                </a:rPr>
                <a:t>They require </a:t>
              </a:r>
              <a:r>
                <a:rPr lang="en-US" sz="1200" b="1" dirty="0"/>
                <a:t>complex molecular cloning </a:t>
              </a:r>
              <a:r>
                <a:rPr lang="en-US" sz="1200" dirty="0"/>
                <a:t>and module assembling methods.</a:t>
              </a:r>
            </a:p>
            <a:p>
              <a:pPr marL="285750" indent="-285750" algn="just">
                <a:buFont typeface="Wingdings" panose="05000000000000000000" pitchFamily="2" charset="2"/>
                <a:buChar char="Ø"/>
              </a:pPr>
              <a:r>
                <a:rPr lang="en-US" sz="1200" b="0" i="0" u="none" strike="noStrike" baseline="0" dirty="0"/>
                <a:t>Due to repetitive nature of the sequence, they are very prone to </a:t>
              </a:r>
              <a:r>
                <a:rPr lang="en-US" sz="1200" b="1" i="0" u="none" strike="noStrike" baseline="0" dirty="0"/>
                <a:t>recombination within bacteria while cloning</a:t>
              </a:r>
              <a:r>
                <a:rPr lang="en-US" sz="1200" b="0" i="0" u="none" strike="noStrike" baseline="0" dirty="0"/>
                <a:t>, making the process of vector construction difficult, which also significantly </a:t>
              </a:r>
              <a:r>
                <a:rPr lang="en-US" sz="1200" b="1" i="0" u="none" strike="noStrike" baseline="0" dirty="0"/>
                <a:t>increases time and cost involved</a:t>
              </a:r>
              <a:r>
                <a:rPr lang="en-US" sz="1200" b="0" i="0" u="none" strike="noStrike" baseline="0" dirty="0"/>
                <a:t>.</a:t>
              </a:r>
              <a:endParaRPr lang="fr-FR" sz="1200" b="0" i="0" u="none" strike="noStrike" baseline="0" dirty="0"/>
            </a:p>
            <a:p>
              <a:pPr marL="285750" indent="-285750" algn="just">
                <a:buFont typeface="Wingdings" panose="05000000000000000000" pitchFamily="2" charset="2"/>
                <a:buChar char="Ø"/>
              </a:pPr>
              <a:r>
                <a:rPr lang="en-US" sz="1200" dirty="0"/>
                <a:t>Each TALEN monomer require the </a:t>
              </a:r>
              <a:r>
                <a:rPr lang="en-US" sz="1200" b="1" dirty="0"/>
                <a:t>targeting of a T at 5ʹ</a:t>
              </a:r>
              <a:r>
                <a:rPr lang="en-US" sz="1200" dirty="0"/>
                <a:t>.</a:t>
              </a:r>
            </a:p>
          </p:txBody>
        </p:sp>
      </p:grpSp>
      <p:grpSp>
        <p:nvGrpSpPr>
          <p:cNvPr id="88" name="Groupe 87">
            <a:extLst>
              <a:ext uri="{FF2B5EF4-FFF2-40B4-BE49-F238E27FC236}">
                <a16:creationId xmlns:a16="http://schemas.microsoft.com/office/drawing/2014/main" id="{C2D2CDEB-0C84-9D30-433B-E9333216DDDD}"/>
              </a:ext>
            </a:extLst>
          </p:cNvPr>
          <p:cNvGrpSpPr/>
          <p:nvPr/>
        </p:nvGrpSpPr>
        <p:grpSpPr>
          <a:xfrm>
            <a:off x="300401" y="5541072"/>
            <a:ext cx="8705747" cy="1149618"/>
            <a:chOff x="300401" y="5541072"/>
            <a:chExt cx="8705747" cy="1149618"/>
          </a:xfrm>
        </p:grpSpPr>
        <p:sp>
          <p:nvSpPr>
            <p:cNvPr id="41" name="Rectangle : coins arrondis 40">
              <a:extLst>
                <a:ext uri="{FF2B5EF4-FFF2-40B4-BE49-F238E27FC236}">
                  <a16:creationId xmlns:a16="http://schemas.microsoft.com/office/drawing/2014/main" id="{AAB5FB46-CDD4-5FB8-AD3E-AE33F8FB3141}"/>
                </a:ext>
              </a:extLst>
            </p:cNvPr>
            <p:cNvSpPr/>
            <p:nvPr/>
          </p:nvSpPr>
          <p:spPr>
            <a:xfrm>
              <a:off x="502919" y="5847410"/>
              <a:ext cx="8503229" cy="843280"/>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D4CC17C2-3758-DB5F-1033-5D38B79EB645}"/>
                </a:ext>
              </a:extLst>
            </p:cNvPr>
            <p:cNvSpPr/>
            <p:nvPr/>
          </p:nvSpPr>
          <p:spPr>
            <a:xfrm>
              <a:off x="300401" y="5541072"/>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8C658786-4CC8-F84C-532C-D67FF265F011}"/>
                </a:ext>
              </a:extLst>
            </p:cNvPr>
            <p:cNvSpPr/>
            <p:nvPr/>
          </p:nvSpPr>
          <p:spPr>
            <a:xfrm>
              <a:off x="742819" y="5611405"/>
              <a:ext cx="3415295" cy="4257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60" name="Image 59" descr="Une image contenant Graphique, clipart, Police, graphisme&#10;&#10;Description générée automatiquement">
              <a:extLst>
                <a:ext uri="{FF2B5EF4-FFF2-40B4-BE49-F238E27FC236}">
                  <a16:creationId xmlns:a16="http://schemas.microsoft.com/office/drawing/2014/main" id="{53C1FB78-D516-E49D-9F67-12785C7E7D39}"/>
                </a:ext>
              </a:extLst>
            </p:cNvPr>
            <p:cNvPicPr>
              <a:picLocks noChangeAspect="1"/>
            </p:cNvPicPr>
            <p:nvPr/>
          </p:nvPicPr>
          <p:blipFill>
            <a:blip r:embed="rId10"/>
            <a:stretch>
              <a:fillRect/>
            </a:stretch>
          </p:blipFill>
          <p:spPr>
            <a:xfrm>
              <a:off x="331408" y="5608795"/>
              <a:ext cx="432000" cy="432000"/>
            </a:xfrm>
            <a:prstGeom prst="rect">
              <a:avLst/>
            </a:prstGeom>
          </p:spPr>
        </p:pic>
        <p:sp>
          <p:nvSpPr>
            <p:cNvPr id="78" name="ZoneTexte 77">
              <a:extLst>
                <a:ext uri="{FF2B5EF4-FFF2-40B4-BE49-F238E27FC236}">
                  <a16:creationId xmlns:a16="http://schemas.microsoft.com/office/drawing/2014/main" id="{EBFCAC76-33A6-8068-DA6C-CC7BA246AC18}"/>
                </a:ext>
              </a:extLst>
            </p:cNvPr>
            <p:cNvSpPr txBox="1"/>
            <p:nvPr/>
          </p:nvSpPr>
          <p:spPr>
            <a:xfrm>
              <a:off x="599872" y="6107470"/>
              <a:ext cx="8406275" cy="461665"/>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Delivering problems car be solved by delivering TALENS </a:t>
              </a:r>
              <a:r>
                <a:rPr lang="en-US" sz="1200" b="1" i="0" u="none" strike="noStrike" baseline="0" dirty="0">
                  <a:solidFill>
                    <a:srgbClr val="231F20"/>
                  </a:solidFill>
                </a:rPr>
                <a:t>as mRNA or protein</a:t>
              </a:r>
              <a:r>
                <a:rPr lang="en-US" sz="1200" b="0" i="0" u="none" strike="noStrike" baseline="0" dirty="0">
                  <a:solidFill>
                    <a:srgbClr val="231F20"/>
                  </a:solidFill>
                </a:rPr>
                <a:t>. Also, </a:t>
              </a:r>
              <a:r>
                <a:rPr lang="fr-FR" sz="1200" b="1" i="0" u="none" strike="noStrike" baseline="0" dirty="0" err="1">
                  <a:solidFill>
                    <a:srgbClr val="231F20"/>
                  </a:solidFill>
                </a:rPr>
                <a:t>adenoviral</a:t>
              </a:r>
              <a:r>
                <a:rPr lang="fr-FR" sz="1200" b="1" i="0" u="none" strike="noStrike" baseline="0" dirty="0">
                  <a:solidFill>
                    <a:srgbClr val="231F20"/>
                  </a:solidFill>
                </a:rPr>
                <a:t> </a:t>
              </a:r>
              <a:r>
                <a:rPr lang="en-US" sz="1200" b="1" i="0" u="none" strike="noStrike" baseline="0" dirty="0">
                  <a:solidFill>
                    <a:srgbClr val="231F20"/>
                  </a:solidFill>
                </a:rPr>
                <a:t>vectors </a:t>
              </a:r>
              <a:r>
                <a:rPr lang="en-US" sz="1200" b="0" i="0" u="none" strike="noStrike" baseline="0" dirty="0">
                  <a:solidFill>
                    <a:srgbClr val="231F20"/>
                  </a:solidFill>
                </a:rPr>
                <a:t>have proven to be particularly useful for mediating TALENs delivery to hard-to-transfect </a:t>
              </a:r>
              <a:r>
                <a:rPr lang="fr-FR" sz="1200" b="0" i="0" u="none" strike="noStrike" baseline="0" dirty="0" err="1">
                  <a:solidFill>
                    <a:srgbClr val="231F20"/>
                  </a:solidFill>
                </a:rPr>
                <a:t>cell</a:t>
              </a:r>
              <a:r>
                <a:rPr lang="fr-FR" sz="1200" b="0" i="0" u="none" strike="noStrike" baseline="0" dirty="0">
                  <a:solidFill>
                    <a:srgbClr val="231F20"/>
                  </a:solidFill>
                </a:rPr>
                <a:t> types.</a:t>
              </a:r>
            </a:p>
          </p:txBody>
        </p:sp>
      </p:grpSp>
      <p:grpSp>
        <p:nvGrpSpPr>
          <p:cNvPr id="54" name="Groupe 53">
            <a:extLst>
              <a:ext uri="{FF2B5EF4-FFF2-40B4-BE49-F238E27FC236}">
                <a16:creationId xmlns:a16="http://schemas.microsoft.com/office/drawing/2014/main" id="{9E8E21F5-982B-1797-14D8-9DCFC6858F89}"/>
              </a:ext>
            </a:extLst>
          </p:cNvPr>
          <p:cNvGrpSpPr/>
          <p:nvPr/>
        </p:nvGrpSpPr>
        <p:grpSpPr>
          <a:xfrm>
            <a:off x="9425943" y="3466470"/>
            <a:ext cx="2766061" cy="2747075"/>
            <a:chOff x="9425943" y="3324292"/>
            <a:chExt cx="2766061" cy="2526120"/>
          </a:xfrm>
          <a:solidFill>
            <a:schemeClr val="accent2">
              <a:lumMod val="20000"/>
              <a:lumOff val="80000"/>
            </a:schemeClr>
          </a:solidFill>
        </p:grpSpPr>
        <p:sp>
          <p:nvSpPr>
            <p:cNvPr id="56" name="Rectangle : avec coins arrondis en haut 55">
              <a:extLst>
                <a:ext uri="{FF2B5EF4-FFF2-40B4-BE49-F238E27FC236}">
                  <a16:creationId xmlns:a16="http://schemas.microsoft.com/office/drawing/2014/main" id="{27A189D4-7B42-C229-C376-EFF05039ED08}"/>
                </a:ext>
              </a:extLst>
            </p:cNvPr>
            <p:cNvSpPr/>
            <p:nvPr/>
          </p:nvSpPr>
          <p:spPr>
            <a:xfrm rot="16200000">
              <a:off x="9545913" y="3204322"/>
              <a:ext cx="2526120" cy="2766060"/>
            </a:xfrm>
            <a:prstGeom prst="round2SameRect">
              <a:avLst>
                <a:gd name="adj1" fmla="val 10809"/>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72" name="Groupe 71">
              <a:extLst>
                <a:ext uri="{FF2B5EF4-FFF2-40B4-BE49-F238E27FC236}">
                  <a16:creationId xmlns:a16="http://schemas.microsoft.com/office/drawing/2014/main" id="{A2D64740-D334-2166-71DF-18FDF88F41D5}"/>
                </a:ext>
              </a:extLst>
            </p:cNvPr>
            <p:cNvGrpSpPr/>
            <p:nvPr/>
          </p:nvGrpSpPr>
          <p:grpSpPr>
            <a:xfrm>
              <a:off x="9642885" y="3415925"/>
              <a:ext cx="2549119" cy="468000"/>
              <a:chOff x="9642885" y="4013432"/>
              <a:chExt cx="2549119" cy="468000"/>
            </a:xfrm>
            <a:grpFill/>
          </p:grpSpPr>
          <p:sp>
            <p:nvSpPr>
              <p:cNvPr id="73" name="ZoneTexte 72">
                <a:extLst>
                  <a:ext uri="{FF2B5EF4-FFF2-40B4-BE49-F238E27FC236}">
                    <a16:creationId xmlns:a16="http://schemas.microsoft.com/office/drawing/2014/main" id="{EABFFD0D-8B2A-6461-5604-BC0C6E30939E}"/>
                  </a:ext>
                </a:extLst>
              </p:cNvPr>
              <p:cNvSpPr txBox="1"/>
              <p:nvPr/>
            </p:nvSpPr>
            <p:spPr>
              <a:xfrm>
                <a:off x="10110886" y="4037324"/>
                <a:ext cx="2081118" cy="338554"/>
              </a:xfrm>
              <a:prstGeom prst="rect">
                <a:avLst/>
              </a:prstGeom>
              <a:grpFill/>
            </p:spPr>
            <p:txBody>
              <a:bodyPr wrap="square">
                <a:spAutoFit/>
              </a:bodyPr>
              <a:lstStyle/>
              <a:p>
                <a:pPr lvl="0" algn="ctr"/>
                <a:r>
                  <a:rPr lang="fr-FR" sz="1600" b="1" u="sng" dirty="0"/>
                  <a:t>Main Sources</a:t>
                </a:r>
              </a:p>
            </p:txBody>
          </p:sp>
          <p:pic>
            <p:nvPicPr>
              <p:cNvPr id="75" name="Image 74">
                <a:extLst>
                  <a:ext uri="{FF2B5EF4-FFF2-40B4-BE49-F238E27FC236}">
                    <a16:creationId xmlns:a16="http://schemas.microsoft.com/office/drawing/2014/main" id="{5A23EB5A-A863-CEFD-E01C-657A4BFE2619}"/>
                  </a:ext>
                </a:extLst>
              </p:cNvPr>
              <p:cNvPicPr>
                <a:picLocks noChangeAspect="1"/>
              </p:cNvPicPr>
              <p:nvPr/>
            </p:nvPicPr>
            <p:blipFill>
              <a:blip r:embed="rId11"/>
              <a:stretch>
                <a:fillRect/>
              </a:stretch>
            </p:blipFill>
            <p:spPr>
              <a:xfrm>
                <a:off x="9642885" y="4013432"/>
                <a:ext cx="468000" cy="468000"/>
              </a:xfrm>
              <a:prstGeom prst="rect">
                <a:avLst/>
              </a:prstGeom>
              <a:grpFill/>
            </p:spPr>
          </p:pic>
        </p:grpSp>
      </p:grpSp>
      <p:grpSp>
        <p:nvGrpSpPr>
          <p:cNvPr id="89" name="Groupe 88">
            <a:extLst>
              <a:ext uri="{FF2B5EF4-FFF2-40B4-BE49-F238E27FC236}">
                <a16:creationId xmlns:a16="http://schemas.microsoft.com/office/drawing/2014/main" id="{6CDBF3AA-8427-02EC-C0B7-ED1DA96244D5}"/>
              </a:ext>
            </a:extLst>
          </p:cNvPr>
          <p:cNvGrpSpPr/>
          <p:nvPr/>
        </p:nvGrpSpPr>
        <p:grpSpPr>
          <a:xfrm>
            <a:off x="9425942" y="1300245"/>
            <a:ext cx="2766060" cy="1860661"/>
            <a:chOff x="9425942" y="1087460"/>
            <a:chExt cx="2766060" cy="1860661"/>
          </a:xfrm>
        </p:grpSpPr>
        <p:sp>
          <p:nvSpPr>
            <p:cNvPr id="6" name="Rectangle : avec coins arrondis en haut 5">
              <a:extLst>
                <a:ext uri="{FF2B5EF4-FFF2-40B4-BE49-F238E27FC236}">
                  <a16:creationId xmlns:a16="http://schemas.microsoft.com/office/drawing/2014/main" id="{220FEFC0-41AB-B078-49D2-EFA94B329A5A}"/>
                </a:ext>
              </a:extLst>
            </p:cNvPr>
            <p:cNvSpPr/>
            <p:nvPr/>
          </p:nvSpPr>
          <p:spPr>
            <a:xfrm rot="16200000">
              <a:off x="9878641" y="634761"/>
              <a:ext cx="1860661" cy="2766060"/>
            </a:xfrm>
            <a:prstGeom prst="round2SameRect">
              <a:avLst>
                <a:gd name="adj1" fmla="val 10809"/>
                <a:gd name="adj2" fmla="val 0"/>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7" name="ZoneTexte 6">
              <a:extLst>
                <a:ext uri="{FF2B5EF4-FFF2-40B4-BE49-F238E27FC236}">
                  <a16:creationId xmlns:a16="http://schemas.microsoft.com/office/drawing/2014/main" id="{FACE7A16-1D9F-EAF0-A6C6-F315E2C90DEC}"/>
                </a:ext>
              </a:extLst>
            </p:cNvPr>
            <p:cNvSpPr txBox="1"/>
            <p:nvPr/>
          </p:nvSpPr>
          <p:spPr>
            <a:xfrm>
              <a:off x="9498986" y="1855014"/>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8" name="ZoneTexte 7">
              <a:extLst>
                <a:ext uri="{FF2B5EF4-FFF2-40B4-BE49-F238E27FC236}">
                  <a16:creationId xmlns:a16="http://schemas.microsoft.com/office/drawing/2014/main" id="{7DD5FD0D-817C-6E4A-7EBB-4FBCA08A2D89}"/>
                </a:ext>
              </a:extLst>
            </p:cNvPr>
            <p:cNvSpPr txBox="1"/>
            <p:nvPr/>
          </p:nvSpPr>
          <p:spPr>
            <a:xfrm>
              <a:off x="9498986" y="2221010"/>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9" name="ZoneTexte 8">
              <a:extLst>
                <a:ext uri="{FF2B5EF4-FFF2-40B4-BE49-F238E27FC236}">
                  <a16:creationId xmlns:a16="http://schemas.microsoft.com/office/drawing/2014/main" id="{6DD974EE-ACC2-5F55-20DE-E1EB845A00AC}"/>
                </a:ext>
              </a:extLst>
            </p:cNvPr>
            <p:cNvSpPr txBox="1"/>
            <p:nvPr/>
          </p:nvSpPr>
          <p:spPr>
            <a:xfrm>
              <a:off x="9498986" y="2592882"/>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0" name="Groupe 9">
              <a:extLst>
                <a:ext uri="{FF2B5EF4-FFF2-40B4-BE49-F238E27FC236}">
                  <a16:creationId xmlns:a16="http://schemas.microsoft.com/office/drawing/2014/main" id="{3C2B4598-9087-524C-D19E-8A0677B5B795}"/>
                </a:ext>
              </a:extLst>
            </p:cNvPr>
            <p:cNvGrpSpPr/>
            <p:nvPr/>
          </p:nvGrpSpPr>
          <p:grpSpPr>
            <a:xfrm>
              <a:off x="11205745" y="1843755"/>
              <a:ext cx="857700" cy="252000"/>
              <a:chOff x="1557481" y="4197166"/>
              <a:chExt cx="857700" cy="252000"/>
            </a:xfrm>
          </p:grpSpPr>
          <p:pic>
            <p:nvPicPr>
              <p:cNvPr id="11" name="Image 10">
                <a:extLst>
                  <a:ext uri="{FF2B5EF4-FFF2-40B4-BE49-F238E27FC236}">
                    <a16:creationId xmlns:a16="http://schemas.microsoft.com/office/drawing/2014/main" id="{901758C6-9398-CF44-B02E-EF81C6F23EC8}"/>
                  </a:ext>
                </a:extLst>
              </p:cNvPr>
              <p:cNvPicPr>
                <a:picLocks noChangeAspect="1"/>
              </p:cNvPicPr>
              <p:nvPr/>
            </p:nvPicPr>
            <p:blipFill>
              <a:blip r:embed="rId12"/>
              <a:stretch>
                <a:fillRect/>
              </a:stretch>
            </p:blipFill>
            <p:spPr>
              <a:xfrm>
                <a:off x="1557481" y="4197166"/>
                <a:ext cx="252000" cy="252000"/>
              </a:xfrm>
              <a:prstGeom prst="rect">
                <a:avLst/>
              </a:prstGeom>
            </p:spPr>
          </p:pic>
          <p:pic>
            <p:nvPicPr>
              <p:cNvPr id="12" name="Image 11">
                <a:extLst>
                  <a:ext uri="{FF2B5EF4-FFF2-40B4-BE49-F238E27FC236}">
                    <a16:creationId xmlns:a16="http://schemas.microsoft.com/office/drawing/2014/main" id="{497FECB5-7D30-BD48-71B1-A3CC08F084EF}"/>
                  </a:ext>
                </a:extLst>
              </p:cNvPr>
              <p:cNvPicPr>
                <a:picLocks noChangeAspect="1"/>
              </p:cNvPicPr>
              <p:nvPr/>
            </p:nvPicPr>
            <p:blipFill>
              <a:blip r:embed="rId12"/>
              <a:stretch>
                <a:fillRect/>
              </a:stretch>
            </p:blipFill>
            <p:spPr>
              <a:xfrm>
                <a:off x="1860331" y="4197166"/>
                <a:ext cx="252000" cy="252000"/>
              </a:xfrm>
              <a:prstGeom prst="rect">
                <a:avLst/>
              </a:prstGeom>
            </p:spPr>
          </p:pic>
          <p:pic>
            <p:nvPicPr>
              <p:cNvPr id="13" name="Image 12">
                <a:extLst>
                  <a:ext uri="{FF2B5EF4-FFF2-40B4-BE49-F238E27FC236}">
                    <a16:creationId xmlns:a16="http://schemas.microsoft.com/office/drawing/2014/main" id="{B407CFB5-349C-4DD9-B22D-FC95B0A5A9A7}"/>
                  </a:ext>
                </a:extLst>
              </p:cNvPr>
              <p:cNvPicPr>
                <a:picLocks noChangeAspect="1"/>
              </p:cNvPicPr>
              <p:nvPr/>
            </p:nvPicPr>
            <p:blipFill>
              <a:blip r:embed="rId12"/>
              <a:stretch>
                <a:fillRect/>
              </a:stretch>
            </p:blipFill>
            <p:spPr>
              <a:xfrm>
                <a:off x="2163181" y="4197166"/>
                <a:ext cx="252000" cy="252000"/>
              </a:xfrm>
              <a:prstGeom prst="rect">
                <a:avLst/>
              </a:prstGeom>
            </p:spPr>
          </p:pic>
        </p:grpSp>
        <p:grpSp>
          <p:nvGrpSpPr>
            <p:cNvPr id="14" name="Groupe 13">
              <a:extLst>
                <a:ext uri="{FF2B5EF4-FFF2-40B4-BE49-F238E27FC236}">
                  <a16:creationId xmlns:a16="http://schemas.microsoft.com/office/drawing/2014/main" id="{2C35CA7A-5E0E-A8A7-5957-AEB182230B94}"/>
                </a:ext>
              </a:extLst>
            </p:cNvPr>
            <p:cNvGrpSpPr/>
            <p:nvPr/>
          </p:nvGrpSpPr>
          <p:grpSpPr>
            <a:xfrm>
              <a:off x="11205745" y="2603456"/>
              <a:ext cx="857700" cy="252000"/>
              <a:chOff x="1557481" y="4804916"/>
              <a:chExt cx="857700" cy="252000"/>
            </a:xfrm>
          </p:grpSpPr>
          <p:pic>
            <p:nvPicPr>
              <p:cNvPr id="15" name="Image 14">
                <a:extLst>
                  <a:ext uri="{FF2B5EF4-FFF2-40B4-BE49-F238E27FC236}">
                    <a16:creationId xmlns:a16="http://schemas.microsoft.com/office/drawing/2014/main" id="{1DDDCF1D-3B97-EE6B-45E5-35621D1AD3E5}"/>
                  </a:ext>
                </a:extLst>
              </p:cNvPr>
              <p:cNvPicPr>
                <a:picLocks noChangeAspect="1"/>
              </p:cNvPicPr>
              <p:nvPr/>
            </p:nvPicPr>
            <p:blipFill>
              <a:blip r:embed="rId13"/>
              <a:stretch>
                <a:fillRect/>
              </a:stretch>
            </p:blipFill>
            <p:spPr>
              <a:xfrm>
                <a:off x="1557481" y="4804916"/>
                <a:ext cx="252000" cy="252000"/>
              </a:xfrm>
              <a:prstGeom prst="rect">
                <a:avLst/>
              </a:prstGeom>
            </p:spPr>
          </p:pic>
          <p:pic>
            <p:nvPicPr>
              <p:cNvPr id="16" name="Image 15">
                <a:extLst>
                  <a:ext uri="{FF2B5EF4-FFF2-40B4-BE49-F238E27FC236}">
                    <a16:creationId xmlns:a16="http://schemas.microsoft.com/office/drawing/2014/main" id="{43C46EAC-CAEF-8EE5-6B51-499709222F4E}"/>
                  </a:ext>
                </a:extLst>
              </p:cNvPr>
              <p:cNvPicPr>
                <a:picLocks noChangeAspect="1"/>
              </p:cNvPicPr>
              <p:nvPr/>
            </p:nvPicPr>
            <p:blipFill>
              <a:blip r:embed="rId13"/>
              <a:stretch>
                <a:fillRect/>
              </a:stretch>
            </p:blipFill>
            <p:spPr>
              <a:xfrm>
                <a:off x="1860331" y="4804916"/>
                <a:ext cx="252000" cy="252000"/>
              </a:xfrm>
              <a:prstGeom prst="rect">
                <a:avLst/>
              </a:prstGeom>
            </p:spPr>
          </p:pic>
          <p:pic>
            <p:nvPicPr>
              <p:cNvPr id="17" name="Image 16">
                <a:extLst>
                  <a:ext uri="{FF2B5EF4-FFF2-40B4-BE49-F238E27FC236}">
                    <a16:creationId xmlns:a16="http://schemas.microsoft.com/office/drawing/2014/main" id="{E6989C58-5CDA-3CE0-E98D-15BA3C540F0B}"/>
                  </a:ext>
                </a:extLst>
              </p:cNvPr>
              <p:cNvPicPr>
                <a:picLocks noChangeAspect="1"/>
              </p:cNvPicPr>
              <p:nvPr/>
            </p:nvPicPr>
            <p:blipFill>
              <a:blip r:embed="rId13"/>
              <a:stretch>
                <a:fillRect/>
              </a:stretch>
            </p:blipFill>
            <p:spPr>
              <a:xfrm>
                <a:off x="2163181" y="4804916"/>
                <a:ext cx="252000" cy="252000"/>
              </a:xfrm>
              <a:prstGeom prst="rect">
                <a:avLst/>
              </a:prstGeom>
              <a:ln>
                <a:noFill/>
              </a:ln>
            </p:spPr>
          </p:pic>
        </p:grpSp>
        <p:grpSp>
          <p:nvGrpSpPr>
            <p:cNvPr id="18" name="Groupe 17">
              <a:extLst>
                <a:ext uri="{FF2B5EF4-FFF2-40B4-BE49-F238E27FC236}">
                  <a16:creationId xmlns:a16="http://schemas.microsoft.com/office/drawing/2014/main" id="{75D05B82-D997-612F-98D1-9011CC86DABB}"/>
                </a:ext>
              </a:extLst>
            </p:cNvPr>
            <p:cNvGrpSpPr/>
            <p:nvPr/>
          </p:nvGrpSpPr>
          <p:grpSpPr>
            <a:xfrm>
              <a:off x="11205745" y="2235792"/>
              <a:ext cx="857699" cy="252000"/>
              <a:chOff x="2476644" y="4589203"/>
              <a:chExt cx="857699" cy="252000"/>
            </a:xfrm>
          </p:grpSpPr>
          <p:pic>
            <p:nvPicPr>
              <p:cNvPr id="31" name="Image 30">
                <a:extLst>
                  <a:ext uri="{FF2B5EF4-FFF2-40B4-BE49-F238E27FC236}">
                    <a16:creationId xmlns:a16="http://schemas.microsoft.com/office/drawing/2014/main" id="{660B529E-6BCA-D134-99AD-D70D157A7EC7}"/>
                  </a:ext>
                </a:extLst>
              </p:cNvPr>
              <p:cNvPicPr>
                <a:picLocks noChangeAspect="1"/>
              </p:cNvPicPr>
              <p:nvPr/>
            </p:nvPicPr>
            <p:blipFill>
              <a:blip r:embed="rId14"/>
              <a:stretch>
                <a:fillRect/>
              </a:stretch>
            </p:blipFill>
            <p:spPr>
              <a:xfrm>
                <a:off x="2476644" y="4589203"/>
                <a:ext cx="252000" cy="252000"/>
              </a:xfrm>
              <a:prstGeom prst="rect">
                <a:avLst/>
              </a:prstGeom>
            </p:spPr>
          </p:pic>
          <p:pic>
            <p:nvPicPr>
              <p:cNvPr id="40" name="Image 39">
                <a:extLst>
                  <a:ext uri="{FF2B5EF4-FFF2-40B4-BE49-F238E27FC236}">
                    <a16:creationId xmlns:a16="http://schemas.microsoft.com/office/drawing/2014/main" id="{96F6A19B-106E-01C9-0169-F71543C01DAA}"/>
                  </a:ext>
                </a:extLst>
              </p:cNvPr>
              <p:cNvPicPr>
                <a:picLocks noChangeAspect="1"/>
              </p:cNvPicPr>
              <p:nvPr/>
            </p:nvPicPr>
            <p:blipFill>
              <a:blip r:embed="rId14"/>
              <a:stretch>
                <a:fillRect/>
              </a:stretch>
            </p:blipFill>
            <p:spPr>
              <a:xfrm>
                <a:off x="2779494" y="4589203"/>
                <a:ext cx="252000" cy="252000"/>
              </a:xfrm>
              <a:prstGeom prst="rect">
                <a:avLst/>
              </a:prstGeom>
            </p:spPr>
          </p:pic>
          <p:pic>
            <p:nvPicPr>
              <p:cNvPr id="44" name="Image 43">
                <a:extLst>
                  <a:ext uri="{FF2B5EF4-FFF2-40B4-BE49-F238E27FC236}">
                    <a16:creationId xmlns:a16="http://schemas.microsoft.com/office/drawing/2014/main" id="{8D68AA64-9128-4FCD-B429-E71A42E3F22D}"/>
                  </a:ext>
                </a:extLst>
              </p:cNvPr>
              <p:cNvPicPr>
                <a:picLocks noChangeAspect="1"/>
              </p:cNvPicPr>
              <p:nvPr/>
            </p:nvPicPr>
            <p:blipFill>
              <a:blip r:embed="rId14"/>
              <a:stretch>
                <a:fillRect/>
              </a:stretch>
            </p:blipFill>
            <p:spPr>
              <a:xfrm>
                <a:off x="3082343" y="4589203"/>
                <a:ext cx="252000" cy="252000"/>
              </a:xfrm>
              <a:prstGeom prst="rect">
                <a:avLst/>
              </a:prstGeom>
            </p:spPr>
          </p:pic>
        </p:grpSp>
        <p:grpSp>
          <p:nvGrpSpPr>
            <p:cNvPr id="49" name="Groupe 48">
              <a:extLst>
                <a:ext uri="{FF2B5EF4-FFF2-40B4-BE49-F238E27FC236}">
                  <a16:creationId xmlns:a16="http://schemas.microsoft.com/office/drawing/2014/main" id="{5E2310E9-935C-12CC-9E61-675C49449356}"/>
                </a:ext>
              </a:extLst>
            </p:cNvPr>
            <p:cNvGrpSpPr/>
            <p:nvPr/>
          </p:nvGrpSpPr>
          <p:grpSpPr>
            <a:xfrm>
              <a:off x="9569854" y="1198113"/>
              <a:ext cx="2616976" cy="468000"/>
              <a:chOff x="9569854" y="1347584"/>
              <a:chExt cx="2616976" cy="468000"/>
            </a:xfrm>
          </p:grpSpPr>
          <p:sp>
            <p:nvSpPr>
              <p:cNvPr id="50" name="ZoneTexte 49">
                <a:extLst>
                  <a:ext uri="{FF2B5EF4-FFF2-40B4-BE49-F238E27FC236}">
                    <a16:creationId xmlns:a16="http://schemas.microsoft.com/office/drawing/2014/main" id="{BDB67796-82DD-B7EB-4716-F4EE8B1E90C9}"/>
                  </a:ext>
                </a:extLst>
              </p:cNvPr>
              <p:cNvSpPr txBox="1"/>
              <p:nvPr/>
            </p:nvSpPr>
            <p:spPr>
              <a:xfrm>
                <a:off x="10056601" y="1412307"/>
                <a:ext cx="2130229" cy="338554"/>
              </a:xfrm>
              <a:prstGeom prst="rect">
                <a:avLst/>
              </a:prstGeom>
              <a:noFill/>
            </p:spPr>
            <p:txBody>
              <a:bodyPr wrap="square">
                <a:spAutoFit/>
              </a:bodyPr>
              <a:lstStyle/>
              <a:p>
                <a:pPr lvl="0" algn="ctr"/>
                <a:r>
                  <a:rPr lang="fr-FR" sz="1600" b="1" u="sng" dirty="0" err="1"/>
                  <a:t>Alcimed’s</a:t>
                </a:r>
                <a:r>
                  <a:rPr lang="fr-FR" sz="1600" b="1" u="sng" dirty="0"/>
                  <a:t> feeling</a:t>
                </a:r>
              </a:p>
            </p:txBody>
          </p:sp>
          <p:pic>
            <p:nvPicPr>
              <p:cNvPr id="51" name="Image 50">
                <a:extLst>
                  <a:ext uri="{FF2B5EF4-FFF2-40B4-BE49-F238E27FC236}">
                    <a16:creationId xmlns:a16="http://schemas.microsoft.com/office/drawing/2014/main" id="{6BDE9024-59AE-56D7-4657-2BF41C2CCE9C}"/>
                  </a:ext>
                </a:extLst>
              </p:cNvPr>
              <p:cNvPicPr>
                <a:picLocks noChangeAspect="1"/>
              </p:cNvPicPr>
              <p:nvPr/>
            </p:nvPicPr>
            <p:blipFill>
              <a:blip r:embed="rId15"/>
              <a:stretch>
                <a:fillRect/>
              </a:stretch>
            </p:blipFill>
            <p:spPr>
              <a:xfrm>
                <a:off x="9569854" y="1347584"/>
                <a:ext cx="468000" cy="468000"/>
              </a:xfrm>
              <a:prstGeom prst="rect">
                <a:avLst/>
              </a:prstGeom>
            </p:spPr>
          </p:pic>
        </p:grpSp>
        <p:sp>
          <p:nvSpPr>
            <p:cNvPr id="77" name="Rectangle 76">
              <a:extLst>
                <a:ext uri="{FF2B5EF4-FFF2-40B4-BE49-F238E27FC236}">
                  <a16:creationId xmlns:a16="http://schemas.microsoft.com/office/drawing/2014/main" id="{3935CF63-8255-9A6F-0D7C-55EB9731FD02}"/>
                </a:ext>
              </a:extLst>
            </p:cNvPr>
            <p:cNvSpPr/>
            <p:nvPr/>
          </p:nvSpPr>
          <p:spPr>
            <a:xfrm>
              <a:off x="11205746" y="2592881"/>
              <a:ext cx="895684" cy="276999"/>
            </a:xfrm>
            <a:prstGeom prst="rect">
              <a:avLst/>
            </a:prstGeom>
            <a:solidFill>
              <a:schemeClr val="accent2">
                <a:lumMod val="20000"/>
                <a:lumOff val="8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13CC3A77-B39C-5431-B0B8-49D870159E95}"/>
                </a:ext>
              </a:extLst>
            </p:cNvPr>
            <p:cNvSpPr/>
            <p:nvPr/>
          </p:nvSpPr>
          <p:spPr>
            <a:xfrm>
              <a:off x="11524865" y="2211281"/>
              <a:ext cx="538579" cy="276999"/>
            </a:xfrm>
            <a:prstGeom prst="rect">
              <a:avLst/>
            </a:prstGeom>
            <a:solidFill>
              <a:schemeClr val="accent2">
                <a:lumMod val="20000"/>
                <a:lumOff val="8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84" name="ZoneTexte 83">
            <a:extLst>
              <a:ext uri="{FF2B5EF4-FFF2-40B4-BE49-F238E27FC236}">
                <a16:creationId xmlns:a16="http://schemas.microsoft.com/office/drawing/2014/main" id="{45A526F3-0070-7494-4B89-BE5882FCB095}"/>
              </a:ext>
            </a:extLst>
          </p:cNvPr>
          <p:cNvSpPr txBox="1"/>
          <p:nvPr/>
        </p:nvSpPr>
        <p:spPr>
          <a:xfrm>
            <a:off x="9498986" y="4044612"/>
            <a:ext cx="2693014" cy="209288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b="0" i="0" u="none" strike="noStrike" baseline="0" dirty="0"/>
              <a:t>1. </a:t>
            </a:r>
            <a:r>
              <a:rPr lang="fr-FR" sz="1000" dirty="0" err="1"/>
              <a:t>Moiani</a:t>
            </a:r>
            <a:r>
              <a:rPr lang="fr-FR" sz="1000" dirty="0"/>
              <a:t> A. </a:t>
            </a:r>
            <a:r>
              <a:rPr lang="fr-FR" sz="1000" i="1" dirty="0"/>
              <a:t>et </a:t>
            </a:r>
            <a:r>
              <a:rPr lang="fr-FR" sz="1000" i="1" dirty="0" err="1"/>
              <a:t>al.</a:t>
            </a:r>
            <a:r>
              <a:rPr lang="fr-FR" sz="1000" dirty="0" err="1"/>
              <a:t>,C</a:t>
            </a:r>
            <a:r>
              <a:rPr lang="fr-FR" sz="1000" dirty="0"/>
              <a:t>., </a:t>
            </a:r>
            <a:r>
              <a:rPr lang="fr-FR" sz="1000" dirty="0" err="1"/>
              <a:t>PreClinical</a:t>
            </a:r>
            <a:r>
              <a:rPr lang="fr-FR" sz="1000" dirty="0"/>
              <a:t> </a:t>
            </a:r>
            <a:r>
              <a:rPr lang="fr-FR" sz="1000" dirty="0" err="1"/>
              <a:t>Development</a:t>
            </a:r>
            <a:r>
              <a:rPr lang="fr-FR" sz="1000" dirty="0"/>
              <a:t> of a </a:t>
            </a:r>
            <a:r>
              <a:rPr lang="fr-FR" sz="1000" dirty="0" err="1"/>
              <a:t>Highly</a:t>
            </a:r>
            <a:r>
              <a:rPr lang="fr-FR" sz="1000" dirty="0"/>
              <a:t> Efficient TALEN®-</a:t>
            </a:r>
            <a:r>
              <a:rPr lang="fr-FR" sz="1000" dirty="0" err="1"/>
              <a:t>Based</a:t>
            </a:r>
            <a:r>
              <a:rPr lang="fr-FR" sz="1000" dirty="0"/>
              <a:t> Correction of the </a:t>
            </a:r>
            <a:r>
              <a:rPr lang="el-GR" sz="1000" dirty="0"/>
              <a:t>β-</a:t>
            </a:r>
            <a:r>
              <a:rPr lang="fr-FR" sz="1000" dirty="0" err="1"/>
              <a:t>Globin</a:t>
            </a:r>
            <a:r>
              <a:rPr lang="fr-FR" sz="1000" dirty="0"/>
              <a:t> Gene in Patient-</a:t>
            </a:r>
            <a:r>
              <a:rPr lang="fr-FR" sz="1000" dirty="0" err="1"/>
              <a:t>Derived</a:t>
            </a:r>
            <a:r>
              <a:rPr lang="fr-FR" sz="1000" dirty="0"/>
              <a:t> </a:t>
            </a:r>
            <a:r>
              <a:rPr lang="fr-FR" sz="1000" dirty="0" err="1"/>
              <a:t>Hematopoietic</a:t>
            </a:r>
            <a:r>
              <a:rPr lang="fr-FR" sz="1000" dirty="0"/>
              <a:t> Stem and </a:t>
            </a:r>
            <a:r>
              <a:rPr lang="fr-FR" sz="1000" dirty="0" err="1"/>
              <a:t>Progenitor</a:t>
            </a:r>
            <a:r>
              <a:rPr lang="fr-FR" sz="1000" dirty="0"/>
              <a:t> </a:t>
            </a:r>
            <a:r>
              <a:rPr lang="fr-FR" sz="1000" dirty="0" err="1"/>
              <a:t>Cells</a:t>
            </a:r>
            <a:r>
              <a:rPr lang="fr-FR" sz="1000" dirty="0"/>
              <a:t> (</a:t>
            </a:r>
            <a:r>
              <a:rPr lang="fr-FR" sz="1000" dirty="0" err="1"/>
              <a:t>HSPCs</a:t>
            </a:r>
            <a:r>
              <a:rPr lang="fr-FR" sz="1000" dirty="0"/>
              <a:t>) to </a:t>
            </a:r>
            <a:r>
              <a:rPr lang="fr-FR" sz="1000" dirty="0" err="1"/>
              <a:t>Treat</a:t>
            </a:r>
            <a:r>
              <a:rPr lang="fr-FR" sz="1000" dirty="0"/>
              <a:t> </a:t>
            </a:r>
            <a:r>
              <a:rPr lang="fr-FR" sz="1000" dirty="0" err="1"/>
              <a:t>Sickle</a:t>
            </a:r>
            <a:r>
              <a:rPr lang="fr-FR" sz="1000" dirty="0"/>
              <a:t> </a:t>
            </a:r>
            <a:r>
              <a:rPr lang="fr-FR" sz="1000" dirty="0" err="1"/>
              <a:t>Cell</a:t>
            </a:r>
            <a:r>
              <a:rPr lang="fr-FR" sz="1000" dirty="0"/>
              <a:t> </a:t>
            </a:r>
            <a:r>
              <a:rPr lang="fr-FR" sz="1000" dirty="0" err="1"/>
              <a:t>Disease</a:t>
            </a:r>
            <a:r>
              <a:rPr lang="fr-FR" sz="1000" dirty="0"/>
              <a:t>, Blood, 138, 1856 (2021)</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b="0" i="0" u="none" strike="noStrike" baseline="0" dirty="0"/>
              <a:t>2. </a:t>
            </a:r>
            <a:r>
              <a:rPr lang="fr-FR" sz="1000" dirty="0"/>
              <a:t>Qasim W. </a:t>
            </a:r>
            <a:r>
              <a:rPr lang="fr-FR" sz="1000" i="1" dirty="0"/>
              <a:t>et al.</a:t>
            </a:r>
            <a:r>
              <a:rPr lang="fr-FR" sz="1000" dirty="0"/>
              <a:t>,, </a:t>
            </a:r>
            <a:r>
              <a:rPr lang="fr-FR" sz="1000" dirty="0" err="1"/>
              <a:t>Molecular</a:t>
            </a:r>
            <a:r>
              <a:rPr lang="fr-FR" sz="1000" dirty="0"/>
              <a:t> </a:t>
            </a:r>
            <a:r>
              <a:rPr lang="fr-FR" sz="1000" dirty="0" err="1"/>
              <a:t>remission</a:t>
            </a:r>
            <a:r>
              <a:rPr lang="fr-FR" sz="1000" dirty="0"/>
              <a:t> of infant B-ALL </a:t>
            </a:r>
            <a:r>
              <a:rPr lang="fr-FR" sz="1000" dirty="0" err="1"/>
              <a:t>after</a:t>
            </a:r>
            <a:r>
              <a:rPr lang="fr-FR" sz="1000" dirty="0"/>
              <a:t> infusion of </a:t>
            </a:r>
            <a:r>
              <a:rPr lang="fr-FR" sz="1000" dirty="0" err="1"/>
              <a:t>universal</a:t>
            </a:r>
            <a:r>
              <a:rPr lang="fr-FR" sz="1000" dirty="0"/>
              <a:t> TALEN </a:t>
            </a:r>
            <a:r>
              <a:rPr lang="fr-FR" sz="1000" dirty="0" err="1"/>
              <a:t>gene-edited</a:t>
            </a:r>
            <a:r>
              <a:rPr lang="fr-FR" sz="1000" dirty="0"/>
              <a:t> CAR T </a:t>
            </a:r>
            <a:r>
              <a:rPr lang="fr-FR" sz="1000" dirty="0" err="1"/>
              <a:t>cells</a:t>
            </a:r>
            <a:r>
              <a:rPr lang="fr-FR" sz="1000" dirty="0"/>
              <a:t>, </a:t>
            </a:r>
            <a:r>
              <a:rPr lang="fr-FR" sz="1000" dirty="0" err="1"/>
              <a:t>Sci</a:t>
            </a:r>
            <a:r>
              <a:rPr lang="fr-FR" sz="1000" dirty="0"/>
              <a:t> </a:t>
            </a:r>
            <a:r>
              <a:rPr lang="fr-FR" sz="1000" dirty="0" err="1"/>
              <a:t>Transl</a:t>
            </a:r>
            <a:r>
              <a:rPr lang="fr-FR" sz="1000" dirty="0"/>
              <a:t> Med, 9, eaaj2013 (2017)</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000" dirty="0"/>
              <a:t>3. </a:t>
            </a:r>
            <a:r>
              <a:rPr lang="fr-FR" sz="1000" dirty="0" err="1"/>
              <a:t>Nishiga</a:t>
            </a:r>
            <a:r>
              <a:rPr lang="fr-FR" sz="1000" dirty="0"/>
              <a:t> M. </a:t>
            </a:r>
            <a:r>
              <a:rPr lang="fr-FR" sz="1000" i="1" dirty="0"/>
              <a:t>et al.</a:t>
            </a:r>
            <a:r>
              <a:rPr lang="fr-FR" sz="1000" dirty="0"/>
              <a:t>, </a:t>
            </a:r>
            <a:r>
              <a:rPr lang="fr-FR" sz="1000" dirty="0" err="1"/>
              <a:t>Therapeutic</a:t>
            </a:r>
            <a:r>
              <a:rPr lang="fr-FR" sz="1000" dirty="0"/>
              <a:t> </a:t>
            </a:r>
            <a:r>
              <a:rPr lang="fr-FR" sz="1000" dirty="0" err="1"/>
              <a:t>genome</a:t>
            </a:r>
            <a:r>
              <a:rPr lang="fr-FR" sz="1000" dirty="0"/>
              <a:t> </a:t>
            </a:r>
            <a:r>
              <a:rPr lang="fr-FR" sz="1000" dirty="0" err="1"/>
              <a:t>editing</a:t>
            </a:r>
            <a:r>
              <a:rPr lang="fr-FR" sz="1000" dirty="0"/>
              <a:t> in </a:t>
            </a:r>
            <a:r>
              <a:rPr lang="fr-FR" sz="1000" dirty="0" err="1"/>
              <a:t>cardiovascular</a:t>
            </a:r>
            <a:r>
              <a:rPr lang="fr-FR" sz="1000" dirty="0"/>
              <a:t> </a:t>
            </a:r>
            <a:r>
              <a:rPr lang="fr-FR" sz="1000" dirty="0" err="1"/>
              <a:t>diseases</a:t>
            </a:r>
            <a:r>
              <a:rPr lang="fr-FR" sz="1000" dirty="0"/>
              <a:t>, Adv Drug </a:t>
            </a:r>
            <a:r>
              <a:rPr lang="fr-FR" sz="1000" dirty="0" err="1"/>
              <a:t>Deliv</a:t>
            </a:r>
            <a:r>
              <a:rPr lang="fr-FR" sz="1000" dirty="0"/>
              <a:t> </a:t>
            </a:r>
            <a:r>
              <a:rPr lang="fr-FR" sz="1000" dirty="0" err="1"/>
              <a:t>Rev</a:t>
            </a:r>
            <a:r>
              <a:rPr lang="fr-FR" sz="1000" dirty="0"/>
              <a:t>, 168, 147-157 (2021)</a:t>
            </a:r>
            <a:endParaRPr lang="fr-FR" sz="1000" b="0" i="0" u="none" strike="noStrike" baseline="0" dirty="0"/>
          </a:p>
        </p:txBody>
      </p:sp>
      <p:sp>
        <p:nvSpPr>
          <p:cNvPr id="90" name="ZoneTexte 89">
            <a:extLst>
              <a:ext uri="{FF2B5EF4-FFF2-40B4-BE49-F238E27FC236}">
                <a16:creationId xmlns:a16="http://schemas.microsoft.com/office/drawing/2014/main" id="{5A340D2E-8CA5-5691-5848-85F02F571822}"/>
              </a:ext>
            </a:extLst>
          </p:cNvPr>
          <p:cNvSpPr txBox="1"/>
          <p:nvPr/>
        </p:nvSpPr>
        <p:spPr>
          <a:xfrm>
            <a:off x="7204491" y="614853"/>
            <a:ext cx="985787"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554549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85825-82D5-1913-1954-52464A376C74}"/>
            </a:ext>
          </a:extLst>
        </p:cNvPr>
        <p:cNvGrpSpPr/>
        <p:nvPr/>
      </p:nvGrpSpPr>
      <p:grpSpPr>
        <a:xfrm>
          <a:off x="0" y="0"/>
          <a:ext cx="0" cy="0"/>
          <a:chOff x="0" y="0"/>
          <a:chExt cx="0" cy="0"/>
        </a:xfrm>
      </p:grpSpPr>
      <p:sp>
        <p:nvSpPr>
          <p:cNvPr id="40" name="Rectangle : coins arrondis 39">
            <a:extLst>
              <a:ext uri="{FF2B5EF4-FFF2-40B4-BE49-F238E27FC236}">
                <a16:creationId xmlns:a16="http://schemas.microsoft.com/office/drawing/2014/main" id="{8B31212A-66E9-2E97-6ECE-D09ADFD2192B}"/>
              </a:ext>
            </a:extLst>
          </p:cNvPr>
          <p:cNvSpPr/>
          <p:nvPr/>
        </p:nvSpPr>
        <p:spPr>
          <a:xfrm>
            <a:off x="8760710" y="2244424"/>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cxnSp>
        <p:nvCxnSpPr>
          <p:cNvPr id="17" name="Connecteur droit 16">
            <a:extLst>
              <a:ext uri="{FF2B5EF4-FFF2-40B4-BE49-F238E27FC236}">
                <a16:creationId xmlns:a16="http://schemas.microsoft.com/office/drawing/2014/main" id="{08237079-C984-B580-FA39-9A54D5BDB25B}"/>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5FA73E66-7694-D784-2518-FBAC550EF4C0}"/>
              </a:ext>
            </a:extLst>
          </p:cNvPr>
          <p:cNvSpPr txBox="1"/>
          <p:nvPr/>
        </p:nvSpPr>
        <p:spPr>
          <a:xfrm>
            <a:off x="218115" y="167310"/>
            <a:ext cx="10648800" cy="569387"/>
          </a:xfrm>
          <a:prstGeom prst="rect">
            <a:avLst/>
          </a:prstGeom>
          <a:noFill/>
        </p:spPr>
        <p:txBody>
          <a:bodyPr wrap="square">
            <a:spAutoFit/>
          </a:bodyPr>
          <a:lstStyle/>
          <a:p>
            <a:pPr lvl="0"/>
            <a:r>
              <a:rPr lang="fr-FR" sz="3100" b="1" dirty="0">
                <a:solidFill>
                  <a:schemeClr val="tx2"/>
                </a:solidFill>
              </a:rPr>
              <a:t>CRISPR/Cas9</a:t>
            </a:r>
          </a:p>
        </p:txBody>
      </p:sp>
      <p:sp>
        <p:nvSpPr>
          <p:cNvPr id="20" name="Rectangle : coins arrondis 19">
            <a:extLst>
              <a:ext uri="{FF2B5EF4-FFF2-40B4-BE49-F238E27FC236}">
                <a16:creationId xmlns:a16="http://schemas.microsoft.com/office/drawing/2014/main" id="{C3CFF7D3-7BB5-718A-B3F6-A3742AF6CCB6}"/>
              </a:ext>
            </a:extLst>
          </p:cNvPr>
          <p:cNvSpPr/>
          <p:nvPr/>
        </p:nvSpPr>
        <p:spPr>
          <a:xfrm>
            <a:off x="3229069" y="1796401"/>
            <a:ext cx="5044440" cy="4194824"/>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48DE9436-5227-A6F9-F634-EEBA3FE72742}"/>
              </a:ext>
            </a:extLst>
          </p:cNvPr>
          <p:cNvSpPr/>
          <p:nvPr/>
        </p:nvSpPr>
        <p:spPr>
          <a:xfrm>
            <a:off x="3026550" y="151723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14E53B2A-A160-AEF1-7DE3-B77BF450CB8F}"/>
              </a:ext>
            </a:extLst>
          </p:cNvPr>
          <p:cNvSpPr/>
          <p:nvPr/>
        </p:nvSpPr>
        <p:spPr>
          <a:xfrm>
            <a:off x="3468968" y="1594887"/>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FCCF33DE-D9A3-2D71-7611-376C573A4EE4}"/>
              </a:ext>
            </a:extLst>
          </p:cNvPr>
          <p:cNvSpPr/>
          <p:nvPr/>
        </p:nvSpPr>
        <p:spPr>
          <a:xfrm rot="5400000">
            <a:off x="-358685" y="2607141"/>
            <a:ext cx="3483429"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66544A2D-B703-D1BF-81FA-53870941958B}"/>
              </a:ext>
            </a:extLst>
          </p:cNvPr>
          <p:cNvSpPr/>
          <p:nvPr/>
        </p:nvSpPr>
        <p:spPr>
          <a:xfrm>
            <a:off x="8558191" y="196525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6E90F673-B9CF-AF10-E69B-783FA2D1464B}"/>
              </a:ext>
            </a:extLst>
          </p:cNvPr>
          <p:cNvSpPr/>
          <p:nvPr/>
        </p:nvSpPr>
        <p:spPr>
          <a:xfrm>
            <a:off x="9000609" y="203559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5" name="Rectangle : coins arrondis 44">
            <a:extLst>
              <a:ext uri="{FF2B5EF4-FFF2-40B4-BE49-F238E27FC236}">
                <a16:creationId xmlns:a16="http://schemas.microsoft.com/office/drawing/2014/main" id="{71DC1A0F-56BF-8982-EBB8-7A9B017EABAB}"/>
              </a:ext>
            </a:extLst>
          </p:cNvPr>
          <p:cNvSpPr/>
          <p:nvPr/>
        </p:nvSpPr>
        <p:spPr>
          <a:xfrm>
            <a:off x="8760710" y="4659574"/>
            <a:ext cx="3063240" cy="1848827"/>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DF45AE89-9A53-3E41-67EA-F23401357660}"/>
              </a:ext>
            </a:extLst>
          </p:cNvPr>
          <p:cNvSpPr/>
          <p:nvPr/>
        </p:nvSpPr>
        <p:spPr>
          <a:xfrm>
            <a:off x="8558191" y="43804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BE850BCF-C9C8-5259-D6B0-337AED76F2AA}"/>
              </a:ext>
            </a:extLst>
          </p:cNvPr>
          <p:cNvSpPr/>
          <p:nvPr/>
        </p:nvSpPr>
        <p:spPr>
          <a:xfrm>
            <a:off x="9000609" y="445074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 name="Groupe 2">
            <a:extLst>
              <a:ext uri="{FF2B5EF4-FFF2-40B4-BE49-F238E27FC236}">
                <a16:creationId xmlns:a16="http://schemas.microsoft.com/office/drawing/2014/main" id="{6F7A9ED9-CACD-D928-1CF8-033EED04AF13}"/>
              </a:ext>
            </a:extLst>
          </p:cNvPr>
          <p:cNvGrpSpPr/>
          <p:nvPr/>
        </p:nvGrpSpPr>
        <p:grpSpPr>
          <a:xfrm>
            <a:off x="71514" y="2335229"/>
            <a:ext cx="2632872" cy="830997"/>
            <a:chOff x="71514" y="2335229"/>
            <a:chExt cx="2632872" cy="830997"/>
          </a:xfrm>
        </p:grpSpPr>
        <p:sp>
          <p:nvSpPr>
            <p:cNvPr id="4" name="ZoneTexte 3">
              <a:extLst>
                <a:ext uri="{FF2B5EF4-FFF2-40B4-BE49-F238E27FC236}">
                  <a16:creationId xmlns:a16="http://schemas.microsoft.com/office/drawing/2014/main" id="{B0F5763E-7898-EA85-357D-4B294FAC8BCA}"/>
                </a:ext>
              </a:extLst>
            </p:cNvPr>
            <p:cNvSpPr txBox="1"/>
            <p:nvPr/>
          </p:nvSpPr>
          <p:spPr>
            <a:xfrm>
              <a:off x="839954" y="2335229"/>
              <a:ext cx="1864432" cy="830997"/>
            </a:xfrm>
            <a:prstGeom prst="rect">
              <a:avLst/>
            </a:prstGeom>
            <a:noFill/>
          </p:spPr>
          <p:txBody>
            <a:bodyPr wrap="square" rtlCol="0">
              <a:spAutoFit/>
            </a:bodyPr>
            <a:lstStyle/>
            <a:p>
              <a:r>
                <a:rPr lang="fr-FR" sz="1200" dirty="0" err="1"/>
                <a:t>Discovered</a:t>
              </a:r>
              <a:r>
                <a:rPr lang="fr-FR" sz="1200" dirty="0"/>
                <a:t> in </a:t>
              </a:r>
              <a:r>
                <a:rPr lang="fr-FR" sz="1200" b="1" dirty="0"/>
                <a:t>2005</a:t>
              </a:r>
              <a:r>
                <a:rPr lang="fr-FR" sz="1200" dirty="0"/>
                <a:t>, Cas are the </a:t>
              </a:r>
              <a:r>
                <a:rPr lang="fr-FR" sz="1200" b="1" dirty="0"/>
                <a:t>3</a:t>
              </a:r>
              <a:r>
                <a:rPr lang="fr-FR" sz="1200" b="1" baseline="30000" dirty="0"/>
                <a:t>rd</a:t>
              </a:r>
              <a:r>
                <a:rPr lang="fr-FR" sz="1200" b="1" dirty="0"/>
                <a:t> </a:t>
              </a:r>
              <a:r>
                <a:rPr lang="fr-FR" sz="1200" b="1" dirty="0" err="1"/>
                <a:t>generation</a:t>
              </a:r>
              <a:r>
                <a:rPr lang="fr-FR" sz="1200" b="1" dirty="0"/>
                <a:t> </a:t>
              </a:r>
              <a:r>
                <a:rPr lang="fr-FR" sz="1200" dirty="0"/>
                <a:t>of </a:t>
              </a:r>
              <a:r>
                <a:rPr lang="fr-FR" sz="1200" dirty="0" err="1"/>
                <a:t>sequence-specific</a:t>
              </a:r>
              <a:r>
                <a:rPr lang="fr-FR" sz="1200" dirty="0"/>
                <a:t> </a:t>
              </a:r>
              <a:r>
                <a:rPr lang="fr-FR" sz="1200" dirty="0" err="1"/>
                <a:t>endonucleases</a:t>
              </a:r>
              <a:r>
                <a:rPr lang="fr-FR" sz="1200" dirty="0"/>
                <a:t>.</a:t>
              </a:r>
              <a:endParaRPr lang="fr-FR" b="1" dirty="0"/>
            </a:p>
          </p:txBody>
        </p:sp>
        <p:pic>
          <p:nvPicPr>
            <p:cNvPr id="5" name="Image 4">
              <a:extLst>
                <a:ext uri="{FF2B5EF4-FFF2-40B4-BE49-F238E27FC236}">
                  <a16:creationId xmlns:a16="http://schemas.microsoft.com/office/drawing/2014/main" id="{4059BC34-B05F-8D67-FDB0-8B3A492458FB}"/>
                </a:ext>
              </a:extLst>
            </p:cNvPr>
            <p:cNvPicPr>
              <a:picLocks noChangeAspect="1"/>
            </p:cNvPicPr>
            <p:nvPr/>
          </p:nvPicPr>
          <p:blipFill>
            <a:blip r:embed="rId2"/>
            <a:stretch>
              <a:fillRect/>
            </a:stretch>
          </p:blipFill>
          <p:spPr>
            <a:xfrm>
              <a:off x="71514" y="2390727"/>
              <a:ext cx="720000" cy="720000"/>
            </a:xfrm>
            <a:prstGeom prst="rect">
              <a:avLst/>
            </a:prstGeom>
          </p:spPr>
        </p:pic>
      </p:grpSp>
      <p:grpSp>
        <p:nvGrpSpPr>
          <p:cNvPr id="19" name="Groupe 18">
            <a:extLst>
              <a:ext uri="{FF2B5EF4-FFF2-40B4-BE49-F238E27FC236}">
                <a16:creationId xmlns:a16="http://schemas.microsoft.com/office/drawing/2014/main" id="{BC0FBD0F-9E26-4D9D-6E7D-32E3F3F5C38C}"/>
              </a:ext>
            </a:extLst>
          </p:cNvPr>
          <p:cNvGrpSpPr/>
          <p:nvPr/>
        </p:nvGrpSpPr>
        <p:grpSpPr>
          <a:xfrm>
            <a:off x="74170" y="3204965"/>
            <a:ext cx="2630216" cy="863708"/>
            <a:chOff x="74170" y="3236916"/>
            <a:chExt cx="2630216" cy="863708"/>
          </a:xfrm>
        </p:grpSpPr>
        <p:sp>
          <p:nvSpPr>
            <p:cNvPr id="23" name="ZoneTexte 22">
              <a:extLst>
                <a:ext uri="{FF2B5EF4-FFF2-40B4-BE49-F238E27FC236}">
                  <a16:creationId xmlns:a16="http://schemas.microsoft.com/office/drawing/2014/main" id="{B12DF275-9DBE-3B2F-E93B-7071C8E9A8E3}"/>
                </a:ext>
              </a:extLst>
            </p:cNvPr>
            <p:cNvSpPr txBox="1"/>
            <p:nvPr/>
          </p:nvSpPr>
          <p:spPr>
            <a:xfrm>
              <a:off x="839954" y="3236916"/>
              <a:ext cx="1864432" cy="276999"/>
            </a:xfrm>
            <a:prstGeom prst="rect">
              <a:avLst/>
            </a:prstGeom>
            <a:noFill/>
          </p:spPr>
          <p:txBody>
            <a:bodyPr wrap="square">
              <a:spAutoFit/>
            </a:bodyPr>
            <a:lstStyle/>
            <a:p>
              <a:r>
                <a:rPr lang="en-US" sz="1200" b="0" i="0" u="none" strike="noStrike" baseline="0" dirty="0"/>
                <a:t>Allows</a:t>
              </a:r>
              <a:endParaRPr lang="en-US" sz="1200" b="1" dirty="0"/>
            </a:p>
          </p:txBody>
        </p:sp>
        <p:pic>
          <p:nvPicPr>
            <p:cNvPr id="24" name="Image 23">
              <a:extLst>
                <a:ext uri="{FF2B5EF4-FFF2-40B4-BE49-F238E27FC236}">
                  <a16:creationId xmlns:a16="http://schemas.microsoft.com/office/drawing/2014/main" id="{FF0DE1D0-FD84-B188-7213-F7F87E186E07}"/>
                </a:ext>
              </a:extLst>
            </p:cNvPr>
            <p:cNvPicPr>
              <a:picLocks noChangeAspect="1"/>
            </p:cNvPicPr>
            <p:nvPr/>
          </p:nvPicPr>
          <p:blipFill>
            <a:blip r:embed="rId3"/>
            <a:stretch>
              <a:fillRect/>
            </a:stretch>
          </p:blipFill>
          <p:spPr>
            <a:xfrm>
              <a:off x="74170" y="3380624"/>
              <a:ext cx="720000" cy="720000"/>
            </a:xfrm>
            <a:prstGeom prst="rect">
              <a:avLst/>
            </a:prstGeom>
          </p:spPr>
        </p:pic>
      </p:grpSp>
      <p:grpSp>
        <p:nvGrpSpPr>
          <p:cNvPr id="30" name="Groupe 29">
            <a:extLst>
              <a:ext uri="{FF2B5EF4-FFF2-40B4-BE49-F238E27FC236}">
                <a16:creationId xmlns:a16="http://schemas.microsoft.com/office/drawing/2014/main" id="{632D4F4E-0DC7-8E09-9E02-E79A7AC5FA03}"/>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CAA18B56-FF08-484E-3FAA-B5A6823A23EF}"/>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9CB8B5EB-17E8-FE8B-0A87-7C687C7DC4B8}"/>
                </a:ext>
              </a:extLst>
            </p:cNvPr>
            <p:cNvSpPr txBox="1"/>
            <p:nvPr/>
          </p:nvSpPr>
          <p:spPr>
            <a:xfrm>
              <a:off x="791514" y="4300246"/>
              <a:ext cx="1974546" cy="830997"/>
            </a:xfrm>
            <a:prstGeom prst="rect">
              <a:avLst/>
            </a:prstGeom>
            <a:noFill/>
          </p:spPr>
          <p:txBody>
            <a:bodyPr wrap="square">
              <a:spAutoFit/>
            </a:bodyPr>
            <a:lstStyle/>
            <a:p>
              <a:pPr algn="just"/>
              <a:r>
                <a:rPr lang="en-US" sz="1200" b="0" i="0" u="none" strike="noStrike" baseline="0" dirty="0"/>
                <a:t>-</a:t>
              </a:r>
              <a:r>
                <a:rPr lang="en-US" sz="1200" dirty="0"/>
                <a:t>Targeted site must precede a </a:t>
              </a:r>
              <a:r>
                <a:rPr lang="en-US" sz="1200" b="1" dirty="0"/>
                <a:t>PAM sequence</a:t>
              </a:r>
              <a:r>
                <a:rPr lang="en-US" sz="1200" dirty="0"/>
                <a:t>.</a:t>
              </a:r>
              <a:endParaRPr lang="fr-FR" sz="1200" dirty="0"/>
            </a:p>
            <a:p>
              <a:pPr algn="just"/>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7F0EA43F-FE0D-B056-A580-DF6D6BED768F}"/>
              </a:ext>
            </a:extLst>
          </p:cNvPr>
          <p:cNvPicPr>
            <a:picLocks noChangeAspect="1"/>
          </p:cNvPicPr>
          <p:nvPr/>
        </p:nvPicPr>
        <p:blipFill>
          <a:blip r:embed="rId5"/>
          <a:stretch>
            <a:fillRect/>
          </a:stretch>
        </p:blipFill>
        <p:spPr>
          <a:xfrm>
            <a:off x="3084375" y="1573988"/>
            <a:ext cx="468000" cy="468000"/>
          </a:xfrm>
          <a:prstGeom prst="rect">
            <a:avLst/>
          </a:prstGeom>
        </p:spPr>
      </p:pic>
      <p:pic>
        <p:nvPicPr>
          <p:cNvPr id="39" name="Image 38" descr="Une image contenant symbole, Police, Graphique, logo&#10;&#10;Description générée automatiquement">
            <a:extLst>
              <a:ext uri="{FF2B5EF4-FFF2-40B4-BE49-F238E27FC236}">
                <a16:creationId xmlns:a16="http://schemas.microsoft.com/office/drawing/2014/main" id="{899E0CDF-2665-A699-4967-7B44E86217AF}"/>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3D99C6B8-715A-E86F-04C4-BD2DA87E6709}"/>
              </a:ext>
            </a:extLst>
          </p:cNvPr>
          <p:cNvPicPr>
            <a:picLocks noChangeAspect="1"/>
          </p:cNvPicPr>
          <p:nvPr/>
        </p:nvPicPr>
        <p:blipFill>
          <a:blip r:embed="rId7"/>
          <a:stretch>
            <a:fillRect/>
          </a:stretch>
        </p:blipFill>
        <p:spPr>
          <a:xfrm>
            <a:off x="8632027" y="4417584"/>
            <a:ext cx="468000" cy="468000"/>
          </a:xfrm>
          <a:prstGeom prst="rect">
            <a:avLst/>
          </a:prstGeom>
        </p:spPr>
      </p:pic>
      <p:grpSp>
        <p:nvGrpSpPr>
          <p:cNvPr id="29" name="Groupe 28">
            <a:extLst>
              <a:ext uri="{FF2B5EF4-FFF2-40B4-BE49-F238E27FC236}">
                <a16:creationId xmlns:a16="http://schemas.microsoft.com/office/drawing/2014/main" id="{C3DD7F1B-2D84-9C79-887A-72C6874B7CCD}"/>
              </a:ext>
            </a:extLst>
          </p:cNvPr>
          <p:cNvGrpSpPr/>
          <p:nvPr/>
        </p:nvGrpSpPr>
        <p:grpSpPr>
          <a:xfrm>
            <a:off x="9438503" y="106406"/>
            <a:ext cx="2584191" cy="580939"/>
            <a:chOff x="9438503" y="106406"/>
            <a:chExt cx="2584191" cy="580939"/>
          </a:xfrm>
        </p:grpSpPr>
        <p:grpSp>
          <p:nvGrpSpPr>
            <p:cNvPr id="6" name="Groupe 5">
              <a:extLst>
                <a:ext uri="{FF2B5EF4-FFF2-40B4-BE49-F238E27FC236}">
                  <a16:creationId xmlns:a16="http://schemas.microsoft.com/office/drawing/2014/main" id="{D7E7DF3B-7A41-D34E-3D45-AC466F6C8D5D}"/>
                </a:ext>
              </a:extLst>
            </p:cNvPr>
            <p:cNvGrpSpPr/>
            <p:nvPr/>
          </p:nvGrpSpPr>
          <p:grpSpPr>
            <a:xfrm>
              <a:off x="9464997" y="141589"/>
              <a:ext cx="2557697" cy="538220"/>
              <a:chOff x="9464997" y="141589"/>
              <a:chExt cx="2557697" cy="538220"/>
            </a:xfrm>
          </p:grpSpPr>
          <p:pic>
            <p:nvPicPr>
              <p:cNvPr id="7" name="Picture 2">
                <a:extLst>
                  <a:ext uri="{FF2B5EF4-FFF2-40B4-BE49-F238E27FC236}">
                    <a16:creationId xmlns:a16="http://schemas.microsoft.com/office/drawing/2014/main" id="{F4B9DFC4-269C-5D91-B1F2-E4489EBFBB48}"/>
                  </a:ext>
                </a:extLst>
              </p:cNvPr>
              <p:cNvPicPr>
                <a:picLocks noChangeAspect="1" noChangeArrowheads="1"/>
              </p:cNvPicPr>
              <p:nvPr/>
            </p:nvPicPr>
            <p:blipFill>
              <a:blip r:embed="rId8">
                <a:duotone>
                  <a:prstClr val="black"/>
                  <a:schemeClr val="tx1">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511A37C6-E51B-E90B-7286-F492414BBBA0}"/>
                  </a:ext>
                </a:extLst>
              </p:cNvPr>
              <p:cNvPicPr>
                <a:picLocks noChangeAspect="1"/>
              </p:cNvPicPr>
              <p:nvPr/>
            </p:nvPicPr>
            <p:blipFill>
              <a:blip r:embed="rId10"/>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CB8EA0F6-EAB4-ABBE-07FB-B1F6CAC58F85}"/>
                  </a:ext>
                </a:extLst>
              </p:cNvPr>
              <p:cNvPicPr>
                <a:picLocks noChangeAspect="1"/>
              </p:cNvPicPr>
              <p:nvPr/>
            </p:nvPicPr>
            <p:blipFill>
              <a:blip r:embed="rId11"/>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522A3C8B-2CB2-F8DC-0E15-5F98D5B1983B}"/>
                  </a:ext>
                </a:extLst>
              </p:cNvPr>
              <p:cNvGrpSpPr/>
              <p:nvPr/>
            </p:nvGrpSpPr>
            <p:grpSpPr>
              <a:xfrm>
                <a:off x="9464997" y="141589"/>
                <a:ext cx="2557697" cy="538220"/>
                <a:chOff x="9464997" y="141589"/>
                <a:chExt cx="2557697" cy="538220"/>
              </a:xfrm>
            </p:grpSpPr>
            <p:sp>
              <p:nvSpPr>
                <p:cNvPr id="12" name="Rectangle : coins arrondis 11">
                  <a:extLst>
                    <a:ext uri="{FF2B5EF4-FFF2-40B4-BE49-F238E27FC236}">
                      <a16:creationId xmlns:a16="http://schemas.microsoft.com/office/drawing/2014/main" id="{A9408F6D-BFA6-814E-8728-CB48B5AB8550}"/>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Rectangle : coins arrondis 12">
                  <a:extLst>
                    <a:ext uri="{FF2B5EF4-FFF2-40B4-BE49-F238E27FC236}">
                      <a16:creationId xmlns:a16="http://schemas.microsoft.com/office/drawing/2014/main" id="{33758F21-204B-2E9F-08E1-AA1F1660265F}"/>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 coins arrondis 13">
                  <a:extLst>
                    <a:ext uri="{FF2B5EF4-FFF2-40B4-BE49-F238E27FC236}">
                      <a16:creationId xmlns:a16="http://schemas.microsoft.com/office/drawing/2014/main" id="{9FA2A93C-84E3-D73C-C2CD-A19579A62BA6}"/>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 coins arrondis 14">
                  <a:extLst>
                    <a:ext uri="{FF2B5EF4-FFF2-40B4-BE49-F238E27FC236}">
                      <a16:creationId xmlns:a16="http://schemas.microsoft.com/office/drawing/2014/main" id="{BA6F1A50-49A9-D13C-4C3B-53F751EB5DE4}"/>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1" name="Image 10">
                <a:extLst>
                  <a:ext uri="{FF2B5EF4-FFF2-40B4-BE49-F238E27FC236}">
                    <a16:creationId xmlns:a16="http://schemas.microsoft.com/office/drawing/2014/main" id="{102F641C-8B38-FF1F-34DA-C7D7F9E026BF}"/>
                  </a:ext>
                </a:extLst>
              </p:cNvPr>
              <p:cNvPicPr>
                <a:picLocks noChangeAspect="1"/>
              </p:cNvPicPr>
              <p:nvPr/>
            </p:nvPicPr>
            <p:blipFill>
              <a:blip r:embed="rId12"/>
              <a:stretch>
                <a:fillRect/>
              </a:stretch>
            </p:blipFill>
            <p:spPr>
              <a:xfrm>
                <a:off x="9554107" y="218630"/>
                <a:ext cx="360000" cy="360000"/>
              </a:xfrm>
              <a:prstGeom prst="rect">
                <a:avLst/>
              </a:prstGeom>
            </p:spPr>
          </p:pic>
        </p:grpSp>
        <p:sp>
          <p:nvSpPr>
            <p:cNvPr id="2" name="Rectangle 1">
              <a:extLst>
                <a:ext uri="{FF2B5EF4-FFF2-40B4-BE49-F238E27FC236}">
                  <a16:creationId xmlns:a16="http://schemas.microsoft.com/office/drawing/2014/main" id="{7803F58E-33CB-12A1-E2A3-7C4456FC75A5}"/>
                </a:ext>
              </a:extLst>
            </p:cNvPr>
            <p:cNvSpPr/>
            <p:nvPr/>
          </p:nvSpPr>
          <p:spPr>
            <a:xfrm>
              <a:off x="9438503" y="106406"/>
              <a:ext cx="1978366"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26" name="Image 25">
            <a:extLst>
              <a:ext uri="{FF2B5EF4-FFF2-40B4-BE49-F238E27FC236}">
                <a16:creationId xmlns:a16="http://schemas.microsoft.com/office/drawing/2014/main" id="{97B8F099-281D-EFF8-FD2D-F29C5A813166}"/>
              </a:ext>
            </a:extLst>
          </p:cNvPr>
          <p:cNvPicPr>
            <a:picLocks noChangeAspect="1"/>
          </p:cNvPicPr>
          <p:nvPr/>
        </p:nvPicPr>
        <p:blipFill>
          <a:blip r:embed="rId13"/>
          <a:stretch>
            <a:fillRect/>
          </a:stretch>
        </p:blipFill>
        <p:spPr>
          <a:xfrm>
            <a:off x="4700288" y="2149082"/>
            <a:ext cx="2132482" cy="1634568"/>
          </a:xfrm>
          <a:prstGeom prst="rect">
            <a:avLst/>
          </a:prstGeom>
        </p:spPr>
      </p:pic>
      <p:sp>
        <p:nvSpPr>
          <p:cNvPr id="41" name="ZoneTexte 40">
            <a:extLst>
              <a:ext uri="{FF2B5EF4-FFF2-40B4-BE49-F238E27FC236}">
                <a16:creationId xmlns:a16="http://schemas.microsoft.com/office/drawing/2014/main" id="{977CCA67-1BC1-A2C7-0E3F-BB0E8B2159F4}"/>
              </a:ext>
            </a:extLst>
          </p:cNvPr>
          <p:cNvSpPr txBox="1"/>
          <p:nvPr/>
        </p:nvSpPr>
        <p:spPr>
          <a:xfrm>
            <a:off x="3291097" y="3639089"/>
            <a:ext cx="4815150" cy="2492990"/>
          </a:xfrm>
          <a:prstGeom prst="rect">
            <a:avLst/>
          </a:prstGeom>
          <a:noFill/>
        </p:spPr>
        <p:txBody>
          <a:bodyPr wrap="square">
            <a:spAutoFit/>
          </a:bodyPr>
          <a:lstStyle/>
          <a:p>
            <a:pPr marL="285750" indent="-285750" algn="just">
              <a:buFont typeface="Wingdings" panose="05000000000000000000" pitchFamily="2" charset="2"/>
              <a:buChar char="Ø"/>
            </a:pPr>
            <a:r>
              <a:rPr lang="fr-FR" sz="1200" b="1" dirty="0"/>
              <a:t>CRISPR </a:t>
            </a:r>
            <a:r>
              <a:rPr lang="fr-FR" sz="1200" dirty="0"/>
              <a:t>:</a:t>
            </a:r>
            <a:r>
              <a:rPr lang="fr-FR" sz="1200" b="1" dirty="0"/>
              <a:t> </a:t>
            </a:r>
            <a:r>
              <a:rPr lang="fr-FR" sz="1200" dirty="0" err="1"/>
              <a:t>Clustered</a:t>
            </a:r>
            <a:r>
              <a:rPr lang="fr-FR" sz="1200" dirty="0"/>
              <a:t> </a:t>
            </a:r>
            <a:r>
              <a:rPr lang="fr-FR" sz="1200" dirty="0" err="1"/>
              <a:t>Regularly</a:t>
            </a:r>
            <a:r>
              <a:rPr lang="fr-FR" sz="1200" dirty="0"/>
              <a:t> </a:t>
            </a:r>
            <a:r>
              <a:rPr lang="fr-FR" sz="1200" dirty="0" err="1"/>
              <a:t>Interspaced</a:t>
            </a:r>
            <a:r>
              <a:rPr lang="fr-FR" sz="1200" dirty="0"/>
              <a:t> </a:t>
            </a:r>
            <a:r>
              <a:rPr lang="fr-FR" sz="1200" dirty="0" err="1"/>
              <a:t>Palindromic</a:t>
            </a:r>
            <a:r>
              <a:rPr lang="fr-FR" sz="1200" dirty="0"/>
              <a:t> </a:t>
            </a:r>
            <a:r>
              <a:rPr lang="fr-FR" sz="1200" dirty="0" err="1"/>
              <a:t>Repeats</a:t>
            </a:r>
            <a:r>
              <a:rPr lang="fr-FR" sz="1200" dirty="0"/>
              <a:t> </a:t>
            </a:r>
          </a:p>
          <a:p>
            <a:pPr marL="285750" indent="-285750" algn="just">
              <a:buFont typeface="Wingdings" panose="05000000000000000000" pitchFamily="2" charset="2"/>
              <a:buChar char="Ø"/>
            </a:pPr>
            <a:r>
              <a:rPr lang="fr-FR" sz="1200" b="1" dirty="0"/>
              <a:t>Cas </a:t>
            </a:r>
            <a:r>
              <a:rPr lang="fr-FR" sz="1200" dirty="0"/>
              <a:t>:</a:t>
            </a:r>
            <a:r>
              <a:rPr lang="fr-FR" sz="1200" b="1" dirty="0"/>
              <a:t> </a:t>
            </a:r>
            <a:r>
              <a:rPr lang="fr-FR" sz="1200" dirty="0"/>
              <a:t>CRISPR-</a:t>
            </a:r>
            <a:r>
              <a:rPr lang="fr-FR" sz="1200" dirty="0" err="1"/>
              <a:t>associated</a:t>
            </a:r>
            <a:r>
              <a:rPr lang="fr-FR" sz="1200" dirty="0"/>
              <a:t>.</a:t>
            </a:r>
          </a:p>
          <a:p>
            <a:pPr marL="285750" indent="-285750" algn="just">
              <a:buFont typeface="Wingdings" panose="05000000000000000000" pitchFamily="2" charset="2"/>
              <a:buChar char="Ø"/>
            </a:pPr>
            <a:r>
              <a:rPr lang="en-US" sz="1200" dirty="0"/>
              <a:t>It derived from a bacterial adaptive immune defense system.</a:t>
            </a:r>
          </a:p>
          <a:p>
            <a:pPr marL="285750" indent="-285750" algn="just">
              <a:buFont typeface="Wingdings" panose="05000000000000000000" pitchFamily="2" charset="2"/>
              <a:buChar char="Ø"/>
            </a:pPr>
            <a:r>
              <a:rPr lang="en-US" sz="1200" dirty="0"/>
              <a:t>It targets </a:t>
            </a:r>
            <a:r>
              <a:rPr lang="en-US" sz="1200" b="1" dirty="0"/>
              <a:t>DNA sequences of 22 to 26 bp</a:t>
            </a:r>
            <a:r>
              <a:rPr lang="en-US" sz="1200" dirty="0"/>
              <a:t>, with 2 to 6 bp corresponding to </a:t>
            </a:r>
            <a:r>
              <a:rPr lang="en-US" sz="1200" b="1" dirty="0"/>
              <a:t>PAM </a:t>
            </a:r>
            <a:r>
              <a:rPr lang="en-US" sz="1200" dirty="0"/>
              <a:t>(</a:t>
            </a:r>
            <a:r>
              <a:rPr lang="fr-FR" sz="1200" dirty="0" err="1"/>
              <a:t>Protospacer</a:t>
            </a:r>
            <a:r>
              <a:rPr lang="fr-FR" sz="1200" dirty="0"/>
              <a:t> Adjacent Motif</a:t>
            </a:r>
            <a:r>
              <a:rPr lang="en-US" sz="1200" dirty="0"/>
              <a:t>).</a:t>
            </a:r>
            <a:endParaRPr lang="fr-FR" sz="1200" dirty="0"/>
          </a:p>
          <a:p>
            <a:pPr marL="285750" indent="-285750" algn="just">
              <a:buFont typeface="Wingdings" panose="05000000000000000000" pitchFamily="2" charset="2"/>
              <a:buChar char="Ø"/>
            </a:pPr>
            <a:r>
              <a:rPr lang="fr-FR" sz="1200" dirty="0"/>
              <a:t>Target DNA </a:t>
            </a:r>
            <a:r>
              <a:rPr lang="fr-FR" sz="1200" dirty="0" err="1"/>
              <a:t>sequence</a:t>
            </a:r>
            <a:r>
              <a:rPr lang="fr-FR" sz="1200" dirty="0"/>
              <a:t> </a:t>
            </a:r>
            <a:r>
              <a:rPr lang="fr-FR" sz="1200" dirty="0" err="1"/>
              <a:t>is</a:t>
            </a:r>
            <a:r>
              <a:rPr lang="fr-FR" sz="1200" dirty="0"/>
              <a:t> </a:t>
            </a:r>
            <a:r>
              <a:rPr lang="fr-FR" sz="1200" dirty="0" err="1"/>
              <a:t>recognized</a:t>
            </a:r>
            <a:r>
              <a:rPr lang="fr-FR" sz="1200" dirty="0"/>
              <a:t> by a short single-guide RNA (</a:t>
            </a:r>
            <a:r>
              <a:rPr lang="fr-FR" sz="1200" dirty="0" err="1"/>
              <a:t>sgRNA</a:t>
            </a:r>
            <a:r>
              <a:rPr lang="fr-FR" sz="1200" dirty="0"/>
              <a:t>). This recognition has </a:t>
            </a:r>
            <a:r>
              <a:rPr lang="fr-FR" sz="1200" dirty="0" err="1"/>
              <a:t>specific</a:t>
            </a:r>
            <a:r>
              <a:rPr lang="fr-FR" sz="1200" dirty="0"/>
              <a:t> </a:t>
            </a:r>
            <a:r>
              <a:rPr lang="fr-FR" sz="1200" dirty="0" err="1"/>
              <a:t>requirements</a:t>
            </a:r>
            <a:r>
              <a:rPr lang="fr-FR" sz="1200" dirty="0"/>
              <a:t> : a PAM as an adjacent motif, </a:t>
            </a:r>
            <a:r>
              <a:rPr lang="fr-FR" sz="1200" dirty="0" err="1"/>
              <a:t>followed</a:t>
            </a:r>
            <a:r>
              <a:rPr lang="fr-FR" sz="1200" dirty="0"/>
              <a:t> by 19 </a:t>
            </a:r>
            <a:r>
              <a:rPr lang="fr-FR" sz="1200" dirty="0" err="1"/>
              <a:t>target-specific</a:t>
            </a:r>
            <a:r>
              <a:rPr lang="fr-FR" sz="1200" dirty="0"/>
              <a:t> </a:t>
            </a:r>
            <a:r>
              <a:rPr lang="fr-FR" sz="1200" dirty="0" err="1"/>
              <a:t>nucleotides</a:t>
            </a:r>
            <a:r>
              <a:rPr lang="fr-FR" sz="1200" dirty="0"/>
              <a:t> and a G at the end.</a:t>
            </a:r>
          </a:p>
          <a:p>
            <a:pPr marL="285750" indent="-285750" algn="just">
              <a:buFont typeface="Wingdings" panose="05000000000000000000" pitchFamily="2" charset="2"/>
              <a:buChar char="Ø"/>
            </a:pPr>
            <a:r>
              <a:rPr lang="fr-FR" sz="1200" dirty="0"/>
              <a:t>CRISPR/Cas9 : </a:t>
            </a:r>
            <a:r>
              <a:rPr lang="en-US" sz="1200" dirty="0"/>
              <a:t>most commonly used tissue-specific system to mutate any gene by Cas9-mediated cutting.</a:t>
            </a:r>
          </a:p>
          <a:p>
            <a:pPr marL="285750" indent="-285750" algn="just">
              <a:buFont typeface="Wingdings" panose="05000000000000000000" pitchFamily="2" charset="2"/>
              <a:buChar char="Ø"/>
            </a:pPr>
            <a:r>
              <a:rPr lang="fr-FR" sz="1200" dirty="0"/>
              <a:t>Cas 9 recognition of PAM </a:t>
            </a:r>
            <a:r>
              <a:rPr lang="fr-FR" sz="1200" dirty="0" err="1"/>
              <a:t>allows</a:t>
            </a:r>
            <a:r>
              <a:rPr lang="fr-FR" sz="1200" dirty="0"/>
              <a:t> DNA </a:t>
            </a:r>
            <a:r>
              <a:rPr lang="fr-FR" sz="1200" dirty="0" err="1"/>
              <a:t>cleavage</a:t>
            </a:r>
            <a:r>
              <a:rPr lang="fr-FR" sz="1200" dirty="0"/>
              <a:t>.</a:t>
            </a:r>
          </a:p>
          <a:p>
            <a:pPr marL="285750" indent="-285750" algn="just">
              <a:buFont typeface="Wingdings" panose="05000000000000000000" pitchFamily="2" charset="2"/>
              <a:buChar char="Ø"/>
            </a:pPr>
            <a:endParaRPr lang="en-US" sz="1200" dirty="0"/>
          </a:p>
        </p:txBody>
      </p:sp>
      <p:sp>
        <p:nvSpPr>
          <p:cNvPr id="44" name="ZoneTexte 43">
            <a:extLst>
              <a:ext uri="{FF2B5EF4-FFF2-40B4-BE49-F238E27FC236}">
                <a16:creationId xmlns:a16="http://schemas.microsoft.com/office/drawing/2014/main" id="{2934E777-0E0F-8E46-8E14-9E061CA94951}"/>
              </a:ext>
            </a:extLst>
          </p:cNvPr>
          <p:cNvSpPr txBox="1"/>
          <p:nvPr/>
        </p:nvSpPr>
        <p:spPr>
          <a:xfrm>
            <a:off x="8760711" y="2645367"/>
            <a:ext cx="3063240" cy="646331"/>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a:t>Cancer </a:t>
            </a:r>
            <a:r>
              <a:rPr lang="fr-FR" sz="1200" dirty="0" err="1"/>
              <a:t>treatment</a:t>
            </a:r>
            <a:r>
              <a:rPr lang="fr-FR" sz="1200" dirty="0"/>
              <a:t>: colorectal cancer,</a:t>
            </a:r>
            <a:r>
              <a:rPr lang="fr-FR" sz="1200" baseline="30000" dirty="0"/>
              <a:t>3  </a:t>
            </a:r>
            <a:r>
              <a:rPr lang="fr-FR" sz="1200" dirty="0" err="1"/>
              <a:t>breast</a:t>
            </a:r>
            <a:r>
              <a:rPr lang="fr-FR" sz="1200" dirty="0"/>
              <a:t> cancer,</a:t>
            </a:r>
            <a:r>
              <a:rPr lang="fr-FR" sz="1200" baseline="30000" dirty="0"/>
              <a:t>4</a:t>
            </a:r>
            <a:r>
              <a:rPr lang="fr-FR" sz="1200" dirty="0"/>
              <a:t> </a:t>
            </a:r>
            <a:r>
              <a:rPr lang="fr-FR" sz="1200" dirty="0" err="1"/>
              <a:t>lung</a:t>
            </a:r>
            <a:r>
              <a:rPr lang="fr-FR" sz="1200" dirty="0"/>
              <a:t> cancer</a:t>
            </a:r>
            <a:r>
              <a:rPr lang="fr-FR" sz="1200" baseline="30000" dirty="0"/>
              <a:t>5</a:t>
            </a:r>
          </a:p>
          <a:p>
            <a:pPr marL="285750" indent="-285750" algn="just">
              <a:buFont typeface="Wingdings" panose="05000000000000000000" pitchFamily="2" charset="2"/>
              <a:buChar char="Ø"/>
            </a:pPr>
            <a:r>
              <a:rPr lang="fr-FR" sz="1200" dirty="0" err="1"/>
              <a:t>Cardiovascular</a:t>
            </a:r>
            <a:r>
              <a:rPr lang="fr-FR" sz="1200" dirty="0"/>
              <a:t> diseases</a:t>
            </a:r>
            <a:r>
              <a:rPr lang="fr-FR" sz="1200" baseline="30000" dirty="0"/>
              <a:t>6 </a:t>
            </a:r>
          </a:p>
        </p:txBody>
      </p:sp>
      <p:grpSp>
        <p:nvGrpSpPr>
          <p:cNvPr id="16" name="Groupe 15">
            <a:extLst>
              <a:ext uri="{FF2B5EF4-FFF2-40B4-BE49-F238E27FC236}">
                <a16:creationId xmlns:a16="http://schemas.microsoft.com/office/drawing/2014/main" id="{87DC2EDE-BB4E-6D95-7300-FCB8BE55B9A5}"/>
              </a:ext>
            </a:extLst>
          </p:cNvPr>
          <p:cNvGrpSpPr/>
          <p:nvPr/>
        </p:nvGrpSpPr>
        <p:grpSpPr>
          <a:xfrm>
            <a:off x="645225" y="945343"/>
            <a:ext cx="10937024" cy="565150"/>
            <a:chOff x="645225" y="945343"/>
            <a:chExt cx="10937024" cy="565150"/>
          </a:xfrm>
        </p:grpSpPr>
        <p:sp>
          <p:nvSpPr>
            <p:cNvPr id="33" name="Ellipse 32">
              <a:extLst>
                <a:ext uri="{FF2B5EF4-FFF2-40B4-BE49-F238E27FC236}">
                  <a16:creationId xmlns:a16="http://schemas.microsoft.com/office/drawing/2014/main" id="{CB80F3E4-AAB8-436B-5B61-A4D3C833DD22}"/>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space réservé du texte 9">
              <a:extLst>
                <a:ext uri="{FF2B5EF4-FFF2-40B4-BE49-F238E27FC236}">
                  <a16:creationId xmlns:a16="http://schemas.microsoft.com/office/drawing/2014/main" id="{4F20917B-8585-3A36-723E-E5EB69091D35}"/>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CRISPR/Cas9 </a:t>
              </a:r>
              <a:r>
                <a:rPr lang="en-US" sz="1800" b="1" i="0" u="none" strike="noStrike" baseline="0" dirty="0">
                  <a:solidFill>
                    <a:srgbClr val="231F20"/>
                  </a:solidFill>
                </a:rPr>
                <a:t>has emerged as the most flexible and user-friendly platform for genome editing even though </a:t>
              </a:r>
              <a:r>
                <a:rPr lang="en-US" sz="1800" b="1" dirty="0">
                  <a:solidFill>
                    <a:srgbClr val="231F20"/>
                  </a:solidFill>
                </a:rPr>
                <a:t>its intracellular delivery is complex and it lacks specificity.</a:t>
              </a:r>
              <a:r>
                <a:rPr lang="fr-FR" sz="1800" b="1" dirty="0"/>
                <a:t> </a:t>
              </a:r>
            </a:p>
          </p:txBody>
        </p:sp>
      </p:grpSp>
    </p:spTree>
    <p:extLst>
      <p:ext uri="{BB962C8B-B14F-4D97-AF65-F5344CB8AC3E}">
        <p14:creationId xmlns:p14="http://schemas.microsoft.com/office/powerpoint/2010/main" val="3361855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2A78B-A961-C110-B42E-DE59229FFE8A}"/>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28B372BB-5802-03AB-036D-EA4C575D470C}"/>
              </a:ext>
            </a:extLst>
          </p:cNvPr>
          <p:cNvSpPr/>
          <p:nvPr/>
        </p:nvSpPr>
        <p:spPr>
          <a:xfrm>
            <a:off x="371100" y="1312211"/>
            <a:ext cx="8635047" cy="1816889"/>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8475BFEA-7607-1891-EE81-B0985225A888}"/>
              </a:ext>
            </a:extLst>
          </p:cNvPr>
          <p:cNvSpPr/>
          <p:nvPr/>
        </p:nvSpPr>
        <p:spPr>
          <a:xfrm>
            <a:off x="300401" y="1011224"/>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483C9A20-8C4E-7D4D-71FB-D18DEA0752B1}"/>
              </a:ext>
            </a:extLst>
          </p:cNvPr>
          <p:cNvSpPr/>
          <p:nvPr/>
        </p:nvSpPr>
        <p:spPr>
          <a:xfrm>
            <a:off x="742819" y="1088878"/>
            <a:ext cx="3415295"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5CD96F07-DF00-3465-A21B-3947839E6BE2}"/>
              </a:ext>
            </a:extLst>
          </p:cNvPr>
          <p:cNvSpPr/>
          <p:nvPr/>
        </p:nvSpPr>
        <p:spPr>
          <a:xfrm rot="16200000">
            <a:off x="9878641" y="784232"/>
            <a:ext cx="1860661"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A4BA91C6-4356-CA1F-09D9-CAC8DA6EF4D2}"/>
              </a:ext>
            </a:extLst>
          </p:cNvPr>
          <p:cNvSpPr/>
          <p:nvPr/>
        </p:nvSpPr>
        <p:spPr>
          <a:xfrm>
            <a:off x="502920" y="3497773"/>
            <a:ext cx="8508400" cy="1631168"/>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A33B9044-7770-580F-535A-026E5DAFBB05}"/>
              </a:ext>
            </a:extLst>
          </p:cNvPr>
          <p:cNvSpPr/>
          <p:nvPr/>
        </p:nvSpPr>
        <p:spPr>
          <a:xfrm>
            <a:off x="300401" y="3218605"/>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73D0CD5A-99D6-284D-57D4-F894F5503E7C}"/>
              </a:ext>
            </a:extLst>
          </p:cNvPr>
          <p:cNvSpPr/>
          <p:nvPr/>
        </p:nvSpPr>
        <p:spPr>
          <a:xfrm>
            <a:off x="742819" y="3288938"/>
            <a:ext cx="3415295"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3CBD8DE8-D682-12A3-B1A3-4EC3B17E3412}"/>
              </a:ext>
            </a:extLst>
          </p:cNvPr>
          <p:cNvSpPr/>
          <p:nvPr/>
        </p:nvSpPr>
        <p:spPr>
          <a:xfrm>
            <a:off x="502919" y="5526482"/>
            <a:ext cx="8503229" cy="1164207"/>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F16147A0-0DB3-BBD4-956B-C7BEA1D5A786}"/>
              </a:ext>
            </a:extLst>
          </p:cNvPr>
          <p:cNvSpPr/>
          <p:nvPr/>
        </p:nvSpPr>
        <p:spPr>
          <a:xfrm>
            <a:off x="300401" y="5220145"/>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D36D94AD-6DDF-A6EC-77E7-CFAA41FCD212}"/>
              </a:ext>
            </a:extLst>
          </p:cNvPr>
          <p:cNvSpPr/>
          <p:nvPr/>
        </p:nvSpPr>
        <p:spPr>
          <a:xfrm>
            <a:off x="742819" y="5290478"/>
            <a:ext cx="3415295"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E53A42EE-77A2-F894-53C7-1795E62C5560}"/>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3127BC1E-7E2F-2C84-6D90-CF68FB715AC0}"/>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060B6038-6556-5FC3-679E-648D8A4CDEA0}"/>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60350F13-1C98-38AF-D9D4-F549308C29EA}"/>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4F3CE924-E17F-55C5-4D06-0051CCBDFCF7}"/>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9097CD4B-B917-9984-C718-EF039023A1E6}"/>
                </a:ext>
              </a:extLst>
            </p:cNvPr>
            <p:cNvPicPr>
              <a:picLocks noChangeAspect="1"/>
            </p:cNvPicPr>
            <p:nvPr/>
          </p:nvPicPr>
          <p:blipFill>
            <a:blip r:embed="rId4"/>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C115E276-FBE7-7B40-60D5-95F51EEA2A2C}"/>
                </a:ext>
              </a:extLst>
            </p:cNvPr>
            <p:cNvPicPr>
              <a:picLocks noChangeAspect="1"/>
            </p:cNvPicPr>
            <p:nvPr/>
          </p:nvPicPr>
          <p:blipFill>
            <a:blip r:embed="rId4"/>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5ABCBACA-504A-64C2-9B33-A284AB76CF7A}"/>
                </a:ext>
              </a:extLst>
            </p:cNvPr>
            <p:cNvPicPr>
              <a:picLocks noChangeAspect="1"/>
            </p:cNvPicPr>
            <p:nvPr/>
          </p:nvPicPr>
          <p:blipFill>
            <a:blip r:embed="rId4"/>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962A7213-38C3-CBD3-0EB2-D8CF5BC19256}"/>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6603F552-5AB2-E496-0954-3D080559C3F5}"/>
                </a:ext>
              </a:extLst>
            </p:cNvPr>
            <p:cNvPicPr>
              <a:picLocks noChangeAspect="1"/>
            </p:cNvPicPr>
            <p:nvPr/>
          </p:nvPicPr>
          <p:blipFill>
            <a:blip r:embed="rId5"/>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81759594-DC3C-5005-00D5-84778A5C08B5}"/>
                </a:ext>
              </a:extLst>
            </p:cNvPr>
            <p:cNvPicPr>
              <a:picLocks noChangeAspect="1"/>
            </p:cNvPicPr>
            <p:nvPr/>
          </p:nvPicPr>
          <p:blipFill>
            <a:blip r:embed="rId5"/>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B7AF30B9-C6AC-820E-8897-A914630B118E}"/>
                </a:ext>
              </a:extLst>
            </p:cNvPr>
            <p:cNvPicPr>
              <a:picLocks noChangeAspect="1"/>
            </p:cNvPicPr>
            <p:nvPr/>
          </p:nvPicPr>
          <p:blipFill>
            <a:blip r:embed="rId5"/>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74C5ED1D-D630-2129-7179-4B326A5B19CC}"/>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6F11465B-C043-5629-274D-4E58D8BBA520}"/>
                </a:ext>
              </a:extLst>
            </p:cNvPr>
            <p:cNvPicPr>
              <a:picLocks noChangeAspect="1"/>
            </p:cNvPicPr>
            <p:nvPr/>
          </p:nvPicPr>
          <p:blipFill>
            <a:blip r:embed="rId6"/>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46DA1BDB-D307-6262-17C0-FAFCC730DA65}"/>
                </a:ext>
              </a:extLst>
            </p:cNvPr>
            <p:cNvPicPr>
              <a:picLocks noChangeAspect="1"/>
            </p:cNvPicPr>
            <p:nvPr/>
          </p:nvPicPr>
          <p:blipFill>
            <a:blip r:embed="rId6"/>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987AE24C-2807-CA5B-F459-60DD3FDB88C8}"/>
                </a:ext>
              </a:extLst>
            </p:cNvPr>
            <p:cNvPicPr>
              <a:picLocks noChangeAspect="1"/>
            </p:cNvPicPr>
            <p:nvPr/>
          </p:nvPicPr>
          <p:blipFill>
            <a:blip r:embed="rId6"/>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9CE7F72B-C8BA-A849-84BA-F91FC7083303}"/>
              </a:ext>
            </a:extLst>
          </p:cNvPr>
          <p:cNvPicPr>
            <a:picLocks noChangeAspect="1"/>
          </p:cNvPicPr>
          <p:nvPr/>
        </p:nvPicPr>
        <p:blipFill>
          <a:blip r:embed="rId7"/>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216590D7-F959-36EA-8CA2-9B677AA12C34}"/>
              </a:ext>
            </a:extLst>
          </p:cNvPr>
          <p:cNvSpPr/>
          <p:nvPr/>
        </p:nvSpPr>
        <p:spPr>
          <a:xfrm rot="16200000">
            <a:off x="9416360" y="3658746"/>
            <a:ext cx="2785225"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616B97A4-DA58-255F-F793-4537EF272252}"/>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FD6FDF73-E8ED-7201-3902-30468EAC39DC}"/>
              </a:ext>
            </a:extLst>
          </p:cNvPr>
          <p:cNvPicPr>
            <a:picLocks noChangeAspect="1"/>
          </p:cNvPicPr>
          <p:nvPr/>
        </p:nvPicPr>
        <p:blipFill>
          <a:blip r:embed="rId8"/>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C632DD65-E434-E9DE-D419-C292B78D1B13}"/>
              </a:ext>
            </a:extLst>
          </p:cNvPr>
          <p:cNvPicPr>
            <a:picLocks noChangeAspect="1"/>
          </p:cNvPicPr>
          <p:nvPr/>
        </p:nvPicPr>
        <p:blipFill>
          <a:blip r:embed="rId9"/>
          <a:stretch>
            <a:fillRect/>
          </a:stretch>
        </p:blipFill>
        <p:spPr>
          <a:xfrm>
            <a:off x="364777" y="1046522"/>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36BB0A43-3861-5916-FE4F-E8CE51EA3A13}"/>
              </a:ext>
            </a:extLst>
          </p:cNvPr>
          <p:cNvPicPr>
            <a:picLocks noChangeAspect="1"/>
          </p:cNvPicPr>
          <p:nvPr/>
        </p:nvPicPr>
        <p:blipFill>
          <a:blip r:embed="rId10"/>
          <a:stretch>
            <a:fillRect/>
          </a:stretch>
        </p:blipFill>
        <p:spPr>
          <a:xfrm>
            <a:off x="351510" y="3273036"/>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40E38EF8-0087-0029-3424-EB6D8181D2C0}"/>
              </a:ext>
            </a:extLst>
          </p:cNvPr>
          <p:cNvPicPr>
            <a:picLocks noChangeAspect="1"/>
          </p:cNvPicPr>
          <p:nvPr/>
        </p:nvPicPr>
        <p:blipFill>
          <a:blip r:embed="rId11"/>
          <a:stretch>
            <a:fillRect/>
          </a:stretch>
        </p:blipFill>
        <p:spPr>
          <a:xfrm>
            <a:off x="400795" y="5278293"/>
            <a:ext cx="468000" cy="468000"/>
          </a:xfrm>
          <a:prstGeom prst="rect">
            <a:avLst/>
          </a:prstGeom>
        </p:spPr>
      </p:pic>
      <p:cxnSp>
        <p:nvCxnSpPr>
          <p:cNvPr id="6" name="Connecteur droit 5">
            <a:extLst>
              <a:ext uri="{FF2B5EF4-FFF2-40B4-BE49-F238E27FC236}">
                <a16:creationId xmlns:a16="http://schemas.microsoft.com/office/drawing/2014/main" id="{A13A9B23-1E22-3050-0734-1910127BE35F}"/>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33275E1F-A5AC-A839-29E4-1D34C0C2E4A9}"/>
              </a:ext>
            </a:extLst>
          </p:cNvPr>
          <p:cNvSpPr txBox="1"/>
          <p:nvPr/>
        </p:nvSpPr>
        <p:spPr>
          <a:xfrm>
            <a:off x="218115" y="167310"/>
            <a:ext cx="10648800" cy="569387"/>
          </a:xfrm>
          <a:prstGeom prst="rect">
            <a:avLst/>
          </a:prstGeom>
          <a:noFill/>
        </p:spPr>
        <p:txBody>
          <a:bodyPr wrap="square">
            <a:spAutoFit/>
          </a:bodyPr>
          <a:lstStyle/>
          <a:p>
            <a:pPr lvl="0"/>
            <a:r>
              <a:rPr lang="fr-FR" sz="3100" b="1" dirty="0">
                <a:solidFill>
                  <a:schemeClr val="tx2"/>
                </a:solidFill>
              </a:rPr>
              <a:t>CRISPR/Cas9</a:t>
            </a:r>
          </a:p>
        </p:txBody>
      </p:sp>
      <p:grpSp>
        <p:nvGrpSpPr>
          <p:cNvPr id="10" name="Groupe 9">
            <a:extLst>
              <a:ext uri="{FF2B5EF4-FFF2-40B4-BE49-F238E27FC236}">
                <a16:creationId xmlns:a16="http://schemas.microsoft.com/office/drawing/2014/main" id="{9A3CF3D5-495A-CDD0-31E3-2F741EF5E4FF}"/>
              </a:ext>
            </a:extLst>
          </p:cNvPr>
          <p:cNvGrpSpPr/>
          <p:nvPr/>
        </p:nvGrpSpPr>
        <p:grpSpPr>
          <a:xfrm>
            <a:off x="9438503" y="106406"/>
            <a:ext cx="2584191" cy="580939"/>
            <a:chOff x="9438503" y="106406"/>
            <a:chExt cx="2584191" cy="580939"/>
          </a:xfrm>
        </p:grpSpPr>
        <p:grpSp>
          <p:nvGrpSpPr>
            <p:cNvPr id="11" name="Groupe 10">
              <a:extLst>
                <a:ext uri="{FF2B5EF4-FFF2-40B4-BE49-F238E27FC236}">
                  <a16:creationId xmlns:a16="http://schemas.microsoft.com/office/drawing/2014/main" id="{4FB75E47-D5FF-A15B-448D-C91C006DBEF5}"/>
                </a:ext>
              </a:extLst>
            </p:cNvPr>
            <p:cNvGrpSpPr/>
            <p:nvPr/>
          </p:nvGrpSpPr>
          <p:grpSpPr>
            <a:xfrm>
              <a:off x="9464997" y="141589"/>
              <a:ext cx="2557697" cy="538220"/>
              <a:chOff x="9464997" y="141589"/>
              <a:chExt cx="2557697" cy="538220"/>
            </a:xfrm>
          </p:grpSpPr>
          <p:pic>
            <p:nvPicPr>
              <p:cNvPr id="13" name="Picture 2">
                <a:extLst>
                  <a:ext uri="{FF2B5EF4-FFF2-40B4-BE49-F238E27FC236}">
                    <a16:creationId xmlns:a16="http://schemas.microsoft.com/office/drawing/2014/main" id="{A0537836-0AF1-7A29-D2B0-3FFC62D6C210}"/>
                  </a:ext>
                </a:extLst>
              </p:cNvPr>
              <p:cNvPicPr>
                <a:picLocks noChangeAspect="1" noChangeArrowheads="1"/>
              </p:cNvPicPr>
              <p:nvPr/>
            </p:nvPicPr>
            <p:blipFill>
              <a:blip r:embed="rId12">
                <a:duotone>
                  <a:prstClr val="black"/>
                  <a:schemeClr val="tx1">
                    <a:tint val="45000"/>
                    <a:satMod val="400000"/>
                  </a:schemeClr>
                </a:duotone>
                <a:extLst>
                  <a:ext uri="{BEBA8EAE-BF5A-486C-A8C5-ECC9F3942E4B}">
                    <a14:imgProps xmlns:a14="http://schemas.microsoft.com/office/drawing/2010/main">
                      <a14:imgLayer r:embed="rId13">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a:extLst>
                  <a:ext uri="{FF2B5EF4-FFF2-40B4-BE49-F238E27FC236}">
                    <a16:creationId xmlns:a16="http://schemas.microsoft.com/office/drawing/2014/main" id="{7BFD8EE3-00CA-E7DE-9F08-594C7463399F}"/>
                  </a:ext>
                </a:extLst>
              </p:cNvPr>
              <p:cNvPicPr>
                <a:picLocks noChangeAspect="1"/>
              </p:cNvPicPr>
              <p:nvPr/>
            </p:nvPicPr>
            <p:blipFill>
              <a:blip r:embed="rId14"/>
              <a:stretch>
                <a:fillRect/>
              </a:stretch>
            </p:blipFill>
            <p:spPr>
              <a:xfrm>
                <a:off x="10228477" y="228513"/>
                <a:ext cx="360000" cy="360000"/>
              </a:xfrm>
              <a:prstGeom prst="rect">
                <a:avLst/>
              </a:prstGeom>
            </p:spPr>
          </p:pic>
          <p:pic>
            <p:nvPicPr>
              <p:cNvPr id="15" name="Image 14">
                <a:extLst>
                  <a:ext uri="{FF2B5EF4-FFF2-40B4-BE49-F238E27FC236}">
                    <a16:creationId xmlns:a16="http://schemas.microsoft.com/office/drawing/2014/main" id="{88219BFC-EB05-C7DB-F672-8C9A93597195}"/>
                  </a:ext>
                </a:extLst>
              </p:cNvPr>
              <p:cNvPicPr>
                <a:picLocks noChangeAspect="1"/>
              </p:cNvPicPr>
              <p:nvPr/>
            </p:nvPicPr>
            <p:blipFill>
              <a:blip r:embed="rId15"/>
              <a:stretch>
                <a:fillRect/>
              </a:stretch>
            </p:blipFill>
            <p:spPr>
              <a:xfrm>
                <a:off x="11595089" y="233166"/>
                <a:ext cx="360000" cy="360000"/>
              </a:xfrm>
              <a:prstGeom prst="rect">
                <a:avLst/>
              </a:prstGeom>
            </p:spPr>
          </p:pic>
          <p:grpSp>
            <p:nvGrpSpPr>
              <p:cNvPr id="16" name="Groupe 15">
                <a:extLst>
                  <a:ext uri="{FF2B5EF4-FFF2-40B4-BE49-F238E27FC236}">
                    <a16:creationId xmlns:a16="http://schemas.microsoft.com/office/drawing/2014/main" id="{A6FB4902-9053-3753-603E-8B6998138945}"/>
                  </a:ext>
                </a:extLst>
              </p:cNvPr>
              <p:cNvGrpSpPr/>
              <p:nvPr/>
            </p:nvGrpSpPr>
            <p:grpSpPr>
              <a:xfrm>
                <a:off x="9464997" y="141589"/>
                <a:ext cx="2557697" cy="538220"/>
                <a:chOff x="9464997" y="141589"/>
                <a:chExt cx="2557697" cy="538220"/>
              </a:xfrm>
            </p:grpSpPr>
            <p:sp>
              <p:nvSpPr>
                <p:cNvPr id="18" name="Rectangle : coins arrondis 17">
                  <a:extLst>
                    <a:ext uri="{FF2B5EF4-FFF2-40B4-BE49-F238E27FC236}">
                      <a16:creationId xmlns:a16="http://schemas.microsoft.com/office/drawing/2014/main" id="{D6CA9721-D6AC-97BC-F831-9313DA1042F0}"/>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Rectangle : coins arrondis 30">
                  <a:extLst>
                    <a:ext uri="{FF2B5EF4-FFF2-40B4-BE49-F238E27FC236}">
                      <a16:creationId xmlns:a16="http://schemas.microsoft.com/office/drawing/2014/main" id="{9DA2938B-F2C8-28C5-D096-C58F7AFD9C85}"/>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0" name="Rectangle : coins arrondis 39">
                  <a:extLst>
                    <a:ext uri="{FF2B5EF4-FFF2-40B4-BE49-F238E27FC236}">
                      <a16:creationId xmlns:a16="http://schemas.microsoft.com/office/drawing/2014/main" id="{71285F52-0124-C06F-60AD-CC0507803338}"/>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4" name="Rectangle : coins arrondis 43">
                  <a:extLst>
                    <a:ext uri="{FF2B5EF4-FFF2-40B4-BE49-F238E27FC236}">
                      <a16:creationId xmlns:a16="http://schemas.microsoft.com/office/drawing/2014/main" id="{F03D7DE3-C7B8-8C8C-EB78-7ED3527FFA93}"/>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7" name="Image 16">
                <a:extLst>
                  <a:ext uri="{FF2B5EF4-FFF2-40B4-BE49-F238E27FC236}">
                    <a16:creationId xmlns:a16="http://schemas.microsoft.com/office/drawing/2014/main" id="{67BEB349-0C13-6CDD-2604-53924DC1BB83}"/>
                  </a:ext>
                </a:extLst>
              </p:cNvPr>
              <p:cNvPicPr>
                <a:picLocks noChangeAspect="1"/>
              </p:cNvPicPr>
              <p:nvPr/>
            </p:nvPicPr>
            <p:blipFill>
              <a:blip r:embed="rId16"/>
              <a:stretch>
                <a:fillRect/>
              </a:stretch>
            </p:blipFill>
            <p:spPr>
              <a:xfrm>
                <a:off x="9554107" y="218630"/>
                <a:ext cx="360000" cy="360000"/>
              </a:xfrm>
              <a:prstGeom prst="rect">
                <a:avLst/>
              </a:prstGeom>
            </p:spPr>
          </p:pic>
        </p:grpSp>
        <p:sp>
          <p:nvSpPr>
            <p:cNvPr id="12" name="Rectangle 11">
              <a:extLst>
                <a:ext uri="{FF2B5EF4-FFF2-40B4-BE49-F238E27FC236}">
                  <a16:creationId xmlns:a16="http://schemas.microsoft.com/office/drawing/2014/main" id="{E1828ACD-3F12-838B-637B-9C5FBCD479F7}"/>
                </a:ext>
              </a:extLst>
            </p:cNvPr>
            <p:cNvSpPr/>
            <p:nvPr/>
          </p:nvSpPr>
          <p:spPr>
            <a:xfrm>
              <a:off x="9438503" y="106406"/>
              <a:ext cx="1978366"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50" name="ZoneTexte 49">
            <a:extLst>
              <a:ext uri="{FF2B5EF4-FFF2-40B4-BE49-F238E27FC236}">
                <a16:creationId xmlns:a16="http://schemas.microsoft.com/office/drawing/2014/main" id="{360A697A-A75C-8CFE-CF1A-48A930C06B66}"/>
              </a:ext>
            </a:extLst>
          </p:cNvPr>
          <p:cNvSpPr txBox="1"/>
          <p:nvPr/>
        </p:nvSpPr>
        <p:spPr>
          <a:xfrm>
            <a:off x="502918" y="3743945"/>
            <a:ext cx="8493295" cy="1384995"/>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Due to the large size of the commonly used Cas9, </a:t>
            </a:r>
            <a:r>
              <a:rPr lang="en-US" sz="1200" b="1" dirty="0"/>
              <a:t>intracellular delivery </a:t>
            </a:r>
            <a:r>
              <a:rPr lang="en-US" sz="1200" dirty="0"/>
              <a:t>is low, limiting clinical application of CRISPR</a:t>
            </a:r>
            <a:r>
              <a:rPr lang="en-US" sz="1200" b="1" dirty="0"/>
              <a:t>.</a:t>
            </a:r>
            <a:r>
              <a:rPr lang="en-US" sz="1200" dirty="0"/>
              <a:t> It may also cause packaging problems for viral vectors such as AAV, but smaller orthologs exist.</a:t>
            </a:r>
          </a:p>
          <a:p>
            <a:pPr marL="285750" indent="-285750" algn="just">
              <a:buFont typeface="Wingdings" panose="05000000000000000000" pitchFamily="2" charset="2"/>
              <a:buChar char="Ø"/>
            </a:pPr>
            <a:r>
              <a:rPr lang="fr-FR" sz="1200" dirty="0"/>
              <a:t>There </a:t>
            </a:r>
            <a:r>
              <a:rPr lang="fr-FR" sz="1200" dirty="0" err="1"/>
              <a:t>is</a:t>
            </a:r>
            <a:r>
              <a:rPr lang="fr-FR" sz="1200" dirty="0"/>
              <a:t> a high </a:t>
            </a:r>
            <a:r>
              <a:rPr lang="fr-FR" sz="1200" dirty="0" err="1"/>
              <a:t>probability</a:t>
            </a:r>
            <a:r>
              <a:rPr lang="fr-FR" sz="1200" dirty="0"/>
              <a:t> of off-</a:t>
            </a:r>
            <a:r>
              <a:rPr lang="fr-FR" sz="1200" dirty="0" err="1"/>
              <a:t>target</a:t>
            </a:r>
            <a:r>
              <a:rPr lang="fr-FR" sz="1200" dirty="0"/>
              <a:t> </a:t>
            </a:r>
            <a:r>
              <a:rPr lang="fr-FR" sz="1200" dirty="0" err="1"/>
              <a:t>cleavage</a:t>
            </a:r>
            <a:r>
              <a:rPr lang="fr-FR" sz="1200" dirty="0"/>
              <a:t>, </a:t>
            </a:r>
            <a:r>
              <a:rPr lang="fr-FR" sz="1200" dirty="0" err="1"/>
              <a:t>leading</a:t>
            </a:r>
            <a:r>
              <a:rPr lang="fr-FR" sz="1200" dirty="0"/>
              <a:t> to off-</a:t>
            </a:r>
            <a:r>
              <a:rPr lang="fr-FR" sz="1200" dirty="0" err="1"/>
              <a:t>target</a:t>
            </a:r>
            <a:r>
              <a:rPr lang="fr-FR" sz="1200" dirty="0"/>
              <a:t> mutations</a:t>
            </a:r>
            <a:r>
              <a:rPr lang="fr-FR" sz="1200" b="1" dirty="0"/>
              <a:t>. </a:t>
            </a:r>
            <a:r>
              <a:rPr lang="fr-FR" sz="1200" dirty="0"/>
              <a:t>It can </a:t>
            </a:r>
            <a:r>
              <a:rPr lang="fr-FR" sz="1200" dirty="0" err="1"/>
              <a:t>be</a:t>
            </a:r>
            <a:r>
              <a:rPr lang="fr-FR" sz="1200" dirty="0"/>
              <a:t> </a:t>
            </a:r>
            <a:r>
              <a:rPr lang="fr-FR" sz="1200" dirty="0" err="1"/>
              <a:t>overcomed</a:t>
            </a:r>
            <a:r>
              <a:rPr lang="fr-FR" sz="1200" dirty="0"/>
              <a:t> by </a:t>
            </a:r>
            <a:r>
              <a:rPr lang="fr-FR" sz="1200" dirty="0" err="1"/>
              <a:t>using</a:t>
            </a:r>
            <a:r>
              <a:rPr lang="fr-FR" sz="1200" dirty="0"/>
              <a:t> </a:t>
            </a:r>
            <a:r>
              <a:rPr lang="fr-FR" sz="1200" b="1" dirty="0"/>
              <a:t>alternative </a:t>
            </a:r>
            <a:r>
              <a:rPr lang="fr-FR" sz="1200" b="1" dirty="0" err="1"/>
              <a:t>reagents</a:t>
            </a:r>
            <a:r>
              <a:rPr lang="fr-FR" sz="1200" b="1" dirty="0"/>
              <a:t> to Cas9 </a:t>
            </a:r>
            <a:r>
              <a:rPr lang="fr-FR" sz="1200" dirty="0"/>
              <a:t>but </a:t>
            </a:r>
            <a:r>
              <a:rPr lang="fr-FR" sz="1200" dirty="0" err="1"/>
              <a:t>also</a:t>
            </a:r>
            <a:r>
              <a:rPr lang="fr-FR" sz="1200" dirty="0"/>
              <a:t> by </a:t>
            </a:r>
            <a:r>
              <a:rPr lang="fr-FR" sz="1200" b="1" dirty="0" err="1"/>
              <a:t>generating</a:t>
            </a:r>
            <a:r>
              <a:rPr lang="fr-FR" sz="1200" b="1" dirty="0"/>
              <a:t> </a:t>
            </a:r>
            <a:r>
              <a:rPr lang="fr-FR" sz="1200" b="1" dirty="0" err="1"/>
              <a:t>sgRNA</a:t>
            </a:r>
            <a:r>
              <a:rPr lang="fr-FR" sz="1200" b="1" dirty="0"/>
              <a:t> in silico </a:t>
            </a:r>
            <a:r>
              <a:rPr lang="fr-FR" sz="1200" dirty="0"/>
              <a:t>to </a:t>
            </a:r>
            <a:r>
              <a:rPr lang="fr-FR" sz="1200" dirty="0" err="1"/>
              <a:t>avoid</a:t>
            </a:r>
            <a:r>
              <a:rPr lang="fr-FR" sz="1200" dirty="0"/>
              <a:t> </a:t>
            </a:r>
            <a:r>
              <a:rPr lang="fr-FR" sz="1200" dirty="0" err="1"/>
              <a:t>sequence</a:t>
            </a:r>
            <a:r>
              <a:rPr lang="fr-FR" sz="1200" dirty="0"/>
              <a:t> </a:t>
            </a:r>
            <a:r>
              <a:rPr lang="fr-FR" sz="1200" dirty="0" err="1"/>
              <a:t>homology</a:t>
            </a:r>
            <a:r>
              <a:rPr lang="fr-FR" sz="1200" dirty="0"/>
              <a:t> </a:t>
            </a:r>
            <a:r>
              <a:rPr lang="fr-FR" sz="1200" dirty="0" err="1"/>
              <a:t>with</a:t>
            </a:r>
            <a:r>
              <a:rPr lang="fr-FR" sz="1200" dirty="0"/>
              <a:t> the </a:t>
            </a:r>
            <a:r>
              <a:rPr lang="fr-FR" sz="1200" dirty="0" err="1"/>
              <a:t>targeted</a:t>
            </a:r>
            <a:r>
              <a:rPr lang="fr-FR" sz="1200" dirty="0"/>
              <a:t> </a:t>
            </a:r>
            <a:r>
              <a:rPr lang="fr-FR" sz="1200" dirty="0" err="1"/>
              <a:t>genome</a:t>
            </a:r>
            <a:r>
              <a:rPr lang="fr-FR" sz="1200" dirty="0"/>
              <a:t>.</a:t>
            </a:r>
          </a:p>
          <a:p>
            <a:pPr marL="285750" indent="-285750" algn="just">
              <a:buFont typeface="Wingdings" panose="05000000000000000000" pitchFamily="2" charset="2"/>
              <a:buChar char="Ø"/>
            </a:pPr>
            <a:r>
              <a:rPr lang="en-US" sz="1200" dirty="0"/>
              <a:t>It also suffers a </a:t>
            </a:r>
            <a:r>
              <a:rPr lang="en-US" sz="1200" b="1" dirty="0"/>
              <a:t>poor repair efficiency </a:t>
            </a:r>
            <a:r>
              <a:rPr lang="en-US" sz="1200" dirty="0"/>
              <a:t>and important immunogenic responses.</a:t>
            </a:r>
          </a:p>
          <a:p>
            <a:pPr algn="just"/>
            <a:r>
              <a:rPr lang="fr-FR" sz="1200" dirty="0">
                <a:sym typeface="Wingdings" panose="05000000000000000000" pitchFamily="2" charset="2"/>
              </a:rPr>
              <a:t> </a:t>
            </a:r>
            <a:r>
              <a:rPr lang="en-US" sz="1200" dirty="0"/>
              <a:t>There is a real need to </a:t>
            </a:r>
            <a:r>
              <a:rPr lang="en-US" sz="1200" b="1" dirty="0"/>
              <a:t>enhance efficiency, flexibility and analytical power </a:t>
            </a:r>
            <a:r>
              <a:rPr lang="en-US" sz="1200" dirty="0"/>
              <a:t>of CRISPR/Cas9.</a:t>
            </a:r>
            <a:endParaRPr lang="fr-FR" sz="1200" dirty="0"/>
          </a:p>
        </p:txBody>
      </p:sp>
      <p:sp>
        <p:nvSpPr>
          <p:cNvPr id="72" name="ZoneTexte 71">
            <a:extLst>
              <a:ext uri="{FF2B5EF4-FFF2-40B4-BE49-F238E27FC236}">
                <a16:creationId xmlns:a16="http://schemas.microsoft.com/office/drawing/2014/main" id="{9BAB3F36-5E7C-C2CC-B46F-1E23414B2279}"/>
              </a:ext>
            </a:extLst>
          </p:cNvPr>
          <p:cNvSpPr txBox="1"/>
          <p:nvPr/>
        </p:nvSpPr>
        <p:spPr>
          <a:xfrm>
            <a:off x="523241" y="1567522"/>
            <a:ext cx="8503230" cy="1569660"/>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CRISPR/Cas 9 has emerged as </a:t>
            </a:r>
            <a:r>
              <a:rPr lang="en-US" sz="1200" b="1" i="0" u="none" strike="noStrike" baseline="0" dirty="0">
                <a:solidFill>
                  <a:srgbClr val="231F20"/>
                </a:solidFill>
              </a:rPr>
              <a:t>the most flexible and user-friendly platform</a:t>
            </a:r>
            <a:r>
              <a:rPr lang="en-US" sz="1200" b="0" i="0" u="none" strike="noStrike" baseline="0" dirty="0">
                <a:solidFill>
                  <a:srgbClr val="231F20"/>
                </a:solidFill>
              </a:rPr>
              <a:t> for genome editing, eliminating the need for engineering new proteins to recognize each new target site. </a:t>
            </a:r>
            <a:r>
              <a:rPr lang="en-US" sz="1200" dirty="0">
                <a:solidFill>
                  <a:srgbClr val="231F20"/>
                </a:solidFill>
              </a:rPr>
              <a:t>One of the reason is the </a:t>
            </a:r>
            <a:r>
              <a:rPr lang="en-US" sz="1200" b="1" dirty="0">
                <a:solidFill>
                  <a:srgbClr val="231F20"/>
                </a:solidFill>
              </a:rPr>
              <a:t>high </a:t>
            </a:r>
            <a:r>
              <a:rPr lang="fr-FR" sz="1200" b="1" dirty="0" err="1"/>
              <a:t>specificity</a:t>
            </a:r>
            <a:r>
              <a:rPr lang="fr-FR" sz="1200" b="1" dirty="0"/>
              <a:t> </a:t>
            </a:r>
            <a:r>
              <a:rPr lang="fr-FR" sz="1200" dirty="0"/>
              <a:t>of the DNA </a:t>
            </a:r>
            <a:r>
              <a:rPr lang="fr-FR" sz="1200" dirty="0" err="1"/>
              <a:t>targeting</a:t>
            </a:r>
            <a:r>
              <a:rPr lang="fr-FR" sz="1200" dirty="0"/>
              <a:t> </a:t>
            </a:r>
            <a:r>
              <a:rPr lang="fr-FR" sz="1200" dirty="0" err="1"/>
              <a:t>comes</a:t>
            </a:r>
            <a:r>
              <a:rPr lang="fr-FR" sz="1200" dirty="0"/>
              <a:t> </a:t>
            </a:r>
            <a:r>
              <a:rPr lang="fr-FR" sz="1200" dirty="0" err="1"/>
              <a:t>entirely</a:t>
            </a:r>
            <a:r>
              <a:rPr lang="fr-FR" sz="1200" dirty="0"/>
              <a:t> </a:t>
            </a:r>
            <a:r>
              <a:rPr lang="fr-FR" sz="1200" dirty="0" err="1"/>
              <a:t>from</a:t>
            </a:r>
            <a:r>
              <a:rPr lang="fr-FR" sz="1200" dirty="0"/>
              <a:t> the </a:t>
            </a:r>
            <a:r>
              <a:rPr lang="fr-FR" sz="1200" b="1" dirty="0"/>
              <a:t>short single-guide </a:t>
            </a:r>
            <a:r>
              <a:rPr lang="fr-FR" sz="1200" b="1" dirty="0" err="1"/>
              <a:t>sgRNA</a:t>
            </a:r>
            <a:r>
              <a:rPr lang="fr-FR" sz="1200" dirty="0"/>
              <a:t>, </a:t>
            </a:r>
            <a:r>
              <a:rPr lang="fr-FR" sz="1200" dirty="0" err="1"/>
              <a:t>that</a:t>
            </a:r>
            <a:r>
              <a:rPr lang="fr-FR" sz="1200" dirty="0"/>
              <a:t> </a:t>
            </a:r>
            <a:r>
              <a:rPr lang="fr-FR" sz="1200" dirty="0" err="1"/>
              <a:t>is</a:t>
            </a:r>
            <a:r>
              <a:rPr lang="fr-FR" sz="1200" dirty="0"/>
              <a:t> </a:t>
            </a:r>
            <a:r>
              <a:rPr lang="fr-FR" sz="1200" dirty="0" err="1"/>
              <a:t>fully</a:t>
            </a:r>
            <a:r>
              <a:rPr lang="fr-FR" sz="1200" dirty="0"/>
              <a:t> </a:t>
            </a:r>
            <a:r>
              <a:rPr lang="fr-FR" sz="1200" dirty="0" err="1"/>
              <a:t>customizable</a:t>
            </a:r>
            <a:r>
              <a:rPr lang="fr-FR" sz="1200" dirty="0"/>
              <a:t>, </a:t>
            </a:r>
            <a:r>
              <a:rPr lang="fr-FR" sz="1200" dirty="0" err="1"/>
              <a:t>easy</a:t>
            </a:r>
            <a:r>
              <a:rPr lang="fr-FR" sz="1200" dirty="0"/>
              <a:t> to design and assemble, </a:t>
            </a:r>
            <a:r>
              <a:rPr lang="en-US" sz="1200" b="0" i="0" u="none" strike="noStrike" baseline="0" dirty="0"/>
              <a:t>allowing the creation of </a:t>
            </a:r>
            <a:r>
              <a:rPr lang="en-US" sz="1200" b="1" i="0" u="none" strike="noStrike" baseline="0" dirty="0"/>
              <a:t>genome-wide libraries of sgRNAs </a:t>
            </a:r>
            <a:r>
              <a:rPr lang="en-US" sz="1200" b="0" i="0" u="none" strike="noStrike" baseline="0" dirty="0"/>
              <a:t>able to target almost any gene.</a:t>
            </a:r>
          </a:p>
          <a:p>
            <a:pPr marL="285750" indent="-285750" algn="just">
              <a:buFont typeface="Wingdings" panose="05000000000000000000" pitchFamily="2" charset="2"/>
              <a:buChar char="Ø"/>
            </a:pPr>
            <a:r>
              <a:rPr lang="fr-FR" sz="1200" b="0" i="0" u="none" strike="noStrike" baseline="0" dirty="0"/>
              <a:t>In opposition to </a:t>
            </a:r>
            <a:r>
              <a:rPr lang="fr-FR" sz="1200" b="0" i="0" u="none" strike="noStrike" baseline="0" dirty="0" err="1"/>
              <a:t>ZFNs</a:t>
            </a:r>
            <a:r>
              <a:rPr lang="fr-FR" sz="1200" b="0" i="0" u="none" strike="noStrike" baseline="0" dirty="0"/>
              <a:t> and </a:t>
            </a:r>
            <a:r>
              <a:rPr lang="fr-FR" sz="1200" b="0" i="0" u="none" strike="noStrike" baseline="0" dirty="0" err="1"/>
              <a:t>TALENs</a:t>
            </a:r>
            <a:r>
              <a:rPr lang="fr-FR" sz="1200" b="0" i="0" u="none" strike="noStrike" baseline="0" dirty="0"/>
              <a:t>, </a:t>
            </a:r>
            <a:r>
              <a:rPr lang="fr-FR" sz="1200" b="0" i="0" u="none" strike="noStrike" baseline="0" dirty="0">
                <a:sym typeface="Wingdings" panose="05000000000000000000" pitchFamily="2" charset="2"/>
              </a:rPr>
              <a:t>Cas 9 </a:t>
            </a:r>
            <a:r>
              <a:rPr lang="en-US" sz="1200" b="0" i="0" u="none" strike="noStrike" baseline="0" dirty="0"/>
              <a:t>generates </a:t>
            </a:r>
            <a:r>
              <a:rPr lang="en-US" sz="1200" b="1" i="0" u="none" strike="noStrike" baseline="0" dirty="0"/>
              <a:t>a DSB without homodimerization.</a:t>
            </a:r>
          </a:p>
          <a:p>
            <a:pPr marL="285750" indent="-285750" algn="just">
              <a:buFont typeface="Wingdings" panose="05000000000000000000" pitchFamily="2" charset="2"/>
              <a:buChar char="Ø"/>
            </a:pPr>
            <a:r>
              <a:rPr lang="en-US" sz="1200" b="0" i="0" u="none" strike="noStrike" baseline="0" dirty="0">
                <a:solidFill>
                  <a:srgbClr val="231F20"/>
                </a:solidFill>
              </a:rPr>
              <a:t>The Cas9 nuclease and its sgRNA can be delivered into cells for genome editing on </a:t>
            </a:r>
            <a:r>
              <a:rPr lang="en-US" sz="1200" b="1" i="0" u="none" strike="noStrike" baseline="0" dirty="0">
                <a:solidFill>
                  <a:srgbClr val="231F20"/>
                </a:solidFill>
              </a:rPr>
              <a:t>the same or separate plasmids.</a:t>
            </a:r>
          </a:p>
          <a:p>
            <a:pPr marL="285750" indent="-285750" algn="just">
              <a:buFont typeface="Wingdings" panose="05000000000000000000" pitchFamily="2" charset="2"/>
              <a:buChar char="Ø"/>
            </a:pPr>
            <a:r>
              <a:rPr lang="en-US" sz="1200" dirty="0"/>
              <a:t>It tolerates positional/multiple consecutive mismatches.</a:t>
            </a:r>
          </a:p>
          <a:p>
            <a:pPr marL="285750" indent="-285750" algn="just">
              <a:buFont typeface="Wingdings" panose="05000000000000000000" pitchFamily="2" charset="2"/>
              <a:buChar char="Ø"/>
            </a:pPr>
            <a:r>
              <a:rPr lang="en-US" sz="1200" dirty="0"/>
              <a:t>It requires standard cloning and oligo synthesis procedures.</a:t>
            </a:r>
            <a:endParaRPr lang="en-US" sz="1200" b="0" i="0" u="none" strike="noStrike" baseline="30000" dirty="0">
              <a:solidFill>
                <a:srgbClr val="231F20"/>
              </a:solidFill>
            </a:endParaRPr>
          </a:p>
        </p:txBody>
      </p:sp>
      <p:sp>
        <p:nvSpPr>
          <p:cNvPr id="75" name="ZoneTexte 74">
            <a:extLst>
              <a:ext uri="{FF2B5EF4-FFF2-40B4-BE49-F238E27FC236}">
                <a16:creationId xmlns:a16="http://schemas.microsoft.com/office/drawing/2014/main" id="{65379878-E6E4-DF4C-984A-F8B9CD87CBCC}"/>
              </a:ext>
            </a:extLst>
          </p:cNvPr>
          <p:cNvSpPr txBox="1"/>
          <p:nvPr/>
        </p:nvSpPr>
        <p:spPr>
          <a:xfrm>
            <a:off x="598776" y="5811478"/>
            <a:ext cx="8397437"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231F20"/>
                </a:solidFill>
              </a:rPr>
              <a:t>Off-target cleavage can be reduced by </a:t>
            </a:r>
            <a:r>
              <a:rPr lang="en-US" sz="1200" b="1" i="0" u="none" strike="noStrike" baseline="0" dirty="0">
                <a:solidFill>
                  <a:srgbClr val="231F20"/>
                </a:solidFill>
              </a:rPr>
              <a:t>controlling the dosage </a:t>
            </a:r>
            <a:r>
              <a:rPr lang="en-US" sz="1200" b="0" i="0" u="none" strike="noStrike" baseline="0" dirty="0">
                <a:solidFill>
                  <a:srgbClr val="231F20"/>
                </a:solidFill>
              </a:rPr>
              <a:t>of either Cas9 protein or sgRNA within the cells, or by </a:t>
            </a:r>
            <a:r>
              <a:rPr lang="en-US" sz="1200" b="1" i="0" u="none" strike="noStrike" baseline="0" dirty="0">
                <a:solidFill>
                  <a:srgbClr val="231F20"/>
                </a:solidFill>
              </a:rPr>
              <a:t>using Cas9 variants </a:t>
            </a:r>
            <a:r>
              <a:rPr lang="en-US" sz="1200" b="0" i="0" u="none" strike="noStrike" baseline="0" dirty="0">
                <a:solidFill>
                  <a:srgbClr val="231F20"/>
                </a:solidFill>
              </a:rPr>
              <a:t>configured to enable conditional genome editing</a:t>
            </a:r>
            <a:r>
              <a:rPr lang="en-US" sz="1200" dirty="0">
                <a:solidFill>
                  <a:srgbClr val="231F20"/>
                </a:solidFill>
              </a:rPr>
              <a:t>.</a:t>
            </a:r>
          </a:p>
          <a:p>
            <a:pPr marL="285750" indent="-285750" algn="just">
              <a:buFont typeface="Wingdings" panose="05000000000000000000" pitchFamily="2" charset="2"/>
              <a:buChar char="Ø"/>
            </a:pPr>
            <a:r>
              <a:rPr lang="fr-FR" sz="1200" dirty="0" err="1">
                <a:solidFill>
                  <a:srgbClr val="231F20"/>
                </a:solidFill>
              </a:rPr>
              <a:t>Various</a:t>
            </a:r>
            <a:r>
              <a:rPr lang="fr-FR" sz="1200" dirty="0">
                <a:solidFill>
                  <a:srgbClr val="231F20"/>
                </a:solidFill>
              </a:rPr>
              <a:t> </a:t>
            </a:r>
            <a:r>
              <a:rPr lang="fr-FR" sz="1200" dirty="0" err="1">
                <a:solidFill>
                  <a:srgbClr val="231F20"/>
                </a:solidFill>
              </a:rPr>
              <a:t>delivery</a:t>
            </a:r>
            <a:r>
              <a:rPr lang="fr-FR" sz="1200" dirty="0">
                <a:solidFill>
                  <a:srgbClr val="231F20"/>
                </a:solidFill>
              </a:rPr>
              <a:t> </a:t>
            </a:r>
            <a:r>
              <a:rPr lang="fr-FR" sz="1200" dirty="0" err="1">
                <a:solidFill>
                  <a:srgbClr val="231F20"/>
                </a:solidFill>
              </a:rPr>
              <a:t>methods</a:t>
            </a:r>
            <a:r>
              <a:rPr lang="fr-FR" sz="1200" dirty="0">
                <a:solidFill>
                  <a:srgbClr val="231F20"/>
                </a:solidFill>
              </a:rPr>
              <a:t> has been </a:t>
            </a:r>
            <a:r>
              <a:rPr lang="fr-FR" sz="1200" dirty="0" err="1">
                <a:solidFill>
                  <a:srgbClr val="231F20"/>
                </a:solidFill>
              </a:rPr>
              <a:t>used</a:t>
            </a:r>
            <a:r>
              <a:rPr lang="fr-FR" sz="1200" dirty="0">
                <a:solidFill>
                  <a:srgbClr val="231F20"/>
                </a:solidFill>
              </a:rPr>
              <a:t> </a:t>
            </a:r>
            <a:r>
              <a:rPr lang="fr-FR" sz="1200" dirty="0" err="1">
                <a:solidFill>
                  <a:srgbClr val="231F20"/>
                </a:solidFill>
              </a:rPr>
              <a:t>with</a:t>
            </a:r>
            <a:r>
              <a:rPr lang="fr-FR" sz="1200" dirty="0">
                <a:solidFill>
                  <a:srgbClr val="231F20"/>
                </a:solidFill>
              </a:rPr>
              <a:t> CRISPR </a:t>
            </a:r>
            <a:r>
              <a:rPr lang="fr-FR" sz="1200" dirty="0" err="1">
                <a:solidFill>
                  <a:srgbClr val="231F20"/>
                </a:solidFill>
              </a:rPr>
              <a:t>technology</a:t>
            </a:r>
            <a:r>
              <a:rPr lang="fr-FR" sz="1200" dirty="0">
                <a:solidFill>
                  <a:srgbClr val="231F20"/>
                </a:solidFill>
              </a:rPr>
              <a:t> but </a:t>
            </a:r>
            <a:r>
              <a:rPr lang="fr-FR" sz="1200" dirty="0" err="1">
                <a:solidFill>
                  <a:srgbClr val="231F20"/>
                </a:solidFill>
              </a:rPr>
              <a:t>they</a:t>
            </a:r>
            <a:r>
              <a:rPr lang="fr-FR" sz="1200" dirty="0">
                <a:solidFill>
                  <a:srgbClr val="231F20"/>
                </a:solidFill>
              </a:rPr>
              <a:t> </a:t>
            </a:r>
            <a:r>
              <a:rPr lang="en-US" sz="1200" dirty="0"/>
              <a:t>faced numerous challenges such as mutations, carcinogenesis, immune response, time-consuming and </a:t>
            </a:r>
            <a:r>
              <a:rPr lang="en-US" sz="1200" dirty="0" err="1"/>
              <a:t>labour</a:t>
            </a:r>
            <a:r>
              <a:rPr lang="en-US" sz="1200" dirty="0"/>
              <a:t> intensive methodology.</a:t>
            </a:r>
            <a:r>
              <a:rPr lang="fr-FR" sz="1200" baseline="30000" dirty="0">
                <a:solidFill>
                  <a:srgbClr val="231F20"/>
                </a:solidFill>
              </a:rPr>
              <a:t>2</a:t>
            </a:r>
            <a:endParaRPr lang="fr-FR" sz="1200" dirty="0"/>
          </a:p>
        </p:txBody>
      </p:sp>
      <p:cxnSp>
        <p:nvCxnSpPr>
          <p:cNvPr id="8" name="Connecteur droit 7">
            <a:extLst>
              <a:ext uri="{FF2B5EF4-FFF2-40B4-BE49-F238E27FC236}">
                <a16:creationId xmlns:a16="http://schemas.microsoft.com/office/drawing/2014/main" id="{F574F8E0-B1D2-835A-DBFF-849ABFE1B5A3}"/>
              </a:ext>
            </a:extLst>
          </p:cNvPr>
          <p:cNvCxnSpPr/>
          <p:nvPr/>
        </p:nvCxnSpPr>
        <p:spPr>
          <a:xfrm>
            <a:off x="-342900" y="1094449"/>
            <a:ext cx="1185149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62324"/>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A2447-9300-9911-D516-54FDC67408D3}"/>
            </a:ext>
          </a:extLst>
        </p:cNvPr>
        <p:cNvGrpSpPr/>
        <p:nvPr/>
      </p:nvGrpSpPr>
      <p:grpSpPr>
        <a:xfrm>
          <a:off x="0" y="0"/>
          <a:ext cx="0" cy="0"/>
          <a:chOff x="0" y="0"/>
          <a:chExt cx="0" cy="0"/>
        </a:xfrm>
      </p:grpSpPr>
      <p:grpSp>
        <p:nvGrpSpPr>
          <p:cNvPr id="6" name="Groupe 5">
            <a:extLst>
              <a:ext uri="{FF2B5EF4-FFF2-40B4-BE49-F238E27FC236}">
                <a16:creationId xmlns:a16="http://schemas.microsoft.com/office/drawing/2014/main" id="{827BAC84-F3FB-AEB0-D10F-13FBE699F6EA}"/>
              </a:ext>
            </a:extLst>
          </p:cNvPr>
          <p:cNvGrpSpPr/>
          <p:nvPr/>
        </p:nvGrpSpPr>
        <p:grpSpPr>
          <a:xfrm>
            <a:off x="9396921" y="108135"/>
            <a:ext cx="2625773" cy="580939"/>
            <a:chOff x="9396921" y="108135"/>
            <a:chExt cx="2625773" cy="580939"/>
          </a:xfrm>
        </p:grpSpPr>
        <p:pic>
          <p:nvPicPr>
            <p:cNvPr id="11" name="Image 10">
              <a:extLst>
                <a:ext uri="{FF2B5EF4-FFF2-40B4-BE49-F238E27FC236}">
                  <a16:creationId xmlns:a16="http://schemas.microsoft.com/office/drawing/2014/main" id="{E0286F52-D145-A208-5746-FD252A704613}"/>
                </a:ext>
              </a:extLst>
            </p:cNvPr>
            <p:cNvPicPr>
              <a:picLocks noChangeAspect="1"/>
            </p:cNvPicPr>
            <p:nvPr/>
          </p:nvPicPr>
          <p:blipFill>
            <a:blip r:embed="rId2"/>
            <a:stretch>
              <a:fillRect/>
            </a:stretch>
          </p:blipFill>
          <p:spPr>
            <a:xfrm>
              <a:off x="9554107" y="218630"/>
              <a:ext cx="360000" cy="360000"/>
            </a:xfrm>
            <a:prstGeom prst="rect">
              <a:avLst/>
            </a:prstGeom>
          </p:spPr>
        </p:pic>
        <p:pic>
          <p:nvPicPr>
            <p:cNvPr id="7" name="Picture 2">
              <a:extLst>
                <a:ext uri="{FF2B5EF4-FFF2-40B4-BE49-F238E27FC236}">
                  <a16:creationId xmlns:a16="http://schemas.microsoft.com/office/drawing/2014/main" id="{21139053-706B-CEC6-7C2F-4B5C21B2689B}"/>
                </a:ext>
              </a:extLst>
            </p:cNvPr>
            <p:cNvPicPr>
              <a:picLocks noChangeAspect="1" noChangeArrowheads="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0CF2C225-F118-A385-9560-F475178A36FC}"/>
                </a:ext>
              </a:extLst>
            </p:cNvPr>
            <p:cNvPicPr>
              <a:picLocks noChangeAspect="1"/>
            </p:cNvPicPr>
            <p:nvPr/>
          </p:nvPicPr>
          <p:blipFill>
            <a:blip r:embed="rId5"/>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98485AAD-E20A-16F4-A8D3-C33FDEF54A3F}"/>
                </a:ext>
              </a:extLst>
            </p:cNvPr>
            <p:cNvPicPr>
              <a:picLocks noChangeAspect="1"/>
            </p:cNvPicPr>
            <p:nvPr/>
          </p:nvPicPr>
          <p:blipFill>
            <a:blip r:embed="rId6"/>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7E93B9E7-1232-A26B-E259-6D98660736AC}"/>
                </a:ext>
              </a:extLst>
            </p:cNvPr>
            <p:cNvGrpSpPr/>
            <p:nvPr/>
          </p:nvGrpSpPr>
          <p:grpSpPr>
            <a:xfrm>
              <a:off x="9396921" y="108135"/>
              <a:ext cx="2625773" cy="580939"/>
              <a:chOff x="9396921" y="108135"/>
              <a:chExt cx="2625773" cy="580939"/>
            </a:xfrm>
          </p:grpSpPr>
          <p:sp>
            <p:nvSpPr>
              <p:cNvPr id="12" name="Rectangle : coins arrondis 11">
                <a:extLst>
                  <a:ext uri="{FF2B5EF4-FFF2-40B4-BE49-F238E27FC236}">
                    <a16:creationId xmlns:a16="http://schemas.microsoft.com/office/drawing/2014/main" id="{AA7BEA61-87DD-7599-9D58-CA79EEC99999}"/>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E193B0CB-B37F-9633-DD7A-9943613D0F87}"/>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CBEDDCF0-97B8-F238-05FF-2F0451C6712B}"/>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DFBB4140-4C20-ACE0-80B0-10CD914C8B22}"/>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DC5AD14B-054B-4995-3C35-EE28E16F33BA}"/>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cxnSp>
        <p:nvCxnSpPr>
          <p:cNvPr id="17" name="Connecteur droit 16">
            <a:extLst>
              <a:ext uri="{FF2B5EF4-FFF2-40B4-BE49-F238E27FC236}">
                <a16:creationId xmlns:a16="http://schemas.microsoft.com/office/drawing/2014/main" id="{BEBBB86E-F2CB-88F4-AC77-242B3710233F}"/>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F249F309-9686-A651-DC85-8455126B574B}"/>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Dual </a:t>
            </a:r>
            <a:r>
              <a:rPr lang="fr-FR" sz="3200" b="1" dirty="0" err="1">
                <a:solidFill>
                  <a:schemeClr val="tx2"/>
                </a:solidFill>
              </a:rPr>
              <a:t>Nickases</a:t>
            </a:r>
            <a:endParaRPr lang="fr-FR" sz="3100" b="1" dirty="0">
              <a:solidFill>
                <a:schemeClr val="tx2"/>
              </a:solidFill>
            </a:endParaRPr>
          </a:p>
        </p:txBody>
      </p:sp>
      <p:sp>
        <p:nvSpPr>
          <p:cNvPr id="20" name="Rectangle : coins arrondis 19">
            <a:extLst>
              <a:ext uri="{FF2B5EF4-FFF2-40B4-BE49-F238E27FC236}">
                <a16:creationId xmlns:a16="http://schemas.microsoft.com/office/drawing/2014/main" id="{FB8A3D08-75D0-3B40-B019-4C8062AD1440}"/>
              </a:ext>
            </a:extLst>
          </p:cNvPr>
          <p:cNvSpPr/>
          <p:nvPr/>
        </p:nvSpPr>
        <p:spPr>
          <a:xfrm>
            <a:off x="3319745" y="2111601"/>
            <a:ext cx="5044440" cy="3974874"/>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57865D71-5D6A-6AA6-B85F-F3AFB3E589B2}"/>
              </a:ext>
            </a:extLst>
          </p:cNvPr>
          <p:cNvSpPr/>
          <p:nvPr/>
        </p:nvSpPr>
        <p:spPr>
          <a:xfrm>
            <a:off x="3117226" y="1832434"/>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25E5B46E-B4EC-64EC-4F80-E966F965E43C}"/>
              </a:ext>
            </a:extLst>
          </p:cNvPr>
          <p:cNvSpPr/>
          <p:nvPr/>
        </p:nvSpPr>
        <p:spPr>
          <a:xfrm>
            <a:off x="3559644" y="1910088"/>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9AD0A09B-469A-1B91-A037-7B9903CC2840}"/>
              </a:ext>
            </a:extLst>
          </p:cNvPr>
          <p:cNvSpPr/>
          <p:nvPr/>
        </p:nvSpPr>
        <p:spPr>
          <a:xfrm rot="5400000">
            <a:off x="-358685" y="2607141"/>
            <a:ext cx="3483429"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71FCDF0A-4FB2-5BD8-64F4-F0AEBFEC7A43}"/>
              </a:ext>
            </a:extLst>
          </p:cNvPr>
          <p:cNvSpPr/>
          <p:nvPr/>
        </p:nvSpPr>
        <p:spPr>
          <a:xfrm>
            <a:off x="8760710" y="2040859"/>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8C08CE28-59BC-CE00-7B56-0DE04F3E2B84}"/>
              </a:ext>
            </a:extLst>
          </p:cNvPr>
          <p:cNvSpPr/>
          <p:nvPr/>
        </p:nvSpPr>
        <p:spPr>
          <a:xfrm>
            <a:off x="8558191" y="1761692"/>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1D040AD6-7BD1-EAB3-BF2A-523DDD3A372F}"/>
              </a:ext>
            </a:extLst>
          </p:cNvPr>
          <p:cNvSpPr/>
          <p:nvPr/>
        </p:nvSpPr>
        <p:spPr>
          <a:xfrm>
            <a:off x="9000609" y="1832025"/>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23" name="Groupe 22">
            <a:extLst>
              <a:ext uri="{FF2B5EF4-FFF2-40B4-BE49-F238E27FC236}">
                <a16:creationId xmlns:a16="http://schemas.microsoft.com/office/drawing/2014/main" id="{CDC82985-0068-A69A-764D-310AD8CE185C}"/>
              </a:ext>
            </a:extLst>
          </p:cNvPr>
          <p:cNvGrpSpPr/>
          <p:nvPr/>
        </p:nvGrpSpPr>
        <p:grpSpPr>
          <a:xfrm>
            <a:off x="71514" y="2316811"/>
            <a:ext cx="2632872" cy="720000"/>
            <a:chOff x="71514" y="2316811"/>
            <a:chExt cx="2632872" cy="720000"/>
          </a:xfrm>
        </p:grpSpPr>
        <p:sp>
          <p:nvSpPr>
            <p:cNvPr id="29" name="ZoneTexte 28">
              <a:extLst>
                <a:ext uri="{FF2B5EF4-FFF2-40B4-BE49-F238E27FC236}">
                  <a16:creationId xmlns:a16="http://schemas.microsoft.com/office/drawing/2014/main" id="{E52178F4-DC2F-9A99-FB4F-8F672315A18C}"/>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dirty="0"/>
            </a:p>
          </p:txBody>
        </p:sp>
        <p:pic>
          <p:nvPicPr>
            <p:cNvPr id="36" name="Image 35">
              <a:extLst>
                <a:ext uri="{FF2B5EF4-FFF2-40B4-BE49-F238E27FC236}">
                  <a16:creationId xmlns:a16="http://schemas.microsoft.com/office/drawing/2014/main" id="{5B9B42ED-BABB-85A9-44A6-CF60A9B841C4}"/>
                </a:ext>
              </a:extLst>
            </p:cNvPr>
            <p:cNvPicPr>
              <a:picLocks noChangeAspect="1"/>
            </p:cNvPicPr>
            <p:nvPr/>
          </p:nvPicPr>
          <p:blipFill>
            <a:blip r:embed="rId7"/>
            <a:stretch>
              <a:fillRect/>
            </a:stretch>
          </p:blipFill>
          <p:spPr>
            <a:xfrm>
              <a:off x="71514" y="2316811"/>
              <a:ext cx="720000" cy="720000"/>
            </a:xfrm>
            <a:prstGeom prst="rect">
              <a:avLst/>
            </a:prstGeom>
          </p:spPr>
        </p:pic>
      </p:grpSp>
      <p:grpSp>
        <p:nvGrpSpPr>
          <p:cNvPr id="24" name="Groupe 23">
            <a:extLst>
              <a:ext uri="{FF2B5EF4-FFF2-40B4-BE49-F238E27FC236}">
                <a16:creationId xmlns:a16="http://schemas.microsoft.com/office/drawing/2014/main" id="{A2CDA04A-4C1C-F022-3189-1CF75D321D1E}"/>
              </a:ext>
            </a:extLst>
          </p:cNvPr>
          <p:cNvGrpSpPr/>
          <p:nvPr/>
        </p:nvGrpSpPr>
        <p:grpSpPr>
          <a:xfrm>
            <a:off x="74170" y="3160697"/>
            <a:ext cx="2630216" cy="867831"/>
            <a:chOff x="74170" y="3192648"/>
            <a:chExt cx="2630216" cy="867831"/>
          </a:xfrm>
        </p:grpSpPr>
        <p:sp>
          <p:nvSpPr>
            <p:cNvPr id="33" name="ZoneTexte 32">
              <a:extLst>
                <a:ext uri="{FF2B5EF4-FFF2-40B4-BE49-F238E27FC236}">
                  <a16:creationId xmlns:a16="http://schemas.microsoft.com/office/drawing/2014/main" id="{78F66996-D883-0339-E9B5-1210CB267F12}"/>
                </a:ext>
              </a:extLst>
            </p:cNvPr>
            <p:cNvSpPr txBox="1"/>
            <p:nvPr/>
          </p:nvSpPr>
          <p:spPr>
            <a:xfrm>
              <a:off x="839954" y="3192648"/>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38" name="Image 37">
              <a:extLst>
                <a:ext uri="{FF2B5EF4-FFF2-40B4-BE49-F238E27FC236}">
                  <a16:creationId xmlns:a16="http://schemas.microsoft.com/office/drawing/2014/main" id="{3C5F4855-C5C5-5342-23E7-81A28E2EE1DD}"/>
                </a:ext>
              </a:extLst>
            </p:cNvPr>
            <p:cNvPicPr>
              <a:picLocks noChangeAspect="1"/>
            </p:cNvPicPr>
            <p:nvPr/>
          </p:nvPicPr>
          <p:blipFill>
            <a:blip r:embed="rId8"/>
            <a:stretch>
              <a:fillRect/>
            </a:stretch>
          </p:blipFill>
          <p:spPr>
            <a:xfrm>
              <a:off x="74170" y="3340479"/>
              <a:ext cx="720000" cy="720000"/>
            </a:xfrm>
            <a:prstGeom prst="rect">
              <a:avLst/>
            </a:prstGeom>
          </p:spPr>
        </p:pic>
      </p:grpSp>
      <p:sp>
        <p:nvSpPr>
          <p:cNvPr id="45" name="Rectangle : coins arrondis 44">
            <a:extLst>
              <a:ext uri="{FF2B5EF4-FFF2-40B4-BE49-F238E27FC236}">
                <a16:creationId xmlns:a16="http://schemas.microsoft.com/office/drawing/2014/main" id="{5D366A70-0B13-B427-ABBE-EDC4E16355E3}"/>
              </a:ext>
            </a:extLst>
          </p:cNvPr>
          <p:cNvSpPr/>
          <p:nvPr/>
        </p:nvSpPr>
        <p:spPr>
          <a:xfrm>
            <a:off x="8760710" y="4659574"/>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30F3E568-35A2-326E-A5C5-8B3BE8B1E050}"/>
              </a:ext>
            </a:extLst>
          </p:cNvPr>
          <p:cNvSpPr/>
          <p:nvPr/>
        </p:nvSpPr>
        <p:spPr>
          <a:xfrm>
            <a:off x="8558191" y="43804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468DEE1E-A8AF-9B71-9C3F-814D198CA600}"/>
              </a:ext>
            </a:extLst>
          </p:cNvPr>
          <p:cNvSpPr/>
          <p:nvPr/>
        </p:nvSpPr>
        <p:spPr>
          <a:xfrm>
            <a:off x="9000609" y="445074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0" name="Groupe 29">
            <a:extLst>
              <a:ext uri="{FF2B5EF4-FFF2-40B4-BE49-F238E27FC236}">
                <a16:creationId xmlns:a16="http://schemas.microsoft.com/office/drawing/2014/main" id="{434C0E05-782F-03D5-D187-DE49273CF244}"/>
              </a:ext>
            </a:extLst>
          </p:cNvPr>
          <p:cNvGrpSpPr/>
          <p:nvPr/>
        </p:nvGrpSpPr>
        <p:grpSpPr>
          <a:xfrm>
            <a:off x="71514" y="4300246"/>
            <a:ext cx="2694546" cy="1052497"/>
            <a:chOff x="71514" y="4300246"/>
            <a:chExt cx="2694546" cy="1052497"/>
          </a:xfrm>
        </p:grpSpPr>
        <p:pic>
          <p:nvPicPr>
            <p:cNvPr id="40" name="Image 39">
              <a:extLst>
                <a:ext uri="{FF2B5EF4-FFF2-40B4-BE49-F238E27FC236}">
                  <a16:creationId xmlns:a16="http://schemas.microsoft.com/office/drawing/2014/main" id="{E819ED16-E40C-5DB9-5752-8DA2EFC031EE}"/>
                </a:ext>
              </a:extLst>
            </p:cNvPr>
            <p:cNvPicPr>
              <a:picLocks noChangeAspect="1"/>
            </p:cNvPicPr>
            <p:nvPr/>
          </p:nvPicPr>
          <p:blipFill>
            <a:blip r:embed="rId9"/>
            <a:stretch>
              <a:fillRect/>
            </a:stretch>
          </p:blipFill>
          <p:spPr>
            <a:xfrm>
              <a:off x="71514" y="4632743"/>
              <a:ext cx="720000" cy="720000"/>
            </a:xfrm>
            <a:prstGeom prst="rect">
              <a:avLst/>
            </a:prstGeom>
          </p:spPr>
        </p:pic>
        <p:sp>
          <p:nvSpPr>
            <p:cNvPr id="19" name="ZoneTexte 18">
              <a:extLst>
                <a:ext uri="{FF2B5EF4-FFF2-40B4-BE49-F238E27FC236}">
                  <a16:creationId xmlns:a16="http://schemas.microsoft.com/office/drawing/2014/main" id="{4A7735D0-5A6C-5F72-E234-40548123963F}"/>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sp>
        <p:nvSpPr>
          <p:cNvPr id="34" name="ZoneTexte 33">
            <a:extLst>
              <a:ext uri="{FF2B5EF4-FFF2-40B4-BE49-F238E27FC236}">
                <a16:creationId xmlns:a16="http://schemas.microsoft.com/office/drawing/2014/main" id="{B4AEC899-9600-7D74-D5E9-9DBDCF9E0F73}"/>
              </a:ext>
            </a:extLst>
          </p:cNvPr>
          <p:cNvSpPr txBox="1"/>
          <p:nvPr/>
        </p:nvSpPr>
        <p:spPr>
          <a:xfrm>
            <a:off x="9000609" y="2389181"/>
            <a:ext cx="2823341" cy="1384995"/>
          </a:xfrm>
          <a:prstGeom prst="rect">
            <a:avLst/>
          </a:prstGeom>
          <a:noFill/>
        </p:spPr>
        <p:txBody>
          <a:bodyPr wrap="square">
            <a:spAutoFit/>
          </a:bodyPr>
          <a:lstStyle/>
          <a:p>
            <a:pPr marL="171450" indent="-171450">
              <a:buFont typeface="Wingdings" panose="05000000000000000000" pitchFamily="2" charset="2"/>
              <a:buChar char="Ø"/>
            </a:pPr>
            <a:r>
              <a:rPr lang="fr-FR" sz="1200" dirty="0" err="1"/>
              <a:t>Hematologic</a:t>
            </a:r>
            <a:r>
              <a:rPr lang="fr-FR" sz="1200" dirty="0"/>
              <a:t> </a:t>
            </a:r>
            <a:r>
              <a:rPr lang="fr-FR" sz="1200" dirty="0" err="1"/>
              <a:t>disorders</a:t>
            </a:r>
            <a:endParaRPr lang="fr-FR" sz="1200" dirty="0"/>
          </a:p>
          <a:p>
            <a:pPr marL="171450" indent="-171450">
              <a:buFont typeface="Wingdings" panose="05000000000000000000" pitchFamily="2" charset="2"/>
              <a:buChar char="Ø"/>
            </a:pPr>
            <a:r>
              <a:rPr lang="fr-FR" sz="1200" dirty="0" err="1"/>
              <a:t>Cardiac</a:t>
            </a:r>
            <a:r>
              <a:rPr lang="fr-FR" sz="1200" dirty="0"/>
              <a:t> pathologies</a:t>
            </a:r>
          </a:p>
          <a:p>
            <a:pPr marL="171450" indent="-171450">
              <a:buFont typeface="Wingdings" panose="05000000000000000000" pitchFamily="2" charset="2"/>
              <a:buChar char="Ø"/>
            </a:pPr>
            <a:r>
              <a:rPr lang="fr-FR" sz="1200" dirty="0" err="1"/>
              <a:t>Variety</a:t>
            </a:r>
            <a:r>
              <a:rPr lang="fr-FR" sz="1200" dirty="0"/>
              <a:t> of </a:t>
            </a:r>
            <a:r>
              <a:rPr lang="fr-FR" sz="1200" dirty="0" err="1"/>
              <a:t>livers</a:t>
            </a:r>
            <a:r>
              <a:rPr lang="fr-FR" sz="1200" dirty="0"/>
              <a:t>’ </a:t>
            </a:r>
            <a:r>
              <a:rPr lang="fr-FR" sz="1200" dirty="0" err="1"/>
              <a:t>diseases</a:t>
            </a:r>
            <a:r>
              <a:rPr lang="fr-FR" sz="1200" dirty="0"/>
              <a:t> ( PKU, HT1…)</a:t>
            </a:r>
          </a:p>
          <a:p>
            <a:pPr marL="171450" indent="-171450">
              <a:buFont typeface="Wingdings" panose="05000000000000000000" pitchFamily="2" charset="2"/>
              <a:buChar char="Ø"/>
            </a:pPr>
            <a:r>
              <a:rPr lang="fr-FR" sz="1200" dirty="0" err="1"/>
              <a:t>Retinal</a:t>
            </a:r>
            <a:r>
              <a:rPr lang="fr-FR" sz="1200" dirty="0"/>
              <a:t> </a:t>
            </a:r>
            <a:r>
              <a:rPr lang="fr-FR" sz="1200" dirty="0" err="1"/>
              <a:t>diseases</a:t>
            </a:r>
            <a:endParaRPr lang="fr-FR" sz="1200" dirty="0"/>
          </a:p>
          <a:p>
            <a:pPr marL="171450" indent="-171450">
              <a:buFont typeface="Wingdings" panose="05000000000000000000" pitchFamily="2" charset="2"/>
              <a:buChar char="Ø"/>
            </a:pPr>
            <a:r>
              <a:rPr lang="fr-FR" sz="1200" dirty="0" err="1"/>
              <a:t>Hereditary</a:t>
            </a:r>
            <a:r>
              <a:rPr lang="fr-FR" sz="1200" dirty="0"/>
              <a:t> </a:t>
            </a:r>
            <a:r>
              <a:rPr lang="fr-FR" sz="1200" dirty="0" err="1"/>
              <a:t>hearing</a:t>
            </a:r>
            <a:r>
              <a:rPr lang="fr-FR" sz="1200" dirty="0"/>
              <a:t> </a:t>
            </a:r>
            <a:r>
              <a:rPr lang="fr-FR" sz="1200" dirty="0" err="1"/>
              <a:t>loss</a:t>
            </a:r>
            <a:endParaRPr lang="fr-FR" sz="1200" dirty="0"/>
          </a:p>
          <a:p>
            <a:pPr marL="171450" indent="-171450">
              <a:buFont typeface="Wingdings" panose="05000000000000000000" pitchFamily="2" charset="2"/>
              <a:buChar char="Ø"/>
            </a:pPr>
            <a:r>
              <a:rPr lang="fr-FR" sz="1200" b="0" i="0" dirty="0">
                <a:solidFill>
                  <a:srgbClr val="333333"/>
                </a:solidFill>
                <a:effectLst/>
              </a:rPr>
              <a:t>Duchenne </a:t>
            </a:r>
            <a:r>
              <a:rPr lang="fr-FR" sz="1200" b="0" i="0" dirty="0" err="1">
                <a:solidFill>
                  <a:srgbClr val="333333"/>
                </a:solidFill>
                <a:effectLst/>
              </a:rPr>
              <a:t>muscular</a:t>
            </a:r>
            <a:r>
              <a:rPr lang="fr-FR" sz="1200" b="0" i="0" dirty="0">
                <a:solidFill>
                  <a:srgbClr val="333333"/>
                </a:solidFill>
                <a:effectLst/>
              </a:rPr>
              <a:t> </a:t>
            </a:r>
            <a:r>
              <a:rPr lang="fr-FR" sz="1200" b="0" i="0" dirty="0" err="1">
                <a:solidFill>
                  <a:srgbClr val="333333"/>
                </a:solidFill>
                <a:effectLst/>
              </a:rPr>
              <a:t>dystrophy</a:t>
            </a:r>
            <a:endParaRPr lang="fr-FR" sz="1200" dirty="0"/>
          </a:p>
        </p:txBody>
      </p:sp>
      <p:pic>
        <p:nvPicPr>
          <p:cNvPr id="2" name="Image 1" descr="Une image contenant symbole, cercle, Graphique, conception&#10;&#10;Description générée automatiquement">
            <a:extLst>
              <a:ext uri="{FF2B5EF4-FFF2-40B4-BE49-F238E27FC236}">
                <a16:creationId xmlns:a16="http://schemas.microsoft.com/office/drawing/2014/main" id="{329F4DE5-FF09-3528-3113-C132AF703AE7}"/>
              </a:ext>
            </a:extLst>
          </p:cNvPr>
          <p:cNvPicPr>
            <a:picLocks noChangeAspect="1"/>
          </p:cNvPicPr>
          <p:nvPr/>
        </p:nvPicPr>
        <p:blipFill>
          <a:blip r:embed="rId10"/>
          <a:stretch>
            <a:fillRect/>
          </a:stretch>
        </p:blipFill>
        <p:spPr>
          <a:xfrm>
            <a:off x="3162585" y="1886434"/>
            <a:ext cx="468000" cy="468000"/>
          </a:xfrm>
          <a:prstGeom prst="rect">
            <a:avLst/>
          </a:prstGeom>
        </p:spPr>
      </p:pic>
      <p:pic>
        <p:nvPicPr>
          <p:cNvPr id="3" name="Image 2" descr="Une image contenant symbole, Police, Graphique, logo&#10;&#10;Description générée automatiquement">
            <a:extLst>
              <a:ext uri="{FF2B5EF4-FFF2-40B4-BE49-F238E27FC236}">
                <a16:creationId xmlns:a16="http://schemas.microsoft.com/office/drawing/2014/main" id="{595AD4D1-4870-B7DD-9137-EE90DBF52A9F}"/>
              </a:ext>
            </a:extLst>
          </p:cNvPr>
          <p:cNvPicPr>
            <a:picLocks noChangeAspect="1"/>
          </p:cNvPicPr>
          <p:nvPr/>
        </p:nvPicPr>
        <p:blipFill>
          <a:blip r:embed="rId11"/>
          <a:stretch>
            <a:fillRect/>
          </a:stretch>
        </p:blipFill>
        <p:spPr>
          <a:xfrm>
            <a:off x="8594191" y="1748225"/>
            <a:ext cx="468000" cy="468000"/>
          </a:xfrm>
          <a:prstGeom prst="rect">
            <a:avLst/>
          </a:prstGeom>
        </p:spPr>
      </p:pic>
      <p:pic>
        <p:nvPicPr>
          <p:cNvPr id="5" name="Image 4" descr="Une image contenant cercle, Graphique, Police, symbole&#10;&#10;Description générée automatiquement">
            <a:extLst>
              <a:ext uri="{FF2B5EF4-FFF2-40B4-BE49-F238E27FC236}">
                <a16:creationId xmlns:a16="http://schemas.microsoft.com/office/drawing/2014/main" id="{319479FD-499B-54EB-A11D-A28465A3F57F}"/>
              </a:ext>
            </a:extLst>
          </p:cNvPr>
          <p:cNvPicPr>
            <a:picLocks noChangeAspect="1"/>
          </p:cNvPicPr>
          <p:nvPr/>
        </p:nvPicPr>
        <p:blipFill>
          <a:blip r:embed="rId12"/>
          <a:stretch>
            <a:fillRect/>
          </a:stretch>
        </p:blipFill>
        <p:spPr>
          <a:xfrm>
            <a:off x="8632027" y="4417584"/>
            <a:ext cx="468000" cy="468000"/>
          </a:xfrm>
          <a:prstGeom prst="rect">
            <a:avLst/>
          </a:prstGeom>
        </p:spPr>
      </p:pic>
      <p:pic>
        <p:nvPicPr>
          <p:cNvPr id="35" name="Image 34">
            <a:extLst>
              <a:ext uri="{FF2B5EF4-FFF2-40B4-BE49-F238E27FC236}">
                <a16:creationId xmlns:a16="http://schemas.microsoft.com/office/drawing/2014/main" id="{9F54D1FA-738C-4F24-88DC-A31D4B8E7D71}"/>
              </a:ext>
            </a:extLst>
          </p:cNvPr>
          <p:cNvPicPr>
            <a:picLocks noChangeAspect="1"/>
          </p:cNvPicPr>
          <p:nvPr/>
        </p:nvPicPr>
        <p:blipFill>
          <a:blip r:embed="rId13"/>
          <a:srcRect t="6539" r="34712"/>
          <a:stretch/>
        </p:blipFill>
        <p:spPr>
          <a:xfrm>
            <a:off x="4000501" y="2499494"/>
            <a:ext cx="3682928" cy="1169034"/>
          </a:xfrm>
          <a:prstGeom prst="rect">
            <a:avLst/>
          </a:prstGeom>
        </p:spPr>
      </p:pic>
      <p:sp>
        <p:nvSpPr>
          <p:cNvPr id="39" name="ZoneTexte 38">
            <a:extLst>
              <a:ext uri="{FF2B5EF4-FFF2-40B4-BE49-F238E27FC236}">
                <a16:creationId xmlns:a16="http://schemas.microsoft.com/office/drawing/2014/main" id="{27975C1E-06D3-CCDA-33E1-63AFF8721A5E}"/>
              </a:ext>
            </a:extLst>
          </p:cNvPr>
          <p:cNvSpPr txBox="1"/>
          <p:nvPr/>
        </p:nvSpPr>
        <p:spPr>
          <a:xfrm>
            <a:off x="3319744" y="3716479"/>
            <a:ext cx="5044439" cy="1754326"/>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000000"/>
                </a:solidFill>
              </a:rPr>
              <a:t>Since Cas9 contains two nuclease domains, each cleaving one strand of DNA, point mutations have been introduced in the corresponding catalytic residues</a:t>
            </a:r>
            <a:r>
              <a:rPr lang="en-US" sz="1200" dirty="0">
                <a:solidFill>
                  <a:srgbClr val="000000"/>
                </a:solidFill>
              </a:rPr>
              <a:t> </a:t>
            </a:r>
            <a:r>
              <a:rPr lang="en-US" sz="1200" b="0" i="0" u="none" strike="noStrike" baseline="0" dirty="0">
                <a:solidFill>
                  <a:srgbClr val="000000"/>
                </a:solidFill>
              </a:rPr>
              <a:t>to convert Cas9 into a DNA </a:t>
            </a:r>
            <a:r>
              <a:rPr lang="en-US" sz="1200" b="0" i="0" u="none" strike="noStrike" baseline="0" dirty="0" err="1">
                <a:solidFill>
                  <a:srgbClr val="000000"/>
                </a:solidFill>
              </a:rPr>
              <a:t>nickase</a:t>
            </a:r>
            <a:r>
              <a:rPr lang="en-US" sz="1200" b="0" i="0" u="none" strike="noStrike" baseline="0" dirty="0">
                <a:solidFill>
                  <a:srgbClr val="000000"/>
                </a:solidFill>
              </a:rPr>
              <a:t> (Cas9n)</a:t>
            </a:r>
            <a:r>
              <a:rPr lang="en-US" sz="1200" dirty="0">
                <a:solidFill>
                  <a:srgbClr val="000000"/>
                </a:solidFill>
              </a:rPr>
              <a:t>. </a:t>
            </a:r>
            <a:r>
              <a:rPr lang="en-US" sz="1200" b="0" i="0" u="none" strike="noStrike" baseline="0" dirty="0">
                <a:solidFill>
                  <a:srgbClr val="000000"/>
                </a:solidFill>
              </a:rPr>
              <a:t>Since Cas9n cuts only one strand, two offset sgRNAs in proximity and on opposite strands are needed to create a DSB, thereby extending the number of required matching nucleotides. As individual nicks are repaired with high fidelity, this approach has significantly reduced the possibility of off-target damage.</a:t>
            </a:r>
            <a:endParaRPr lang="en-US" sz="1200" b="0" i="0" u="none" strike="noStrike" baseline="0" dirty="0">
              <a:solidFill>
                <a:srgbClr val="231F20"/>
              </a:solidFill>
            </a:endParaRPr>
          </a:p>
        </p:txBody>
      </p:sp>
      <p:grpSp>
        <p:nvGrpSpPr>
          <p:cNvPr id="4" name="Groupe 3">
            <a:extLst>
              <a:ext uri="{FF2B5EF4-FFF2-40B4-BE49-F238E27FC236}">
                <a16:creationId xmlns:a16="http://schemas.microsoft.com/office/drawing/2014/main" id="{FFC5FF6A-7A0D-8A30-8DA4-A3047DB37A70}"/>
              </a:ext>
            </a:extLst>
          </p:cNvPr>
          <p:cNvGrpSpPr/>
          <p:nvPr/>
        </p:nvGrpSpPr>
        <p:grpSpPr>
          <a:xfrm>
            <a:off x="645225" y="945343"/>
            <a:ext cx="10937024" cy="565150"/>
            <a:chOff x="645225" y="945343"/>
            <a:chExt cx="10937024" cy="565150"/>
          </a:xfrm>
        </p:grpSpPr>
        <p:sp>
          <p:nvSpPr>
            <p:cNvPr id="37" name="Ellipse 36">
              <a:extLst>
                <a:ext uri="{FF2B5EF4-FFF2-40B4-BE49-F238E27FC236}">
                  <a16:creationId xmlns:a16="http://schemas.microsoft.com/office/drawing/2014/main" id="{24D05BDB-DFD3-EB76-9CDA-230D52670DB0}"/>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texte 9">
              <a:extLst>
                <a:ext uri="{FF2B5EF4-FFF2-40B4-BE49-F238E27FC236}">
                  <a16:creationId xmlns:a16="http://schemas.microsoft.com/office/drawing/2014/main" id="{6D2CD535-5B78-7FF2-4E26-1384A17FCC2F}"/>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342874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EBE9-987E-18E7-3A6C-1DE5BF6AC748}"/>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0D86B0D6-924B-A8E2-45F8-A190859ED979}"/>
              </a:ext>
            </a:extLst>
          </p:cNvPr>
          <p:cNvSpPr/>
          <p:nvPr/>
        </p:nvSpPr>
        <p:spPr>
          <a:xfrm>
            <a:off x="371100" y="1491669"/>
            <a:ext cx="8778789" cy="929167"/>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3B03FECD-F165-AC49-4D48-1AC60E94A877}"/>
              </a:ext>
            </a:extLst>
          </p:cNvPr>
          <p:cNvSpPr/>
          <p:nvPr/>
        </p:nvSpPr>
        <p:spPr>
          <a:xfrm>
            <a:off x="300401" y="131375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0EDC44D2-2B90-2A8E-205C-859B8C4E4461}"/>
              </a:ext>
            </a:extLst>
          </p:cNvPr>
          <p:cNvSpPr/>
          <p:nvPr/>
        </p:nvSpPr>
        <p:spPr>
          <a:xfrm>
            <a:off x="742819" y="1391407"/>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54545590-6F35-47CC-2527-71B3454D0068}"/>
              </a:ext>
            </a:extLst>
          </p:cNvPr>
          <p:cNvSpPr/>
          <p:nvPr/>
        </p:nvSpPr>
        <p:spPr>
          <a:xfrm rot="16200000">
            <a:off x="9829487" y="989817"/>
            <a:ext cx="1958967"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FD119170-C08F-1F5F-57F8-401D24245DFB}"/>
              </a:ext>
            </a:extLst>
          </p:cNvPr>
          <p:cNvSpPr/>
          <p:nvPr/>
        </p:nvSpPr>
        <p:spPr>
          <a:xfrm>
            <a:off x="364777" y="3352331"/>
            <a:ext cx="8785112" cy="846802"/>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52CC8F53-149E-1271-C015-B9F858D3576C}"/>
              </a:ext>
            </a:extLst>
          </p:cNvPr>
          <p:cNvSpPr/>
          <p:nvPr/>
        </p:nvSpPr>
        <p:spPr>
          <a:xfrm>
            <a:off x="300401" y="307316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82BB1D75-58DA-1DCC-C4B8-F4E43E2F8CA3}"/>
              </a:ext>
            </a:extLst>
          </p:cNvPr>
          <p:cNvSpPr/>
          <p:nvPr/>
        </p:nvSpPr>
        <p:spPr>
          <a:xfrm>
            <a:off x="742819" y="3143496"/>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6E93F2A8-6E3A-06EC-56B9-5C04D7986C0A}"/>
              </a:ext>
            </a:extLst>
          </p:cNvPr>
          <p:cNvSpPr/>
          <p:nvPr/>
        </p:nvSpPr>
        <p:spPr>
          <a:xfrm>
            <a:off x="364776" y="5004158"/>
            <a:ext cx="8785113" cy="1311072"/>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C1BDF04E-238B-DE95-A5FF-368EF75FA66D}"/>
              </a:ext>
            </a:extLst>
          </p:cNvPr>
          <p:cNvSpPr/>
          <p:nvPr/>
        </p:nvSpPr>
        <p:spPr>
          <a:xfrm>
            <a:off x="300401" y="4807735"/>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F8B0EE46-5B65-8E0C-F361-AC91CE16414E}"/>
              </a:ext>
            </a:extLst>
          </p:cNvPr>
          <p:cNvSpPr/>
          <p:nvPr/>
        </p:nvSpPr>
        <p:spPr>
          <a:xfrm>
            <a:off x="742819" y="4878068"/>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Evolutions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611F3B66-DF00-FCED-DAEC-8A83815E3188}"/>
              </a:ext>
            </a:extLst>
          </p:cNvPr>
          <p:cNvSpPr txBox="1"/>
          <p:nvPr/>
        </p:nvSpPr>
        <p:spPr>
          <a:xfrm>
            <a:off x="10338586" y="1461481"/>
            <a:ext cx="1853415" cy="338554"/>
          </a:xfrm>
          <a:prstGeom prst="rect">
            <a:avLst/>
          </a:prstGeom>
          <a:noFill/>
        </p:spPr>
        <p:txBody>
          <a:bodyPr wrap="square">
            <a:spAutoFit/>
          </a:bodyPr>
          <a:lstStyle/>
          <a:p>
            <a:pPr lvl="0"/>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71AF7AAD-E11B-A987-8AB5-477E718403B2}"/>
              </a:ext>
            </a:extLst>
          </p:cNvPr>
          <p:cNvSpPr txBox="1"/>
          <p:nvPr/>
        </p:nvSpPr>
        <p:spPr>
          <a:xfrm>
            <a:off x="9498985" y="2194304"/>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13FBC502-79A5-8AAA-9DD3-816708E13A67}"/>
              </a:ext>
            </a:extLst>
          </p:cNvPr>
          <p:cNvSpPr txBox="1"/>
          <p:nvPr/>
        </p:nvSpPr>
        <p:spPr>
          <a:xfrm>
            <a:off x="9498985" y="2560300"/>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19BD7408-1798-4779-2CE0-66344F8D6D83}"/>
              </a:ext>
            </a:extLst>
          </p:cNvPr>
          <p:cNvSpPr txBox="1"/>
          <p:nvPr/>
        </p:nvSpPr>
        <p:spPr>
          <a:xfrm>
            <a:off x="9498985" y="2932172"/>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730FAFE3-477D-7D1E-013D-8D5B0ECCCFAA}"/>
              </a:ext>
            </a:extLst>
          </p:cNvPr>
          <p:cNvGrpSpPr/>
          <p:nvPr/>
        </p:nvGrpSpPr>
        <p:grpSpPr>
          <a:xfrm>
            <a:off x="11205744" y="2183045"/>
            <a:ext cx="857700" cy="252000"/>
            <a:chOff x="1557481" y="4197166"/>
            <a:chExt cx="857700" cy="252000"/>
          </a:xfrm>
        </p:grpSpPr>
        <p:pic>
          <p:nvPicPr>
            <p:cNvPr id="23" name="Image 22">
              <a:extLst>
                <a:ext uri="{FF2B5EF4-FFF2-40B4-BE49-F238E27FC236}">
                  <a16:creationId xmlns:a16="http://schemas.microsoft.com/office/drawing/2014/main" id="{FFAEEE81-98DF-274C-EBAA-B68A475824E7}"/>
                </a:ext>
              </a:extLst>
            </p:cNvPr>
            <p:cNvPicPr>
              <a:picLocks noChangeAspect="1"/>
            </p:cNvPicPr>
            <p:nvPr/>
          </p:nvPicPr>
          <p:blipFill>
            <a:blip r:embed="rId3"/>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663233A3-A973-D65B-C545-A99DC1480246}"/>
                </a:ext>
              </a:extLst>
            </p:cNvPr>
            <p:cNvPicPr>
              <a:picLocks noChangeAspect="1"/>
            </p:cNvPicPr>
            <p:nvPr/>
          </p:nvPicPr>
          <p:blipFill>
            <a:blip r:embed="rId3"/>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76047783-5CB5-E730-D2EB-12AF71B7601F}"/>
                </a:ext>
              </a:extLst>
            </p:cNvPr>
            <p:cNvPicPr>
              <a:picLocks noChangeAspect="1"/>
            </p:cNvPicPr>
            <p:nvPr/>
          </p:nvPicPr>
          <p:blipFill>
            <a:blip r:embed="rId3"/>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7934CF7A-C9E7-4B0E-D11D-24A44DBC8837}"/>
              </a:ext>
            </a:extLst>
          </p:cNvPr>
          <p:cNvGrpSpPr/>
          <p:nvPr/>
        </p:nvGrpSpPr>
        <p:grpSpPr>
          <a:xfrm>
            <a:off x="11205744" y="2942746"/>
            <a:ext cx="857700" cy="252000"/>
            <a:chOff x="1557481" y="4804916"/>
            <a:chExt cx="857700" cy="252000"/>
          </a:xfrm>
        </p:grpSpPr>
        <p:pic>
          <p:nvPicPr>
            <p:cNvPr id="35" name="Image 34">
              <a:extLst>
                <a:ext uri="{FF2B5EF4-FFF2-40B4-BE49-F238E27FC236}">
                  <a16:creationId xmlns:a16="http://schemas.microsoft.com/office/drawing/2014/main" id="{46664848-D0F0-272C-6EB3-278F5670046B}"/>
                </a:ext>
              </a:extLst>
            </p:cNvPr>
            <p:cNvPicPr>
              <a:picLocks noChangeAspect="1"/>
            </p:cNvPicPr>
            <p:nvPr/>
          </p:nvPicPr>
          <p:blipFill>
            <a:blip r:embed="rId4"/>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0EE440DA-F1CF-315C-393B-1ECD091EA31D}"/>
                </a:ext>
              </a:extLst>
            </p:cNvPr>
            <p:cNvPicPr>
              <a:picLocks noChangeAspect="1"/>
            </p:cNvPicPr>
            <p:nvPr/>
          </p:nvPicPr>
          <p:blipFill>
            <a:blip r:embed="rId4"/>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8BF94BFA-0A67-F5DA-ADCF-446B4600D686}"/>
                </a:ext>
              </a:extLst>
            </p:cNvPr>
            <p:cNvPicPr>
              <a:picLocks noChangeAspect="1"/>
            </p:cNvPicPr>
            <p:nvPr/>
          </p:nvPicPr>
          <p:blipFill>
            <a:blip r:embed="rId4"/>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99960B39-E76F-C59E-809C-11A66E45A1CC}"/>
              </a:ext>
            </a:extLst>
          </p:cNvPr>
          <p:cNvGrpSpPr/>
          <p:nvPr/>
        </p:nvGrpSpPr>
        <p:grpSpPr>
          <a:xfrm>
            <a:off x="11205744" y="2575082"/>
            <a:ext cx="857699" cy="252000"/>
            <a:chOff x="2476644" y="4589203"/>
            <a:chExt cx="857699" cy="252000"/>
          </a:xfrm>
        </p:grpSpPr>
        <p:pic>
          <p:nvPicPr>
            <p:cNvPr id="46" name="Image 45">
              <a:extLst>
                <a:ext uri="{FF2B5EF4-FFF2-40B4-BE49-F238E27FC236}">
                  <a16:creationId xmlns:a16="http://schemas.microsoft.com/office/drawing/2014/main" id="{7910E3C1-0471-A853-FA03-1720D451722B}"/>
                </a:ext>
              </a:extLst>
            </p:cNvPr>
            <p:cNvPicPr>
              <a:picLocks noChangeAspect="1"/>
            </p:cNvPicPr>
            <p:nvPr/>
          </p:nvPicPr>
          <p:blipFill>
            <a:blip r:embed="rId5"/>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03A53BC4-3139-6C68-1F6B-815E5568B480}"/>
                </a:ext>
              </a:extLst>
            </p:cNvPr>
            <p:cNvPicPr>
              <a:picLocks noChangeAspect="1"/>
            </p:cNvPicPr>
            <p:nvPr/>
          </p:nvPicPr>
          <p:blipFill>
            <a:blip r:embed="rId5"/>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15098B76-60E0-9198-B5A0-4290BBB39940}"/>
                </a:ext>
              </a:extLst>
            </p:cNvPr>
            <p:cNvPicPr>
              <a:picLocks noChangeAspect="1"/>
            </p:cNvPicPr>
            <p:nvPr/>
          </p:nvPicPr>
          <p:blipFill>
            <a:blip r:embed="rId5"/>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FEF38629-D04D-2FAD-F14B-ACE72A488CAC}"/>
              </a:ext>
            </a:extLst>
          </p:cNvPr>
          <p:cNvPicPr>
            <a:picLocks noChangeAspect="1"/>
          </p:cNvPicPr>
          <p:nvPr/>
        </p:nvPicPr>
        <p:blipFill>
          <a:blip r:embed="rId6"/>
          <a:stretch>
            <a:fillRect/>
          </a:stretch>
        </p:blipFill>
        <p:spPr>
          <a:xfrm>
            <a:off x="9687059" y="1459448"/>
            <a:ext cx="540000" cy="540000"/>
          </a:xfrm>
          <a:prstGeom prst="rect">
            <a:avLst/>
          </a:prstGeom>
        </p:spPr>
      </p:pic>
      <p:cxnSp>
        <p:nvCxnSpPr>
          <p:cNvPr id="29" name="Connecteur droit 28">
            <a:extLst>
              <a:ext uri="{FF2B5EF4-FFF2-40B4-BE49-F238E27FC236}">
                <a16:creationId xmlns:a16="http://schemas.microsoft.com/office/drawing/2014/main" id="{C0B74F5F-37D8-0AAA-0E49-4A542CA350B4}"/>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grpSp>
        <p:nvGrpSpPr>
          <p:cNvPr id="32" name="Groupe 31">
            <a:extLst>
              <a:ext uri="{FF2B5EF4-FFF2-40B4-BE49-F238E27FC236}">
                <a16:creationId xmlns:a16="http://schemas.microsoft.com/office/drawing/2014/main" id="{13BA1B54-022E-DD40-BB06-1C22FD184619}"/>
              </a:ext>
            </a:extLst>
          </p:cNvPr>
          <p:cNvGrpSpPr/>
          <p:nvPr/>
        </p:nvGrpSpPr>
        <p:grpSpPr>
          <a:xfrm>
            <a:off x="9396921" y="108135"/>
            <a:ext cx="2625773" cy="580939"/>
            <a:chOff x="9396921" y="108135"/>
            <a:chExt cx="2625773" cy="580939"/>
          </a:xfrm>
        </p:grpSpPr>
        <p:pic>
          <p:nvPicPr>
            <p:cNvPr id="33" name="Image 32">
              <a:extLst>
                <a:ext uri="{FF2B5EF4-FFF2-40B4-BE49-F238E27FC236}">
                  <a16:creationId xmlns:a16="http://schemas.microsoft.com/office/drawing/2014/main" id="{98286430-6505-C530-20CB-C7A478FE8D18}"/>
                </a:ext>
              </a:extLst>
            </p:cNvPr>
            <p:cNvPicPr>
              <a:picLocks noChangeAspect="1"/>
            </p:cNvPicPr>
            <p:nvPr/>
          </p:nvPicPr>
          <p:blipFill>
            <a:blip r:embed="rId7"/>
            <a:stretch>
              <a:fillRect/>
            </a:stretch>
          </p:blipFill>
          <p:spPr>
            <a:xfrm>
              <a:off x="9554107" y="218630"/>
              <a:ext cx="360000" cy="360000"/>
            </a:xfrm>
            <a:prstGeom prst="rect">
              <a:avLst/>
            </a:prstGeom>
          </p:spPr>
        </p:pic>
        <p:pic>
          <p:nvPicPr>
            <p:cNvPr id="36" name="Picture 2">
              <a:extLst>
                <a:ext uri="{FF2B5EF4-FFF2-40B4-BE49-F238E27FC236}">
                  <a16:creationId xmlns:a16="http://schemas.microsoft.com/office/drawing/2014/main" id="{E20E05C1-816B-2F88-F8E4-50943A1FF18A}"/>
                </a:ext>
              </a:extLst>
            </p:cNvPr>
            <p:cNvPicPr>
              <a:picLocks noChangeAspect="1" noChangeArrowheads="1"/>
            </p:cNvPicPr>
            <p:nvPr/>
          </p:nvPicPr>
          <p:blipFill>
            <a:blip r:embed="rId8">
              <a:duotone>
                <a:prstClr val="black"/>
                <a:schemeClr val="tx1">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38" name="Image 37">
              <a:extLst>
                <a:ext uri="{FF2B5EF4-FFF2-40B4-BE49-F238E27FC236}">
                  <a16:creationId xmlns:a16="http://schemas.microsoft.com/office/drawing/2014/main" id="{D624AABB-2900-5BF3-F4B2-CB7768F0DC40}"/>
                </a:ext>
              </a:extLst>
            </p:cNvPr>
            <p:cNvPicPr>
              <a:picLocks noChangeAspect="1"/>
            </p:cNvPicPr>
            <p:nvPr/>
          </p:nvPicPr>
          <p:blipFill>
            <a:blip r:embed="rId10"/>
            <a:stretch>
              <a:fillRect/>
            </a:stretch>
          </p:blipFill>
          <p:spPr>
            <a:xfrm>
              <a:off x="10228477" y="228513"/>
              <a:ext cx="360000" cy="360000"/>
            </a:xfrm>
            <a:prstGeom prst="rect">
              <a:avLst/>
            </a:prstGeom>
          </p:spPr>
        </p:pic>
        <p:pic>
          <p:nvPicPr>
            <p:cNvPr id="40" name="Image 39">
              <a:extLst>
                <a:ext uri="{FF2B5EF4-FFF2-40B4-BE49-F238E27FC236}">
                  <a16:creationId xmlns:a16="http://schemas.microsoft.com/office/drawing/2014/main" id="{C463C8C2-820B-11F9-F2C3-720A4F7C93A8}"/>
                </a:ext>
              </a:extLst>
            </p:cNvPr>
            <p:cNvPicPr>
              <a:picLocks noChangeAspect="1"/>
            </p:cNvPicPr>
            <p:nvPr/>
          </p:nvPicPr>
          <p:blipFill>
            <a:blip r:embed="rId11"/>
            <a:stretch>
              <a:fillRect/>
            </a:stretch>
          </p:blipFill>
          <p:spPr>
            <a:xfrm>
              <a:off x="11595089" y="233166"/>
              <a:ext cx="360000" cy="360000"/>
            </a:xfrm>
            <a:prstGeom prst="rect">
              <a:avLst/>
            </a:prstGeom>
          </p:spPr>
        </p:pic>
        <p:grpSp>
          <p:nvGrpSpPr>
            <p:cNvPr id="52" name="Groupe 51">
              <a:extLst>
                <a:ext uri="{FF2B5EF4-FFF2-40B4-BE49-F238E27FC236}">
                  <a16:creationId xmlns:a16="http://schemas.microsoft.com/office/drawing/2014/main" id="{BC2348F7-3097-CB8F-D976-2935719DA209}"/>
                </a:ext>
              </a:extLst>
            </p:cNvPr>
            <p:cNvGrpSpPr/>
            <p:nvPr/>
          </p:nvGrpSpPr>
          <p:grpSpPr>
            <a:xfrm>
              <a:off x="9396921" y="108135"/>
              <a:ext cx="2625773" cy="580939"/>
              <a:chOff x="9396921" y="108135"/>
              <a:chExt cx="2625773" cy="580939"/>
            </a:xfrm>
          </p:grpSpPr>
          <p:sp>
            <p:nvSpPr>
              <p:cNvPr id="54" name="Rectangle : coins arrondis 53">
                <a:extLst>
                  <a:ext uri="{FF2B5EF4-FFF2-40B4-BE49-F238E27FC236}">
                    <a16:creationId xmlns:a16="http://schemas.microsoft.com/office/drawing/2014/main" id="{2417C64C-D2BB-85EA-1840-3EDF9D693F5F}"/>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B73E67BE-8D5D-8F5C-AC72-C55D185570C5}"/>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EB69B7FB-7631-7E81-025B-065F758A5340}"/>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2F2D750F-5F5C-C231-6C17-5D9563F61ACD}"/>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ECD3492-B4D9-EB15-C0F3-0FB769AD1C40}"/>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sp>
        <p:nvSpPr>
          <p:cNvPr id="65" name="Rectangle : avec coins arrondis en haut 64">
            <a:extLst>
              <a:ext uri="{FF2B5EF4-FFF2-40B4-BE49-F238E27FC236}">
                <a16:creationId xmlns:a16="http://schemas.microsoft.com/office/drawing/2014/main" id="{F5F73E5D-8119-9F30-27D6-04FD7FE3B006}"/>
              </a:ext>
            </a:extLst>
          </p:cNvPr>
          <p:cNvSpPr/>
          <p:nvPr/>
        </p:nvSpPr>
        <p:spPr>
          <a:xfrm rot="16200000">
            <a:off x="9249389" y="3682221"/>
            <a:ext cx="3119165"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66" name="ZoneTexte 65">
            <a:extLst>
              <a:ext uri="{FF2B5EF4-FFF2-40B4-BE49-F238E27FC236}">
                <a16:creationId xmlns:a16="http://schemas.microsoft.com/office/drawing/2014/main" id="{49C4453D-F485-9DF0-399F-EB2ADDC8AD70}"/>
              </a:ext>
            </a:extLst>
          </p:cNvPr>
          <p:cNvSpPr txBox="1"/>
          <p:nvPr/>
        </p:nvSpPr>
        <p:spPr>
          <a:xfrm>
            <a:off x="10500290" y="3658759"/>
            <a:ext cx="1094799" cy="338554"/>
          </a:xfrm>
          <a:prstGeom prst="rect">
            <a:avLst/>
          </a:prstGeom>
          <a:noFill/>
        </p:spPr>
        <p:txBody>
          <a:bodyPr wrap="square">
            <a:spAutoFit/>
          </a:bodyPr>
          <a:lstStyle/>
          <a:p>
            <a:pPr lvl="0"/>
            <a:r>
              <a:rPr lang="fr-FR" sz="1600" b="1" u="sng" dirty="0"/>
              <a:t>Sources</a:t>
            </a:r>
          </a:p>
        </p:txBody>
      </p:sp>
      <p:pic>
        <p:nvPicPr>
          <p:cNvPr id="88" name="Image 87">
            <a:extLst>
              <a:ext uri="{FF2B5EF4-FFF2-40B4-BE49-F238E27FC236}">
                <a16:creationId xmlns:a16="http://schemas.microsoft.com/office/drawing/2014/main" id="{528452F5-686D-1932-4E3A-4AC718647F0A}"/>
              </a:ext>
            </a:extLst>
          </p:cNvPr>
          <p:cNvPicPr>
            <a:picLocks noChangeAspect="1"/>
          </p:cNvPicPr>
          <p:nvPr/>
        </p:nvPicPr>
        <p:blipFill>
          <a:blip r:embed="rId12"/>
          <a:stretch>
            <a:fillRect/>
          </a:stretch>
        </p:blipFill>
        <p:spPr>
          <a:xfrm>
            <a:off x="9733217" y="3659133"/>
            <a:ext cx="540000" cy="540000"/>
          </a:xfrm>
          <a:prstGeom prst="rect">
            <a:avLst/>
          </a:prstGeom>
        </p:spPr>
      </p:pic>
      <p:sp>
        <p:nvSpPr>
          <p:cNvPr id="13" name="ZoneTexte 12">
            <a:extLst>
              <a:ext uri="{FF2B5EF4-FFF2-40B4-BE49-F238E27FC236}">
                <a16:creationId xmlns:a16="http://schemas.microsoft.com/office/drawing/2014/main" id="{CE5C7013-9A9C-880E-1218-D97C647F5A2D}"/>
              </a:ext>
            </a:extLst>
          </p:cNvPr>
          <p:cNvSpPr txBox="1"/>
          <p:nvPr/>
        </p:nvSpPr>
        <p:spPr>
          <a:xfrm>
            <a:off x="526157" y="1871139"/>
            <a:ext cx="8623731" cy="830997"/>
          </a:xfrm>
          <a:prstGeom prst="rect">
            <a:avLst/>
          </a:prstGeom>
          <a:noFill/>
        </p:spPr>
        <p:txBody>
          <a:bodyPr wrap="square">
            <a:spAutoFit/>
          </a:bodyPr>
          <a:lstStyle/>
          <a:p>
            <a:pPr marL="285750" indent="-285750" algn="just">
              <a:buFont typeface="Wingdings" panose="05000000000000000000" pitchFamily="2" charset="2"/>
              <a:buChar char="Ø"/>
            </a:pPr>
            <a:r>
              <a:rPr lang="fr-FR" sz="1200" b="0" i="0" u="none" strike="noStrike" baseline="0" dirty="0" err="1">
                <a:solidFill>
                  <a:srgbClr val="231F20"/>
                </a:solidFill>
              </a:rPr>
              <a:t>Considerable</a:t>
            </a:r>
            <a:r>
              <a:rPr lang="fr-FR" sz="1200" b="0" i="0" u="none" strike="noStrike" baseline="0" dirty="0">
                <a:solidFill>
                  <a:srgbClr val="231F20"/>
                </a:solidFill>
              </a:rPr>
              <a:t> </a:t>
            </a:r>
            <a:r>
              <a:rPr lang="en-US" sz="1200" b="0" i="0" u="none" strike="noStrike" baseline="0" dirty="0">
                <a:solidFill>
                  <a:srgbClr val="231F20"/>
                </a:solidFill>
              </a:rPr>
              <a:t>efforts have been devoted to improving the specificity of CRISPR/Cas9, including using paired </a:t>
            </a:r>
            <a:r>
              <a:rPr lang="fr-FR" sz="1200" b="0" i="0" u="none" strike="noStrike" baseline="0" dirty="0">
                <a:solidFill>
                  <a:srgbClr val="231F20"/>
                </a:solidFill>
              </a:rPr>
              <a:t>Cas9 </a:t>
            </a:r>
            <a:r>
              <a:rPr lang="fr-FR" sz="1200" b="0" i="0" u="none" strike="noStrike" baseline="0" dirty="0" err="1">
                <a:solidFill>
                  <a:srgbClr val="231F20"/>
                </a:solidFill>
              </a:rPr>
              <a:t>nickases</a:t>
            </a:r>
            <a:r>
              <a:rPr lang="fr-FR" sz="1200" b="0" i="0" u="none" strike="noStrike" baseline="0" dirty="0">
                <a:solidFill>
                  <a:srgbClr val="231F20"/>
                </a:solidFill>
              </a:rPr>
              <a:t>,</a:t>
            </a:r>
            <a:r>
              <a:rPr lang="en-US" sz="1200" b="0" i="0" u="none" strike="noStrike" baseline="0" dirty="0">
                <a:solidFill>
                  <a:srgbClr val="231F20"/>
                </a:solidFill>
              </a:rPr>
              <a:t> which increase gene-editing specificity by requiring the induction of two sequential and adjacent nicking events for DSB formation, or truncated sgRNA that are more sensitive to mismatches at the genomic target site than a full-length sgRNA.</a:t>
            </a:r>
          </a:p>
        </p:txBody>
      </p:sp>
      <p:pic>
        <p:nvPicPr>
          <p:cNvPr id="6" name="Image 5" descr="Une image contenant symbole, Graphique, logo, Police&#10;&#10;Description générée automatiquement">
            <a:extLst>
              <a:ext uri="{FF2B5EF4-FFF2-40B4-BE49-F238E27FC236}">
                <a16:creationId xmlns:a16="http://schemas.microsoft.com/office/drawing/2014/main" id="{647A5C74-45AD-716F-2160-47C9644EA1B0}"/>
              </a:ext>
            </a:extLst>
          </p:cNvPr>
          <p:cNvPicPr>
            <a:picLocks noChangeAspect="1"/>
          </p:cNvPicPr>
          <p:nvPr/>
        </p:nvPicPr>
        <p:blipFill>
          <a:blip r:embed="rId13"/>
          <a:stretch>
            <a:fillRect/>
          </a:stretch>
        </p:blipFill>
        <p:spPr>
          <a:xfrm>
            <a:off x="364777" y="1374132"/>
            <a:ext cx="468000" cy="468000"/>
          </a:xfrm>
          <a:prstGeom prst="rect">
            <a:avLst/>
          </a:prstGeom>
        </p:spPr>
      </p:pic>
      <p:pic>
        <p:nvPicPr>
          <p:cNvPr id="7" name="Image 6" descr="Une image contenant Graphique, symbole, Police, logo&#10;&#10;Description générée automatiquement">
            <a:extLst>
              <a:ext uri="{FF2B5EF4-FFF2-40B4-BE49-F238E27FC236}">
                <a16:creationId xmlns:a16="http://schemas.microsoft.com/office/drawing/2014/main" id="{9C76B082-A227-1C7F-007C-DB8735C08EB6}"/>
              </a:ext>
            </a:extLst>
          </p:cNvPr>
          <p:cNvPicPr>
            <a:picLocks noChangeAspect="1"/>
          </p:cNvPicPr>
          <p:nvPr/>
        </p:nvPicPr>
        <p:blipFill>
          <a:blip r:embed="rId14"/>
          <a:stretch>
            <a:fillRect/>
          </a:stretch>
        </p:blipFill>
        <p:spPr>
          <a:xfrm>
            <a:off x="351510" y="3144564"/>
            <a:ext cx="468000" cy="468000"/>
          </a:xfrm>
          <a:prstGeom prst="rect">
            <a:avLst/>
          </a:prstGeom>
        </p:spPr>
      </p:pic>
      <p:pic>
        <p:nvPicPr>
          <p:cNvPr id="10" name="Image 9" descr="Une image contenant Graphique, clipart, Police, graphisme&#10;&#10;Description générée automatiquement">
            <a:extLst>
              <a:ext uri="{FF2B5EF4-FFF2-40B4-BE49-F238E27FC236}">
                <a16:creationId xmlns:a16="http://schemas.microsoft.com/office/drawing/2014/main" id="{EB27E3D6-23B0-5123-86A3-E4382DD8120C}"/>
              </a:ext>
            </a:extLst>
          </p:cNvPr>
          <p:cNvPicPr>
            <a:picLocks noChangeAspect="1"/>
          </p:cNvPicPr>
          <p:nvPr/>
        </p:nvPicPr>
        <p:blipFill>
          <a:blip r:embed="rId15"/>
          <a:stretch>
            <a:fillRect/>
          </a:stretch>
        </p:blipFill>
        <p:spPr>
          <a:xfrm>
            <a:off x="400795" y="4862334"/>
            <a:ext cx="468000" cy="468000"/>
          </a:xfrm>
          <a:prstGeom prst="rect">
            <a:avLst/>
          </a:prstGeom>
        </p:spPr>
      </p:pic>
      <p:sp>
        <p:nvSpPr>
          <p:cNvPr id="12" name="ZoneTexte 11">
            <a:extLst>
              <a:ext uri="{FF2B5EF4-FFF2-40B4-BE49-F238E27FC236}">
                <a16:creationId xmlns:a16="http://schemas.microsoft.com/office/drawing/2014/main" id="{C58F6A1B-F191-A2F0-CC3A-A4089C3F408D}"/>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Dual </a:t>
            </a:r>
            <a:r>
              <a:rPr lang="fr-FR" sz="3200" b="1" dirty="0" err="1">
                <a:solidFill>
                  <a:schemeClr val="tx2"/>
                </a:solidFill>
              </a:rPr>
              <a:t>Nickases</a:t>
            </a:r>
            <a:endParaRPr lang="fr-FR" sz="3100" b="1" dirty="0">
              <a:solidFill>
                <a:schemeClr val="tx2"/>
              </a:solidFill>
            </a:endParaRPr>
          </a:p>
        </p:txBody>
      </p:sp>
    </p:spTree>
    <p:extLst>
      <p:ext uri="{BB962C8B-B14F-4D97-AF65-F5344CB8AC3E}">
        <p14:creationId xmlns:p14="http://schemas.microsoft.com/office/powerpoint/2010/main" val="1717914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6B00-C4A8-F17C-3FEB-8B6D227D6705}"/>
            </a:ext>
          </a:extLst>
        </p:cNvPr>
        <p:cNvGrpSpPr/>
        <p:nvPr/>
      </p:nvGrpSpPr>
      <p:grpSpPr>
        <a:xfrm>
          <a:off x="0" y="0"/>
          <a:ext cx="0" cy="0"/>
          <a:chOff x="0" y="0"/>
          <a:chExt cx="0" cy="0"/>
        </a:xfrm>
      </p:grpSpPr>
      <p:grpSp>
        <p:nvGrpSpPr>
          <p:cNvPr id="6" name="Groupe 5">
            <a:extLst>
              <a:ext uri="{FF2B5EF4-FFF2-40B4-BE49-F238E27FC236}">
                <a16:creationId xmlns:a16="http://schemas.microsoft.com/office/drawing/2014/main" id="{F8E572C6-BFC5-E78F-57B3-321B738C75D7}"/>
              </a:ext>
            </a:extLst>
          </p:cNvPr>
          <p:cNvGrpSpPr/>
          <p:nvPr/>
        </p:nvGrpSpPr>
        <p:grpSpPr>
          <a:xfrm>
            <a:off x="9396921" y="108135"/>
            <a:ext cx="2625773" cy="580939"/>
            <a:chOff x="9396921" y="108135"/>
            <a:chExt cx="2625773" cy="580939"/>
          </a:xfrm>
        </p:grpSpPr>
        <p:pic>
          <p:nvPicPr>
            <p:cNvPr id="11" name="Image 10">
              <a:extLst>
                <a:ext uri="{FF2B5EF4-FFF2-40B4-BE49-F238E27FC236}">
                  <a16:creationId xmlns:a16="http://schemas.microsoft.com/office/drawing/2014/main" id="{C3DB0B45-8E38-7154-FEAC-1BD4824D336E}"/>
                </a:ext>
              </a:extLst>
            </p:cNvPr>
            <p:cNvPicPr>
              <a:picLocks noChangeAspect="1"/>
            </p:cNvPicPr>
            <p:nvPr/>
          </p:nvPicPr>
          <p:blipFill>
            <a:blip r:embed="rId2"/>
            <a:stretch>
              <a:fillRect/>
            </a:stretch>
          </p:blipFill>
          <p:spPr>
            <a:xfrm>
              <a:off x="9554107" y="218630"/>
              <a:ext cx="360000" cy="360000"/>
            </a:xfrm>
            <a:prstGeom prst="rect">
              <a:avLst/>
            </a:prstGeom>
          </p:spPr>
        </p:pic>
        <p:pic>
          <p:nvPicPr>
            <p:cNvPr id="7" name="Picture 2">
              <a:extLst>
                <a:ext uri="{FF2B5EF4-FFF2-40B4-BE49-F238E27FC236}">
                  <a16:creationId xmlns:a16="http://schemas.microsoft.com/office/drawing/2014/main" id="{52DDEA6B-7CEB-F79A-33AA-35F81D25BFF8}"/>
                </a:ext>
              </a:extLst>
            </p:cNvPr>
            <p:cNvPicPr>
              <a:picLocks noChangeAspect="1" noChangeArrowheads="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8016FA18-FB1D-7F61-DD76-48C2FEDC822B}"/>
                </a:ext>
              </a:extLst>
            </p:cNvPr>
            <p:cNvPicPr>
              <a:picLocks noChangeAspect="1"/>
            </p:cNvPicPr>
            <p:nvPr/>
          </p:nvPicPr>
          <p:blipFill>
            <a:blip r:embed="rId5"/>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8CD746D8-2F38-EC8E-9B79-04D4953672C4}"/>
                </a:ext>
              </a:extLst>
            </p:cNvPr>
            <p:cNvPicPr>
              <a:picLocks noChangeAspect="1"/>
            </p:cNvPicPr>
            <p:nvPr/>
          </p:nvPicPr>
          <p:blipFill>
            <a:blip r:embed="rId6"/>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DAFBB38F-E027-C0D3-CCDC-3494534FD935}"/>
                </a:ext>
              </a:extLst>
            </p:cNvPr>
            <p:cNvGrpSpPr/>
            <p:nvPr/>
          </p:nvGrpSpPr>
          <p:grpSpPr>
            <a:xfrm>
              <a:off x="9396921" y="108135"/>
              <a:ext cx="2625773" cy="580939"/>
              <a:chOff x="9396921" y="108135"/>
              <a:chExt cx="2625773" cy="580939"/>
            </a:xfrm>
          </p:grpSpPr>
          <p:sp>
            <p:nvSpPr>
              <p:cNvPr id="12" name="Rectangle : coins arrondis 11">
                <a:extLst>
                  <a:ext uri="{FF2B5EF4-FFF2-40B4-BE49-F238E27FC236}">
                    <a16:creationId xmlns:a16="http://schemas.microsoft.com/office/drawing/2014/main" id="{B099C913-AD6F-E7BA-79B5-A803F92C4DE5}"/>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ACA92DF1-D09E-A7DC-E3AE-122A67855EA0}"/>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4F3C82C9-6C8E-1804-9B21-2E6FE7436BD3}"/>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290B2865-5B9F-EDC6-52A9-2ACAD21A2C02}"/>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93816EB7-9BF0-D8DD-B95D-1804C7505DEA}"/>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cxnSp>
        <p:nvCxnSpPr>
          <p:cNvPr id="17" name="Connecteur droit 16">
            <a:extLst>
              <a:ext uri="{FF2B5EF4-FFF2-40B4-BE49-F238E27FC236}">
                <a16:creationId xmlns:a16="http://schemas.microsoft.com/office/drawing/2014/main" id="{4D1C4B1C-1797-67AA-7FC7-9AE1100342C2}"/>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BEE23D6C-636F-C457-0520-4435DB6E0B8C}"/>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Base Editing (BE) of DNA</a:t>
            </a:r>
            <a:endParaRPr lang="fr-FR" sz="3100" b="1" dirty="0">
              <a:solidFill>
                <a:schemeClr val="tx2"/>
              </a:solidFill>
            </a:endParaRPr>
          </a:p>
        </p:txBody>
      </p:sp>
      <p:sp>
        <p:nvSpPr>
          <p:cNvPr id="20" name="Rectangle : coins arrondis 19">
            <a:extLst>
              <a:ext uri="{FF2B5EF4-FFF2-40B4-BE49-F238E27FC236}">
                <a16:creationId xmlns:a16="http://schemas.microsoft.com/office/drawing/2014/main" id="{9F9F44DB-E589-BE06-6B57-8B1CE0D513BD}"/>
              </a:ext>
            </a:extLst>
          </p:cNvPr>
          <p:cNvSpPr/>
          <p:nvPr/>
        </p:nvSpPr>
        <p:spPr>
          <a:xfrm>
            <a:off x="3197013" y="2800124"/>
            <a:ext cx="5044440" cy="2752472"/>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FF4E5F65-7026-1FD8-22BC-7D16AEFEB727}"/>
              </a:ext>
            </a:extLst>
          </p:cNvPr>
          <p:cNvSpPr/>
          <p:nvPr/>
        </p:nvSpPr>
        <p:spPr>
          <a:xfrm>
            <a:off x="2994494" y="2520956"/>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5C23DA4A-6DB4-B72A-6F02-5995905BC8B4}"/>
              </a:ext>
            </a:extLst>
          </p:cNvPr>
          <p:cNvSpPr/>
          <p:nvPr/>
        </p:nvSpPr>
        <p:spPr>
          <a:xfrm>
            <a:off x="3436912" y="259861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A8E73C80-1F93-DC9D-969A-AB8FF458F6EA}"/>
              </a:ext>
            </a:extLst>
          </p:cNvPr>
          <p:cNvSpPr/>
          <p:nvPr/>
        </p:nvSpPr>
        <p:spPr>
          <a:xfrm rot="5400000">
            <a:off x="-358685" y="2607141"/>
            <a:ext cx="3483429"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4E0EAB6B-2729-16A8-CBEB-9D18B8D5F3BD}"/>
              </a:ext>
            </a:extLst>
          </p:cNvPr>
          <p:cNvSpPr/>
          <p:nvPr/>
        </p:nvSpPr>
        <p:spPr>
          <a:xfrm>
            <a:off x="8760710" y="2040859"/>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EC5691F8-FE34-E1BB-36BA-DB6BB501D548}"/>
              </a:ext>
            </a:extLst>
          </p:cNvPr>
          <p:cNvSpPr/>
          <p:nvPr/>
        </p:nvSpPr>
        <p:spPr>
          <a:xfrm>
            <a:off x="8558191" y="1761692"/>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58736605-80EC-3907-432B-CA1DDD1EB971}"/>
              </a:ext>
            </a:extLst>
          </p:cNvPr>
          <p:cNvSpPr/>
          <p:nvPr/>
        </p:nvSpPr>
        <p:spPr>
          <a:xfrm>
            <a:off x="9000609" y="1832025"/>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23" name="Groupe 22">
            <a:extLst>
              <a:ext uri="{FF2B5EF4-FFF2-40B4-BE49-F238E27FC236}">
                <a16:creationId xmlns:a16="http://schemas.microsoft.com/office/drawing/2014/main" id="{F7351523-6B16-530D-7D76-34EA2B168E4D}"/>
              </a:ext>
            </a:extLst>
          </p:cNvPr>
          <p:cNvGrpSpPr/>
          <p:nvPr/>
        </p:nvGrpSpPr>
        <p:grpSpPr>
          <a:xfrm>
            <a:off x="71514" y="2316811"/>
            <a:ext cx="2632872" cy="720000"/>
            <a:chOff x="71514" y="2316811"/>
            <a:chExt cx="2632872" cy="720000"/>
          </a:xfrm>
        </p:grpSpPr>
        <p:sp>
          <p:nvSpPr>
            <p:cNvPr id="29" name="ZoneTexte 28">
              <a:extLst>
                <a:ext uri="{FF2B5EF4-FFF2-40B4-BE49-F238E27FC236}">
                  <a16:creationId xmlns:a16="http://schemas.microsoft.com/office/drawing/2014/main" id="{F2CA7FFE-F305-DE5A-13F7-33515021EAC4}"/>
                </a:ext>
              </a:extLst>
            </p:cNvPr>
            <p:cNvSpPr txBox="1"/>
            <p:nvPr/>
          </p:nvSpPr>
          <p:spPr>
            <a:xfrm>
              <a:off x="839954" y="2353646"/>
              <a:ext cx="1864432" cy="646331"/>
            </a:xfrm>
            <a:prstGeom prst="rect">
              <a:avLst/>
            </a:prstGeom>
            <a:noFill/>
          </p:spPr>
          <p:txBody>
            <a:bodyPr wrap="square" rtlCol="0">
              <a:spAutoFit/>
            </a:bodyPr>
            <a:lstStyle/>
            <a:p>
              <a:pPr algn="just"/>
              <a:r>
                <a:rPr lang="en-US" sz="1200" dirty="0"/>
                <a:t>Base editing of DNA methods were first introduced in </a:t>
              </a:r>
              <a:r>
                <a:rPr lang="en-US" sz="1200" b="1" dirty="0"/>
                <a:t>2016</a:t>
              </a:r>
              <a:r>
                <a:rPr lang="en-US" sz="1200" dirty="0"/>
                <a:t>.</a:t>
              </a:r>
              <a:endParaRPr lang="fr-FR" dirty="0"/>
            </a:p>
          </p:txBody>
        </p:sp>
        <p:pic>
          <p:nvPicPr>
            <p:cNvPr id="36" name="Image 35">
              <a:extLst>
                <a:ext uri="{FF2B5EF4-FFF2-40B4-BE49-F238E27FC236}">
                  <a16:creationId xmlns:a16="http://schemas.microsoft.com/office/drawing/2014/main" id="{06B005D2-0FA3-E5E0-81CD-2F2E46F64F15}"/>
                </a:ext>
              </a:extLst>
            </p:cNvPr>
            <p:cNvPicPr>
              <a:picLocks noChangeAspect="1"/>
            </p:cNvPicPr>
            <p:nvPr/>
          </p:nvPicPr>
          <p:blipFill>
            <a:blip r:embed="rId7"/>
            <a:stretch>
              <a:fillRect/>
            </a:stretch>
          </p:blipFill>
          <p:spPr>
            <a:xfrm>
              <a:off x="71514" y="2316811"/>
              <a:ext cx="720000" cy="720000"/>
            </a:xfrm>
            <a:prstGeom prst="rect">
              <a:avLst/>
            </a:prstGeom>
          </p:spPr>
        </p:pic>
      </p:grpSp>
      <p:grpSp>
        <p:nvGrpSpPr>
          <p:cNvPr id="24" name="Groupe 23">
            <a:extLst>
              <a:ext uri="{FF2B5EF4-FFF2-40B4-BE49-F238E27FC236}">
                <a16:creationId xmlns:a16="http://schemas.microsoft.com/office/drawing/2014/main" id="{4D19E6DC-C6E1-5FED-8177-3F3051BF3262}"/>
              </a:ext>
            </a:extLst>
          </p:cNvPr>
          <p:cNvGrpSpPr/>
          <p:nvPr/>
        </p:nvGrpSpPr>
        <p:grpSpPr>
          <a:xfrm>
            <a:off x="74170" y="3160697"/>
            <a:ext cx="2630216" cy="1015663"/>
            <a:chOff x="74170" y="3192648"/>
            <a:chExt cx="2630216" cy="1015663"/>
          </a:xfrm>
        </p:grpSpPr>
        <p:sp>
          <p:nvSpPr>
            <p:cNvPr id="33" name="ZoneTexte 32">
              <a:extLst>
                <a:ext uri="{FF2B5EF4-FFF2-40B4-BE49-F238E27FC236}">
                  <a16:creationId xmlns:a16="http://schemas.microsoft.com/office/drawing/2014/main" id="{5B57AB92-647C-1156-6E28-535836989252}"/>
                </a:ext>
              </a:extLst>
            </p:cNvPr>
            <p:cNvSpPr txBox="1"/>
            <p:nvPr/>
          </p:nvSpPr>
          <p:spPr>
            <a:xfrm>
              <a:off x="839954" y="3192648"/>
              <a:ext cx="1864432" cy="1015663"/>
            </a:xfrm>
            <a:prstGeom prst="rect">
              <a:avLst/>
            </a:prstGeom>
            <a:noFill/>
          </p:spPr>
          <p:txBody>
            <a:bodyPr wrap="square">
              <a:spAutoFit/>
            </a:bodyPr>
            <a:lstStyle/>
            <a:p>
              <a:pPr algn="just"/>
              <a:r>
                <a:rPr lang="en-US" sz="1200" b="0" i="0" u="none" strike="noStrike" baseline="0" dirty="0"/>
                <a:t>Allows d</a:t>
              </a:r>
              <a:r>
                <a:rPr lang="fr-FR" sz="1200" b="0" i="0" u="none" strike="noStrike" baseline="0" dirty="0" err="1"/>
                <a:t>irect</a:t>
              </a:r>
              <a:r>
                <a:rPr lang="fr-FR" sz="1200" dirty="0"/>
                <a:t> and </a:t>
              </a:r>
              <a:r>
                <a:rPr lang="fr-FR" sz="1200" b="1" i="0" u="none" strike="noStrike" baseline="0" dirty="0" err="1"/>
                <a:t>irreversible</a:t>
              </a:r>
              <a:r>
                <a:rPr lang="fr-FR" sz="1200" b="1" i="0" u="none" strike="noStrike" baseline="0" dirty="0"/>
                <a:t> conversion </a:t>
              </a:r>
              <a:r>
                <a:rPr lang="fr-FR" sz="1200" b="0" i="0" u="none" strike="noStrike" baseline="0" dirty="0"/>
                <a:t>of </a:t>
              </a:r>
              <a:r>
                <a:rPr lang="fr-FR" sz="1200" b="0" i="0" u="none" strike="noStrike" baseline="0" dirty="0" err="1"/>
                <a:t>target</a:t>
              </a:r>
              <a:r>
                <a:rPr lang="fr-FR" sz="1200" b="0" i="0" u="none" strike="noStrike" baseline="0" dirty="0"/>
                <a:t> C </a:t>
              </a:r>
              <a:r>
                <a:rPr lang="en-US" sz="1200" b="0" i="0" u="none" strike="noStrike" baseline="0" dirty="0"/>
                <a:t>or A bases at a </a:t>
              </a:r>
              <a:r>
                <a:rPr lang="en-US" sz="1200" b="1" i="0" u="none" strike="noStrike" baseline="0" dirty="0"/>
                <a:t>specific </a:t>
              </a:r>
              <a:r>
                <a:rPr lang="fr-FR" sz="1200" b="1" i="0" u="none" strike="noStrike" baseline="0" dirty="0" err="1"/>
                <a:t>genomic</a:t>
              </a:r>
              <a:r>
                <a:rPr lang="fr-FR" sz="1200" b="1" i="0" u="none" strike="noStrike" baseline="0" dirty="0"/>
                <a:t> locus.</a:t>
              </a:r>
              <a:endParaRPr lang="en-US" sz="1200" b="1" dirty="0"/>
            </a:p>
          </p:txBody>
        </p:sp>
        <p:pic>
          <p:nvPicPr>
            <p:cNvPr id="38" name="Image 37">
              <a:extLst>
                <a:ext uri="{FF2B5EF4-FFF2-40B4-BE49-F238E27FC236}">
                  <a16:creationId xmlns:a16="http://schemas.microsoft.com/office/drawing/2014/main" id="{049D938F-6059-C04D-6A13-74A2684D79E7}"/>
                </a:ext>
              </a:extLst>
            </p:cNvPr>
            <p:cNvPicPr>
              <a:picLocks noChangeAspect="1"/>
            </p:cNvPicPr>
            <p:nvPr/>
          </p:nvPicPr>
          <p:blipFill>
            <a:blip r:embed="rId8"/>
            <a:stretch>
              <a:fillRect/>
            </a:stretch>
          </p:blipFill>
          <p:spPr>
            <a:xfrm>
              <a:off x="74170" y="3340479"/>
              <a:ext cx="720000" cy="720000"/>
            </a:xfrm>
            <a:prstGeom prst="rect">
              <a:avLst/>
            </a:prstGeom>
          </p:spPr>
        </p:pic>
      </p:grpSp>
      <p:sp>
        <p:nvSpPr>
          <p:cNvPr id="45" name="Rectangle : coins arrondis 44">
            <a:extLst>
              <a:ext uri="{FF2B5EF4-FFF2-40B4-BE49-F238E27FC236}">
                <a16:creationId xmlns:a16="http://schemas.microsoft.com/office/drawing/2014/main" id="{5F2CF63E-7C66-DDED-256C-939144B8FF31}"/>
              </a:ext>
            </a:extLst>
          </p:cNvPr>
          <p:cNvSpPr/>
          <p:nvPr/>
        </p:nvSpPr>
        <p:spPr>
          <a:xfrm>
            <a:off x="8760710" y="4659574"/>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940B08CC-DD9C-E783-D3BD-8DAAD18D3E92}"/>
              </a:ext>
            </a:extLst>
          </p:cNvPr>
          <p:cNvSpPr/>
          <p:nvPr/>
        </p:nvSpPr>
        <p:spPr>
          <a:xfrm>
            <a:off x="8558191" y="43804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8654EB57-4720-08DF-C9A2-7EC98A153EF9}"/>
              </a:ext>
            </a:extLst>
          </p:cNvPr>
          <p:cNvSpPr/>
          <p:nvPr/>
        </p:nvSpPr>
        <p:spPr>
          <a:xfrm>
            <a:off x="9000609" y="445074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2" name="Image 1">
            <a:extLst>
              <a:ext uri="{FF2B5EF4-FFF2-40B4-BE49-F238E27FC236}">
                <a16:creationId xmlns:a16="http://schemas.microsoft.com/office/drawing/2014/main" id="{EE174EFD-F563-C59A-BB40-B7CA1213B328}"/>
              </a:ext>
            </a:extLst>
          </p:cNvPr>
          <p:cNvPicPr>
            <a:picLocks noChangeAspect="1"/>
          </p:cNvPicPr>
          <p:nvPr/>
        </p:nvPicPr>
        <p:blipFill>
          <a:blip r:embed="rId9"/>
          <a:srcRect l="561" t="16683" r="46312" b="7022"/>
          <a:stretch/>
        </p:blipFill>
        <p:spPr>
          <a:xfrm>
            <a:off x="3852334" y="3164036"/>
            <a:ext cx="3733798" cy="1068682"/>
          </a:xfrm>
          <a:prstGeom prst="rect">
            <a:avLst/>
          </a:prstGeom>
        </p:spPr>
      </p:pic>
      <p:sp>
        <p:nvSpPr>
          <p:cNvPr id="4" name="ZoneTexte 3">
            <a:extLst>
              <a:ext uri="{FF2B5EF4-FFF2-40B4-BE49-F238E27FC236}">
                <a16:creationId xmlns:a16="http://schemas.microsoft.com/office/drawing/2014/main" id="{6E6B731A-D7C7-DEDF-D2D9-A336193E0940}"/>
              </a:ext>
            </a:extLst>
          </p:cNvPr>
          <p:cNvSpPr txBox="1"/>
          <p:nvPr/>
        </p:nvSpPr>
        <p:spPr>
          <a:xfrm>
            <a:off x="3436912" y="4417778"/>
            <a:ext cx="4744938" cy="1015663"/>
          </a:xfrm>
          <a:prstGeom prst="rect">
            <a:avLst/>
          </a:prstGeom>
          <a:noFill/>
        </p:spPr>
        <p:txBody>
          <a:bodyPr wrap="square">
            <a:spAutoFit/>
          </a:bodyPr>
          <a:lstStyle/>
          <a:p>
            <a:pPr marL="171450" indent="-171450" algn="just">
              <a:buFont typeface="Wingdings" panose="05000000000000000000" pitchFamily="2" charset="2"/>
              <a:buChar char="Ø"/>
            </a:pPr>
            <a:r>
              <a:rPr lang="en-US" sz="1200" b="1" strike="noStrike" baseline="0" dirty="0"/>
              <a:t>CBE</a:t>
            </a:r>
            <a:r>
              <a:rPr lang="en-US" sz="1200" strike="noStrike" baseline="0" dirty="0"/>
              <a:t> : Cytosine Base Editor, </a:t>
            </a:r>
            <a:r>
              <a:rPr lang="en-US" sz="1200" dirty="0"/>
              <a:t>converting </a:t>
            </a:r>
            <a:r>
              <a:rPr lang="en-US" sz="1200" strike="noStrike" baseline="0" dirty="0"/>
              <a:t>C•G to T•A </a:t>
            </a:r>
          </a:p>
          <a:p>
            <a:pPr marL="171450" indent="-171450" algn="just">
              <a:buFont typeface="Wingdings" panose="05000000000000000000" pitchFamily="2" charset="2"/>
              <a:buChar char="Ø"/>
            </a:pPr>
            <a:r>
              <a:rPr lang="en-US" sz="1200" b="1" dirty="0"/>
              <a:t>ABE</a:t>
            </a:r>
            <a:r>
              <a:rPr lang="en-US" sz="1200" dirty="0"/>
              <a:t> : Adenosine Base Editor, converting </a:t>
            </a:r>
            <a:r>
              <a:rPr lang="en-US" sz="1200" strike="noStrike" baseline="0" dirty="0"/>
              <a:t>A•T to G•C</a:t>
            </a:r>
          </a:p>
          <a:p>
            <a:pPr marL="171450" indent="-171450" algn="just">
              <a:buFont typeface="Wingdings" panose="05000000000000000000" pitchFamily="2" charset="2"/>
              <a:buChar char="Ø"/>
            </a:pPr>
            <a:r>
              <a:rPr lang="en-US" sz="1200" b="0" i="0" u="none" strike="noStrike" baseline="0" dirty="0"/>
              <a:t>Innovative approach in which Cas9n is fused to a deaminase enzyme responsible for the direct conversion of one DNA bp into another.</a:t>
            </a:r>
            <a:endParaRPr lang="en-US" sz="1200" strike="noStrike" baseline="0" dirty="0"/>
          </a:p>
        </p:txBody>
      </p:sp>
      <p:grpSp>
        <p:nvGrpSpPr>
          <p:cNvPr id="30" name="Groupe 29">
            <a:extLst>
              <a:ext uri="{FF2B5EF4-FFF2-40B4-BE49-F238E27FC236}">
                <a16:creationId xmlns:a16="http://schemas.microsoft.com/office/drawing/2014/main" id="{8E61D4BC-A8DE-EDA0-36C1-0274F5902B5C}"/>
              </a:ext>
            </a:extLst>
          </p:cNvPr>
          <p:cNvGrpSpPr/>
          <p:nvPr/>
        </p:nvGrpSpPr>
        <p:grpSpPr>
          <a:xfrm>
            <a:off x="71514" y="4300246"/>
            <a:ext cx="2694546" cy="1384995"/>
            <a:chOff x="71514" y="4300246"/>
            <a:chExt cx="2694546" cy="1384995"/>
          </a:xfrm>
        </p:grpSpPr>
        <p:pic>
          <p:nvPicPr>
            <p:cNvPr id="40" name="Image 39">
              <a:extLst>
                <a:ext uri="{FF2B5EF4-FFF2-40B4-BE49-F238E27FC236}">
                  <a16:creationId xmlns:a16="http://schemas.microsoft.com/office/drawing/2014/main" id="{13268C1F-7FBD-6E71-3A31-9DA6EEB9D189}"/>
                </a:ext>
              </a:extLst>
            </p:cNvPr>
            <p:cNvPicPr>
              <a:picLocks noChangeAspect="1"/>
            </p:cNvPicPr>
            <p:nvPr/>
          </p:nvPicPr>
          <p:blipFill>
            <a:blip r:embed="rId10"/>
            <a:stretch>
              <a:fillRect/>
            </a:stretch>
          </p:blipFill>
          <p:spPr>
            <a:xfrm>
              <a:off x="71514" y="4632743"/>
              <a:ext cx="720000" cy="720000"/>
            </a:xfrm>
            <a:prstGeom prst="rect">
              <a:avLst/>
            </a:prstGeom>
          </p:spPr>
        </p:pic>
        <p:sp>
          <p:nvSpPr>
            <p:cNvPr id="19" name="ZoneTexte 18">
              <a:extLst>
                <a:ext uri="{FF2B5EF4-FFF2-40B4-BE49-F238E27FC236}">
                  <a16:creationId xmlns:a16="http://schemas.microsoft.com/office/drawing/2014/main" id="{76BF3FB9-663C-2348-BE25-8EA6B293F9A5}"/>
                </a:ext>
              </a:extLst>
            </p:cNvPr>
            <p:cNvSpPr txBox="1"/>
            <p:nvPr/>
          </p:nvSpPr>
          <p:spPr>
            <a:xfrm>
              <a:off x="791514" y="4300246"/>
              <a:ext cx="1974546" cy="1384995"/>
            </a:xfrm>
            <a:prstGeom prst="rect">
              <a:avLst/>
            </a:prstGeom>
            <a:noFill/>
          </p:spPr>
          <p:txBody>
            <a:bodyPr wrap="square">
              <a:spAutoFit/>
            </a:bodyPr>
            <a:lstStyle/>
            <a:p>
              <a:pPr algn="just"/>
              <a:r>
                <a:rPr lang="en-US" sz="1200" b="0" i="0" u="none" strike="noStrike" baseline="0" dirty="0"/>
                <a:t>- CBE depends</a:t>
              </a:r>
              <a:r>
                <a:rPr lang="en-US" sz="1200" dirty="0"/>
                <a:t> </a:t>
              </a:r>
              <a:r>
                <a:rPr lang="en-US" sz="1200" b="0" i="0" u="none" strike="noStrike" baseline="0" dirty="0"/>
                <a:t>on the single-stranded </a:t>
              </a:r>
              <a:r>
                <a:rPr lang="fr-FR" sz="1200" b="0" i="0" u="none" strike="noStrike" baseline="0" dirty="0"/>
                <a:t>portion of </a:t>
              </a:r>
              <a:r>
                <a:rPr lang="fr-FR" sz="1200" b="1" i="0" u="none" strike="noStrike" baseline="0" dirty="0" err="1"/>
                <a:t>DNAs</a:t>
              </a:r>
              <a:r>
                <a:rPr lang="fr-FR" sz="1200" b="1" i="0" u="none" strike="noStrike" baseline="0" dirty="0"/>
                <a:t>’ R-</a:t>
              </a:r>
              <a:r>
                <a:rPr lang="fr-FR" sz="1200" b="1" i="0" u="none" strike="noStrike" baseline="0" dirty="0" err="1"/>
                <a:t>loop</a:t>
              </a:r>
              <a:r>
                <a:rPr lang="fr-FR" sz="1200" b="0" i="0" u="none" strike="noStrike" baseline="0" dirty="0"/>
                <a:t>.</a:t>
              </a:r>
            </a:p>
            <a:p>
              <a:pPr algn="just"/>
              <a:r>
                <a:rPr lang="en-US" sz="1200" b="0" i="0" u="none" strike="noStrike" baseline="0" dirty="0"/>
                <a:t>-</a:t>
              </a:r>
              <a:r>
                <a:rPr lang="fr-FR" sz="1200" b="0" i="0" u="none" strike="noStrike" baseline="0" dirty="0"/>
                <a:t> </a:t>
              </a:r>
              <a:r>
                <a:rPr lang="fr-FR" sz="1200" b="0" i="0" u="none" strike="noStrike" baseline="0" dirty="0" err="1"/>
                <a:t>Creation</a:t>
              </a:r>
              <a:r>
                <a:rPr lang="fr-FR" sz="1200" b="0" i="0" u="none" strike="noStrike" baseline="0" dirty="0"/>
                <a:t> of </a:t>
              </a:r>
              <a:r>
                <a:rPr lang="en-US" sz="1200" b="0" i="0" u="none" strike="noStrike" baseline="0" dirty="0"/>
                <a:t>an ABE needs the </a:t>
              </a:r>
              <a:r>
                <a:rPr lang="en-US" sz="1200" i="0" u="none" strike="noStrike" baseline="0" dirty="0"/>
                <a:t>generation of an adenosine deaminase acting on ssDNA</a:t>
              </a:r>
              <a:r>
                <a:rPr lang="en-US" sz="1200" b="0" i="0" u="none" strike="noStrike" baseline="0" dirty="0"/>
                <a:t>.</a:t>
              </a:r>
              <a:endParaRPr lang="fr-FR" sz="1200" dirty="0"/>
            </a:p>
          </p:txBody>
        </p:sp>
      </p:grpSp>
      <p:sp>
        <p:nvSpPr>
          <p:cNvPr id="35" name="ZoneTexte 34">
            <a:extLst>
              <a:ext uri="{FF2B5EF4-FFF2-40B4-BE49-F238E27FC236}">
                <a16:creationId xmlns:a16="http://schemas.microsoft.com/office/drawing/2014/main" id="{A9AA1AD9-4163-6068-2AB9-4EE360151E56}"/>
              </a:ext>
            </a:extLst>
          </p:cNvPr>
          <p:cNvSpPr txBox="1"/>
          <p:nvPr/>
        </p:nvSpPr>
        <p:spPr>
          <a:xfrm>
            <a:off x="9000609" y="2389181"/>
            <a:ext cx="2823341" cy="1384995"/>
          </a:xfrm>
          <a:prstGeom prst="rect">
            <a:avLst/>
          </a:prstGeom>
          <a:noFill/>
        </p:spPr>
        <p:txBody>
          <a:bodyPr wrap="square">
            <a:spAutoFit/>
          </a:bodyPr>
          <a:lstStyle/>
          <a:p>
            <a:pPr marL="171450" indent="-171450">
              <a:buFont typeface="Wingdings" panose="05000000000000000000" pitchFamily="2" charset="2"/>
              <a:buChar char="Ø"/>
            </a:pPr>
            <a:r>
              <a:rPr lang="fr-FR" sz="1200" dirty="0" err="1"/>
              <a:t>Hematologic</a:t>
            </a:r>
            <a:r>
              <a:rPr lang="fr-FR" sz="1200" dirty="0"/>
              <a:t> </a:t>
            </a:r>
            <a:r>
              <a:rPr lang="fr-FR" sz="1200" dirty="0" err="1"/>
              <a:t>disorders</a:t>
            </a:r>
            <a:endParaRPr lang="fr-FR" sz="1200" dirty="0"/>
          </a:p>
          <a:p>
            <a:pPr marL="171450" indent="-171450">
              <a:buFont typeface="Wingdings" panose="05000000000000000000" pitchFamily="2" charset="2"/>
              <a:buChar char="Ø"/>
            </a:pPr>
            <a:r>
              <a:rPr lang="fr-FR" sz="1200" dirty="0" err="1"/>
              <a:t>Cardiac</a:t>
            </a:r>
            <a:r>
              <a:rPr lang="fr-FR" sz="1200" dirty="0"/>
              <a:t> pathologies</a:t>
            </a:r>
          </a:p>
          <a:p>
            <a:pPr marL="171450" indent="-171450">
              <a:buFont typeface="Wingdings" panose="05000000000000000000" pitchFamily="2" charset="2"/>
              <a:buChar char="Ø"/>
            </a:pPr>
            <a:r>
              <a:rPr lang="fr-FR" sz="1200" dirty="0" err="1"/>
              <a:t>Variety</a:t>
            </a:r>
            <a:r>
              <a:rPr lang="fr-FR" sz="1200" dirty="0"/>
              <a:t> of </a:t>
            </a:r>
            <a:r>
              <a:rPr lang="fr-FR" sz="1200" dirty="0" err="1"/>
              <a:t>livers</a:t>
            </a:r>
            <a:r>
              <a:rPr lang="fr-FR" sz="1200" dirty="0"/>
              <a:t>’ </a:t>
            </a:r>
            <a:r>
              <a:rPr lang="fr-FR" sz="1200" dirty="0" err="1"/>
              <a:t>diseases</a:t>
            </a:r>
            <a:r>
              <a:rPr lang="fr-FR" sz="1200" dirty="0"/>
              <a:t> ( PKU, HT1…)</a:t>
            </a:r>
          </a:p>
          <a:p>
            <a:pPr marL="171450" indent="-171450">
              <a:buFont typeface="Wingdings" panose="05000000000000000000" pitchFamily="2" charset="2"/>
              <a:buChar char="Ø"/>
            </a:pPr>
            <a:r>
              <a:rPr lang="fr-FR" sz="1200" dirty="0" err="1"/>
              <a:t>Retinal</a:t>
            </a:r>
            <a:r>
              <a:rPr lang="fr-FR" sz="1200" dirty="0"/>
              <a:t> </a:t>
            </a:r>
            <a:r>
              <a:rPr lang="fr-FR" sz="1200" dirty="0" err="1"/>
              <a:t>diseases</a:t>
            </a:r>
            <a:endParaRPr lang="fr-FR" sz="1200" dirty="0"/>
          </a:p>
          <a:p>
            <a:pPr marL="171450" indent="-171450">
              <a:buFont typeface="Wingdings" panose="05000000000000000000" pitchFamily="2" charset="2"/>
              <a:buChar char="Ø"/>
            </a:pPr>
            <a:r>
              <a:rPr lang="fr-FR" sz="1200" dirty="0" err="1"/>
              <a:t>Hereditary</a:t>
            </a:r>
            <a:r>
              <a:rPr lang="fr-FR" sz="1200" dirty="0"/>
              <a:t> </a:t>
            </a:r>
            <a:r>
              <a:rPr lang="fr-FR" sz="1200" dirty="0" err="1"/>
              <a:t>hearing</a:t>
            </a:r>
            <a:r>
              <a:rPr lang="fr-FR" sz="1200" dirty="0"/>
              <a:t> </a:t>
            </a:r>
            <a:r>
              <a:rPr lang="fr-FR" sz="1200" dirty="0" err="1"/>
              <a:t>loss</a:t>
            </a:r>
            <a:endParaRPr lang="fr-FR" sz="1200" dirty="0"/>
          </a:p>
          <a:p>
            <a:pPr marL="171450" indent="-171450">
              <a:buFont typeface="Wingdings" panose="05000000000000000000" pitchFamily="2" charset="2"/>
              <a:buChar char="Ø"/>
            </a:pPr>
            <a:r>
              <a:rPr lang="fr-FR" sz="1200" b="0" i="0" dirty="0">
                <a:solidFill>
                  <a:srgbClr val="333333"/>
                </a:solidFill>
                <a:effectLst/>
              </a:rPr>
              <a:t>Duchenne </a:t>
            </a:r>
            <a:r>
              <a:rPr lang="fr-FR" sz="1200" b="0" i="0" dirty="0" err="1">
                <a:solidFill>
                  <a:srgbClr val="333333"/>
                </a:solidFill>
                <a:effectLst/>
              </a:rPr>
              <a:t>muscular</a:t>
            </a:r>
            <a:r>
              <a:rPr lang="fr-FR" sz="1200" b="0" i="0" dirty="0">
                <a:solidFill>
                  <a:srgbClr val="333333"/>
                </a:solidFill>
                <a:effectLst/>
              </a:rPr>
              <a:t> </a:t>
            </a:r>
            <a:r>
              <a:rPr lang="fr-FR" sz="1200" b="0" i="0" dirty="0" err="1">
                <a:solidFill>
                  <a:srgbClr val="333333"/>
                </a:solidFill>
                <a:effectLst/>
              </a:rPr>
              <a:t>dystrophy</a:t>
            </a:r>
            <a:endParaRPr lang="fr-FR" sz="1200" dirty="0"/>
          </a:p>
        </p:txBody>
      </p:sp>
      <p:pic>
        <p:nvPicPr>
          <p:cNvPr id="3" name="Image 2" descr="Une image contenant symbole, cercle, Graphique, conception&#10;&#10;Description générée automatiquement">
            <a:extLst>
              <a:ext uri="{FF2B5EF4-FFF2-40B4-BE49-F238E27FC236}">
                <a16:creationId xmlns:a16="http://schemas.microsoft.com/office/drawing/2014/main" id="{E9EAA1A3-46E0-8928-29B2-86BE56F18C9E}"/>
              </a:ext>
            </a:extLst>
          </p:cNvPr>
          <p:cNvPicPr>
            <a:picLocks noChangeAspect="1"/>
          </p:cNvPicPr>
          <p:nvPr/>
        </p:nvPicPr>
        <p:blipFill>
          <a:blip r:embed="rId11"/>
          <a:stretch>
            <a:fillRect/>
          </a:stretch>
        </p:blipFill>
        <p:spPr>
          <a:xfrm>
            <a:off x="3071675" y="2592649"/>
            <a:ext cx="468000" cy="468000"/>
          </a:xfrm>
          <a:prstGeom prst="rect">
            <a:avLst/>
          </a:prstGeom>
        </p:spPr>
      </p:pic>
      <p:pic>
        <p:nvPicPr>
          <p:cNvPr id="5" name="Image 4" descr="Une image contenant symbole, Police, Graphique, logo&#10;&#10;Description générée automatiquement">
            <a:extLst>
              <a:ext uri="{FF2B5EF4-FFF2-40B4-BE49-F238E27FC236}">
                <a16:creationId xmlns:a16="http://schemas.microsoft.com/office/drawing/2014/main" id="{F351568B-0089-DC52-D9C7-89727D765177}"/>
              </a:ext>
            </a:extLst>
          </p:cNvPr>
          <p:cNvPicPr>
            <a:picLocks noChangeAspect="1"/>
          </p:cNvPicPr>
          <p:nvPr/>
        </p:nvPicPr>
        <p:blipFill>
          <a:blip r:embed="rId12"/>
          <a:stretch>
            <a:fillRect/>
          </a:stretch>
        </p:blipFill>
        <p:spPr>
          <a:xfrm>
            <a:off x="8594191" y="1801953"/>
            <a:ext cx="468000" cy="468000"/>
          </a:xfrm>
          <a:prstGeom prst="rect">
            <a:avLst/>
          </a:prstGeom>
        </p:spPr>
      </p:pic>
      <p:pic>
        <p:nvPicPr>
          <p:cNvPr id="34" name="Image 33" descr="Une image contenant cercle, Graphique, Police, symbole&#10;&#10;Description générée automatiquement">
            <a:extLst>
              <a:ext uri="{FF2B5EF4-FFF2-40B4-BE49-F238E27FC236}">
                <a16:creationId xmlns:a16="http://schemas.microsoft.com/office/drawing/2014/main" id="{5A55AC88-95D7-464C-DD3F-09128D730AC6}"/>
              </a:ext>
            </a:extLst>
          </p:cNvPr>
          <p:cNvPicPr>
            <a:picLocks noChangeAspect="1"/>
          </p:cNvPicPr>
          <p:nvPr/>
        </p:nvPicPr>
        <p:blipFill>
          <a:blip r:embed="rId13"/>
          <a:stretch>
            <a:fillRect/>
          </a:stretch>
        </p:blipFill>
        <p:spPr>
          <a:xfrm>
            <a:off x="8632027" y="4417584"/>
            <a:ext cx="468000" cy="468000"/>
          </a:xfrm>
          <a:prstGeom prst="rect">
            <a:avLst/>
          </a:prstGeom>
        </p:spPr>
      </p:pic>
      <p:grpSp>
        <p:nvGrpSpPr>
          <p:cNvPr id="37" name="Groupe 36">
            <a:extLst>
              <a:ext uri="{FF2B5EF4-FFF2-40B4-BE49-F238E27FC236}">
                <a16:creationId xmlns:a16="http://schemas.microsoft.com/office/drawing/2014/main" id="{2D2B721F-7A45-BB81-A5BD-B59A8EC5E591}"/>
              </a:ext>
            </a:extLst>
          </p:cNvPr>
          <p:cNvGrpSpPr/>
          <p:nvPr/>
        </p:nvGrpSpPr>
        <p:grpSpPr>
          <a:xfrm>
            <a:off x="645225" y="945343"/>
            <a:ext cx="10937024" cy="565150"/>
            <a:chOff x="645225" y="945343"/>
            <a:chExt cx="10937024" cy="565150"/>
          </a:xfrm>
        </p:grpSpPr>
        <p:sp>
          <p:nvSpPr>
            <p:cNvPr id="39" name="Ellipse 38">
              <a:extLst>
                <a:ext uri="{FF2B5EF4-FFF2-40B4-BE49-F238E27FC236}">
                  <a16:creationId xmlns:a16="http://schemas.microsoft.com/office/drawing/2014/main" id="{829627B3-7B22-9499-0D12-06E0E1F82D40}"/>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texte 9">
              <a:extLst>
                <a:ext uri="{FF2B5EF4-FFF2-40B4-BE49-F238E27FC236}">
                  <a16:creationId xmlns:a16="http://schemas.microsoft.com/office/drawing/2014/main" id="{96ED0EC6-5766-CFDA-2AD5-0E0F32505AA5}"/>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2678357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9FB1C-9AEF-628A-640F-3F78E5B9EA1B}"/>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DCF8DCEF-862F-14A8-BC74-A90A2C46F81E}"/>
              </a:ext>
            </a:extLst>
          </p:cNvPr>
          <p:cNvSpPr/>
          <p:nvPr/>
        </p:nvSpPr>
        <p:spPr>
          <a:xfrm>
            <a:off x="371100" y="1197988"/>
            <a:ext cx="8778789" cy="162552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C2E8964B-D224-CFA3-03E9-3299F67CDCDD}"/>
              </a:ext>
            </a:extLst>
          </p:cNvPr>
          <p:cNvSpPr/>
          <p:nvPr/>
        </p:nvSpPr>
        <p:spPr>
          <a:xfrm>
            <a:off x="300401" y="1020072"/>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A0B565FB-A1EC-F92F-7D13-2992205516F5}"/>
              </a:ext>
            </a:extLst>
          </p:cNvPr>
          <p:cNvSpPr/>
          <p:nvPr/>
        </p:nvSpPr>
        <p:spPr>
          <a:xfrm>
            <a:off x="742819" y="1097726"/>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4B4313A5-A23B-7F52-052F-EECC97392FA4}"/>
              </a:ext>
            </a:extLst>
          </p:cNvPr>
          <p:cNvSpPr/>
          <p:nvPr/>
        </p:nvSpPr>
        <p:spPr>
          <a:xfrm rot="16200000">
            <a:off x="9708071" y="1111233"/>
            <a:ext cx="2201800"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B6136ED8-3EFA-CD55-3117-C2D5BA9132E1}"/>
              </a:ext>
            </a:extLst>
          </p:cNvPr>
          <p:cNvSpPr/>
          <p:nvPr/>
        </p:nvSpPr>
        <p:spPr>
          <a:xfrm>
            <a:off x="364777" y="3204434"/>
            <a:ext cx="8785112" cy="1828758"/>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EBF7B9F8-D3F7-655F-8763-57C06EE6CF81}"/>
              </a:ext>
            </a:extLst>
          </p:cNvPr>
          <p:cNvSpPr/>
          <p:nvPr/>
        </p:nvSpPr>
        <p:spPr>
          <a:xfrm>
            <a:off x="300401" y="2925266"/>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0AD18A09-DE1A-98D9-F14C-ADFFF0CD2263}"/>
              </a:ext>
            </a:extLst>
          </p:cNvPr>
          <p:cNvSpPr/>
          <p:nvPr/>
        </p:nvSpPr>
        <p:spPr>
          <a:xfrm>
            <a:off x="742819" y="2995599"/>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46EF00E6-6CAE-D0A8-9699-845CFB2700CB}"/>
              </a:ext>
            </a:extLst>
          </p:cNvPr>
          <p:cNvSpPr/>
          <p:nvPr/>
        </p:nvSpPr>
        <p:spPr>
          <a:xfrm>
            <a:off x="364776" y="5411430"/>
            <a:ext cx="8785113" cy="1336148"/>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B739EBFB-383C-475F-1B07-4ECF65F822C3}"/>
              </a:ext>
            </a:extLst>
          </p:cNvPr>
          <p:cNvSpPr/>
          <p:nvPr/>
        </p:nvSpPr>
        <p:spPr>
          <a:xfrm>
            <a:off x="300401" y="52150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3AA7942C-6C43-ED87-C497-F1E6D7CCA9C9}"/>
              </a:ext>
            </a:extLst>
          </p:cNvPr>
          <p:cNvSpPr/>
          <p:nvPr/>
        </p:nvSpPr>
        <p:spPr>
          <a:xfrm>
            <a:off x="742819" y="5285340"/>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Evolutions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69A72190-05C8-BB03-E36B-742DF406A372}"/>
              </a:ext>
            </a:extLst>
          </p:cNvPr>
          <p:cNvSpPr txBox="1"/>
          <p:nvPr/>
        </p:nvSpPr>
        <p:spPr>
          <a:xfrm>
            <a:off x="10338586" y="1654377"/>
            <a:ext cx="1853415" cy="338554"/>
          </a:xfrm>
          <a:prstGeom prst="rect">
            <a:avLst/>
          </a:prstGeom>
          <a:noFill/>
        </p:spPr>
        <p:txBody>
          <a:bodyPr wrap="square">
            <a:spAutoFit/>
          </a:bodyPr>
          <a:lstStyle/>
          <a:p>
            <a:pPr lvl="0"/>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ABE53F02-EF8F-709B-B13E-F46F74748AC7}"/>
              </a:ext>
            </a:extLst>
          </p:cNvPr>
          <p:cNvSpPr txBox="1"/>
          <p:nvPr/>
        </p:nvSpPr>
        <p:spPr>
          <a:xfrm>
            <a:off x="9498985" y="2381559"/>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5B88C910-5C47-E26E-6548-E85985AFE68C}"/>
              </a:ext>
            </a:extLst>
          </p:cNvPr>
          <p:cNvSpPr txBox="1"/>
          <p:nvPr/>
        </p:nvSpPr>
        <p:spPr>
          <a:xfrm>
            <a:off x="9498985" y="2747555"/>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C418AE5A-079F-8C6E-469F-65E20CAB10B9}"/>
              </a:ext>
            </a:extLst>
          </p:cNvPr>
          <p:cNvSpPr txBox="1"/>
          <p:nvPr/>
        </p:nvSpPr>
        <p:spPr>
          <a:xfrm>
            <a:off x="9498985" y="3119427"/>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8AA9F909-DCB6-368F-9F02-BF7CA05630D0}"/>
              </a:ext>
            </a:extLst>
          </p:cNvPr>
          <p:cNvGrpSpPr/>
          <p:nvPr/>
        </p:nvGrpSpPr>
        <p:grpSpPr>
          <a:xfrm>
            <a:off x="11205744" y="2370300"/>
            <a:ext cx="857700" cy="252000"/>
            <a:chOff x="1557481" y="4197166"/>
            <a:chExt cx="857700" cy="252000"/>
          </a:xfrm>
        </p:grpSpPr>
        <p:pic>
          <p:nvPicPr>
            <p:cNvPr id="23" name="Image 22">
              <a:extLst>
                <a:ext uri="{FF2B5EF4-FFF2-40B4-BE49-F238E27FC236}">
                  <a16:creationId xmlns:a16="http://schemas.microsoft.com/office/drawing/2014/main" id="{CB9AA2BB-0C6F-AD03-3B38-4FEC72F71304}"/>
                </a:ext>
              </a:extLst>
            </p:cNvPr>
            <p:cNvPicPr>
              <a:picLocks noChangeAspect="1"/>
            </p:cNvPicPr>
            <p:nvPr/>
          </p:nvPicPr>
          <p:blipFill>
            <a:blip r:embed="rId3"/>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60E17F9E-76E2-7ECB-5C73-16A20DDA8596}"/>
                </a:ext>
              </a:extLst>
            </p:cNvPr>
            <p:cNvPicPr>
              <a:picLocks noChangeAspect="1"/>
            </p:cNvPicPr>
            <p:nvPr/>
          </p:nvPicPr>
          <p:blipFill>
            <a:blip r:embed="rId3"/>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6AD2AC8B-E806-CB9C-D1AA-D8F3F75A5219}"/>
                </a:ext>
              </a:extLst>
            </p:cNvPr>
            <p:cNvPicPr>
              <a:picLocks noChangeAspect="1"/>
            </p:cNvPicPr>
            <p:nvPr/>
          </p:nvPicPr>
          <p:blipFill>
            <a:blip r:embed="rId3"/>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4BFDC5F0-7A63-C150-D3DB-93FE421FE3A0}"/>
              </a:ext>
            </a:extLst>
          </p:cNvPr>
          <p:cNvGrpSpPr/>
          <p:nvPr/>
        </p:nvGrpSpPr>
        <p:grpSpPr>
          <a:xfrm>
            <a:off x="11205744" y="3130001"/>
            <a:ext cx="857700" cy="252000"/>
            <a:chOff x="1557481" y="4804916"/>
            <a:chExt cx="857700" cy="252000"/>
          </a:xfrm>
        </p:grpSpPr>
        <p:pic>
          <p:nvPicPr>
            <p:cNvPr id="35" name="Image 34">
              <a:extLst>
                <a:ext uri="{FF2B5EF4-FFF2-40B4-BE49-F238E27FC236}">
                  <a16:creationId xmlns:a16="http://schemas.microsoft.com/office/drawing/2014/main" id="{26150BCB-2B0F-9047-BAD2-4A06DE5528D8}"/>
                </a:ext>
              </a:extLst>
            </p:cNvPr>
            <p:cNvPicPr>
              <a:picLocks noChangeAspect="1"/>
            </p:cNvPicPr>
            <p:nvPr/>
          </p:nvPicPr>
          <p:blipFill>
            <a:blip r:embed="rId4"/>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6AC48289-F721-D483-97CF-EF4EE87F77D7}"/>
                </a:ext>
              </a:extLst>
            </p:cNvPr>
            <p:cNvPicPr>
              <a:picLocks noChangeAspect="1"/>
            </p:cNvPicPr>
            <p:nvPr/>
          </p:nvPicPr>
          <p:blipFill>
            <a:blip r:embed="rId4"/>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ABF72C98-7E65-E2D1-59BB-16243B291E6E}"/>
                </a:ext>
              </a:extLst>
            </p:cNvPr>
            <p:cNvPicPr>
              <a:picLocks noChangeAspect="1"/>
            </p:cNvPicPr>
            <p:nvPr/>
          </p:nvPicPr>
          <p:blipFill>
            <a:blip r:embed="rId4"/>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1EC68293-9563-B0C8-F6BC-40F7CFF2A43D}"/>
              </a:ext>
            </a:extLst>
          </p:cNvPr>
          <p:cNvGrpSpPr/>
          <p:nvPr/>
        </p:nvGrpSpPr>
        <p:grpSpPr>
          <a:xfrm>
            <a:off x="11205744" y="2762337"/>
            <a:ext cx="857699" cy="252000"/>
            <a:chOff x="2476644" y="4589203"/>
            <a:chExt cx="857699" cy="252000"/>
          </a:xfrm>
        </p:grpSpPr>
        <p:pic>
          <p:nvPicPr>
            <p:cNvPr id="46" name="Image 45">
              <a:extLst>
                <a:ext uri="{FF2B5EF4-FFF2-40B4-BE49-F238E27FC236}">
                  <a16:creationId xmlns:a16="http://schemas.microsoft.com/office/drawing/2014/main" id="{76F48A4E-4169-39F5-DB02-27CFC4FDA75C}"/>
                </a:ext>
              </a:extLst>
            </p:cNvPr>
            <p:cNvPicPr>
              <a:picLocks noChangeAspect="1"/>
            </p:cNvPicPr>
            <p:nvPr/>
          </p:nvPicPr>
          <p:blipFill>
            <a:blip r:embed="rId5"/>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DB30D439-ABF8-9C17-77B4-BB6331A11D19}"/>
                </a:ext>
              </a:extLst>
            </p:cNvPr>
            <p:cNvPicPr>
              <a:picLocks noChangeAspect="1"/>
            </p:cNvPicPr>
            <p:nvPr/>
          </p:nvPicPr>
          <p:blipFill>
            <a:blip r:embed="rId5"/>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CFDCAA99-B6FA-C24D-31AA-CC458510E505}"/>
                </a:ext>
              </a:extLst>
            </p:cNvPr>
            <p:cNvPicPr>
              <a:picLocks noChangeAspect="1"/>
            </p:cNvPicPr>
            <p:nvPr/>
          </p:nvPicPr>
          <p:blipFill>
            <a:blip r:embed="rId5"/>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0BFCBCEE-1E2F-6EA2-D44B-59C573B7B630}"/>
              </a:ext>
            </a:extLst>
          </p:cNvPr>
          <p:cNvPicPr>
            <a:picLocks noChangeAspect="1"/>
          </p:cNvPicPr>
          <p:nvPr/>
        </p:nvPicPr>
        <p:blipFill>
          <a:blip r:embed="rId6"/>
          <a:stretch>
            <a:fillRect/>
          </a:stretch>
        </p:blipFill>
        <p:spPr>
          <a:xfrm>
            <a:off x="9687059" y="1652344"/>
            <a:ext cx="540000" cy="540000"/>
          </a:xfrm>
          <a:prstGeom prst="rect">
            <a:avLst/>
          </a:prstGeom>
        </p:spPr>
      </p:pic>
      <p:cxnSp>
        <p:nvCxnSpPr>
          <p:cNvPr id="29" name="Connecteur droit 28">
            <a:extLst>
              <a:ext uri="{FF2B5EF4-FFF2-40B4-BE49-F238E27FC236}">
                <a16:creationId xmlns:a16="http://schemas.microsoft.com/office/drawing/2014/main" id="{2414B11E-961E-66EE-1759-B9DB47CE712E}"/>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6F099022-069B-E520-3990-7CE87DE89AE7}"/>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Base Editing (BE) of DNA</a:t>
            </a:r>
            <a:endParaRPr lang="fr-FR" sz="3100" b="1" dirty="0">
              <a:solidFill>
                <a:schemeClr val="tx2"/>
              </a:solidFill>
            </a:endParaRPr>
          </a:p>
        </p:txBody>
      </p:sp>
      <p:grpSp>
        <p:nvGrpSpPr>
          <p:cNvPr id="32" name="Groupe 31">
            <a:extLst>
              <a:ext uri="{FF2B5EF4-FFF2-40B4-BE49-F238E27FC236}">
                <a16:creationId xmlns:a16="http://schemas.microsoft.com/office/drawing/2014/main" id="{CFE13034-1F5F-8059-E388-0934EB172C92}"/>
              </a:ext>
            </a:extLst>
          </p:cNvPr>
          <p:cNvGrpSpPr/>
          <p:nvPr/>
        </p:nvGrpSpPr>
        <p:grpSpPr>
          <a:xfrm>
            <a:off x="9396921" y="108135"/>
            <a:ext cx="2625773" cy="580939"/>
            <a:chOff x="9396921" y="108135"/>
            <a:chExt cx="2625773" cy="580939"/>
          </a:xfrm>
        </p:grpSpPr>
        <p:pic>
          <p:nvPicPr>
            <p:cNvPr id="33" name="Image 32">
              <a:extLst>
                <a:ext uri="{FF2B5EF4-FFF2-40B4-BE49-F238E27FC236}">
                  <a16:creationId xmlns:a16="http://schemas.microsoft.com/office/drawing/2014/main" id="{E890D2CD-A515-03C4-B8F9-33A8F358FDA3}"/>
                </a:ext>
              </a:extLst>
            </p:cNvPr>
            <p:cNvPicPr>
              <a:picLocks noChangeAspect="1"/>
            </p:cNvPicPr>
            <p:nvPr/>
          </p:nvPicPr>
          <p:blipFill>
            <a:blip r:embed="rId7"/>
            <a:stretch>
              <a:fillRect/>
            </a:stretch>
          </p:blipFill>
          <p:spPr>
            <a:xfrm>
              <a:off x="9554107" y="218630"/>
              <a:ext cx="360000" cy="360000"/>
            </a:xfrm>
            <a:prstGeom prst="rect">
              <a:avLst/>
            </a:prstGeom>
          </p:spPr>
        </p:pic>
        <p:pic>
          <p:nvPicPr>
            <p:cNvPr id="36" name="Picture 2">
              <a:extLst>
                <a:ext uri="{FF2B5EF4-FFF2-40B4-BE49-F238E27FC236}">
                  <a16:creationId xmlns:a16="http://schemas.microsoft.com/office/drawing/2014/main" id="{D77858B6-BAF8-8E98-1725-A9C43A3B00BD}"/>
                </a:ext>
              </a:extLst>
            </p:cNvPr>
            <p:cNvPicPr>
              <a:picLocks noChangeAspect="1" noChangeArrowheads="1"/>
            </p:cNvPicPr>
            <p:nvPr/>
          </p:nvPicPr>
          <p:blipFill>
            <a:blip r:embed="rId8">
              <a:duotone>
                <a:prstClr val="black"/>
                <a:schemeClr val="tx1">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38" name="Image 37">
              <a:extLst>
                <a:ext uri="{FF2B5EF4-FFF2-40B4-BE49-F238E27FC236}">
                  <a16:creationId xmlns:a16="http://schemas.microsoft.com/office/drawing/2014/main" id="{DFBEA1E5-FF52-15B4-78AA-4187247F0A23}"/>
                </a:ext>
              </a:extLst>
            </p:cNvPr>
            <p:cNvPicPr>
              <a:picLocks noChangeAspect="1"/>
            </p:cNvPicPr>
            <p:nvPr/>
          </p:nvPicPr>
          <p:blipFill>
            <a:blip r:embed="rId10"/>
            <a:stretch>
              <a:fillRect/>
            </a:stretch>
          </p:blipFill>
          <p:spPr>
            <a:xfrm>
              <a:off x="10228477" y="228513"/>
              <a:ext cx="360000" cy="360000"/>
            </a:xfrm>
            <a:prstGeom prst="rect">
              <a:avLst/>
            </a:prstGeom>
          </p:spPr>
        </p:pic>
        <p:pic>
          <p:nvPicPr>
            <p:cNvPr id="40" name="Image 39">
              <a:extLst>
                <a:ext uri="{FF2B5EF4-FFF2-40B4-BE49-F238E27FC236}">
                  <a16:creationId xmlns:a16="http://schemas.microsoft.com/office/drawing/2014/main" id="{B87AE62E-5A68-903F-491C-53D050E29660}"/>
                </a:ext>
              </a:extLst>
            </p:cNvPr>
            <p:cNvPicPr>
              <a:picLocks noChangeAspect="1"/>
            </p:cNvPicPr>
            <p:nvPr/>
          </p:nvPicPr>
          <p:blipFill>
            <a:blip r:embed="rId11"/>
            <a:stretch>
              <a:fillRect/>
            </a:stretch>
          </p:blipFill>
          <p:spPr>
            <a:xfrm>
              <a:off x="11595089" y="233166"/>
              <a:ext cx="360000" cy="360000"/>
            </a:xfrm>
            <a:prstGeom prst="rect">
              <a:avLst/>
            </a:prstGeom>
          </p:spPr>
        </p:pic>
        <p:grpSp>
          <p:nvGrpSpPr>
            <p:cNvPr id="52" name="Groupe 51">
              <a:extLst>
                <a:ext uri="{FF2B5EF4-FFF2-40B4-BE49-F238E27FC236}">
                  <a16:creationId xmlns:a16="http://schemas.microsoft.com/office/drawing/2014/main" id="{79E29CD7-2665-4F9E-5BCB-AC1A3E20B828}"/>
                </a:ext>
              </a:extLst>
            </p:cNvPr>
            <p:cNvGrpSpPr/>
            <p:nvPr/>
          </p:nvGrpSpPr>
          <p:grpSpPr>
            <a:xfrm>
              <a:off x="9396921" y="108135"/>
              <a:ext cx="2625773" cy="580939"/>
              <a:chOff x="9396921" y="108135"/>
              <a:chExt cx="2625773" cy="580939"/>
            </a:xfrm>
          </p:grpSpPr>
          <p:sp>
            <p:nvSpPr>
              <p:cNvPr id="54" name="Rectangle : coins arrondis 53">
                <a:extLst>
                  <a:ext uri="{FF2B5EF4-FFF2-40B4-BE49-F238E27FC236}">
                    <a16:creationId xmlns:a16="http://schemas.microsoft.com/office/drawing/2014/main" id="{7C43141C-1E19-4CCB-CCDA-E64130F4E550}"/>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F564049A-3B9F-9047-E782-78908F7A068A}"/>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CFEDDB0C-B295-E817-66E5-50DFF4F33E57}"/>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82B775CF-D8E9-6E32-A285-4A8F0DEC2279}"/>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A9B72024-813A-94FE-54BE-BC5524F2DEE4}"/>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sp>
        <p:nvSpPr>
          <p:cNvPr id="62" name="ZoneTexte 61">
            <a:extLst>
              <a:ext uri="{FF2B5EF4-FFF2-40B4-BE49-F238E27FC236}">
                <a16:creationId xmlns:a16="http://schemas.microsoft.com/office/drawing/2014/main" id="{00A9CC8A-169C-B0A0-3047-A018DAC030E4}"/>
              </a:ext>
            </a:extLst>
          </p:cNvPr>
          <p:cNvSpPr txBox="1"/>
          <p:nvPr/>
        </p:nvSpPr>
        <p:spPr>
          <a:xfrm>
            <a:off x="503750" y="1569817"/>
            <a:ext cx="8334027" cy="1384995"/>
          </a:xfrm>
          <a:prstGeom prst="rect">
            <a:avLst/>
          </a:prstGeom>
          <a:noFill/>
        </p:spPr>
        <p:txBody>
          <a:bodyPr wrap="square">
            <a:spAutoFit/>
          </a:bodyPr>
          <a:lstStyle/>
          <a:p>
            <a:pPr marL="285750" indent="-285750" algn="just">
              <a:buFont typeface="Wingdings" panose="05000000000000000000" pitchFamily="2" charset="2"/>
              <a:buChar char="Ø"/>
            </a:pPr>
            <a:r>
              <a:rPr lang="fr-FR" sz="1200" b="1" i="0" u="none" strike="noStrike" baseline="0" dirty="0">
                <a:solidFill>
                  <a:srgbClr val="231F20"/>
                </a:solidFill>
              </a:rPr>
              <a:t>Permanent </a:t>
            </a:r>
            <a:r>
              <a:rPr lang="fr-FR" sz="1200" b="1" i="0" u="none" strike="noStrike" baseline="0" dirty="0" err="1">
                <a:solidFill>
                  <a:srgbClr val="231F20"/>
                </a:solidFill>
              </a:rPr>
              <a:t>introducion</a:t>
            </a:r>
            <a:r>
              <a:rPr lang="fr-FR" sz="1200" b="1" i="0" u="none" strike="noStrike" baseline="0" dirty="0">
                <a:solidFill>
                  <a:srgbClr val="231F20"/>
                </a:solidFill>
              </a:rPr>
              <a:t> of mutations </a:t>
            </a:r>
            <a:r>
              <a:rPr lang="fr-FR" sz="1200" b="0" i="0" u="none" strike="noStrike" baseline="0" dirty="0">
                <a:solidFill>
                  <a:srgbClr val="231F20"/>
                </a:solidFill>
              </a:rPr>
              <a:t>in living </a:t>
            </a:r>
            <a:r>
              <a:rPr lang="fr-FR" sz="1200" b="0" i="0" u="none" strike="noStrike" baseline="0" dirty="0" err="1">
                <a:solidFill>
                  <a:srgbClr val="231F20"/>
                </a:solidFill>
              </a:rPr>
              <a:t>cells</a:t>
            </a:r>
            <a:r>
              <a:rPr lang="fr-FR" sz="1200" b="0" i="0" u="none" strike="noStrike" baseline="0" dirty="0">
                <a:solidFill>
                  <a:srgbClr val="231F20"/>
                </a:solidFill>
              </a:rPr>
              <a:t>, </a:t>
            </a:r>
            <a:r>
              <a:rPr lang="fr-FR" sz="1200" b="0" i="0" u="none" strike="noStrike" baseline="0" dirty="0" err="1">
                <a:solidFill>
                  <a:srgbClr val="231F20"/>
                </a:solidFill>
              </a:rPr>
              <a:t>with</a:t>
            </a:r>
            <a:r>
              <a:rPr lang="fr-FR" sz="1200" b="0" i="0" u="none" strike="noStrike" baseline="0" dirty="0">
                <a:solidFill>
                  <a:srgbClr val="231F20"/>
                </a:solidFill>
              </a:rPr>
              <a:t> </a:t>
            </a:r>
            <a:r>
              <a:rPr lang="fr-FR" sz="1200" b="1" i="0" u="none" strike="noStrike" baseline="0" dirty="0">
                <a:solidFill>
                  <a:srgbClr val="231F20"/>
                </a:solidFill>
              </a:rPr>
              <a:t>high </a:t>
            </a:r>
            <a:r>
              <a:rPr lang="fr-FR" sz="1200" b="1" i="0" u="none" strike="noStrike" baseline="0" dirty="0" err="1">
                <a:solidFill>
                  <a:srgbClr val="231F20"/>
                </a:solidFill>
              </a:rPr>
              <a:t>efficiency</a:t>
            </a:r>
            <a:r>
              <a:rPr lang="fr-FR" sz="1200" b="1" i="0" u="none" strike="noStrike" baseline="0" dirty="0">
                <a:solidFill>
                  <a:srgbClr val="231F20"/>
                </a:solidFill>
              </a:rPr>
              <a:t>.</a:t>
            </a:r>
          </a:p>
          <a:p>
            <a:pPr marL="285750" indent="-285750" algn="just">
              <a:buFont typeface="Wingdings" panose="05000000000000000000" pitchFamily="2" charset="2"/>
              <a:buChar char="Ø"/>
            </a:pPr>
            <a:r>
              <a:rPr lang="fr-FR" sz="1200" dirty="0">
                <a:solidFill>
                  <a:srgbClr val="231F20"/>
                </a:solidFill>
              </a:rPr>
              <a:t>Do not </a:t>
            </a:r>
            <a:r>
              <a:rPr lang="fr-FR" sz="1200" dirty="0" err="1">
                <a:solidFill>
                  <a:srgbClr val="231F20"/>
                </a:solidFill>
              </a:rPr>
              <a:t>rely</a:t>
            </a:r>
            <a:r>
              <a:rPr lang="fr-FR" sz="1200" dirty="0">
                <a:solidFill>
                  <a:srgbClr val="231F20"/>
                </a:solidFill>
              </a:rPr>
              <a:t> on double-</a:t>
            </a:r>
            <a:r>
              <a:rPr lang="fr-FR" sz="1200" dirty="0" err="1">
                <a:solidFill>
                  <a:srgbClr val="231F20"/>
                </a:solidFill>
              </a:rPr>
              <a:t>stranded</a:t>
            </a:r>
            <a:r>
              <a:rPr lang="fr-FR" sz="1200" dirty="0">
                <a:solidFill>
                  <a:srgbClr val="231F20"/>
                </a:solidFill>
              </a:rPr>
              <a:t> DNA breaks </a:t>
            </a:r>
            <a:r>
              <a:rPr lang="fr-FR" sz="1200" dirty="0" err="1">
                <a:solidFill>
                  <a:srgbClr val="231F20"/>
                </a:solidFill>
              </a:rPr>
              <a:t>so</a:t>
            </a:r>
            <a:r>
              <a:rPr lang="fr-FR" sz="1200" dirty="0">
                <a:solidFill>
                  <a:srgbClr val="231F20"/>
                </a:solidFill>
              </a:rPr>
              <a:t> </a:t>
            </a:r>
            <a:r>
              <a:rPr lang="fr-FR" sz="1200" dirty="0" err="1">
                <a:solidFill>
                  <a:srgbClr val="231F20"/>
                </a:solidFill>
              </a:rPr>
              <a:t>it</a:t>
            </a:r>
            <a:r>
              <a:rPr lang="fr-FR" sz="1200" dirty="0">
                <a:solidFill>
                  <a:srgbClr val="231F20"/>
                </a:solidFill>
              </a:rPr>
              <a:t> </a:t>
            </a:r>
            <a:r>
              <a:rPr lang="fr-FR" sz="1200" b="1" dirty="0" err="1">
                <a:solidFill>
                  <a:srgbClr val="231F20"/>
                </a:solidFill>
              </a:rPr>
              <a:t>prevents</a:t>
            </a:r>
            <a:r>
              <a:rPr lang="fr-FR" sz="1200" b="1" dirty="0">
                <a:solidFill>
                  <a:srgbClr val="231F20"/>
                </a:solidFill>
              </a:rPr>
              <a:t> </a:t>
            </a:r>
            <a:r>
              <a:rPr lang="fr-FR" sz="1200" b="1" dirty="0" err="1">
                <a:solidFill>
                  <a:srgbClr val="231F20"/>
                </a:solidFill>
              </a:rPr>
              <a:t>unintended</a:t>
            </a:r>
            <a:r>
              <a:rPr lang="fr-FR" sz="1200" b="1" dirty="0">
                <a:solidFill>
                  <a:srgbClr val="231F20"/>
                </a:solidFill>
              </a:rPr>
              <a:t> </a:t>
            </a:r>
            <a:r>
              <a:rPr lang="fr-FR" sz="1200" b="1" dirty="0" err="1">
                <a:solidFill>
                  <a:srgbClr val="231F20"/>
                </a:solidFill>
              </a:rPr>
              <a:t>indels</a:t>
            </a:r>
            <a:r>
              <a:rPr lang="fr-FR" sz="1200" dirty="0">
                <a:solidFill>
                  <a:srgbClr val="231F20"/>
                </a:solidFill>
              </a:rPr>
              <a:t>.</a:t>
            </a:r>
          </a:p>
          <a:p>
            <a:pPr marL="285750" indent="-285750" algn="just">
              <a:buFont typeface="Wingdings" panose="05000000000000000000" pitchFamily="2" charset="2"/>
              <a:buChar char="Ø"/>
            </a:pPr>
            <a:r>
              <a:rPr lang="fr-FR" sz="1200" dirty="0" err="1">
                <a:solidFill>
                  <a:srgbClr val="231F20"/>
                </a:solidFill>
              </a:rPr>
              <a:t>Designed</a:t>
            </a:r>
            <a:r>
              <a:rPr lang="fr-FR" sz="1200" dirty="0">
                <a:solidFill>
                  <a:srgbClr val="231F20"/>
                </a:solidFill>
              </a:rPr>
              <a:t> to </a:t>
            </a:r>
            <a:r>
              <a:rPr lang="fr-FR" sz="1200" dirty="0" err="1">
                <a:solidFill>
                  <a:srgbClr val="231F20"/>
                </a:solidFill>
              </a:rPr>
              <a:t>be</a:t>
            </a:r>
            <a:r>
              <a:rPr lang="fr-FR" sz="1200" dirty="0">
                <a:solidFill>
                  <a:srgbClr val="231F20"/>
                </a:solidFill>
              </a:rPr>
              <a:t> </a:t>
            </a:r>
            <a:r>
              <a:rPr lang="fr-FR" sz="1200" dirty="0" err="1">
                <a:solidFill>
                  <a:srgbClr val="231F20"/>
                </a:solidFill>
              </a:rPr>
              <a:t>highly</a:t>
            </a:r>
            <a:r>
              <a:rPr lang="fr-FR" sz="1200" dirty="0">
                <a:solidFill>
                  <a:srgbClr val="231F20"/>
                </a:solidFill>
              </a:rPr>
              <a:t> </a:t>
            </a:r>
            <a:r>
              <a:rPr lang="fr-FR" sz="1200" dirty="0" err="1">
                <a:solidFill>
                  <a:srgbClr val="231F20"/>
                </a:solidFill>
              </a:rPr>
              <a:t>specific</a:t>
            </a:r>
            <a:r>
              <a:rPr lang="fr-FR" sz="1200" dirty="0">
                <a:solidFill>
                  <a:srgbClr val="231F20"/>
                </a:solidFill>
              </a:rPr>
              <a:t>.</a:t>
            </a:r>
          </a:p>
          <a:p>
            <a:pPr marL="285750" indent="-285750" algn="just">
              <a:buFont typeface="Wingdings" panose="05000000000000000000" pitchFamily="2" charset="2"/>
              <a:buChar char="Ø"/>
            </a:pPr>
            <a:r>
              <a:rPr lang="en-US" sz="1200" b="0" i="0" u="none" strike="noStrike" baseline="0" dirty="0">
                <a:solidFill>
                  <a:srgbClr val="000000"/>
                </a:solidFill>
              </a:rPr>
              <a:t>Together, ABEs and CBEs are theoretically capable of </a:t>
            </a:r>
            <a:r>
              <a:rPr lang="en-US" sz="1200" b="1" i="0" u="none" strike="noStrike" baseline="0" dirty="0">
                <a:solidFill>
                  <a:srgbClr val="000000"/>
                </a:solidFill>
              </a:rPr>
              <a:t>correcting 63% of reported pathogenic </a:t>
            </a:r>
            <a:r>
              <a:rPr lang="fr-FR" sz="1200" b="1" i="0" u="none" strike="noStrike" baseline="0" dirty="0"/>
              <a:t>single-</a:t>
            </a:r>
            <a:r>
              <a:rPr lang="fr-FR" sz="1200" b="1" i="0" u="none" strike="noStrike" baseline="0" dirty="0" err="1"/>
              <a:t>nucleotide</a:t>
            </a:r>
            <a:r>
              <a:rPr lang="fr-FR" sz="1200" b="1" i="0" u="none" strike="noStrike" baseline="0" dirty="0"/>
              <a:t> variants (</a:t>
            </a:r>
            <a:r>
              <a:rPr lang="fr-FR" sz="1200" b="1" i="0" u="none" strike="noStrike" baseline="0" dirty="0" err="1"/>
              <a:t>SNVs</a:t>
            </a:r>
            <a:r>
              <a:rPr lang="fr-FR" sz="1200" b="1" i="0" u="none" strike="noStrike" baseline="0" dirty="0"/>
              <a:t>).</a:t>
            </a:r>
          </a:p>
          <a:p>
            <a:pPr marL="285750" indent="-285750" algn="just">
              <a:buFont typeface="Wingdings" panose="05000000000000000000" pitchFamily="2" charset="2"/>
              <a:buChar char="Ø"/>
            </a:pPr>
            <a:r>
              <a:rPr lang="en-US" sz="1200" dirty="0">
                <a:solidFill>
                  <a:srgbClr val="000000"/>
                </a:solidFill>
              </a:rPr>
              <a:t>CBEs and ABEs present </a:t>
            </a:r>
            <a:r>
              <a:rPr lang="en-US" sz="1200" b="1" dirty="0">
                <a:solidFill>
                  <a:srgbClr val="000000"/>
                </a:solidFill>
              </a:rPr>
              <a:t>fewer “gRNA-</a:t>
            </a:r>
            <a:r>
              <a:rPr lang="en-US" sz="1200" b="1" dirty="0" err="1">
                <a:solidFill>
                  <a:srgbClr val="000000"/>
                </a:solidFill>
              </a:rPr>
              <a:t>dependant</a:t>
            </a:r>
            <a:r>
              <a:rPr lang="en-US" sz="1200" b="1" dirty="0">
                <a:solidFill>
                  <a:srgbClr val="000000"/>
                </a:solidFill>
              </a:rPr>
              <a:t> off-targets” sites </a:t>
            </a:r>
            <a:r>
              <a:rPr lang="en-US" sz="1200" dirty="0">
                <a:solidFill>
                  <a:srgbClr val="000000"/>
                </a:solidFill>
              </a:rPr>
              <a:t>than wild-type Cas9.</a:t>
            </a:r>
            <a:endParaRPr lang="fr-FR" sz="1200" b="0" i="0" u="none" strike="noStrike" baseline="0" dirty="0"/>
          </a:p>
          <a:p>
            <a:pPr marL="285750" indent="-285750" algn="just">
              <a:buFont typeface="Wingdings" panose="05000000000000000000" pitchFamily="2" charset="2"/>
              <a:buChar char="Ø"/>
            </a:pPr>
            <a:endParaRPr lang="fr-FR" sz="1200" dirty="0"/>
          </a:p>
        </p:txBody>
      </p:sp>
      <p:sp>
        <p:nvSpPr>
          <p:cNvPr id="64" name="ZoneTexte 63">
            <a:extLst>
              <a:ext uri="{FF2B5EF4-FFF2-40B4-BE49-F238E27FC236}">
                <a16:creationId xmlns:a16="http://schemas.microsoft.com/office/drawing/2014/main" id="{385C0908-68E5-D5D8-A9DF-F237E4BCE187}"/>
              </a:ext>
            </a:extLst>
          </p:cNvPr>
          <p:cNvSpPr txBox="1"/>
          <p:nvPr/>
        </p:nvSpPr>
        <p:spPr>
          <a:xfrm>
            <a:off x="742817" y="5773603"/>
            <a:ext cx="8263329" cy="954107"/>
          </a:xfrm>
          <a:prstGeom prst="rect">
            <a:avLst/>
          </a:prstGeom>
          <a:noFill/>
        </p:spPr>
        <p:txBody>
          <a:bodyPr wrap="square">
            <a:spAutoFit/>
          </a:bodyPr>
          <a:lstStyle/>
          <a:p>
            <a:pPr marL="171450" indent="-171450" algn="just">
              <a:buFont typeface="Wingdings" panose="05000000000000000000" pitchFamily="2" charset="2"/>
              <a:buChar char="Ø"/>
            </a:pPr>
            <a:r>
              <a:rPr lang="fr-FR" sz="1200" b="0" i="0" u="none" strike="noStrike" baseline="0" dirty="0">
                <a:solidFill>
                  <a:srgbClr val="000000"/>
                </a:solidFill>
              </a:rPr>
              <a:t>A </a:t>
            </a:r>
            <a:r>
              <a:rPr lang="en-US" sz="1200" b="0" i="0" u="none" strike="noStrike" baseline="0" dirty="0">
                <a:solidFill>
                  <a:srgbClr val="000000"/>
                </a:solidFill>
              </a:rPr>
              <a:t>new base editor named </a:t>
            </a:r>
            <a:r>
              <a:rPr lang="en-US" sz="1200" b="0" i="0" u="none" strike="noStrike" baseline="0" dirty="0" err="1">
                <a:solidFill>
                  <a:srgbClr val="000000"/>
                </a:solidFill>
              </a:rPr>
              <a:t>DdCBE</a:t>
            </a:r>
            <a:r>
              <a:rPr lang="en-US" sz="1200" b="0" i="0" u="none" strike="noStrike" baseline="0" dirty="0">
                <a:solidFill>
                  <a:srgbClr val="000000"/>
                </a:solidFill>
              </a:rPr>
              <a:t> was created, </a:t>
            </a:r>
            <a:r>
              <a:rPr lang="en-US" sz="1200" b="1" i="0" u="none" strike="noStrike" baseline="0" dirty="0">
                <a:solidFill>
                  <a:srgbClr val="000000"/>
                </a:solidFill>
              </a:rPr>
              <a:t>combining </a:t>
            </a:r>
            <a:r>
              <a:rPr lang="fr-FR" sz="1200" b="1" dirty="0">
                <a:solidFill>
                  <a:srgbClr val="000000"/>
                </a:solidFill>
              </a:rPr>
              <a:t>a</a:t>
            </a:r>
            <a:r>
              <a:rPr lang="fr-FR" sz="1200" b="1" i="0" u="none" strike="noStrike" baseline="0" dirty="0"/>
              <a:t> </a:t>
            </a:r>
            <a:r>
              <a:rPr lang="fr-FR" sz="1200" b="1" i="0" u="none" strike="noStrike" baseline="0" dirty="0" err="1"/>
              <a:t>ds</a:t>
            </a:r>
            <a:r>
              <a:rPr lang="en-US" sz="1200" b="1" i="0" u="none" strike="noStrike" baseline="0" dirty="0"/>
              <a:t>DNA-specific cytidine deaminase and TALENs</a:t>
            </a:r>
            <a:r>
              <a:rPr lang="en-US" sz="1200" b="0" i="0" u="none" strike="noStrike" baseline="0" dirty="0"/>
              <a:t>. It </a:t>
            </a:r>
            <a:r>
              <a:rPr lang="en-US" sz="1200" b="0" i="0" u="none" strike="noStrike" baseline="0" dirty="0">
                <a:solidFill>
                  <a:srgbClr val="000000"/>
                </a:solidFill>
              </a:rPr>
              <a:t>enabled efficient mitochondrial genome editing for the first time</a:t>
            </a:r>
            <a:r>
              <a:rPr lang="en-US" sz="1200" dirty="0">
                <a:solidFill>
                  <a:srgbClr val="000000"/>
                </a:solidFill>
              </a:rPr>
              <a:t>.</a:t>
            </a:r>
            <a:r>
              <a:rPr lang="fr-FR" sz="1200" baseline="30000" dirty="0">
                <a:solidFill>
                  <a:srgbClr val="000000"/>
                </a:solidFill>
              </a:rPr>
              <a:t>4</a:t>
            </a:r>
          </a:p>
          <a:p>
            <a:pPr marL="171450" indent="-171450" algn="just">
              <a:buFont typeface="Wingdings" panose="05000000000000000000" pitchFamily="2" charset="2"/>
              <a:buChar char="Ø"/>
            </a:pPr>
            <a:r>
              <a:rPr lang="en-US" sz="1200" b="0" i="0" u="none" strike="noStrike" baseline="0" dirty="0"/>
              <a:t>To combat gRNA-dependent off-targets, </a:t>
            </a:r>
            <a:r>
              <a:rPr lang="en-US" sz="1200" b="1" i="0" u="none" strike="noStrike" baseline="0" dirty="0"/>
              <a:t>high-fidelity Cas9 variants have been incorporated into the classic CBE </a:t>
            </a:r>
            <a:r>
              <a:rPr lang="fr-FR" sz="1200" b="0" i="0" u="none" strike="noStrike" baseline="0" dirty="0"/>
              <a:t>architecture to replace </a:t>
            </a:r>
            <a:r>
              <a:rPr lang="fr-FR" sz="1200" b="0" i="0" u="none" strike="noStrike" baseline="0" dirty="0" err="1"/>
              <a:t>wild</a:t>
            </a:r>
            <a:r>
              <a:rPr lang="fr-FR" sz="1200" b="0" i="0" u="none" strike="noStrike" baseline="0" dirty="0"/>
              <a:t>-type Cas9n.</a:t>
            </a:r>
            <a:endParaRPr lang="fr-FR" sz="1200" dirty="0">
              <a:highlight>
                <a:srgbClr val="FFFF00"/>
              </a:highlight>
            </a:endParaRPr>
          </a:p>
          <a:p>
            <a:pPr marL="171450" indent="-171450" algn="just">
              <a:buFont typeface="Wingdings" panose="05000000000000000000" pitchFamily="2" charset="2"/>
              <a:buChar char="Ø"/>
            </a:pPr>
            <a:endParaRPr lang="fr-FR" sz="1200" b="0" i="0" u="none" strike="noStrike" baseline="30000" dirty="0">
              <a:solidFill>
                <a:srgbClr val="000000"/>
              </a:solidFill>
            </a:endParaRPr>
          </a:p>
        </p:txBody>
      </p:sp>
      <p:sp>
        <p:nvSpPr>
          <p:cNvPr id="65" name="Rectangle : avec coins arrondis en haut 64">
            <a:extLst>
              <a:ext uri="{FF2B5EF4-FFF2-40B4-BE49-F238E27FC236}">
                <a16:creationId xmlns:a16="http://schemas.microsoft.com/office/drawing/2014/main" id="{4E34EA44-CB37-3B1E-6175-77EBD0796E90}"/>
              </a:ext>
            </a:extLst>
          </p:cNvPr>
          <p:cNvSpPr/>
          <p:nvPr/>
        </p:nvSpPr>
        <p:spPr>
          <a:xfrm rot="16200000">
            <a:off x="9416359" y="3863727"/>
            <a:ext cx="2785225"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66" name="ZoneTexte 65">
            <a:extLst>
              <a:ext uri="{FF2B5EF4-FFF2-40B4-BE49-F238E27FC236}">
                <a16:creationId xmlns:a16="http://schemas.microsoft.com/office/drawing/2014/main" id="{3EF370B7-6C28-DD50-257D-ED946AF8DA48}"/>
              </a:ext>
            </a:extLst>
          </p:cNvPr>
          <p:cNvSpPr txBox="1"/>
          <p:nvPr/>
        </p:nvSpPr>
        <p:spPr>
          <a:xfrm>
            <a:off x="9425941" y="3926221"/>
            <a:ext cx="2766061" cy="338554"/>
          </a:xfrm>
          <a:prstGeom prst="rect">
            <a:avLst/>
          </a:prstGeom>
          <a:noFill/>
        </p:spPr>
        <p:txBody>
          <a:bodyPr wrap="square">
            <a:spAutoFit/>
          </a:bodyPr>
          <a:lstStyle/>
          <a:p>
            <a:pPr lvl="0" algn="ctr"/>
            <a:r>
              <a:rPr lang="fr-FR" sz="1600" b="1" u="sng" dirty="0"/>
              <a:t>Sources</a:t>
            </a:r>
          </a:p>
        </p:txBody>
      </p:sp>
      <p:pic>
        <p:nvPicPr>
          <p:cNvPr id="88" name="Image 87">
            <a:extLst>
              <a:ext uri="{FF2B5EF4-FFF2-40B4-BE49-F238E27FC236}">
                <a16:creationId xmlns:a16="http://schemas.microsoft.com/office/drawing/2014/main" id="{4F1115A1-34C6-0BE2-610E-DC8C2BC31CB6}"/>
              </a:ext>
            </a:extLst>
          </p:cNvPr>
          <p:cNvPicPr>
            <a:picLocks noChangeAspect="1"/>
          </p:cNvPicPr>
          <p:nvPr/>
        </p:nvPicPr>
        <p:blipFill>
          <a:blip r:embed="rId12"/>
          <a:stretch>
            <a:fillRect/>
          </a:stretch>
        </p:blipFill>
        <p:spPr>
          <a:xfrm>
            <a:off x="9769217" y="3893167"/>
            <a:ext cx="468000" cy="468000"/>
          </a:xfrm>
          <a:prstGeom prst="rect">
            <a:avLst/>
          </a:prstGeom>
        </p:spPr>
      </p:pic>
      <p:sp>
        <p:nvSpPr>
          <p:cNvPr id="90" name="ZoneTexte 89">
            <a:extLst>
              <a:ext uri="{FF2B5EF4-FFF2-40B4-BE49-F238E27FC236}">
                <a16:creationId xmlns:a16="http://schemas.microsoft.com/office/drawing/2014/main" id="{6136F8E6-7EAE-C87F-D1F8-B920C8D67D5B}"/>
              </a:ext>
            </a:extLst>
          </p:cNvPr>
          <p:cNvSpPr txBox="1"/>
          <p:nvPr/>
        </p:nvSpPr>
        <p:spPr>
          <a:xfrm>
            <a:off x="9425941" y="4389173"/>
            <a:ext cx="2766060" cy="2385268"/>
          </a:xfrm>
          <a:prstGeom prst="rect">
            <a:avLst/>
          </a:prstGeom>
          <a:noFill/>
        </p:spPr>
        <p:txBody>
          <a:bodyPr wrap="square">
            <a:spAutoFit/>
          </a:bodyPr>
          <a:lstStyle/>
          <a:p>
            <a:pPr marL="228600" indent="-228600" algn="just">
              <a:buAutoNum type="arabicPeriod"/>
            </a:pPr>
            <a:r>
              <a:rPr lang="en-US" sz="900" b="0" i="0" u="none" strike="noStrike" baseline="0" dirty="0"/>
              <a:t>Nishida, K. et al. Targeted nucleotide editing using hybrid prokaryotic and vertebrate adaptive immune systems. </a:t>
            </a:r>
            <a:r>
              <a:rPr lang="en-US" sz="900" b="0" i="1" u="none" strike="noStrike" baseline="0" dirty="0"/>
              <a:t>Science </a:t>
            </a:r>
            <a:r>
              <a:rPr lang="en-US" sz="900" b="1" i="0" u="none" strike="noStrike" baseline="0" dirty="0"/>
              <a:t>353</a:t>
            </a:r>
            <a:r>
              <a:rPr lang="en-US" sz="900" b="0" i="0" u="none" strike="noStrike" baseline="0" dirty="0"/>
              <a:t>, aaf8729 (2016).</a:t>
            </a:r>
          </a:p>
          <a:p>
            <a:pPr marL="228600" indent="-228600" algn="just">
              <a:buAutoNum type="arabicPeriod"/>
            </a:pPr>
            <a:r>
              <a:rPr lang="en-US" sz="900" b="0" i="0" u="none" strike="noStrike" baseline="0" dirty="0"/>
              <a:t>Kim, D. et al. Genome-wide target specificities of </a:t>
            </a:r>
            <a:r>
              <a:rPr lang="fr-FR" sz="900" b="0" i="0" u="none" strike="noStrike" baseline="0" dirty="0"/>
              <a:t>CRISPR RNA-</a:t>
            </a:r>
            <a:r>
              <a:rPr lang="fr-FR" sz="900" b="0" i="0" u="none" strike="noStrike" baseline="0" dirty="0" err="1"/>
              <a:t>guided</a:t>
            </a:r>
            <a:r>
              <a:rPr lang="fr-FR" sz="900" b="0" i="0" u="none" strike="noStrike" baseline="0" dirty="0"/>
              <a:t> programmable </a:t>
            </a:r>
            <a:r>
              <a:rPr lang="fr-FR" sz="900" b="0" i="0" u="none" strike="noStrike" baseline="0" dirty="0" err="1"/>
              <a:t>deaminases</a:t>
            </a:r>
            <a:r>
              <a:rPr lang="fr-FR" sz="900" b="0" i="0" u="none" strike="noStrike" baseline="0" dirty="0"/>
              <a:t>. </a:t>
            </a:r>
            <a:r>
              <a:rPr lang="nl-NL" sz="900" b="0" i="1" u="none" strike="noStrike" baseline="0" dirty="0"/>
              <a:t>Nat. </a:t>
            </a:r>
            <a:r>
              <a:rPr lang="nl-NL" sz="900" b="0" i="1" u="none" strike="noStrike" baseline="0" dirty="0" err="1"/>
              <a:t>Biotechnol</a:t>
            </a:r>
            <a:r>
              <a:rPr lang="nl-NL" sz="900" b="0" i="1" u="none" strike="noStrike" baseline="0" dirty="0"/>
              <a:t>. </a:t>
            </a:r>
            <a:r>
              <a:rPr lang="nl-NL" sz="900" b="1" i="0" u="none" strike="noStrike" baseline="0" dirty="0"/>
              <a:t>35</a:t>
            </a:r>
            <a:r>
              <a:rPr lang="nl-NL" sz="900" b="0" i="0" u="none" strike="noStrike" baseline="0" dirty="0"/>
              <a:t>, 475–480 (2017).</a:t>
            </a:r>
          </a:p>
          <a:p>
            <a:pPr marL="228600" indent="-228600" algn="just">
              <a:buFontTx/>
              <a:buAutoNum type="arabicPeriod"/>
            </a:pPr>
            <a:r>
              <a:rPr lang="en-US" sz="900" b="0" i="0" u="none" strike="noStrike" baseline="0" dirty="0"/>
              <a:t>Hess, G. T. et al. Directed evolution using dCas9- targeted somatic hypermutation in mammalian cells. </a:t>
            </a:r>
            <a:r>
              <a:rPr lang="fr-FR" sz="900" b="0" i="1" u="none" strike="noStrike" baseline="0" dirty="0"/>
              <a:t>Nat. Methods </a:t>
            </a:r>
            <a:r>
              <a:rPr lang="fr-FR" sz="900" b="1" i="0" u="none" strike="noStrike" baseline="0" dirty="0"/>
              <a:t>13</a:t>
            </a:r>
            <a:r>
              <a:rPr lang="fr-FR" sz="900" b="0" i="0" u="none" strike="noStrike" baseline="0" dirty="0"/>
              <a:t>, 1036–1042 (2016).</a:t>
            </a:r>
            <a:endParaRPr lang="nl-NL" sz="900" b="0" i="0" u="none" strike="noStrike" baseline="0" dirty="0"/>
          </a:p>
          <a:p>
            <a:pPr marL="228600" indent="-228600" algn="just">
              <a:buAutoNum type="arabicPeriod"/>
            </a:pPr>
            <a:r>
              <a:rPr lang="fr-FR" sz="900" b="0" i="0" u="none" strike="noStrike" baseline="0" dirty="0"/>
              <a:t>Mok, B. Y. et al. A </a:t>
            </a:r>
            <a:r>
              <a:rPr lang="fr-FR" sz="900" b="0" i="0" u="none" strike="noStrike" baseline="0" dirty="0" err="1"/>
              <a:t>bacterial</a:t>
            </a:r>
            <a:r>
              <a:rPr lang="fr-FR" sz="900" b="0" i="0" u="none" strike="noStrike" baseline="0" dirty="0"/>
              <a:t> cytidine </a:t>
            </a:r>
            <a:r>
              <a:rPr lang="fr-FR" sz="900" b="0" i="0" u="none" strike="noStrike" baseline="0" dirty="0" err="1"/>
              <a:t>deaminase</a:t>
            </a:r>
            <a:r>
              <a:rPr lang="fr-FR" sz="900" b="0" i="0" u="none" strike="noStrike" baseline="0" dirty="0"/>
              <a:t> </a:t>
            </a:r>
            <a:r>
              <a:rPr lang="fr-FR" sz="900" b="0" i="0" u="none" strike="noStrike" baseline="0" dirty="0" err="1"/>
              <a:t>toxin</a:t>
            </a:r>
            <a:r>
              <a:rPr lang="fr-FR" sz="900" b="0" i="0" u="none" strike="noStrike" baseline="0" dirty="0"/>
              <a:t> </a:t>
            </a:r>
            <a:r>
              <a:rPr lang="en-US" sz="900" b="0" i="0" u="none" strike="noStrike" baseline="0" dirty="0"/>
              <a:t>enables CRISPR-free mitochondrial base editing. </a:t>
            </a:r>
            <a:r>
              <a:rPr lang="fr-FR" sz="900" b="0" i="1" u="none" strike="noStrike" baseline="0" dirty="0"/>
              <a:t>Nature </a:t>
            </a:r>
            <a:r>
              <a:rPr lang="fr-FR" sz="900" b="1" i="0" u="none" strike="noStrike" baseline="0" dirty="0"/>
              <a:t>583</a:t>
            </a:r>
            <a:r>
              <a:rPr lang="fr-FR" sz="900" b="0" i="0" u="none" strike="noStrike" baseline="0" dirty="0"/>
              <a:t>, 631–637 (2020).</a:t>
            </a:r>
          </a:p>
          <a:p>
            <a:pPr marL="228600" indent="-228600" algn="just">
              <a:buAutoNum type="arabicPeriod"/>
            </a:pPr>
            <a:endParaRPr lang="fr-FR" sz="500" dirty="0"/>
          </a:p>
        </p:txBody>
      </p:sp>
      <p:sp>
        <p:nvSpPr>
          <p:cNvPr id="92" name="ZoneTexte 91">
            <a:extLst>
              <a:ext uri="{FF2B5EF4-FFF2-40B4-BE49-F238E27FC236}">
                <a16:creationId xmlns:a16="http://schemas.microsoft.com/office/drawing/2014/main" id="{EF3BED26-0D3A-C5E9-D1F2-B0E5D6E099A4}"/>
              </a:ext>
            </a:extLst>
          </p:cNvPr>
          <p:cNvSpPr txBox="1"/>
          <p:nvPr/>
        </p:nvSpPr>
        <p:spPr>
          <a:xfrm>
            <a:off x="502919" y="3481987"/>
            <a:ext cx="8420636" cy="1384995"/>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000000"/>
                </a:solidFill>
              </a:rPr>
              <a:t>Deaminase enzyme</a:t>
            </a:r>
            <a:r>
              <a:rPr lang="en-US" sz="1200" dirty="0">
                <a:solidFill>
                  <a:srgbClr val="000000"/>
                </a:solidFill>
              </a:rPr>
              <a:t>s </a:t>
            </a:r>
            <a:r>
              <a:rPr lang="en-US" sz="1200" b="0" i="0" u="none" strike="noStrike" baseline="0" dirty="0">
                <a:solidFill>
                  <a:srgbClr val="000000"/>
                </a:solidFill>
              </a:rPr>
              <a:t>often have </a:t>
            </a:r>
            <a:r>
              <a:rPr lang="en-US" sz="1200" b="1" i="0" u="none" strike="noStrike" baseline="0" dirty="0">
                <a:solidFill>
                  <a:srgbClr val="000000"/>
                </a:solidFill>
              </a:rPr>
              <a:t>a specific editing window</a:t>
            </a:r>
            <a:r>
              <a:rPr lang="en-US" sz="1200" b="0" i="0" u="none" strike="noStrike" baseline="0" dirty="0">
                <a:solidFill>
                  <a:srgbClr val="000000"/>
                </a:solidFill>
              </a:rPr>
              <a:t> or range of a few nucleotides. Consequently, it may also edit nearby bases within this window, leading to </a:t>
            </a:r>
            <a:r>
              <a:rPr lang="en-US" sz="1200" b="1" i="0" u="none" strike="noStrike" baseline="0" dirty="0">
                <a:solidFill>
                  <a:srgbClr val="000000"/>
                </a:solidFill>
              </a:rPr>
              <a:t>unintended mutations </a:t>
            </a:r>
            <a:r>
              <a:rPr lang="en-US" sz="1200" b="0" i="0" u="none" strike="noStrike" baseline="0" dirty="0">
                <a:solidFill>
                  <a:srgbClr val="000000"/>
                </a:solidFill>
              </a:rPr>
              <a:t>called “bystander” edits. </a:t>
            </a:r>
          </a:p>
          <a:p>
            <a:pPr marL="285750" indent="-285750" algn="just">
              <a:buFont typeface="Wingdings" panose="05000000000000000000" pitchFamily="2" charset="2"/>
              <a:buChar char="Ø"/>
            </a:pPr>
            <a:r>
              <a:rPr lang="en-US" sz="1200" dirty="0">
                <a:solidFill>
                  <a:srgbClr val="000000"/>
                </a:solidFill>
              </a:rPr>
              <a:t>CBEs and ABEs present </a:t>
            </a:r>
            <a:r>
              <a:rPr lang="en-US" sz="1200" b="1" dirty="0">
                <a:solidFill>
                  <a:srgbClr val="000000"/>
                </a:solidFill>
              </a:rPr>
              <a:t>identical off-target sites as Cas9 but also unique ones.</a:t>
            </a:r>
            <a:r>
              <a:rPr lang="en-US" sz="1200" baseline="30000" dirty="0">
                <a:solidFill>
                  <a:srgbClr val="000000"/>
                </a:solidFill>
              </a:rPr>
              <a:t>1,2</a:t>
            </a:r>
            <a:endParaRPr lang="en-US" sz="1200" i="0" u="none" strike="noStrike" baseline="30000" dirty="0">
              <a:solidFill>
                <a:srgbClr val="000000"/>
              </a:solidFill>
            </a:endParaRPr>
          </a:p>
          <a:p>
            <a:pPr marL="285750" indent="-285750" algn="just">
              <a:buFont typeface="Wingdings" panose="05000000000000000000" pitchFamily="2" charset="2"/>
              <a:buChar char="Ø"/>
            </a:pPr>
            <a:r>
              <a:rPr lang="en-US" sz="1200" b="0" i="0" u="none" strike="noStrike" baseline="0" dirty="0">
                <a:solidFill>
                  <a:srgbClr val="000000"/>
                </a:solidFill>
              </a:rPr>
              <a:t>BE is primarily focused on introducing </a:t>
            </a:r>
            <a:r>
              <a:rPr lang="en-US" sz="1200" b="1" i="0" u="none" strike="noStrike" baseline="0" dirty="0">
                <a:solidFill>
                  <a:srgbClr val="000000"/>
                </a:solidFill>
              </a:rPr>
              <a:t>single nucleotide changes</a:t>
            </a:r>
            <a:r>
              <a:rPr lang="en-US" sz="1200" b="0" i="0" u="none" strike="noStrike" baseline="0" dirty="0">
                <a:solidFill>
                  <a:srgbClr val="000000"/>
                </a:solidFill>
              </a:rPr>
              <a:t>, so it does not allow deletion or insertion of larger DNA fragments, which </a:t>
            </a:r>
            <a:r>
              <a:rPr lang="en-US" sz="1200" b="1" i="0" u="none" strike="noStrike" baseline="0" dirty="0">
                <a:solidFill>
                  <a:srgbClr val="000000"/>
                </a:solidFill>
              </a:rPr>
              <a:t>limits its utility </a:t>
            </a:r>
            <a:r>
              <a:rPr lang="en-US" sz="1200" b="0" i="0" u="none" strike="noStrike" baseline="0" dirty="0">
                <a:solidFill>
                  <a:srgbClr val="000000"/>
                </a:solidFill>
              </a:rPr>
              <a:t>for certain types of genomic modifications.</a:t>
            </a:r>
          </a:p>
          <a:p>
            <a:pPr marL="285750" indent="-285750" algn="just">
              <a:buFont typeface="Wingdings" panose="05000000000000000000" pitchFamily="2" charset="2"/>
              <a:buChar char="Ø"/>
            </a:pPr>
            <a:r>
              <a:rPr lang="en-US" sz="1200" b="0" i="0" u="none" strike="noStrike" baseline="0" dirty="0">
                <a:solidFill>
                  <a:srgbClr val="000000"/>
                </a:solidFill>
              </a:rPr>
              <a:t>CBEs can </a:t>
            </a:r>
            <a:r>
              <a:rPr lang="en-US" sz="1200" dirty="0">
                <a:solidFill>
                  <a:srgbClr val="000000"/>
                </a:solidFill>
              </a:rPr>
              <a:t>lead to </a:t>
            </a:r>
            <a:r>
              <a:rPr lang="en-US" sz="1200" b="1" dirty="0">
                <a:solidFill>
                  <a:srgbClr val="000000"/>
                </a:solidFill>
              </a:rPr>
              <a:t>conversion of </a:t>
            </a:r>
            <a:r>
              <a:rPr lang="en-US" sz="1200" b="1" i="0" u="none" strike="noStrike" baseline="0" dirty="0">
                <a:solidFill>
                  <a:srgbClr val="000000"/>
                </a:solidFill>
              </a:rPr>
              <a:t>C•G into non-T•A  unpredictably, in a locus dependent manner</a:t>
            </a:r>
            <a:r>
              <a:rPr lang="en-US" sz="1200" b="0" i="0" u="none" strike="noStrike" baseline="0" dirty="0">
                <a:solidFill>
                  <a:srgbClr val="000000"/>
                </a:solidFill>
              </a:rPr>
              <a:t>, reducing CBEs’ precision and blocking their uses for certain therapeutic areas.</a:t>
            </a:r>
            <a:r>
              <a:rPr lang="en-US" sz="1200" b="0" i="0" u="none" strike="noStrike" baseline="30000" dirty="0">
                <a:solidFill>
                  <a:srgbClr val="000000"/>
                </a:solidFill>
              </a:rPr>
              <a:t>3</a:t>
            </a:r>
            <a:endParaRPr lang="en-US" sz="1200" b="0" i="0" u="none" strike="noStrike" baseline="30000" dirty="0">
              <a:solidFill>
                <a:srgbClr val="231F20"/>
              </a:solidFill>
            </a:endParaRPr>
          </a:p>
        </p:txBody>
      </p:sp>
      <p:pic>
        <p:nvPicPr>
          <p:cNvPr id="6" name="Image 5" descr="Une image contenant symbole, Graphique, logo, Police&#10;&#10;Description générée automatiquement">
            <a:extLst>
              <a:ext uri="{FF2B5EF4-FFF2-40B4-BE49-F238E27FC236}">
                <a16:creationId xmlns:a16="http://schemas.microsoft.com/office/drawing/2014/main" id="{08743AD5-46AE-B407-A8F1-2F01D096462C}"/>
              </a:ext>
            </a:extLst>
          </p:cNvPr>
          <p:cNvPicPr>
            <a:picLocks noChangeAspect="1"/>
          </p:cNvPicPr>
          <p:nvPr/>
        </p:nvPicPr>
        <p:blipFill>
          <a:blip r:embed="rId13"/>
          <a:stretch>
            <a:fillRect/>
          </a:stretch>
        </p:blipFill>
        <p:spPr>
          <a:xfrm>
            <a:off x="364777" y="1069409"/>
            <a:ext cx="468000" cy="468000"/>
          </a:xfrm>
          <a:prstGeom prst="rect">
            <a:avLst/>
          </a:prstGeom>
        </p:spPr>
      </p:pic>
      <p:pic>
        <p:nvPicPr>
          <p:cNvPr id="7" name="Image 6" descr="Une image contenant Graphique, symbole, Police, logo&#10;&#10;Description générée automatiquement">
            <a:extLst>
              <a:ext uri="{FF2B5EF4-FFF2-40B4-BE49-F238E27FC236}">
                <a16:creationId xmlns:a16="http://schemas.microsoft.com/office/drawing/2014/main" id="{15D3A965-D992-B856-C433-D33E196E0DA3}"/>
              </a:ext>
            </a:extLst>
          </p:cNvPr>
          <p:cNvPicPr>
            <a:picLocks noChangeAspect="1"/>
          </p:cNvPicPr>
          <p:nvPr/>
        </p:nvPicPr>
        <p:blipFill>
          <a:blip r:embed="rId14"/>
          <a:stretch>
            <a:fillRect/>
          </a:stretch>
        </p:blipFill>
        <p:spPr>
          <a:xfrm>
            <a:off x="351510" y="2982225"/>
            <a:ext cx="468000" cy="468000"/>
          </a:xfrm>
          <a:prstGeom prst="rect">
            <a:avLst/>
          </a:prstGeom>
        </p:spPr>
      </p:pic>
      <p:pic>
        <p:nvPicPr>
          <p:cNvPr id="8" name="Image 7" descr="Une image contenant Graphique, clipart, Police, graphisme&#10;&#10;Description générée automatiquement">
            <a:extLst>
              <a:ext uri="{FF2B5EF4-FFF2-40B4-BE49-F238E27FC236}">
                <a16:creationId xmlns:a16="http://schemas.microsoft.com/office/drawing/2014/main" id="{60241CA0-741A-B9C5-5E1B-9204F6D0FAD9}"/>
              </a:ext>
            </a:extLst>
          </p:cNvPr>
          <p:cNvPicPr>
            <a:picLocks noChangeAspect="1"/>
          </p:cNvPicPr>
          <p:nvPr/>
        </p:nvPicPr>
        <p:blipFill>
          <a:blip r:embed="rId15"/>
          <a:stretch>
            <a:fillRect/>
          </a:stretch>
        </p:blipFill>
        <p:spPr>
          <a:xfrm>
            <a:off x="400795" y="5255401"/>
            <a:ext cx="468000" cy="468000"/>
          </a:xfrm>
          <a:prstGeom prst="rect">
            <a:avLst/>
          </a:prstGeom>
        </p:spPr>
      </p:pic>
    </p:spTree>
    <p:extLst>
      <p:ext uri="{BB962C8B-B14F-4D97-AF65-F5344CB8AC3E}">
        <p14:creationId xmlns:p14="http://schemas.microsoft.com/office/powerpoint/2010/main" val="1418742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9EBA-A3D4-D0FB-99BF-3395C03F9C08}"/>
            </a:ext>
          </a:extLst>
        </p:cNvPr>
        <p:cNvGrpSpPr/>
        <p:nvPr/>
      </p:nvGrpSpPr>
      <p:grpSpPr>
        <a:xfrm>
          <a:off x="0" y="0"/>
          <a:ext cx="0" cy="0"/>
          <a:chOff x="0" y="0"/>
          <a:chExt cx="0" cy="0"/>
        </a:xfrm>
      </p:grpSpPr>
      <p:grpSp>
        <p:nvGrpSpPr>
          <p:cNvPr id="6" name="Groupe 5">
            <a:extLst>
              <a:ext uri="{FF2B5EF4-FFF2-40B4-BE49-F238E27FC236}">
                <a16:creationId xmlns:a16="http://schemas.microsoft.com/office/drawing/2014/main" id="{EAD01B43-3AC4-C907-18A7-3FE846F5DDD7}"/>
              </a:ext>
            </a:extLst>
          </p:cNvPr>
          <p:cNvGrpSpPr/>
          <p:nvPr/>
        </p:nvGrpSpPr>
        <p:grpSpPr>
          <a:xfrm>
            <a:off x="9396921" y="108135"/>
            <a:ext cx="2625773" cy="580939"/>
            <a:chOff x="9396921" y="108135"/>
            <a:chExt cx="2625773" cy="580939"/>
          </a:xfrm>
        </p:grpSpPr>
        <p:pic>
          <p:nvPicPr>
            <p:cNvPr id="11" name="Image 10">
              <a:extLst>
                <a:ext uri="{FF2B5EF4-FFF2-40B4-BE49-F238E27FC236}">
                  <a16:creationId xmlns:a16="http://schemas.microsoft.com/office/drawing/2014/main" id="{B92A229E-E18B-3779-F8D3-C82AE29D7065}"/>
                </a:ext>
              </a:extLst>
            </p:cNvPr>
            <p:cNvPicPr>
              <a:picLocks noChangeAspect="1"/>
            </p:cNvPicPr>
            <p:nvPr/>
          </p:nvPicPr>
          <p:blipFill>
            <a:blip r:embed="rId2"/>
            <a:stretch>
              <a:fillRect/>
            </a:stretch>
          </p:blipFill>
          <p:spPr>
            <a:xfrm>
              <a:off x="9554107" y="218630"/>
              <a:ext cx="360000" cy="360000"/>
            </a:xfrm>
            <a:prstGeom prst="rect">
              <a:avLst/>
            </a:prstGeom>
          </p:spPr>
        </p:pic>
        <p:pic>
          <p:nvPicPr>
            <p:cNvPr id="7" name="Picture 2">
              <a:extLst>
                <a:ext uri="{FF2B5EF4-FFF2-40B4-BE49-F238E27FC236}">
                  <a16:creationId xmlns:a16="http://schemas.microsoft.com/office/drawing/2014/main" id="{DDF60CBF-E887-346C-CF16-0165D666D712}"/>
                </a:ext>
              </a:extLst>
            </p:cNvPr>
            <p:cNvPicPr>
              <a:picLocks noChangeAspect="1" noChangeArrowheads="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7E6E2579-79F7-6A7F-7AB8-9EC1043E5409}"/>
                </a:ext>
              </a:extLst>
            </p:cNvPr>
            <p:cNvPicPr>
              <a:picLocks noChangeAspect="1"/>
            </p:cNvPicPr>
            <p:nvPr/>
          </p:nvPicPr>
          <p:blipFill>
            <a:blip r:embed="rId5"/>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B1435732-0E6C-97B8-403F-3489472AE693}"/>
                </a:ext>
              </a:extLst>
            </p:cNvPr>
            <p:cNvPicPr>
              <a:picLocks noChangeAspect="1"/>
            </p:cNvPicPr>
            <p:nvPr/>
          </p:nvPicPr>
          <p:blipFill>
            <a:blip r:embed="rId6"/>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1FDAF19D-B6B4-7D76-1798-1E1BC6EDA356}"/>
                </a:ext>
              </a:extLst>
            </p:cNvPr>
            <p:cNvGrpSpPr/>
            <p:nvPr/>
          </p:nvGrpSpPr>
          <p:grpSpPr>
            <a:xfrm>
              <a:off x="9396921" y="108135"/>
              <a:ext cx="2625773" cy="580939"/>
              <a:chOff x="9396921" y="108135"/>
              <a:chExt cx="2625773" cy="580939"/>
            </a:xfrm>
          </p:grpSpPr>
          <p:sp>
            <p:nvSpPr>
              <p:cNvPr id="12" name="Rectangle : coins arrondis 11">
                <a:extLst>
                  <a:ext uri="{FF2B5EF4-FFF2-40B4-BE49-F238E27FC236}">
                    <a16:creationId xmlns:a16="http://schemas.microsoft.com/office/drawing/2014/main" id="{41DF371E-8D5E-0AA2-8EB0-395BC19D7517}"/>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50A1F90B-B91D-124E-F5FB-10DA8CA3E811}"/>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3724B639-0EE0-EFE8-33AE-B2EAA99DC03E}"/>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959E4DB8-C60A-DCD5-D4B6-57DB8710BD40}"/>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2C1E62EA-2A8B-6C95-7770-C7095425616A}"/>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cxnSp>
        <p:nvCxnSpPr>
          <p:cNvPr id="17" name="Connecteur droit 16">
            <a:extLst>
              <a:ext uri="{FF2B5EF4-FFF2-40B4-BE49-F238E27FC236}">
                <a16:creationId xmlns:a16="http://schemas.microsoft.com/office/drawing/2014/main" id="{E4F46ED0-8A32-5D78-39BB-021789E04B95}"/>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7C8D5CF8-55FC-6ED1-66FC-62C9EF84D5C4}"/>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Base Editing (BE) of RNA</a:t>
            </a:r>
            <a:endParaRPr lang="fr-FR" sz="3100" b="1" dirty="0">
              <a:solidFill>
                <a:schemeClr val="tx2"/>
              </a:solidFill>
            </a:endParaRPr>
          </a:p>
        </p:txBody>
      </p:sp>
      <p:sp>
        <p:nvSpPr>
          <p:cNvPr id="20" name="Rectangle : coins arrondis 19">
            <a:extLst>
              <a:ext uri="{FF2B5EF4-FFF2-40B4-BE49-F238E27FC236}">
                <a16:creationId xmlns:a16="http://schemas.microsoft.com/office/drawing/2014/main" id="{D89840AD-A2D8-1FAF-702F-CA27558B362C}"/>
              </a:ext>
            </a:extLst>
          </p:cNvPr>
          <p:cNvSpPr/>
          <p:nvPr/>
        </p:nvSpPr>
        <p:spPr>
          <a:xfrm>
            <a:off x="3319745" y="2772704"/>
            <a:ext cx="5044440" cy="379628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8DF01938-EB61-EA52-5AAE-18E4B8935D94}"/>
              </a:ext>
            </a:extLst>
          </p:cNvPr>
          <p:cNvSpPr/>
          <p:nvPr/>
        </p:nvSpPr>
        <p:spPr>
          <a:xfrm>
            <a:off x="3117226" y="249353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55D57266-3F38-E0B2-8F7F-4AD8DC5510A4}"/>
              </a:ext>
            </a:extLst>
          </p:cNvPr>
          <p:cNvSpPr/>
          <p:nvPr/>
        </p:nvSpPr>
        <p:spPr>
          <a:xfrm>
            <a:off x="3559644" y="2571191"/>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24E0ECA4-DD47-3A76-9A40-E1673EDB5B80}"/>
              </a:ext>
            </a:extLst>
          </p:cNvPr>
          <p:cNvSpPr/>
          <p:nvPr/>
        </p:nvSpPr>
        <p:spPr>
          <a:xfrm rot="5400000">
            <a:off x="-358685" y="2607141"/>
            <a:ext cx="3483429"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2B44E0F5-CFD3-3E78-A22A-E3ADA85F04C0}"/>
              </a:ext>
            </a:extLst>
          </p:cNvPr>
          <p:cNvSpPr/>
          <p:nvPr/>
        </p:nvSpPr>
        <p:spPr>
          <a:xfrm>
            <a:off x="8760710" y="2040859"/>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8BD5F068-FE46-575A-C489-E766B997C20D}"/>
              </a:ext>
            </a:extLst>
          </p:cNvPr>
          <p:cNvSpPr/>
          <p:nvPr/>
        </p:nvSpPr>
        <p:spPr>
          <a:xfrm>
            <a:off x="8558191" y="1761692"/>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37556C28-1328-E1FF-0C0C-CB8C29AC2CD7}"/>
              </a:ext>
            </a:extLst>
          </p:cNvPr>
          <p:cNvSpPr/>
          <p:nvPr/>
        </p:nvSpPr>
        <p:spPr>
          <a:xfrm>
            <a:off x="9000609" y="1832025"/>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23" name="Groupe 22">
            <a:extLst>
              <a:ext uri="{FF2B5EF4-FFF2-40B4-BE49-F238E27FC236}">
                <a16:creationId xmlns:a16="http://schemas.microsoft.com/office/drawing/2014/main" id="{58340C76-35B3-9685-4D65-A7D0B2567186}"/>
              </a:ext>
            </a:extLst>
          </p:cNvPr>
          <p:cNvGrpSpPr/>
          <p:nvPr/>
        </p:nvGrpSpPr>
        <p:grpSpPr>
          <a:xfrm>
            <a:off x="71514" y="2316811"/>
            <a:ext cx="2632872" cy="720000"/>
            <a:chOff x="71514" y="2316811"/>
            <a:chExt cx="2632872" cy="720000"/>
          </a:xfrm>
        </p:grpSpPr>
        <p:sp>
          <p:nvSpPr>
            <p:cNvPr id="29" name="ZoneTexte 28">
              <a:extLst>
                <a:ext uri="{FF2B5EF4-FFF2-40B4-BE49-F238E27FC236}">
                  <a16:creationId xmlns:a16="http://schemas.microsoft.com/office/drawing/2014/main" id="{04F95FE5-8C24-B071-368C-11095E348335}"/>
                </a:ext>
              </a:extLst>
            </p:cNvPr>
            <p:cNvSpPr txBox="1"/>
            <p:nvPr/>
          </p:nvSpPr>
          <p:spPr>
            <a:xfrm>
              <a:off x="839954" y="2353646"/>
              <a:ext cx="1864432" cy="646331"/>
            </a:xfrm>
            <a:prstGeom prst="rect">
              <a:avLst/>
            </a:prstGeom>
            <a:noFill/>
          </p:spPr>
          <p:txBody>
            <a:bodyPr wrap="square" rtlCol="0">
              <a:spAutoFit/>
            </a:bodyPr>
            <a:lstStyle/>
            <a:p>
              <a:pPr algn="just"/>
              <a:r>
                <a:rPr lang="en-US" sz="1200" dirty="0"/>
                <a:t>Base editing methods of RNA were first introduced in </a:t>
              </a:r>
              <a:r>
                <a:rPr lang="en-US" sz="1200" b="1" dirty="0"/>
                <a:t>1986</a:t>
              </a:r>
              <a:r>
                <a:rPr lang="en-US" sz="1200" dirty="0"/>
                <a:t>.</a:t>
              </a:r>
              <a:endParaRPr lang="fr-FR" dirty="0"/>
            </a:p>
          </p:txBody>
        </p:sp>
        <p:pic>
          <p:nvPicPr>
            <p:cNvPr id="36" name="Image 35">
              <a:extLst>
                <a:ext uri="{FF2B5EF4-FFF2-40B4-BE49-F238E27FC236}">
                  <a16:creationId xmlns:a16="http://schemas.microsoft.com/office/drawing/2014/main" id="{3FF92125-662F-EEEF-3C00-1B1B66D48B0E}"/>
                </a:ext>
              </a:extLst>
            </p:cNvPr>
            <p:cNvPicPr>
              <a:picLocks noChangeAspect="1"/>
            </p:cNvPicPr>
            <p:nvPr/>
          </p:nvPicPr>
          <p:blipFill>
            <a:blip r:embed="rId7"/>
            <a:stretch>
              <a:fillRect/>
            </a:stretch>
          </p:blipFill>
          <p:spPr>
            <a:xfrm>
              <a:off x="71514" y="2316811"/>
              <a:ext cx="720000" cy="720000"/>
            </a:xfrm>
            <a:prstGeom prst="rect">
              <a:avLst/>
            </a:prstGeom>
          </p:spPr>
        </p:pic>
      </p:grpSp>
      <p:grpSp>
        <p:nvGrpSpPr>
          <p:cNvPr id="24" name="Groupe 23">
            <a:extLst>
              <a:ext uri="{FF2B5EF4-FFF2-40B4-BE49-F238E27FC236}">
                <a16:creationId xmlns:a16="http://schemas.microsoft.com/office/drawing/2014/main" id="{D613935B-21EC-E9DF-02A7-F9CF03BCC0A2}"/>
              </a:ext>
            </a:extLst>
          </p:cNvPr>
          <p:cNvGrpSpPr/>
          <p:nvPr/>
        </p:nvGrpSpPr>
        <p:grpSpPr>
          <a:xfrm>
            <a:off x="74170" y="3160697"/>
            <a:ext cx="2630216" cy="1015663"/>
            <a:chOff x="74170" y="3192648"/>
            <a:chExt cx="2630216" cy="1015663"/>
          </a:xfrm>
        </p:grpSpPr>
        <p:sp>
          <p:nvSpPr>
            <p:cNvPr id="33" name="ZoneTexte 32">
              <a:extLst>
                <a:ext uri="{FF2B5EF4-FFF2-40B4-BE49-F238E27FC236}">
                  <a16:creationId xmlns:a16="http://schemas.microsoft.com/office/drawing/2014/main" id="{43900AB3-108F-70CC-EED7-600E35D5F9B6}"/>
                </a:ext>
              </a:extLst>
            </p:cNvPr>
            <p:cNvSpPr txBox="1"/>
            <p:nvPr/>
          </p:nvSpPr>
          <p:spPr>
            <a:xfrm>
              <a:off x="839954" y="3192648"/>
              <a:ext cx="1864432" cy="1015663"/>
            </a:xfrm>
            <a:prstGeom prst="rect">
              <a:avLst/>
            </a:prstGeom>
            <a:noFill/>
          </p:spPr>
          <p:txBody>
            <a:bodyPr wrap="square">
              <a:spAutoFit/>
            </a:bodyPr>
            <a:lstStyle/>
            <a:p>
              <a:pPr algn="just"/>
              <a:r>
                <a:rPr lang="en-US" sz="1200" b="0" i="0" u="none" strike="noStrike" baseline="0" dirty="0"/>
                <a:t>Allows </a:t>
              </a:r>
              <a:r>
                <a:rPr lang="en-US" sz="1200" b="1" i="0" u="none" strike="noStrike" baseline="0" dirty="0"/>
                <a:t>reversible modifications </a:t>
              </a:r>
              <a:r>
                <a:rPr lang="en-US" sz="1200" b="0" i="0" u="none" strike="noStrike" baseline="0" dirty="0"/>
                <a:t>to a cell’s genetic material or install </a:t>
              </a:r>
              <a:r>
                <a:rPr lang="en-US" sz="1200" b="1" i="0" u="none" strike="noStrike" baseline="0" dirty="0" err="1"/>
                <a:t>epitranscriptomic</a:t>
              </a:r>
              <a:r>
                <a:rPr lang="en-US" sz="1200" b="1" i="0" u="none" strike="noStrike" baseline="0" dirty="0"/>
                <a:t> modifications </a:t>
              </a:r>
              <a:r>
                <a:rPr lang="en-US" sz="1200" b="0" i="0" u="none" strike="noStrike" baseline="0" dirty="0"/>
                <a:t>into RNA</a:t>
              </a:r>
              <a:endParaRPr lang="en-US" sz="1200" b="1" dirty="0"/>
            </a:p>
          </p:txBody>
        </p:sp>
        <p:pic>
          <p:nvPicPr>
            <p:cNvPr id="38" name="Image 37">
              <a:extLst>
                <a:ext uri="{FF2B5EF4-FFF2-40B4-BE49-F238E27FC236}">
                  <a16:creationId xmlns:a16="http://schemas.microsoft.com/office/drawing/2014/main" id="{520E104F-7080-0030-23A0-594A86812BC3}"/>
                </a:ext>
              </a:extLst>
            </p:cNvPr>
            <p:cNvPicPr>
              <a:picLocks noChangeAspect="1"/>
            </p:cNvPicPr>
            <p:nvPr/>
          </p:nvPicPr>
          <p:blipFill>
            <a:blip r:embed="rId8"/>
            <a:stretch>
              <a:fillRect/>
            </a:stretch>
          </p:blipFill>
          <p:spPr>
            <a:xfrm>
              <a:off x="74170" y="3340479"/>
              <a:ext cx="720000" cy="720000"/>
            </a:xfrm>
            <a:prstGeom prst="rect">
              <a:avLst/>
            </a:prstGeom>
          </p:spPr>
        </p:pic>
      </p:grpSp>
      <p:sp>
        <p:nvSpPr>
          <p:cNvPr id="45" name="Rectangle : coins arrondis 44">
            <a:extLst>
              <a:ext uri="{FF2B5EF4-FFF2-40B4-BE49-F238E27FC236}">
                <a16:creationId xmlns:a16="http://schemas.microsoft.com/office/drawing/2014/main" id="{C443727C-4DA9-25B2-C517-7898C5DA4647}"/>
              </a:ext>
            </a:extLst>
          </p:cNvPr>
          <p:cNvSpPr/>
          <p:nvPr/>
        </p:nvSpPr>
        <p:spPr>
          <a:xfrm>
            <a:off x="8760710" y="4659574"/>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F397A514-7F13-DD6B-308A-0C8923931CE7}"/>
              </a:ext>
            </a:extLst>
          </p:cNvPr>
          <p:cNvSpPr/>
          <p:nvPr/>
        </p:nvSpPr>
        <p:spPr>
          <a:xfrm>
            <a:off x="8558191" y="43804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AD324572-8408-0427-C8CF-EC9F9B9AF37E}"/>
              </a:ext>
            </a:extLst>
          </p:cNvPr>
          <p:cNvSpPr/>
          <p:nvPr/>
        </p:nvSpPr>
        <p:spPr>
          <a:xfrm>
            <a:off x="9000609" y="445074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 name="ZoneTexte 3">
            <a:extLst>
              <a:ext uri="{FF2B5EF4-FFF2-40B4-BE49-F238E27FC236}">
                <a16:creationId xmlns:a16="http://schemas.microsoft.com/office/drawing/2014/main" id="{E463708C-DA31-E56C-90F5-4F6BFAA0E349}"/>
              </a:ext>
            </a:extLst>
          </p:cNvPr>
          <p:cNvSpPr txBox="1"/>
          <p:nvPr/>
        </p:nvSpPr>
        <p:spPr>
          <a:xfrm>
            <a:off x="3559644" y="4565286"/>
            <a:ext cx="4744938" cy="1938992"/>
          </a:xfrm>
          <a:prstGeom prst="rect">
            <a:avLst/>
          </a:prstGeom>
          <a:noFill/>
        </p:spPr>
        <p:txBody>
          <a:bodyPr wrap="square">
            <a:spAutoFit/>
          </a:bodyPr>
          <a:lstStyle/>
          <a:p>
            <a:pPr marL="171450" indent="-171450" algn="just">
              <a:buFont typeface="Wingdings" panose="05000000000000000000" pitchFamily="2" charset="2"/>
              <a:buChar char="Ø"/>
            </a:pPr>
            <a:r>
              <a:rPr lang="en-US" sz="1200" b="1" strike="noStrike" baseline="0" dirty="0"/>
              <a:t>A-to-I</a:t>
            </a:r>
            <a:r>
              <a:rPr lang="en-US" sz="1200" strike="noStrike" baseline="0" dirty="0"/>
              <a:t> : Adenosine to Inosine</a:t>
            </a:r>
          </a:p>
          <a:p>
            <a:pPr marL="171450" indent="-171450" algn="just">
              <a:buFont typeface="Wingdings" panose="05000000000000000000" pitchFamily="2" charset="2"/>
              <a:buChar char="Ø"/>
            </a:pPr>
            <a:r>
              <a:rPr lang="en-US" sz="1200" b="1" dirty="0"/>
              <a:t>C-to-U</a:t>
            </a:r>
            <a:r>
              <a:rPr lang="en-US" sz="1200" dirty="0"/>
              <a:t> : </a:t>
            </a:r>
            <a:r>
              <a:rPr lang="en-US" sz="1200" dirty="0" err="1"/>
              <a:t>Cyotsine</a:t>
            </a:r>
            <a:r>
              <a:rPr lang="en-US" sz="1200" dirty="0"/>
              <a:t> to </a:t>
            </a:r>
            <a:r>
              <a:rPr lang="en-US" sz="1200" dirty="0" err="1"/>
              <a:t>Uracile</a:t>
            </a:r>
            <a:r>
              <a:rPr lang="en-US" sz="1200" dirty="0"/>
              <a:t>. </a:t>
            </a:r>
          </a:p>
          <a:p>
            <a:pPr marL="171450" indent="-171450" algn="just">
              <a:buFont typeface="Wingdings" panose="05000000000000000000" pitchFamily="2" charset="2"/>
              <a:buChar char="Ø"/>
            </a:pPr>
            <a:r>
              <a:rPr lang="en-US" sz="1200" b="0" i="0" u="none" strike="noStrike" baseline="0" dirty="0">
                <a:solidFill>
                  <a:srgbClr val="000000"/>
                </a:solidFill>
              </a:rPr>
              <a:t>Although RNA cytosine deaminase enzymes naturally exist, their high activity for any cytosine present in single-stranded RNA has precluded their use in the development of precise RNA base editors. </a:t>
            </a:r>
          </a:p>
          <a:p>
            <a:pPr marL="171450" indent="-171450" algn="just">
              <a:buFont typeface="Wingdings" panose="05000000000000000000" pitchFamily="2" charset="2"/>
              <a:buChar char="Ø"/>
            </a:pPr>
            <a:r>
              <a:rPr lang="en-US" sz="1200" b="1" i="0" u="none" strike="noStrike" baseline="0" dirty="0">
                <a:solidFill>
                  <a:srgbClr val="000000"/>
                </a:solidFill>
              </a:rPr>
              <a:t>RESCUE</a:t>
            </a:r>
            <a:r>
              <a:rPr lang="en-US" sz="1200" b="0" i="0" u="none" strike="noStrike" baseline="0" dirty="0">
                <a:solidFill>
                  <a:srgbClr val="000000"/>
                </a:solidFill>
              </a:rPr>
              <a:t> (RNA Editing for Specific C-to-U Exchange) has been developed, starting with a A-to-I REPAIR system.</a:t>
            </a:r>
          </a:p>
          <a:p>
            <a:pPr marL="171450" indent="-171450" algn="just">
              <a:buFont typeface="Wingdings" panose="05000000000000000000" pitchFamily="2" charset="2"/>
              <a:buChar char="Ø"/>
            </a:pPr>
            <a:r>
              <a:rPr lang="en-US" sz="1200" b="0" i="0" u="none" strike="noStrike" baseline="0" dirty="0">
                <a:solidFill>
                  <a:srgbClr val="000000"/>
                </a:solidFill>
              </a:rPr>
              <a:t>RESCUE </a:t>
            </a:r>
            <a:r>
              <a:rPr lang="en-US" sz="1200" b="1" i="0" u="none" strike="noStrike" baseline="0" dirty="0">
                <a:solidFill>
                  <a:srgbClr val="000000"/>
                </a:solidFill>
              </a:rPr>
              <a:t>maintains A-to-I activity</a:t>
            </a:r>
            <a:r>
              <a:rPr lang="en-US" sz="1200" b="0" i="0" u="none" strike="noStrike" baseline="0" dirty="0">
                <a:solidFill>
                  <a:srgbClr val="000000"/>
                </a:solidFill>
              </a:rPr>
              <a:t>, allowing for multiplexed adenine and cytosine RNA base editing.</a:t>
            </a:r>
            <a:endParaRPr lang="en-US" sz="1200" strike="noStrike" baseline="0" dirty="0"/>
          </a:p>
        </p:txBody>
      </p:sp>
      <p:grpSp>
        <p:nvGrpSpPr>
          <p:cNvPr id="30" name="Groupe 29">
            <a:extLst>
              <a:ext uri="{FF2B5EF4-FFF2-40B4-BE49-F238E27FC236}">
                <a16:creationId xmlns:a16="http://schemas.microsoft.com/office/drawing/2014/main" id="{8A7EFFE2-4BE8-CB9B-C660-C36285E05709}"/>
              </a:ext>
            </a:extLst>
          </p:cNvPr>
          <p:cNvGrpSpPr/>
          <p:nvPr/>
        </p:nvGrpSpPr>
        <p:grpSpPr>
          <a:xfrm>
            <a:off x="71514" y="4300246"/>
            <a:ext cx="2694546" cy="1052497"/>
            <a:chOff x="71514" y="4300246"/>
            <a:chExt cx="2694546" cy="1052497"/>
          </a:xfrm>
        </p:grpSpPr>
        <p:pic>
          <p:nvPicPr>
            <p:cNvPr id="40" name="Image 39">
              <a:extLst>
                <a:ext uri="{FF2B5EF4-FFF2-40B4-BE49-F238E27FC236}">
                  <a16:creationId xmlns:a16="http://schemas.microsoft.com/office/drawing/2014/main" id="{B490E15A-1C3A-198B-AE69-914010A08DAB}"/>
                </a:ext>
              </a:extLst>
            </p:cNvPr>
            <p:cNvPicPr>
              <a:picLocks noChangeAspect="1"/>
            </p:cNvPicPr>
            <p:nvPr/>
          </p:nvPicPr>
          <p:blipFill>
            <a:blip r:embed="rId9"/>
            <a:stretch>
              <a:fillRect/>
            </a:stretch>
          </p:blipFill>
          <p:spPr>
            <a:xfrm>
              <a:off x="71514" y="4632743"/>
              <a:ext cx="720000" cy="720000"/>
            </a:xfrm>
            <a:prstGeom prst="rect">
              <a:avLst/>
            </a:prstGeom>
          </p:spPr>
        </p:pic>
        <p:sp>
          <p:nvSpPr>
            <p:cNvPr id="19" name="ZoneTexte 18">
              <a:extLst>
                <a:ext uri="{FF2B5EF4-FFF2-40B4-BE49-F238E27FC236}">
                  <a16:creationId xmlns:a16="http://schemas.microsoft.com/office/drawing/2014/main" id="{C100ACB0-A8A3-4952-67FF-33639CCA19B6}"/>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sp>
        <p:nvSpPr>
          <p:cNvPr id="34" name="ZoneTexte 33">
            <a:extLst>
              <a:ext uri="{FF2B5EF4-FFF2-40B4-BE49-F238E27FC236}">
                <a16:creationId xmlns:a16="http://schemas.microsoft.com/office/drawing/2014/main" id="{2C0E0E9D-61A3-DBC8-57BD-9057F9BC9CF1}"/>
              </a:ext>
            </a:extLst>
          </p:cNvPr>
          <p:cNvSpPr txBox="1"/>
          <p:nvPr/>
        </p:nvSpPr>
        <p:spPr>
          <a:xfrm>
            <a:off x="9000609" y="2389181"/>
            <a:ext cx="2823341" cy="1384995"/>
          </a:xfrm>
          <a:prstGeom prst="rect">
            <a:avLst/>
          </a:prstGeom>
          <a:noFill/>
        </p:spPr>
        <p:txBody>
          <a:bodyPr wrap="square">
            <a:spAutoFit/>
          </a:bodyPr>
          <a:lstStyle/>
          <a:p>
            <a:pPr marL="171450" indent="-171450">
              <a:buFont typeface="Wingdings" panose="05000000000000000000" pitchFamily="2" charset="2"/>
              <a:buChar char="Ø"/>
            </a:pPr>
            <a:r>
              <a:rPr lang="fr-FR" sz="1200" dirty="0" err="1"/>
              <a:t>Hematologic</a:t>
            </a:r>
            <a:r>
              <a:rPr lang="fr-FR" sz="1200" dirty="0"/>
              <a:t> </a:t>
            </a:r>
            <a:r>
              <a:rPr lang="fr-FR" sz="1200" dirty="0" err="1"/>
              <a:t>disorders</a:t>
            </a:r>
            <a:endParaRPr lang="fr-FR" sz="1200" dirty="0"/>
          </a:p>
          <a:p>
            <a:pPr marL="171450" indent="-171450">
              <a:buFont typeface="Wingdings" panose="05000000000000000000" pitchFamily="2" charset="2"/>
              <a:buChar char="Ø"/>
            </a:pPr>
            <a:r>
              <a:rPr lang="fr-FR" sz="1200" dirty="0" err="1"/>
              <a:t>Cardiac</a:t>
            </a:r>
            <a:r>
              <a:rPr lang="fr-FR" sz="1200" dirty="0"/>
              <a:t> pathologies</a:t>
            </a:r>
          </a:p>
          <a:p>
            <a:pPr marL="171450" indent="-171450">
              <a:buFont typeface="Wingdings" panose="05000000000000000000" pitchFamily="2" charset="2"/>
              <a:buChar char="Ø"/>
            </a:pPr>
            <a:r>
              <a:rPr lang="fr-FR" sz="1200" dirty="0" err="1"/>
              <a:t>Variety</a:t>
            </a:r>
            <a:r>
              <a:rPr lang="fr-FR" sz="1200" dirty="0"/>
              <a:t> of </a:t>
            </a:r>
            <a:r>
              <a:rPr lang="fr-FR" sz="1200" dirty="0" err="1"/>
              <a:t>livers</a:t>
            </a:r>
            <a:r>
              <a:rPr lang="fr-FR" sz="1200" dirty="0"/>
              <a:t>’ </a:t>
            </a:r>
            <a:r>
              <a:rPr lang="fr-FR" sz="1200" dirty="0" err="1"/>
              <a:t>diseases</a:t>
            </a:r>
            <a:r>
              <a:rPr lang="fr-FR" sz="1200" dirty="0"/>
              <a:t> ( PKU, HT1…)</a:t>
            </a:r>
          </a:p>
          <a:p>
            <a:pPr marL="171450" indent="-171450">
              <a:buFont typeface="Wingdings" panose="05000000000000000000" pitchFamily="2" charset="2"/>
              <a:buChar char="Ø"/>
            </a:pPr>
            <a:r>
              <a:rPr lang="fr-FR" sz="1200" dirty="0" err="1"/>
              <a:t>Retinal</a:t>
            </a:r>
            <a:r>
              <a:rPr lang="fr-FR" sz="1200" dirty="0"/>
              <a:t> </a:t>
            </a:r>
            <a:r>
              <a:rPr lang="fr-FR" sz="1200" dirty="0" err="1"/>
              <a:t>diseases</a:t>
            </a:r>
            <a:endParaRPr lang="fr-FR" sz="1200" dirty="0"/>
          </a:p>
          <a:p>
            <a:pPr marL="171450" indent="-171450">
              <a:buFont typeface="Wingdings" panose="05000000000000000000" pitchFamily="2" charset="2"/>
              <a:buChar char="Ø"/>
            </a:pPr>
            <a:r>
              <a:rPr lang="fr-FR" sz="1200" dirty="0" err="1"/>
              <a:t>Hereditary</a:t>
            </a:r>
            <a:r>
              <a:rPr lang="fr-FR" sz="1200" dirty="0"/>
              <a:t> </a:t>
            </a:r>
            <a:r>
              <a:rPr lang="fr-FR" sz="1200" dirty="0" err="1"/>
              <a:t>hearing</a:t>
            </a:r>
            <a:r>
              <a:rPr lang="fr-FR" sz="1200" dirty="0"/>
              <a:t> </a:t>
            </a:r>
            <a:r>
              <a:rPr lang="fr-FR" sz="1200" dirty="0" err="1"/>
              <a:t>loss</a:t>
            </a:r>
            <a:endParaRPr lang="fr-FR" sz="1200" dirty="0"/>
          </a:p>
          <a:p>
            <a:pPr marL="171450" indent="-171450">
              <a:buFont typeface="Wingdings" panose="05000000000000000000" pitchFamily="2" charset="2"/>
              <a:buChar char="Ø"/>
            </a:pPr>
            <a:r>
              <a:rPr lang="fr-FR" sz="1200" b="0" i="0" dirty="0">
                <a:solidFill>
                  <a:srgbClr val="333333"/>
                </a:solidFill>
                <a:effectLst/>
              </a:rPr>
              <a:t>Duchenne </a:t>
            </a:r>
            <a:r>
              <a:rPr lang="fr-FR" sz="1200" b="0" i="0" dirty="0" err="1">
                <a:solidFill>
                  <a:srgbClr val="333333"/>
                </a:solidFill>
                <a:effectLst/>
              </a:rPr>
              <a:t>muscular</a:t>
            </a:r>
            <a:r>
              <a:rPr lang="fr-FR" sz="1200" b="0" i="0" dirty="0">
                <a:solidFill>
                  <a:srgbClr val="333333"/>
                </a:solidFill>
                <a:effectLst/>
              </a:rPr>
              <a:t> </a:t>
            </a:r>
            <a:r>
              <a:rPr lang="fr-FR" sz="1200" b="0" i="0" dirty="0" err="1">
                <a:solidFill>
                  <a:srgbClr val="333333"/>
                </a:solidFill>
                <a:effectLst/>
              </a:rPr>
              <a:t>dystrophy</a:t>
            </a:r>
            <a:endParaRPr lang="fr-FR" sz="1200" dirty="0"/>
          </a:p>
        </p:txBody>
      </p:sp>
      <p:pic>
        <p:nvPicPr>
          <p:cNvPr id="2" name="Image 1" descr="Une image contenant symbole, cercle, Graphique, conception&#10;&#10;Description générée automatiquement">
            <a:extLst>
              <a:ext uri="{FF2B5EF4-FFF2-40B4-BE49-F238E27FC236}">
                <a16:creationId xmlns:a16="http://schemas.microsoft.com/office/drawing/2014/main" id="{76DDC526-F6A9-DA96-CB77-F5621CCE38CF}"/>
              </a:ext>
            </a:extLst>
          </p:cNvPr>
          <p:cNvPicPr>
            <a:picLocks noChangeAspect="1"/>
          </p:cNvPicPr>
          <p:nvPr/>
        </p:nvPicPr>
        <p:blipFill>
          <a:blip r:embed="rId10"/>
          <a:stretch>
            <a:fillRect/>
          </a:stretch>
        </p:blipFill>
        <p:spPr>
          <a:xfrm>
            <a:off x="3162585" y="2547537"/>
            <a:ext cx="468000" cy="468000"/>
          </a:xfrm>
          <a:prstGeom prst="rect">
            <a:avLst/>
          </a:prstGeom>
        </p:spPr>
      </p:pic>
      <p:pic>
        <p:nvPicPr>
          <p:cNvPr id="3" name="Image 2" descr="Une image contenant symbole, Police, Graphique, logo&#10;&#10;Description générée automatiquement">
            <a:extLst>
              <a:ext uri="{FF2B5EF4-FFF2-40B4-BE49-F238E27FC236}">
                <a16:creationId xmlns:a16="http://schemas.microsoft.com/office/drawing/2014/main" id="{EAC8DED3-2FCC-287D-3FC1-B637DC0DBC13}"/>
              </a:ext>
            </a:extLst>
          </p:cNvPr>
          <p:cNvPicPr>
            <a:picLocks noChangeAspect="1"/>
          </p:cNvPicPr>
          <p:nvPr/>
        </p:nvPicPr>
        <p:blipFill>
          <a:blip r:embed="rId11"/>
          <a:stretch>
            <a:fillRect/>
          </a:stretch>
        </p:blipFill>
        <p:spPr>
          <a:xfrm>
            <a:off x="8594191" y="1748225"/>
            <a:ext cx="468000" cy="468000"/>
          </a:xfrm>
          <a:prstGeom prst="rect">
            <a:avLst/>
          </a:prstGeom>
        </p:spPr>
      </p:pic>
      <p:pic>
        <p:nvPicPr>
          <p:cNvPr id="5" name="Image 4" descr="Une image contenant cercle, Graphique, Police, symbole&#10;&#10;Description générée automatiquement">
            <a:extLst>
              <a:ext uri="{FF2B5EF4-FFF2-40B4-BE49-F238E27FC236}">
                <a16:creationId xmlns:a16="http://schemas.microsoft.com/office/drawing/2014/main" id="{9F8C95E3-F022-4878-4999-B43173F84EB2}"/>
              </a:ext>
            </a:extLst>
          </p:cNvPr>
          <p:cNvPicPr>
            <a:picLocks noChangeAspect="1"/>
          </p:cNvPicPr>
          <p:nvPr/>
        </p:nvPicPr>
        <p:blipFill>
          <a:blip r:embed="rId12"/>
          <a:stretch>
            <a:fillRect/>
          </a:stretch>
        </p:blipFill>
        <p:spPr>
          <a:xfrm>
            <a:off x="8632027" y="4417584"/>
            <a:ext cx="468000" cy="468000"/>
          </a:xfrm>
          <a:prstGeom prst="rect">
            <a:avLst/>
          </a:prstGeom>
        </p:spPr>
      </p:pic>
      <p:pic>
        <p:nvPicPr>
          <p:cNvPr id="35" name="Image 34">
            <a:extLst>
              <a:ext uri="{FF2B5EF4-FFF2-40B4-BE49-F238E27FC236}">
                <a16:creationId xmlns:a16="http://schemas.microsoft.com/office/drawing/2014/main" id="{C9E63E6F-3802-EB0F-6B19-A6DBE170FA0F}"/>
              </a:ext>
            </a:extLst>
          </p:cNvPr>
          <p:cNvPicPr>
            <a:picLocks noChangeAspect="1"/>
          </p:cNvPicPr>
          <p:nvPr/>
        </p:nvPicPr>
        <p:blipFill>
          <a:blip r:embed="rId13"/>
          <a:srcRect t="14530" r="41917"/>
          <a:stretch/>
        </p:blipFill>
        <p:spPr>
          <a:xfrm>
            <a:off x="4362335" y="3247351"/>
            <a:ext cx="2989739" cy="837437"/>
          </a:xfrm>
          <a:prstGeom prst="rect">
            <a:avLst/>
          </a:prstGeom>
        </p:spPr>
      </p:pic>
      <p:grpSp>
        <p:nvGrpSpPr>
          <p:cNvPr id="37" name="Groupe 36">
            <a:extLst>
              <a:ext uri="{FF2B5EF4-FFF2-40B4-BE49-F238E27FC236}">
                <a16:creationId xmlns:a16="http://schemas.microsoft.com/office/drawing/2014/main" id="{3E00570C-47FE-73E2-3007-8ED6CF7B1DB1}"/>
              </a:ext>
            </a:extLst>
          </p:cNvPr>
          <p:cNvGrpSpPr/>
          <p:nvPr/>
        </p:nvGrpSpPr>
        <p:grpSpPr>
          <a:xfrm>
            <a:off x="645225" y="945343"/>
            <a:ext cx="10937024" cy="565150"/>
            <a:chOff x="645225" y="945343"/>
            <a:chExt cx="10937024" cy="565150"/>
          </a:xfrm>
        </p:grpSpPr>
        <p:sp>
          <p:nvSpPr>
            <p:cNvPr id="39" name="Ellipse 38">
              <a:extLst>
                <a:ext uri="{FF2B5EF4-FFF2-40B4-BE49-F238E27FC236}">
                  <a16:creationId xmlns:a16="http://schemas.microsoft.com/office/drawing/2014/main" id="{A96D45B9-E0A1-F208-86CE-0885E65751E0}"/>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texte 9">
              <a:extLst>
                <a:ext uri="{FF2B5EF4-FFF2-40B4-BE49-F238E27FC236}">
                  <a16:creationId xmlns:a16="http://schemas.microsoft.com/office/drawing/2014/main" id="{A6DBE042-2B4E-3A39-BF0C-C19FC952C63F}"/>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369795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ED808-B8AB-3AD6-9D22-88BEDD62A0B3}"/>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A29AC308-46B3-A258-0DEB-F0FFABD6CB78}"/>
              </a:ext>
            </a:extLst>
          </p:cNvPr>
          <p:cNvSpPr/>
          <p:nvPr/>
        </p:nvSpPr>
        <p:spPr>
          <a:xfrm>
            <a:off x="371100" y="1491669"/>
            <a:ext cx="8778789" cy="929167"/>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54016DB6-B270-CD37-AC2A-B73EC09EF41E}"/>
              </a:ext>
            </a:extLst>
          </p:cNvPr>
          <p:cNvSpPr/>
          <p:nvPr/>
        </p:nvSpPr>
        <p:spPr>
          <a:xfrm>
            <a:off x="300401" y="131375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442A762A-F6E7-28E0-52AA-57CB369A8F63}"/>
              </a:ext>
            </a:extLst>
          </p:cNvPr>
          <p:cNvSpPr/>
          <p:nvPr/>
        </p:nvSpPr>
        <p:spPr>
          <a:xfrm>
            <a:off x="742819" y="1391407"/>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EBCABA8E-A218-1C14-B7CB-2A197C8CF4E8}"/>
              </a:ext>
            </a:extLst>
          </p:cNvPr>
          <p:cNvSpPr/>
          <p:nvPr/>
        </p:nvSpPr>
        <p:spPr>
          <a:xfrm rot="16200000">
            <a:off x="9829487" y="989817"/>
            <a:ext cx="1958967"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CB057A10-E62D-6FA4-AFC4-30055F2DE777}"/>
              </a:ext>
            </a:extLst>
          </p:cNvPr>
          <p:cNvSpPr/>
          <p:nvPr/>
        </p:nvSpPr>
        <p:spPr>
          <a:xfrm>
            <a:off x="364777" y="3352331"/>
            <a:ext cx="8785112" cy="1191094"/>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DFE14AA5-E995-70B9-43A5-63280075159B}"/>
              </a:ext>
            </a:extLst>
          </p:cNvPr>
          <p:cNvSpPr/>
          <p:nvPr/>
        </p:nvSpPr>
        <p:spPr>
          <a:xfrm>
            <a:off x="300401" y="307316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A0E4167F-46B4-865B-D35D-4528BAA71025}"/>
              </a:ext>
            </a:extLst>
          </p:cNvPr>
          <p:cNvSpPr/>
          <p:nvPr/>
        </p:nvSpPr>
        <p:spPr>
          <a:xfrm>
            <a:off x="742819" y="3143496"/>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DA66E53B-41CF-8E78-8EB2-C5EC4D69B84C}"/>
              </a:ext>
            </a:extLst>
          </p:cNvPr>
          <p:cNvSpPr/>
          <p:nvPr/>
        </p:nvSpPr>
        <p:spPr>
          <a:xfrm>
            <a:off x="364776" y="5004158"/>
            <a:ext cx="8785113" cy="1311072"/>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6648FBD3-823A-0036-74E8-A1AEDBA575AE}"/>
              </a:ext>
            </a:extLst>
          </p:cNvPr>
          <p:cNvSpPr/>
          <p:nvPr/>
        </p:nvSpPr>
        <p:spPr>
          <a:xfrm>
            <a:off x="300401" y="4807735"/>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04E6515A-FEEC-63C3-AB09-54DF644D289F}"/>
              </a:ext>
            </a:extLst>
          </p:cNvPr>
          <p:cNvSpPr/>
          <p:nvPr/>
        </p:nvSpPr>
        <p:spPr>
          <a:xfrm>
            <a:off x="742819" y="4878068"/>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Evolutions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86796F65-71DE-83C3-1C1A-EBE6F58D32E9}"/>
              </a:ext>
            </a:extLst>
          </p:cNvPr>
          <p:cNvSpPr txBox="1"/>
          <p:nvPr/>
        </p:nvSpPr>
        <p:spPr>
          <a:xfrm>
            <a:off x="10338586" y="1461481"/>
            <a:ext cx="1853415" cy="338554"/>
          </a:xfrm>
          <a:prstGeom prst="rect">
            <a:avLst/>
          </a:prstGeom>
          <a:noFill/>
        </p:spPr>
        <p:txBody>
          <a:bodyPr wrap="square">
            <a:spAutoFit/>
          </a:bodyPr>
          <a:lstStyle/>
          <a:p>
            <a:pPr lvl="0"/>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EF40DE4E-5D7A-06A9-860A-0479D945BFED}"/>
              </a:ext>
            </a:extLst>
          </p:cNvPr>
          <p:cNvSpPr txBox="1"/>
          <p:nvPr/>
        </p:nvSpPr>
        <p:spPr>
          <a:xfrm>
            <a:off x="9498985" y="2194304"/>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BAE7707C-E575-3C6C-3475-75C4E373EAA2}"/>
              </a:ext>
            </a:extLst>
          </p:cNvPr>
          <p:cNvSpPr txBox="1"/>
          <p:nvPr/>
        </p:nvSpPr>
        <p:spPr>
          <a:xfrm>
            <a:off x="9498985" y="2560300"/>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2277D0F6-D8A1-7B47-AFEF-DB03AF159C83}"/>
              </a:ext>
            </a:extLst>
          </p:cNvPr>
          <p:cNvSpPr txBox="1"/>
          <p:nvPr/>
        </p:nvSpPr>
        <p:spPr>
          <a:xfrm>
            <a:off x="9498985" y="2932172"/>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D5B5A260-B7D3-38E3-75AD-E583FB8796F7}"/>
              </a:ext>
            </a:extLst>
          </p:cNvPr>
          <p:cNvGrpSpPr/>
          <p:nvPr/>
        </p:nvGrpSpPr>
        <p:grpSpPr>
          <a:xfrm>
            <a:off x="11205744" y="2183045"/>
            <a:ext cx="857700" cy="252000"/>
            <a:chOff x="1557481" y="4197166"/>
            <a:chExt cx="857700" cy="252000"/>
          </a:xfrm>
        </p:grpSpPr>
        <p:pic>
          <p:nvPicPr>
            <p:cNvPr id="23" name="Image 22">
              <a:extLst>
                <a:ext uri="{FF2B5EF4-FFF2-40B4-BE49-F238E27FC236}">
                  <a16:creationId xmlns:a16="http://schemas.microsoft.com/office/drawing/2014/main" id="{5D80DDBC-A8BD-1506-7CBC-8690CE285045}"/>
                </a:ext>
              </a:extLst>
            </p:cNvPr>
            <p:cNvPicPr>
              <a:picLocks noChangeAspect="1"/>
            </p:cNvPicPr>
            <p:nvPr/>
          </p:nvPicPr>
          <p:blipFill>
            <a:blip r:embed="rId3"/>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F259167A-6FC1-FBC1-09F8-DFD829E02B11}"/>
                </a:ext>
              </a:extLst>
            </p:cNvPr>
            <p:cNvPicPr>
              <a:picLocks noChangeAspect="1"/>
            </p:cNvPicPr>
            <p:nvPr/>
          </p:nvPicPr>
          <p:blipFill>
            <a:blip r:embed="rId3"/>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626E2798-C871-4D1D-F5B3-5B8F2BA9BA9D}"/>
                </a:ext>
              </a:extLst>
            </p:cNvPr>
            <p:cNvPicPr>
              <a:picLocks noChangeAspect="1"/>
            </p:cNvPicPr>
            <p:nvPr/>
          </p:nvPicPr>
          <p:blipFill>
            <a:blip r:embed="rId3"/>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728624C0-3DCD-4667-E31D-5E7F04BC520F}"/>
              </a:ext>
            </a:extLst>
          </p:cNvPr>
          <p:cNvGrpSpPr/>
          <p:nvPr/>
        </p:nvGrpSpPr>
        <p:grpSpPr>
          <a:xfrm>
            <a:off x="11205744" y="2942746"/>
            <a:ext cx="857700" cy="252000"/>
            <a:chOff x="1557481" y="4804916"/>
            <a:chExt cx="857700" cy="252000"/>
          </a:xfrm>
        </p:grpSpPr>
        <p:pic>
          <p:nvPicPr>
            <p:cNvPr id="35" name="Image 34">
              <a:extLst>
                <a:ext uri="{FF2B5EF4-FFF2-40B4-BE49-F238E27FC236}">
                  <a16:creationId xmlns:a16="http://schemas.microsoft.com/office/drawing/2014/main" id="{5AD0678F-7686-D718-106B-F78CC2719A12}"/>
                </a:ext>
              </a:extLst>
            </p:cNvPr>
            <p:cNvPicPr>
              <a:picLocks noChangeAspect="1"/>
            </p:cNvPicPr>
            <p:nvPr/>
          </p:nvPicPr>
          <p:blipFill>
            <a:blip r:embed="rId4"/>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31D97206-07AC-0B0D-0B70-726081DFA415}"/>
                </a:ext>
              </a:extLst>
            </p:cNvPr>
            <p:cNvPicPr>
              <a:picLocks noChangeAspect="1"/>
            </p:cNvPicPr>
            <p:nvPr/>
          </p:nvPicPr>
          <p:blipFill>
            <a:blip r:embed="rId4"/>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D3AF905B-258F-CBB4-8208-492B1A53080C}"/>
                </a:ext>
              </a:extLst>
            </p:cNvPr>
            <p:cNvPicPr>
              <a:picLocks noChangeAspect="1"/>
            </p:cNvPicPr>
            <p:nvPr/>
          </p:nvPicPr>
          <p:blipFill>
            <a:blip r:embed="rId4"/>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8A21E583-CDCD-230E-D976-4A371C13A02F}"/>
              </a:ext>
            </a:extLst>
          </p:cNvPr>
          <p:cNvGrpSpPr/>
          <p:nvPr/>
        </p:nvGrpSpPr>
        <p:grpSpPr>
          <a:xfrm>
            <a:off x="11205744" y="2575082"/>
            <a:ext cx="857699" cy="252000"/>
            <a:chOff x="2476644" y="4589203"/>
            <a:chExt cx="857699" cy="252000"/>
          </a:xfrm>
        </p:grpSpPr>
        <p:pic>
          <p:nvPicPr>
            <p:cNvPr id="46" name="Image 45">
              <a:extLst>
                <a:ext uri="{FF2B5EF4-FFF2-40B4-BE49-F238E27FC236}">
                  <a16:creationId xmlns:a16="http://schemas.microsoft.com/office/drawing/2014/main" id="{9E51EC1A-C753-E617-FC8B-C6DE66D62FD3}"/>
                </a:ext>
              </a:extLst>
            </p:cNvPr>
            <p:cNvPicPr>
              <a:picLocks noChangeAspect="1"/>
            </p:cNvPicPr>
            <p:nvPr/>
          </p:nvPicPr>
          <p:blipFill>
            <a:blip r:embed="rId5"/>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39FE2D1D-A16A-9F95-993D-8E54B8C5B16A}"/>
                </a:ext>
              </a:extLst>
            </p:cNvPr>
            <p:cNvPicPr>
              <a:picLocks noChangeAspect="1"/>
            </p:cNvPicPr>
            <p:nvPr/>
          </p:nvPicPr>
          <p:blipFill>
            <a:blip r:embed="rId5"/>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82EE5D8E-C7E4-8254-D17A-FBF2DD94E804}"/>
                </a:ext>
              </a:extLst>
            </p:cNvPr>
            <p:cNvPicPr>
              <a:picLocks noChangeAspect="1"/>
            </p:cNvPicPr>
            <p:nvPr/>
          </p:nvPicPr>
          <p:blipFill>
            <a:blip r:embed="rId5"/>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48CC589E-A9C8-4F2F-62F1-73F0E3C0AA35}"/>
              </a:ext>
            </a:extLst>
          </p:cNvPr>
          <p:cNvPicPr>
            <a:picLocks noChangeAspect="1"/>
          </p:cNvPicPr>
          <p:nvPr/>
        </p:nvPicPr>
        <p:blipFill>
          <a:blip r:embed="rId6"/>
          <a:stretch>
            <a:fillRect/>
          </a:stretch>
        </p:blipFill>
        <p:spPr>
          <a:xfrm>
            <a:off x="9687059" y="1459448"/>
            <a:ext cx="540000" cy="540000"/>
          </a:xfrm>
          <a:prstGeom prst="rect">
            <a:avLst/>
          </a:prstGeom>
        </p:spPr>
      </p:pic>
      <p:cxnSp>
        <p:nvCxnSpPr>
          <p:cNvPr id="29" name="Connecteur droit 28">
            <a:extLst>
              <a:ext uri="{FF2B5EF4-FFF2-40B4-BE49-F238E27FC236}">
                <a16:creationId xmlns:a16="http://schemas.microsoft.com/office/drawing/2014/main" id="{A5F258F8-D4E8-A135-3DF3-EDC9A8B3A114}"/>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31598D48-E892-D63C-982C-C8BA3A78C21A}"/>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Base Editing (BE) of RNA</a:t>
            </a:r>
            <a:endParaRPr lang="fr-FR" sz="3100" b="1" dirty="0">
              <a:solidFill>
                <a:schemeClr val="tx2"/>
              </a:solidFill>
            </a:endParaRPr>
          </a:p>
        </p:txBody>
      </p:sp>
      <p:grpSp>
        <p:nvGrpSpPr>
          <p:cNvPr id="32" name="Groupe 31">
            <a:extLst>
              <a:ext uri="{FF2B5EF4-FFF2-40B4-BE49-F238E27FC236}">
                <a16:creationId xmlns:a16="http://schemas.microsoft.com/office/drawing/2014/main" id="{45F0800D-CBEE-82EE-6949-7FCA23699395}"/>
              </a:ext>
            </a:extLst>
          </p:cNvPr>
          <p:cNvGrpSpPr/>
          <p:nvPr/>
        </p:nvGrpSpPr>
        <p:grpSpPr>
          <a:xfrm>
            <a:off x="9396921" y="108135"/>
            <a:ext cx="2625773" cy="580939"/>
            <a:chOff x="9396921" y="108135"/>
            <a:chExt cx="2625773" cy="580939"/>
          </a:xfrm>
        </p:grpSpPr>
        <p:pic>
          <p:nvPicPr>
            <p:cNvPr id="33" name="Image 32">
              <a:extLst>
                <a:ext uri="{FF2B5EF4-FFF2-40B4-BE49-F238E27FC236}">
                  <a16:creationId xmlns:a16="http://schemas.microsoft.com/office/drawing/2014/main" id="{539105D6-4A46-B23E-3C7D-1CA828893672}"/>
                </a:ext>
              </a:extLst>
            </p:cNvPr>
            <p:cNvPicPr>
              <a:picLocks noChangeAspect="1"/>
            </p:cNvPicPr>
            <p:nvPr/>
          </p:nvPicPr>
          <p:blipFill>
            <a:blip r:embed="rId7"/>
            <a:stretch>
              <a:fillRect/>
            </a:stretch>
          </p:blipFill>
          <p:spPr>
            <a:xfrm>
              <a:off x="9554107" y="218630"/>
              <a:ext cx="360000" cy="360000"/>
            </a:xfrm>
            <a:prstGeom prst="rect">
              <a:avLst/>
            </a:prstGeom>
          </p:spPr>
        </p:pic>
        <p:pic>
          <p:nvPicPr>
            <p:cNvPr id="36" name="Picture 2">
              <a:extLst>
                <a:ext uri="{FF2B5EF4-FFF2-40B4-BE49-F238E27FC236}">
                  <a16:creationId xmlns:a16="http://schemas.microsoft.com/office/drawing/2014/main" id="{C7E579E9-17EF-6008-3EAC-2C32D5F94E8F}"/>
                </a:ext>
              </a:extLst>
            </p:cNvPr>
            <p:cNvPicPr>
              <a:picLocks noChangeAspect="1" noChangeArrowheads="1"/>
            </p:cNvPicPr>
            <p:nvPr/>
          </p:nvPicPr>
          <p:blipFill>
            <a:blip r:embed="rId8">
              <a:duotone>
                <a:prstClr val="black"/>
                <a:schemeClr val="tx1">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38" name="Image 37">
              <a:extLst>
                <a:ext uri="{FF2B5EF4-FFF2-40B4-BE49-F238E27FC236}">
                  <a16:creationId xmlns:a16="http://schemas.microsoft.com/office/drawing/2014/main" id="{2FE78D8B-DDD6-0E2D-B7B5-72C3180B415C}"/>
                </a:ext>
              </a:extLst>
            </p:cNvPr>
            <p:cNvPicPr>
              <a:picLocks noChangeAspect="1"/>
            </p:cNvPicPr>
            <p:nvPr/>
          </p:nvPicPr>
          <p:blipFill>
            <a:blip r:embed="rId10"/>
            <a:stretch>
              <a:fillRect/>
            </a:stretch>
          </p:blipFill>
          <p:spPr>
            <a:xfrm>
              <a:off x="10228477" y="228513"/>
              <a:ext cx="360000" cy="360000"/>
            </a:xfrm>
            <a:prstGeom prst="rect">
              <a:avLst/>
            </a:prstGeom>
          </p:spPr>
        </p:pic>
        <p:pic>
          <p:nvPicPr>
            <p:cNvPr id="40" name="Image 39">
              <a:extLst>
                <a:ext uri="{FF2B5EF4-FFF2-40B4-BE49-F238E27FC236}">
                  <a16:creationId xmlns:a16="http://schemas.microsoft.com/office/drawing/2014/main" id="{C4B1553D-3977-D53A-E97B-818DB6A7F256}"/>
                </a:ext>
              </a:extLst>
            </p:cNvPr>
            <p:cNvPicPr>
              <a:picLocks noChangeAspect="1"/>
            </p:cNvPicPr>
            <p:nvPr/>
          </p:nvPicPr>
          <p:blipFill>
            <a:blip r:embed="rId11"/>
            <a:stretch>
              <a:fillRect/>
            </a:stretch>
          </p:blipFill>
          <p:spPr>
            <a:xfrm>
              <a:off x="11595089" y="233166"/>
              <a:ext cx="360000" cy="360000"/>
            </a:xfrm>
            <a:prstGeom prst="rect">
              <a:avLst/>
            </a:prstGeom>
          </p:spPr>
        </p:pic>
        <p:grpSp>
          <p:nvGrpSpPr>
            <p:cNvPr id="52" name="Groupe 51">
              <a:extLst>
                <a:ext uri="{FF2B5EF4-FFF2-40B4-BE49-F238E27FC236}">
                  <a16:creationId xmlns:a16="http://schemas.microsoft.com/office/drawing/2014/main" id="{BEA0D677-1EAA-1A34-BAC3-DC499D586332}"/>
                </a:ext>
              </a:extLst>
            </p:cNvPr>
            <p:cNvGrpSpPr/>
            <p:nvPr/>
          </p:nvGrpSpPr>
          <p:grpSpPr>
            <a:xfrm>
              <a:off x="9396921" y="108135"/>
              <a:ext cx="2625773" cy="580939"/>
              <a:chOff x="9396921" y="108135"/>
              <a:chExt cx="2625773" cy="580939"/>
            </a:xfrm>
          </p:grpSpPr>
          <p:sp>
            <p:nvSpPr>
              <p:cNvPr id="54" name="Rectangle : coins arrondis 53">
                <a:extLst>
                  <a:ext uri="{FF2B5EF4-FFF2-40B4-BE49-F238E27FC236}">
                    <a16:creationId xmlns:a16="http://schemas.microsoft.com/office/drawing/2014/main" id="{C8B939CA-35B1-626B-2585-007FEB087C22}"/>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11C87184-3BC8-C922-E2CA-FA930FDE6591}"/>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39A0DFB9-F3DC-3CF3-214B-947314477F07}"/>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46EC9944-6639-D331-A224-46255475DB8F}"/>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536CD010-2F6C-B6D9-A1FB-2B821000570D}"/>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sp>
        <p:nvSpPr>
          <p:cNvPr id="65" name="Rectangle : avec coins arrondis en haut 64">
            <a:extLst>
              <a:ext uri="{FF2B5EF4-FFF2-40B4-BE49-F238E27FC236}">
                <a16:creationId xmlns:a16="http://schemas.microsoft.com/office/drawing/2014/main" id="{A65B4E3C-A8BB-A1CE-1349-4C9BF3FD5C1A}"/>
              </a:ext>
            </a:extLst>
          </p:cNvPr>
          <p:cNvSpPr/>
          <p:nvPr/>
        </p:nvSpPr>
        <p:spPr>
          <a:xfrm rot="16200000">
            <a:off x="9249389" y="3682221"/>
            <a:ext cx="3119165"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66" name="ZoneTexte 65">
            <a:extLst>
              <a:ext uri="{FF2B5EF4-FFF2-40B4-BE49-F238E27FC236}">
                <a16:creationId xmlns:a16="http://schemas.microsoft.com/office/drawing/2014/main" id="{5C20F024-D566-A5F6-CBE3-5450630753A6}"/>
              </a:ext>
            </a:extLst>
          </p:cNvPr>
          <p:cNvSpPr txBox="1"/>
          <p:nvPr/>
        </p:nvSpPr>
        <p:spPr>
          <a:xfrm>
            <a:off x="10500290" y="3658759"/>
            <a:ext cx="1094799" cy="338554"/>
          </a:xfrm>
          <a:prstGeom prst="rect">
            <a:avLst/>
          </a:prstGeom>
          <a:noFill/>
        </p:spPr>
        <p:txBody>
          <a:bodyPr wrap="square">
            <a:spAutoFit/>
          </a:bodyPr>
          <a:lstStyle/>
          <a:p>
            <a:pPr lvl="0"/>
            <a:r>
              <a:rPr lang="fr-FR" sz="1600" b="1" u="sng" dirty="0"/>
              <a:t>Sources</a:t>
            </a:r>
          </a:p>
        </p:txBody>
      </p:sp>
      <p:pic>
        <p:nvPicPr>
          <p:cNvPr id="88" name="Image 87">
            <a:extLst>
              <a:ext uri="{FF2B5EF4-FFF2-40B4-BE49-F238E27FC236}">
                <a16:creationId xmlns:a16="http://schemas.microsoft.com/office/drawing/2014/main" id="{26E85065-DC8A-A733-D3EA-867D366F502D}"/>
              </a:ext>
            </a:extLst>
          </p:cNvPr>
          <p:cNvPicPr>
            <a:picLocks noChangeAspect="1"/>
          </p:cNvPicPr>
          <p:nvPr/>
        </p:nvPicPr>
        <p:blipFill>
          <a:blip r:embed="rId12"/>
          <a:stretch>
            <a:fillRect/>
          </a:stretch>
        </p:blipFill>
        <p:spPr>
          <a:xfrm>
            <a:off x="9733217" y="3659133"/>
            <a:ext cx="540000" cy="540000"/>
          </a:xfrm>
          <a:prstGeom prst="rect">
            <a:avLst/>
          </a:prstGeom>
        </p:spPr>
      </p:pic>
      <p:sp>
        <p:nvSpPr>
          <p:cNvPr id="8" name="ZoneTexte 7">
            <a:extLst>
              <a:ext uri="{FF2B5EF4-FFF2-40B4-BE49-F238E27FC236}">
                <a16:creationId xmlns:a16="http://schemas.microsoft.com/office/drawing/2014/main" id="{634069A6-3C56-07D1-B357-CFFE99E4E8C5}"/>
              </a:ext>
            </a:extLst>
          </p:cNvPr>
          <p:cNvSpPr txBox="1"/>
          <p:nvPr/>
        </p:nvSpPr>
        <p:spPr>
          <a:xfrm>
            <a:off x="502919" y="3658759"/>
            <a:ext cx="8420636" cy="1015663"/>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solidFill>
                  <a:srgbClr val="000000"/>
                </a:solidFill>
              </a:rPr>
              <a:t>High levels of unintended off-targets due to the introduction and overexpression of Adenosine Deaminase acting on RNA (ADAR).</a:t>
            </a:r>
          </a:p>
          <a:p>
            <a:pPr marL="285750" indent="-285750" algn="just">
              <a:buFont typeface="Wingdings" panose="05000000000000000000" pitchFamily="2" charset="2"/>
              <a:buChar char="Ø"/>
            </a:pPr>
            <a:r>
              <a:rPr lang="en-US" sz="1200" b="0" i="0" u="none" strike="noStrike" baseline="0" dirty="0">
                <a:solidFill>
                  <a:srgbClr val="000000"/>
                </a:solidFill>
              </a:rPr>
              <a:t>Since mRNA is continuously transcribed from DNA and typically has a short life, the RNA editing machinery must be permanently expressed for a long-term effect, which may increase collateral bystander and genomic off-target edits.</a:t>
            </a:r>
            <a:endParaRPr lang="en-US" sz="1200" b="0" i="0" u="none" strike="noStrike" baseline="0" dirty="0">
              <a:solidFill>
                <a:srgbClr val="231F20"/>
              </a:solidFill>
            </a:endParaRPr>
          </a:p>
          <a:p>
            <a:pPr marL="285750" indent="-285750" algn="just">
              <a:buFont typeface="Wingdings" panose="05000000000000000000" pitchFamily="2" charset="2"/>
              <a:buChar char="Ø"/>
            </a:pPr>
            <a:endParaRPr lang="en-US" sz="1200" b="0" i="0" u="none" strike="noStrike" baseline="0" dirty="0">
              <a:solidFill>
                <a:srgbClr val="231F20"/>
              </a:solidFill>
            </a:endParaRPr>
          </a:p>
        </p:txBody>
      </p:sp>
      <p:sp>
        <p:nvSpPr>
          <p:cNvPr id="9" name="ZoneTexte 8">
            <a:extLst>
              <a:ext uri="{FF2B5EF4-FFF2-40B4-BE49-F238E27FC236}">
                <a16:creationId xmlns:a16="http://schemas.microsoft.com/office/drawing/2014/main" id="{8054E2F9-E844-DB46-05C2-84001E993FAC}"/>
              </a:ext>
            </a:extLst>
          </p:cNvPr>
          <p:cNvSpPr txBox="1"/>
          <p:nvPr/>
        </p:nvSpPr>
        <p:spPr>
          <a:xfrm>
            <a:off x="502919" y="5399469"/>
            <a:ext cx="8420636"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b="1" i="0" u="none" strike="noStrike" baseline="0" dirty="0">
                <a:solidFill>
                  <a:srgbClr val="000000"/>
                </a:solidFill>
              </a:rPr>
              <a:t>RESTORE</a:t>
            </a:r>
            <a:r>
              <a:rPr lang="en-US" sz="1200" b="0" i="0" u="none" strike="noStrike" baseline="0" dirty="0">
                <a:solidFill>
                  <a:srgbClr val="000000"/>
                </a:solidFill>
              </a:rPr>
              <a:t> : </a:t>
            </a:r>
            <a:r>
              <a:rPr lang="en-US" sz="1200" u="none" strike="noStrike" baseline="0" dirty="0">
                <a:solidFill>
                  <a:srgbClr val="000000"/>
                </a:solidFill>
              </a:rPr>
              <a:t>Recruiting Endogenous ADAR to Specific </a:t>
            </a:r>
            <a:r>
              <a:rPr lang="en-US" sz="1200" dirty="0">
                <a:solidFill>
                  <a:srgbClr val="000000"/>
                </a:solidFill>
              </a:rPr>
              <a:t>T</a:t>
            </a:r>
            <a:r>
              <a:rPr lang="en-US" sz="1200" u="none" strike="noStrike" baseline="0" dirty="0">
                <a:solidFill>
                  <a:srgbClr val="000000"/>
                </a:solidFill>
              </a:rPr>
              <a:t>ranscripts for Oligonucleotide-mediated RNA Editing</a:t>
            </a:r>
            <a:r>
              <a:rPr lang="en-US" sz="1200" b="0" i="0" u="none" strike="noStrike" baseline="30000" dirty="0">
                <a:solidFill>
                  <a:srgbClr val="000000"/>
                </a:solidFill>
              </a:rPr>
              <a:t>1</a:t>
            </a:r>
          </a:p>
          <a:p>
            <a:pPr marL="285750" indent="-285750" algn="just">
              <a:buFont typeface="Wingdings" panose="05000000000000000000" pitchFamily="2" charset="2"/>
              <a:buChar char="Ø"/>
            </a:pPr>
            <a:r>
              <a:rPr lang="en-US" sz="1200" b="1" dirty="0">
                <a:solidFill>
                  <a:srgbClr val="000000"/>
                </a:solidFill>
              </a:rPr>
              <a:t>LEAPER</a:t>
            </a:r>
            <a:r>
              <a:rPr lang="en-US" sz="1200" dirty="0">
                <a:solidFill>
                  <a:srgbClr val="000000"/>
                </a:solidFill>
              </a:rPr>
              <a:t> : </a:t>
            </a:r>
            <a:r>
              <a:rPr lang="nb-NO" sz="1200" dirty="0">
                <a:solidFill>
                  <a:srgbClr val="000000"/>
                </a:solidFill>
              </a:rPr>
              <a:t>L</a:t>
            </a:r>
            <a:r>
              <a:rPr lang="nb-NO" sz="1200" b="0" i="0" u="none" strike="noStrike" baseline="0" dirty="0">
                <a:solidFill>
                  <a:srgbClr val="000000"/>
                </a:solidFill>
              </a:rPr>
              <a:t>everaging Endogenous ADAR for Programmable </a:t>
            </a:r>
            <a:r>
              <a:rPr lang="en-US" sz="1200" dirty="0">
                <a:solidFill>
                  <a:srgbClr val="000000"/>
                </a:solidFill>
              </a:rPr>
              <a:t>E</a:t>
            </a:r>
            <a:r>
              <a:rPr lang="en-US" sz="1200" b="0" i="0" u="none" strike="noStrike" baseline="0" dirty="0">
                <a:solidFill>
                  <a:srgbClr val="000000"/>
                </a:solidFill>
              </a:rPr>
              <a:t>diting of RNA</a:t>
            </a:r>
            <a:r>
              <a:rPr lang="en-US" sz="1200" b="0" i="0" u="none" strike="noStrike" baseline="30000" dirty="0">
                <a:solidFill>
                  <a:srgbClr val="000000"/>
                </a:solidFill>
              </a:rPr>
              <a:t>2</a:t>
            </a:r>
          </a:p>
          <a:p>
            <a:pPr marL="285750" indent="-285750" algn="just">
              <a:buFont typeface="Wingdings" panose="05000000000000000000" pitchFamily="2" charset="2"/>
              <a:buChar char="Ø"/>
            </a:pPr>
            <a:r>
              <a:rPr lang="fr-FR" sz="1200" b="1" i="0" u="none" strike="noStrike" baseline="0" dirty="0">
                <a:solidFill>
                  <a:srgbClr val="000000"/>
                </a:solidFill>
              </a:rPr>
              <a:t>REPAIR</a:t>
            </a:r>
            <a:r>
              <a:rPr lang="fr-FR" sz="1200" b="0" i="0" u="none" strike="noStrike" baseline="0" dirty="0">
                <a:solidFill>
                  <a:srgbClr val="000000"/>
                </a:solidFill>
              </a:rPr>
              <a:t> </a:t>
            </a:r>
            <a:r>
              <a:rPr lang="en-US" sz="1200" dirty="0">
                <a:solidFill>
                  <a:srgbClr val="000000"/>
                </a:solidFill>
              </a:rPr>
              <a:t>: </a:t>
            </a:r>
            <a:r>
              <a:rPr lang="en-US" sz="1200" b="0" i="0" u="none" strike="noStrike" baseline="0" dirty="0">
                <a:solidFill>
                  <a:srgbClr val="000000"/>
                </a:solidFill>
              </a:rPr>
              <a:t>RNA </a:t>
            </a:r>
            <a:r>
              <a:rPr lang="en-US" sz="1200" dirty="0">
                <a:solidFill>
                  <a:srgbClr val="000000"/>
                </a:solidFill>
              </a:rPr>
              <a:t>E</a:t>
            </a:r>
            <a:r>
              <a:rPr lang="en-US" sz="1200" b="0" i="0" u="none" strike="noStrike" baseline="0" dirty="0">
                <a:solidFill>
                  <a:srgbClr val="000000"/>
                </a:solidFill>
              </a:rPr>
              <a:t>diting for </a:t>
            </a:r>
            <a:r>
              <a:rPr lang="en-US" sz="1200" dirty="0">
                <a:solidFill>
                  <a:srgbClr val="000000"/>
                </a:solidFill>
              </a:rPr>
              <a:t>P</a:t>
            </a:r>
            <a:r>
              <a:rPr lang="en-US" sz="1200" b="0" i="0" u="none" strike="noStrike" baseline="0" dirty="0">
                <a:solidFill>
                  <a:srgbClr val="000000"/>
                </a:solidFill>
              </a:rPr>
              <a:t>rogrammable A-to-I </a:t>
            </a:r>
            <a:r>
              <a:rPr lang="en-US" sz="1200" dirty="0">
                <a:solidFill>
                  <a:srgbClr val="000000"/>
                </a:solidFill>
              </a:rPr>
              <a:t>Re</a:t>
            </a:r>
            <a:r>
              <a:rPr lang="en-US" sz="1200" b="0" i="0" u="none" strike="noStrike" baseline="0" dirty="0">
                <a:solidFill>
                  <a:srgbClr val="000000"/>
                </a:solidFill>
              </a:rPr>
              <a:t>placement</a:t>
            </a:r>
            <a:r>
              <a:rPr lang="en-US" sz="1200" b="0" i="0" u="none" strike="noStrike" baseline="30000" dirty="0">
                <a:solidFill>
                  <a:srgbClr val="000000"/>
                </a:solidFill>
              </a:rPr>
              <a:t>3</a:t>
            </a:r>
          </a:p>
          <a:p>
            <a:pPr marL="285750" indent="-285750" algn="just">
              <a:buFont typeface="Wingdings" panose="05000000000000000000" pitchFamily="2" charset="2"/>
              <a:buChar char="Ø"/>
            </a:pPr>
            <a:r>
              <a:rPr lang="en-US" sz="1200" b="1" dirty="0">
                <a:solidFill>
                  <a:srgbClr val="000000"/>
                </a:solidFill>
              </a:rPr>
              <a:t>RESCUE-S</a:t>
            </a:r>
            <a:r>
              <a:rPr lang="en-US" sz="1200" dirty="0">
                <a:solidFill>
                  <a:srgbClr val="000000"/>
                </a:solidFill>
              </a:rPr>
              <a:t>  - reduction of </a:t>
            </a:r>
            <a:r>
              <a:rPr lang="en-US" sz="1200" b="0" i="0" u="none" strike="noStrike" baseline="0" dirty="0">
                <a:solidFill>
                  <a:srgbClr val="000000"/>
                </a:solidFill>
              </a:rPr>
              <a:t>transcriptome-wide off-targets while maintaining on-target efficiencies.</a:t>
            </a:r>
            <a:r>
              <a:rPr lang="en-US" sz="1200" b="0" i="0" u="none" strike="noStrike" baseline="30000" dirty="0">
                <a:solidFill>
                  <a:srgbClr val="000000"/>
                </a:solidFill>
              </a:rPr>
              <a:t>4</a:t>
            </a:r>
            <a:endParaRPr lang="en-US" sz="1200" b="1" i="0" u="none" strike="noStrike" baseline="30000" dirty="0">
              <a:solidFill>
                <a:srgbClr val="231F20"/>
              </a:solidFill>
            </a:endParaRPr>
          </a:p>
        </p:txBody>
      </p:sp>
      <p:sp>
        <p:nvSpPr>
          <p:cNvPr id="11" name="ZoneTexte 10">
            <a:extLst>
              <a:ext uri="{FF2B5EF4-FFF2-40B4-BE49-F238E27FC236}">
                <a16:creationId xmlns:a16="http://schemas.microsoft.com/office/drawing/2014/main" id="{1B6EC55D-075E-4018-C8AC-48FE6D04EF5F}"/>
              </a:ext>
            </a:extLst>
          </p:cNvPr>
          <p:cNvSpPr txBox="1"/>
          <p:nvPr/>
        </p:nvSpPr>
        <p:spPr>
          <a:xfrm>
            <a:off x="9491094" y="4238713"/>
            <a:ext cx="2700906" cy="2400657"/>
          </a:xfrm>
          <a:prstGeom prst="rect">
            <a:avLst/>
          </a:prstGeom>
          <a:noFill/>
        </p:spPr>
        <p:txBody>
          <a:bodyPr wrap="square">
            <a:spAutoFit/>
          </a:bodyPr>
          <a:lstStyle/>
          <a:p>
            <a:pPr marL="228600" indent="-228600" algn="just">
              <a:buAutoNum type="arabicPeriod"/>
            </a:pPr>
            <a:r>
              <a:rPr lang="fr-FR" sz="1000" b="0" i="0" u="none" strike="noStrike" baseline="0" dirty="0" err="1"/>
              <a:t>Merkle</a:t>
            </a:r>
            <a:r>
              <a:rPr lang="fr-FR" sz="1000" b="0" i="0" u="none" strike="noStrike" baseline="0" dirty="0"/>
              <a:t>, T. et al. </a:t>
            </a:r>
            <a:r>
              <a:rPr lang="fr-FR" sz="1000" b="0" i="0" u="none" strike="noStrike" baseline="0" dirty="0" err="1"/>
              <a:t>Precise</a:t>
            </a:r>
            <a:r>
              <a:rPr lang="fr-FR" sz="1000" b="0" i="0" u="none" strike="noStrike" baseline="0" dirty="0"/>
              <a:t> RNA </a:t>
            </a:r>
            <a:r>
              <a:rPr lang="fr-FR" sz="1000" b="0" i="0" u="none" strike="noStrike" baseline="0" dirty="0" err="1"/>
              <a:t>editing</a:t>
            </a:r>
            <a:r>
              <a:rPr lang="fr-FR" sz="1000" b="0" i="0" u="none" strike="noStrike" baseline="0" dirty="0"/>
              <a:t> by </a:t>
            </a:r>
            <a:r>
              <a:rPr lang="fr-FR" sz="1000" b="0" i="0" u="none" strike="noStrike" baseline="0" dirty="0" err="1"/>
              <a:t>recruiting</a:t>
            </a:r>
            <a:r>
              <a:rPr lang="fr-FR" sz="1000" b="0" i="0" u="none" strike="noStrike" baseline="0" dirty="0"/>
              <a:t> </a:t>
            </a:r>
            <a:r>
              <a:rPr lang="en-US" sz="1000" b="0" i="0" u="none" strike="noStrike" baseline="0" dirty="0"/>
              <a:t>endogenous ADARs with antisense oligonucleotides. </a:t>
            </a:r>
            <a:r>
              <a:rPr lang="nl-NL" sz="1000" b="0" i="1" u="none" strike="noStrike" baseline="0" dirty="0"/>
              <a:t>Nat. </a:t>
            </a:r>
            <a:r>
              <a:rPr lang="nl-NL" sz="1000" b="0" i="1" u="none" strike="noStrike" baseline="0" dirty="0" err="1"/>
              <a:t>Biotechnol</a:t>
            </a:r>
            <a:r>
              <a:rPr lang="nl-NL" sz="1000" b="0" i="1" u="none" strike="noStrike" baseline="0" dirty="0"/>
              <a:t>. </a:t>
            </a:r>
            <a:r>
              <a:rPr lang="nl-NL" sz="1000" b="1" i="0" u="none" strike="noStrike" baseline="0" dirty="0"/>
              <a:t>37</a:t>
            </a:r>
            <a:r>
              <a:rPr lang="nl-NL" sz="1000" b="0" i="0" u="none" strike="noStrike" baseline="0" dirty="0"/>
              <a:t>, 133–138 (2019).</a:t>
            </a:r>
            <a:endParaRPr lang="nl-NL" sz="1000" dirty="0"/>
          </a:p>
          <a:p>
            <a:pPr marL="228600" indent="-228600" algn="just">
              <a:buAutoNum type="arabicPeriod"/>
            </a:pPr>
            <a:r>
              <a:rPr lang="fr-FR" sz="1000" b="0" i="0" u="none" strike="noStrike" baseline="0" dirty="0" err="1"/>
              <a:t>Qu</a:t>
            </a:r>
            <a:r>
              <a:rPr lang="fr-FR" sz="1000" b="0" i="0" u="none" strike="noStrike" baseline="0" dirty="0"/>
              <a:t>, L. et al. Programmable RNA </a:t>
            </a:r>
            <a:r>
              <a:rPr lang="fr-FR" sz="1000" b="0" i="0" u="none" strike="noStrike" baseline="0" dirty="0" err="1"/>
              <a:t>editing</a:t>
            </a:r>
            <a:r>
              <a:rPr lang="fr-FR" sz="1000" b="0" i="0" u="none" strike="noStrike" baseline="0" dirty="0"/>
              <a:t> by </a:t>
            </a:r>
            <a:r>
              <a:rPr lang="en-US" sz="1000" b="0" i="0" u="none" strike="noStrike" baseline="0" dirty="0"/>
              <a:t>recruiting endogenous ADAR using engineered RNAs. </a:t>
            </a:r>
            <a:r>
              <a:rPr lang="nl-NL" sz="1000" b="0" i="1" u="none" strike="noStrike" baseline="0" dirty="0"/>
              <a:t>Nat. </a:t>
            </a:r>
            <a:r>
              <a:rPr lang="nl-NL" sz="1000" b="0" i="1" u="none" strike="noStrike" baseline="0" dirty="0" err="1"/>
              <a:t>Biotechnol</a:t>
            </a:r>
            <a:r>
              <a:rPr lang="nl-NL" sz="1000" b="0" i="1" u="none" strike="noStrike" baseline="0" dirty="0"/>
              <a:t>. </a:t>
            </a:r>
            <a:r>
              <a:rPr lang="nl-NL" sz="1000" b="1" i="0" u="none" strike="noStrike" baseline="0" dirty="0"/>
              <a:t>37</a:t>
            </a:r>
            <a:r>
              <a:rPr lang="nl-NL" sz="1000" b="0" i="0" u="none" strike="noStrike" baseline="0" dirty="0"/>
              <a:t>, 1059–1069 (2019).</a:t>
            </a:r>
          </a:p>
          <a:p>
            <a:pPr marL="228600" indent="-228600" algn="just">
              <a:buAutoNum type="arabicPeriod"/>
            </a:pPr>
            <a:r>
              <a:rPr lang="fr-FR" sz="1000" b="0" i="0" u="none" strike="noStrike" baseline="0" dirty="0"/>
              <a:t>Cox, D. B. T. et al. RNA </a:t>
            </a:r>
            <a:r>
              <a:rPr lang="fr-FR" sz="1000" b="0" i="0" u="none" strike="noStrike" baseline="0" dirty="0" err="1"/>
              <a:t>editing</a:t>
            </a:r>
            <a:r>
              <a:rPr lang="fr-FR" sz="1000" b="0" i="0" u="none" strike="noStrike" baseline="0" dirty="0"/>
              <a:t> </a:t>
            </a:r>
            <a:r>
              <a:rPr lang="fr-FR" sz="1000" b="0" i="0" u="none" strike="noStrike" baseline="0" dirty="0" err="1"/>
              <a:t>with</a:t>
            </a:r>
            <a:r>
              <a:rPr lang="fr-FR" sz="1000" b="0" i="0" u="none" strike="noStrike" baseline="0" dirty="0"/>
              <a:t> CRISPR–Cas13. </a:t>
            </a:r>
            <a:r>
              <a:rPr lang="fr-FR" sz="1000" b="0" i="1" u="none" strike="noStrike" baseline="0" dirty="0"/>
              <a:t>Science </a:t>
            </a:r>
            <a:r>
              <a:rPr lang="fr-FR" sz="1000" b="1" i="0" u="none" strike="noStrike" baseline="0" dirty="0"/>
              <a:t>358</a:t>
            </a:r>
            <a:r>
              <a:rPr lang="fr-FR" sz="1000" b="0" i="0" u="none" strike="noStrike" baseline="0" dirty="0"/>
              <a:t>, 1019–1027 (2017).</a:t>
            </a:r>
          </a:p>
          <a:p>
            <a:pPr marL="228600" indent="-228600" algn="just">
              <a:buAutoNum type="arabicPeriod"/>
            </a:pPr>
            <a:r>
              <a:rPr lang="fr-FR" sz="1000" b="0" i="0" u="none" strike="noStrike" baseline="0" dirty="0" err="1"/>
              <a:t>Abudayyeh</a:t>
            </a:r>
            <a:r>
              <a:rPr lang="fr-FR" sz="1000" b="0" i="0" u="none" strike="noStrike" baseline="0" dirty="0"/>
              <a:t>, O. O. et al. A cytosine </a:t>
            </a:r>
            <a:r>
              <a:rPr lang="fr-FR" sz="1000" b="0" i="0" u="none" strike="noStrike" baseline="0" dirty="0" err="1"/>
              <a:t>deaminase</a:t>
            </a:r>
            <a:r>
              <a:rPr lang="fr-FR" sz="1000" b="0" i="0" u="none" strike="noStrike" baseline="0" dirty="0"/>
              <a:t> for programmable single-base RNA </a:t>
            </a:r>
            <a:r>
              <a:rPr lang="fr-FR" sz="1000" b="0" i="0" u="none" strike="noStrike" baseline="0" dirty="0" err="1"/>
              <a:t>editing</a:t>
            </a:r>
            <a:r>
              <a:rPr lang="fr-FR" sz="1000" b="0" i="0" u="none" strike="noStrike" baseline="0" dirty="0"/>
              <a:t>. </a:t>
            </a:r>
            <a:r>
              <a:rPr lang="fr-FR" sz="1000" b="0" i="1" u="none" strike="noStrike" baseline="0" dirty="0"/>
              <a:t>Science </a:t>
            </a:r>
            <a:r>
              <a:rPr lang="fr-FR" sz="1000" b="1" i="0" u="none" strike="noStrike" baseline="0" dirty="0"/>
              <a:t>365</a:t>
            </a:r>
            <a:r>
              <a:rPr lang="fr-FR" sz="1000" b="0" i="0" u="none" strike="noStrike" baseline="0" dirty="0"/>
              <a:t>, 382–386 (2019).</a:t>
            </a:r>
            <a:endParaRPr lang="nl-NL" sz="500" b="0" i="0" u="none" strike="noStrike" baseline="0" dirty="0"/>
          </a:p>
        </p:txBody>
      </p:sp>
      <p:sp>
        <p:nvSpPr>
          <p:cNvPr id="13" name="ZoneTexte 12">
            <a:extLst>
              <a:ext uri="{FF2B5EF4-FFF2-40B4-BE49-F238E27FC236}">
                <a16:creationId xmlns:a16="http://schemas.microsoft.com/office/drawing/2014/main" id="{71512484-1BF4-5772-F33D-99C2E71ABAAF}"/>
              </a:ext>
            </a:extLst>
          </p:cNvPr>
          <p:cNvSpPr txBox="1"/>
          <p:nvPr/>
        </p:nvSpPr>
        <p:spPr>
          <a:xfrm>
            <a:off x="526157" y="1871139"/>
            <a:ext cx="8623731" cy="461665"/>
          </a:xfrm>
          <a:prstGeom prst="rect">
            <a:avLst/>
          </a:prstGeom>
          <a:noFill/>
        </p:spPr>
        <p:txBody>
          <a:bodyPr wrap="square">
            <a:spAutoFit/>
          </a:bodyPr>
          <a:lstStyle/>
          <a:p>
            <a:pPr marL="285750" indent="-285750" algn="just">
              <a:buFont typeface="Wingdings" panose="05000000000000000000" pitchFamily="2" charset="2"/>
              <a:buChar char="Ø"/>
            </a:pPr>
            <a:r>
              <a:rPr lang="en-US" sz="1200" b="1" dirty="0">
                <a:solidFill>
                  <a:srgbClr val="000000"/>
                </a:solidFill>
              </a:rPr>
              <a:t>RESCUE</a:t>
            </a:r>
            <a:r>
              <a:rPr lang="en-US" sz="1200" dirty="0">
                <a:solidFill>
                  <a:srgbClr val="000000"/>
                </a:solidFill>
              </a:rPr>
              <a:t> : to avoid unwanted A-to-I activity, </a:t>
            </a:r>
            <a:r>
              <a:rPr lang="en-US" sz="1200" b="1" dirty="0">
                <a:solidFill>
                  <a:srgbClr val="000000"/>
                </a:solidFill>
              </a:rPr>
              <a:t>gRNA can be designed </a:t>
            </a:r>
            <a:r>
              <a:rPr lang="en-US" sz="1200" dirty="0">
                <a:solidFill>
                  <a:srgbClr val="000000"/>
                </a:solidFill>
              </a:rPr>
              <a:t>to incorporate potential off-target adenines within AG mismatches.</a:t>
            </a:r>
            <a:endParaRPr lang="fr-FR" sz="1200" dirty="0">
              <a:solidFill>
                <a:srgbClr val="000000"/>
              </a:solidFill>
            </a:endParaRPr>
          </a:p>
        </p:txBody>
      </p:sp>
      <p:pic>
        <p:nvPicPr>
          <p:cNvPr id="6" name="Image 5" descr="Une image contenant symbole, Graphique, logo, Police&#10;&#10;Description générée automatiquement">
            <a:extLst>
              <a:ext uri="{FF2B5EF4-FFF2-40B4-BE49-F238E27FC236}">
                <a16:creationId xmlns:a16="http://schemas.microsoft.com/office/drawing/2014/main" id="{D031B356-89AB-02BC-85E8-14FD816DB07C}"/>
              </a:ext>
            </a:extLst>
          </p:cNvPr>
          <p:cNvPicPr>
            <a:picLocks noChangeAspect="1"/>
          </p:cNvPicPr>
          <p:nvPr/>
        </p:nvPicPr>
        <p:blipFill>
          <a:blip r:embed="rId13"/>
          <a:stretch>
            <a:fillRect/>
          </a:stretch>
        </p:blipFill>
        <p:spPr>
          <a:xfrm>
            <a:off x="364777" y="1374132"/>
            <a:ext cx="468000" cy="468000"/>
          </a:xfrm>
          <a:prstGeom prst="rect">
            <a:avLst/>
          </a:prstGeom>
        </p:spPr>
      </p:pic>
      <p:pic>
        <p:nvPicPr>
          <p:cNvPr id="7" name="Image 6" descr="Une image contenant Graphique, symbole, Police, logo&#10;&#10;Description générée automatiquement">
            <a:extLst>
              <a:ext uri="{FF2B5EF4-FFF2-40B4-BE49-F238E27FC236}">
                <a16:creationId xmlns:a16="http://schemas.microsoft.com/office/drawing/2014/main" id="{9421C09B-4398-41FD-A332-2ED9C0BFAB35}"/>
              </a:ext>
            </a:extLst>
          </p:cNvPr>
          <p:cNvPicPr>
            <a:picLocks noChangeAspect="1"/>
          </p:cNvPicPr>
          <p:nvPr/>
        </p:nvPicPr>
        <p:blipFill>
          <a:blip r:embed="rId14"/>
          <a:stretch>
            <a:fillRect/>
          </a:stretch>
        </p:blipFill>
        <p:spPr>
          <a:xfrm>
            <a:off x="351510" y="3144564"/>
            <a:ext cx="468000" cy="468000"/>
          </a:xfrm>
          <a:prstGeom prst="rect">
            <a:avLst/>
          </a:prstGeom>
        </p:spPr>
      </p:pic>
      <p:pic>
        <p:nvPicPr>
          <p:cNvPr id="10" name="Image 9" descr="Une image contenant Graphique, clipart, Police, graphisme&#10;&#10;Description générée automatiquement">
            <a:extLst>
              <a:ext uri="{FF2B5EF4-FFF2-40B4-BE49-F238E27FC236}">
                <a16:creationId xmlns:a16="http://schemas.microsoft.com/office/drawing/2014/main" id="{FA32A606-A701-F1CA-8CBF-F1C5D0E166DC}"/>
              </a:ext>
            </a:extLst>
          </p:cNvPr>
          <p:cNvPicPr>
            <a:picLocks noChangeAspect="1"/>
          </p:cNvPicPr>
          <p:nvPr/>
        </p:nvPicPr>
        <p:blipFill>
          <a:blip r:embed="rId15"/>
          <a:stretch>
            <a:fillRect/>
          </a:stretch>
        </p:blipFill>
        <p:spPr>
          <a:xfrm>
            <a:off x="400795" y="4862334"/>
            <a:ext cx="468000" cy="468000"/>
          </a:xfrm>
          <a:prstGeom prst="rect">
            <a:avLst/>
          </a:prstGeom>
        </p:spPr>
      </p:pic>
    </p:spTree>
    <p:extLst>
      <p:ext uri="{BB962C8B-B14F-4D97-AF65-F5344CB8AC3E}">
        <p14:creationId xmlns:p14="http://schemas.microsoft.com/office/powerpoint/2010/main" val="1030282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9AB04-33DD-A2A2-6643-2BDCD2D279DB}"/>
            </a:ext>
          </a:extLst>
        </p:cNvPr>
        <p:cNvGrpSpPr/>
        <p:nvPr/>
      </p:nvGrpSpPr>
      <p:grpSpPr>
        <a:xfrm>
          <a:off x="0" y="0"/>
          <a:ext cx="0" cy="0"/>
          <a:chOff x="0" y="0"/>
          <a:chExt cx="0" cy="0"/>
        </a:xfrm>
      </p:grpSpPr>
      <p:grpSp>
        <p:nvGrpSpPr>
          <p:cNvPr id="6" name="Groupe 5">
            <a:extLst>
              <a:ext uri="{FF2B5EF4-FFF2-40B4-BE49-F238E27FC236}">
                <a16:creationId xmlns:a16="http://schemas.microsoft.com/office/drawing/2014/main" id="{BBB46534-FE47-4A10-CA05-1F6D3FE48507}"/>
              </a:ext>
            </a:extLst>
          </p:cNvPr>
          <p:cNvGrpSpPr/>
          <p:nvPr/>
        </p:nvGrpSpPr>
        <p:grpSpPr>
          <a:xfrm>
            <a:off x="9396921" y="108135"/>
            <a:ext cx="2625773" cy="580939"/>
            <a:chOff x="9396921" y="108135"/>
            <a:chExt cx="2625773" cy="580939"/>
          </a:xfrm>
        </p:grpSpPr>
        <p:pic>
          <p:nvPicPr>
            <p:cNvPr id="11" name="Image 10">
              <a:extLst>
                <a:ext uri="{FF2B5EF4-FFF2-40B4-BE49-F238E27FC236}">
                  <a16:creationId xmlns:a16="http://schemas.microsoft.com/office/drawing/2014/main" id="{CCAB9F59-C2C1-6C1A-F2A7-22DB820DCA1E}"/>
                </a:ext>
              </a:extLst>
            </p:cNvPr>
            <p:cNvPicPr>
              <a:picLocks noChangeAspect="1"/>
            </p:cNvPicPr>
            <p:nvPr/>
          </p:nvPicPr>
          <p:blipFill>
            <a:blip r:embed="rId2"/>
            <a:stretch>
              <a:fillRect/>
            </a:stretch>
          </p:blipFill>
          <p:spPr>
            <a:xfrm>
              <a:off x="9554107" y="218630"/>
              <a:ext cx="360000" cy="360000"/>
            </a:xfrm>
            <a:prstGeom prst="rect">
              <a:avLst/>
            </a:prstGeom>
          </p:spPr>
        </p:pic>
        <p:pic>
          <p:nvPicPr>
            <p:cNvPr id="7" name="Picture 2">
              <a:extLst>
                <a:ext uri="{FF2B5EF4-FFF2-40B4-BE49-F238E27FC236}">
                  <a16:creationId xmlns:a16="http://schemas.microsoft.com/office/drawing/2014/main" id="{74C9FECF-E542-93A5-48C2-811104E9E7E0}"/>
                </a:ext>
              </a:extLst>
            </p:cNvPr>
            <p:cNvPicPr>
              <a:picLocks noChangeAspect="1" noChangeArrowheads="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83AFFE49-5001-7CC5-D01C-98CFCD882CBE}"/>
                </a:ext>
              </a:extLst>
            </p:cNvPr>
            <p:cNvPicPr>
              <a:picLocks noChangeAspect="1"/>
            </p:cNvPicPr>
            <p:nvPr/>
          </p:nvPicPr>
          <p:blipFill>
            <a:blip r:embed="rId5"/>
            <a:stretch>
              <a:fillRect/>
            </a:stretch>
          </p:blipFill>
          <p:spPr>
            <a:xfrm>
              <a:off x="10228477" y="228513"/>
              <a:ext cx="360000" cy="360000"/>
            </a:xfrm>
            <a:prstGeom prst="rect">
              <a:avLst/>
            </a:prstGeom>
          </p:spPr>
        </p:pic>
        <p:pic>
          <p:nvPicPr>
            <p:cNvPr id="9" name="Image 8">
              <a:extLst>
                <a:ext uri="{FF2B5EF4-FFF2-40B4-BE49-F238E27FC236}">
                  <a16:creationId xmlns:a16="http://schemas.microsoft.com/office/drawing/2014/main" id="{902318E1-BD1A-9EFC-BF57-EF970CD834AE}"/>
                </a:ext>
              </a:extLst>
            </p:cNvPr>
            <p:cNvPicPr>
              <a:picLocks noChangeAspect="1"/>
            </p:cNvPicPr>
            <p:nvPr/>
          </p:nvPicPr>
          <p:blipFill>
            <a:blip r:embed="rId6"/>
            <a:stretch>
              <a:fillRect/>
            </a:stretch>
          </p:blipFill>
          <p:spPr>
            <a:xfrm>
              <a:off x="11595089" y="233166"/>
              <a:ext cx="360000" cy="360000"/>
            </a:xfrm>
            <a:prstGeom prst="rect">
              <a:avLst/>
            </a:prstGeom>
          </p:spPr>
        </p:pic>
        <p:grpSp>
          <p:nvGrpSpPr>
            <p:cNvPr id="10" name="Groupe 9">
              <a:extLst>
                <a:ext uri="{FF2B5EF4-FFF2-40B4-BE49-F238E27FC236}">
                  <a16:creationId xmlns:a16="http://schemas.microsoft.com/office/drawing/2014/main" id="{E101433D-FC85-5112-7B21-87133A206E5E}"/>
                </a:ext>
              </a:extLst>
            </p:cNvPr>
            <p:cNvGrpSpPr/>
            <p:nvPr/>
          </p:nvGrpSpPr>
          <p:grpSpPr>
            <a:xfrm>
              <a:off x="9396921" y="108135"/>
              <a:ext cx="2625773" cy="580939"/>
              <a:chOff x="9396921" y="108135"/>
              <a:chExt cx="2625773" cy="580939"/>
            </a:xfrm>
          </p:grpSpPr>
          <p:sp>
            <p:nvSpPr>
              <p:cNvPr id="12" name="Rectangle : coins arrondis 11">
                <a:extLst>
                  <a:ext uri="{FF2B5EF4-FFF2-40B4-BE49-F238E27FC236}">
                    <a16:creationId xmlns:a16="http://schemas.microsoft.com/office/drawing/2014/main" id="{904133D5-5497-E52C-2B30-A59443C33B46}"/>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EF96BF93-D0A7-C72E-C288-7AFD82822B94}"/>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77B73366-7DDA-A365-FCF7-32D91A6B72B3}"/>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A40C062D-2070-7814-C3B7-0FD13B7743FE}"/>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6F27EE0-C0CB-EC04-8B14-68B06FA112C5}"/>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cxnSp>
        <p:nvCxnSpPr>
          <p:cNvPr id="17" name="Connecteur droit 16">
            <a:extLst>
              <a:ext uri="{FF2B5EF4-FFF2-40B4-BE49-F238E27FC236}">
                <a16:creationId xmlns:a16="http://schemas.microsoft.com/office/drawing/2014/main" id="{5836E7C7-6941-F86B-5023-0CEFC138FD5D}"/>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5865D943-82FB-FCA7-B21D-1A36D07FEC40}"/>
              </a:ext>
            </a:extLst>
          </p:cNvPr>
          <p:cNvSpPr txBox="1"/>
          <p:nvPr/>
        </p:nvSpPr>
        <p:spPr>
          <a:xfrm>
            <a:off x="218115" y="110422"/>
            <a:ext cx="9110731" cy="584775"/>
          </a:xfrm>
          <a:prstGeom prst="rect">
            <a:avLst/>
          </a:prstGeom>
          <a:noFill/>
        </p:spPr>
        <p:txBody>
          <a:bodyPr wrap="square">
            <a:spAutoFit/>
          </a:bodyPr>
          <a:lstStyle/>
          <a:p>
            <a:pPr lvl="0"/>
            <a:r>
              <a:rPr lang="fr-FR" sz="3200" b="1" dirty="0">
                <a:solidFill>
                  <a:schemeClr val="tx2"/>
                </a:solidFill>
              </a:rPr>
              <a:t>Prime </a:t>
            </a:r>
            <a:r>
              <a:rPr lang="fr-FR" sz="3200" b="1" dirty="0" err="1">
                <a:solidFill>
                  <a:schemeClr val="tx2"/>
                </a:solidFill>
              </a:rPr>
              <a:t>editing</a:t>
            </a:r>
            <a:r>
              <a:rPr lang="fr-FR" sz="3200" b="1" dirty="0">
                <a:solidFill>
                  <a:schemeClr val="tx2"/>
                </a:solidFill>
              </a:rPr>
              <a:t> (PE)</a:t>
            </a:r>
            <a:endParaRPr lang="fr-FR" sz="3100" b="1" dirty="0">
              <a:solidFill>
                <a:schemeClr val="tx2"/>
              </a:solidFill>
            </a:endParaRPr>
          </a:p>
        </p:txBody>
      </p:sp>
      <p:sp>
        <p:nvSpPr>
          <p:cNvPr id="20" name="Rectangle : coins arrondis 19">
            <a:extLst>
              <a:ext uri="{FF2B5EF4-FFF2-40B4-BE49-F238E27FC236}">
                <a16:creationId xmlns:a16="http://schemas.microsoft.com/office/drawing/2014/main" id="{4EE3F60D-16B2-4466-939B-8C23F4FC7957}"/>
              </a:ext>
            </a:extLst>
          </p:cNvPr>
          <p:cNvSpPr/>
          <p:nvPr/>
        </p:nvSpPr>
        <p:spPr>
          <a:xfrm>
            <a:off x="3319745" y="2025268"/>
            <a:ext cx="5044440" cy="4543721"/>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460709D5-5403-C55A-D4D8-AE6A37AD8F52}"/>
              </a:ext>
            </a:extLst>
          </p:cNvPr>
          <p:cNvSpPr/>
          <p:nvPr/>
        </p:nvSpPr>
        <p:spPr>
          <a:xfrm>
            <a:off x="3117226" y="1746101"/>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8533833A-8560-1148-48DC-F7AC17A18C48}"/>
              </a:ext>
            </a:extLst>
          </p:cNvPr>
          <p:cNvSpPr/>
          <p:nvPr/>
        </p:nvSpPr>
        <p:spPr>
          <a:xfrm>
            <a:off x="3559644" y="1823755"/>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184295CC-591D-F493-698F-8D012F447B2F}"/>
              </a:ext>
            </a:extLst>
          </p:cNvPr>
          <p:cNvSpPr/>
          <p:nvPr/>
        </p:nvSpPr>
        <p:spPr>
          <a:xfrm rot="5400000">
            <a:off x="-358685" y="2607141"/>
            <a:ext cx="3483429"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B7AF11B0-CEC0-2A62-BA9B-85E95377D7AE}"/>
              </a:ext>
            </a:extLst>
          </p:cNvPr>
          <p:cNvSpPr/>
          <p:nvPr/>
        </p:nvSpPr>
        <p:spPr>
          <a:xfrm>
            <a:off x="8760710" y="2040859"/>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C54CA204-F9BE-ED37-D71D-4C03D16AF0EE}"/>
              </a:ext>
            </a:extLst>
          </p:cNvPr>
          <p:cNvSpPr/>
          <p:nvPr/>
        </p:nvSpPr>
        <p:spPr>
          <a:xfrm>
            <a:off x="8558191" y="1761692"/>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47A398A7-375A-0693-DC26-E3061A39F9B7}"/>
              </a:ext>
            </a:extLst>
          </p:cNvPr>
          <p:cNvSpPr/>
          <p:nvPr/>
        </p:nvSpPr>
        <p:spPr>
          <a:xfrm>
            <a:off x="9000609" y="1832025"/>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31" name="Espace réservé du texte 9">
            <a:extLst>
              <a:ext uri="{FF2B5EF4-FFF2-40B4-BE49-F238E27FC236}">
                <a16:creationId xmlns:a16="http://schemas.microsoft.com/office/drawing/2014/main" id="{04AF8446-2619-2881-748E-847520EA2F8D}"/>
              </a:ext>
            </a:extLst>
          </p:cNvPr>
          <p:cNvSpPr txBox="1">
            <a:spLocks/>
          </p:cNvSpPr>
          <p:nvPr/>
        </p:nvSpPr>
        <p:spPr>
          <a:xfrm>
            <a:off x="933449" y="1186452"/>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sp>
        <p:nvSpPr>
          <p:cNvPr id="32" name="Ellipse 31">
            <a:extLst>
              <a:ext uri="{FF2B5EF4-FFF2-40B4-BE49-F238E27FC236}">
                <a16:creationId xmlns:a16="http://schemas.microsoft.com/office/drawing/2014/main" id="{E95FB519-9562-F031-AE49-0703D9487B7A}"/>
              </a:ext>
            </a:extLst>
          </p:cNvPr>
          <p:cNvSpPr/>
          <p:nvPr/>
        </p:nvSpPr>
        <p:spPr>
          <a:xfrm>
            <a:off x="645225" y="1267200"/>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3" name="Groupe 22">
            <a:extLst>
              <a:ext uri="{FF2B5EF4-FFF2-40B4-BE49-F238E27FC236}">
                <a16:creationId xmlns:a16="http://schemas.microsoft.com/office/drawing/2014/main" id="{868388B7-A2DC-524C-9A48-D7B9CED1F7E2}"/>
              </a:ext>
            </a:extLst>
          </p:cNvPr>
          <p:cNvGrpSpPr/>
          <p:nvPr/>
        </p:nvGrpSpPr>
        <p:grpSpPr>
          <a:xfrm>
            <a:off x="71514" y="2316811"/>
            <a:ext cx="2632872" cy="720000"/>
            <a:chOff x="71514" y="2316811"/>
            <a:chExt cx="2632872" cy="720000"/>
          </a:xfrm>
        </p:grpSpPr>
        <p:sp>
          <p:nvSpPr>
            <p:cNvPr id="29" name="ZoneTexte 28">
              <a:extLst>
                <a:ext uri="{FF2B5EF4-FFF2-40B4-BE49-F238E27FC236}">
                  <a16:creationId xmlns:a16="http://schemas.microsoft.com/office/drawing/2014/main" id="{543DE05A-3193-29E7-6781-9414ED1FDB93}"/>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dirty="0"/>
            </a:p>
          </p:txBody>
        </p:sp>
        <p:pic>
          <p:nvPicPr>
            <p:cNvPr id="36" name="Image 35">
              <a:extLst>
                <a:ext uri="{FF2B5EF4-FFF2-40B4-BE49-F238E27FC236}">
                  <a16:creationId xmlns:a16="http://schemas.microsoft.com/office/drawing/2014/main" id="{7AFD8BE2-628D-182C-E07A-314FBB159E96}"/>
                </a:ext>
              </a:extLst>
            </p:cNvPr>
            <p:cNvPicPr>
              <a:picLocks noChangeAspect="1"/>
            </p:cNvPicPr>
            <p:nvPr/>
          </p:nvPicPr>
          <p:blipFill>
            <a:blip r:embed="rId7"/>
            <a:stretch>
              <a:fillRect/>
            </a:stretch>
          </p:blipFill>
          <p:spPr>
            <a:xfrm>
              <a:off x="71514" y="2316811"/>
              <a:ext cx="720000" cy="720000"/>
            </a:xfrm>
            <a:prstGeom prst="rect">
              <a:avLst/>
            </a:prstGeom>
          </p:spPr>
        </p:pic>
      </p:grpSp>
      <p:grpSp>
        <p:nvGrpSpPr>
          <p:cNvPr id="24" name="Groupe 23">
            <a:extLst>
              <a:ext uri="{FF2B5EF4-FFF2-40B4-BE49-F238E27FC236}">
                <a16:creationId xmlns:a16="http://schemas.microsoft.com/office/drawing/2014/main" id="{584F16E5-B6D2-5ECB-FE86-A55D0FBD10DC}"/>
              </a:ext>
            </a:extLst>
          </p:cNvPr>
          <p:cNvGrpSpPr/>
          <p:nvPr/>
        </p:nvGrpSpPr>
        <p:grpSpPr>
          <a:xfrm>
            <a:off x="74170" y="3160697"/>
            <a:ext cx="2630216" cy="867831"/>
            <a:chOff x="74170" y="3192648"/>
            <a:chExt cx="2630216" cy="867831"/>
          </a:xfrm>
        </p:grpSpPr>
        <p:sp>
          <p:nvSpPr>
            <p:cNvPr id="33" name="ZoneTexte 32">
              <a:extLst>
                <a:ext uri="{FF2B5EF4-FFF2-40B4-BE49-F238E27FC236}">
                  <a16:creationId xmlns:a16="http://schemas.microsoft.com/office/drawing/2014/main" id="{9AD84576-D062-F2D1-33C4-E6380225394E}"/>
                </a:ext>
              </a:extLst>
            </p:cNvPr>
            <p:cNvSpPr txBox="1"/>
            <p:nvPr/>
          </p:nvSpPr>
          <p:spPr>
            <a:xfrm>
              <a:off x="839954" y="3192648"/>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38" name="Image 37">
              <a:extLst>
                <a:ext uri="{FF2B5EF4-FFF2-40B4-BE49-F238E27FC236}">
                  <a16:creationId xmlns:a16="http://schemas.microsoft.com/office/drawing/2014/main" id="{0C6E65CC-607E-8F87-2489-4619C37E4B2A}"/>
                </a:ext>
              </a:extLst>
            </p:cNvPr>
            <p:cNvPicPr>
              <a:picLocks noChangeAspect="1"/>
            </p:cNvPicPr>
            <p:nvPr/>
          </p:nvPicPr>
          <p:blipFill>
            <a:blip r:embed="rId8"/>
            <a:stretch>
              <a:fillRect/>
            </a:stretch>
          </p:blipFill>
          <p:spPr>
            <a:xfrm>
              <a:off x="74170" y="3340479"/>
              <a:ext cx="720000" cy="720000"/>
            </a:xfrm>
            <a:prstGeom prst="rect">
              <a:avLst/>
            </a:prstGeom>
          </p:spPr>
        </p:pic>
      </p:grpSp>
      <p:sp>
        <p:nvSpPr>
          <p:cNvPr id="45" name="Rectangle : coins arrondis 44">
            <a:extLst>
              <a:ext uri="{FF2B5EF4-FFF2-40B4-BE49-F238E27FC236}">
                <a16:creationId xmlns:a16="http://schemas.microsoft.com/office/drawing/2014/main" id="{01EC423C-B0A3-1620-C1E0-99E9086FEC4C}"/>
              </a:ext>
            </a:extLst>
          </p:cNvPr>
          <p:cNvSpPr/>
          <p:nvPr/>
        </p:nvSpPr>
        <p:spPr>
          <a:xfrm>
            <a:off x="8760710" y="4659574"/>
            <a:ext cx="3063240" cy="1909415"/>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4C1EDD87-97D2-8C50-82F6-EEA49BD9BB6B}"/>
              </a:ext>
            </a:extLst>
          </p:cNvPr>
          <p:cNvSpPr/>
          <p:nvPr/>
        </p:nvSpPr>
        <p:spPr>
          <a:xfrm>
            <a:off x="8558191" y="4380407"/>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F5174169-0529-11F3-138B-E2795B4F8A68}"/>
              </a:ext>
            </a:extLst>
          </p:cNvPr>
          <p:cNvSpPr/>
          <p:nvPr/>
        </p:nvSpPr>
        <p:spPr>
          <a:xfrm>
            <a:off x="9000609" y="4450740"/>
            <a:ext cx="2297561"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 name="ZoneTexte 3">
            <a:extLst>
              <a:ext uri="{FF2B5EF4-FFF2-40B4-BE49-F238E27FC236}">
                <a16:creationId xmlns:a16="http://schemas.microsoft.com/office/drawing/2014/main" id="{6BEA5E47-ADD9-6423-FAB7-50C19B6A2105}"/>
              </a:ext>
            </a:extLst>
          </p:cNvPr>
          <p:cNvSpPr txBox="1"/>
          <p:nvPr/>
        </p:nvSpPr>
        <p:spPr>
          <a:xfrm>
            <a:off x="3559644" y="4459140"/>
            <a:ext cx="4744938"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t>PE leverages an engineered reverse transcriptase (RT) fused to a Cas9n. This Cas9n-RT complex is guided to the target locus by a prime </a:t>
            </a:r>
            <a:r>
              <a:rPr lang="fr-FR" sz="1200" b="0" i="0" u="none" strike="noStrike" baseline="0" dirty="0" err="1"/>
              <a:t>editing</a:t>
            </a:r>
            <a:r>
              <a:rPr lang="fr-FR" sz="1200" b="0" i="0" u="none" strike="noStrike" baseline="0" dirty="0"/>
              <a:t> guide RNA (</a:t>
            </a:r>
            <a:r>
              <a:rPr lang="fr-FR" sz="1200" b="0" i="0" u="none" strike="noStrike" baseline="0" dirty="0" err="1"/>
              <a:t>pegRNA</a:t>
            </a:r>
            <a:r>
              <a:rPr lang="fr-FR" sz="1200" b="0" i="0" u="none" strike="noStrike" baseline="0" dirty="0"/>
              <a:t>)</a:t>
            </a:r>
            <a:r>
              <a:rPr lang="en-US" sz="1200" b="0" i="0" u="none" strike="noStrike" baseline="0" dirty="0"/>
              <a:t> that includes a spacer sequence, which is complementary to </a:t>
            </a:r>
            <a:r>
              <a:rPr lang="fr-FR" sz="1200" b="0" i="0" u="none" strike="noStrike" baseline="0" dirty="0"/>
              <a:t>the </a:t>
            </a:r>
            <a:r>
              <a:rPr lang="fr-FR" sz="1200" b="0" i="0" u="none" strike="noStrike" baseline="0" dirty="0" err="1"/>
              <a:t>target</a:t>
            </a:r>
            <a:r>
              <a:rPr lang="fr-FR" sz="1200" b="0" i="0" u="none" strike="noStrike" baseline="0" dirty="0"/>
              <a:t> DNA.</a:t>
            </a:r>
            <a:endParaRPr lang="en-US" sz="1200" b="0" i="0" u="none" strike="noStrike" baseline="0" dirty="0">
              <a:solidFill>
                <a:srgbClr val="231F20"/>
              </a:solidFill>
            </a:endParaRPr>
          </a:p>
        </p:txBody>
      </p:sp>
      <p:grpSp>
        <p:nvGrpSpPr>
          <p:cNvPr id="30" name="Groupe 29">
            <a:extLst>
              <a:ext uri="{FF2B5EF4-FFF2-40B4-BE49-F238E27FC236}">
                <a16:creationId xmlns:a16="http://schemas.microsoft.com/office/drawing/2014/main" id="{5210EA5B-724B-95F0-7A53-9B8F244C5E97}"/>
              </a:ext>
            </a:extLst>
          </p:cNvPr>
          <p:cNvGrpSpPr/>
          <p:nvPr/>
        </p:nvGrpSpPr>
        <p:grpSpPr>
          <a:xfrm>
            <a:off x="71514" y="4300246"/>
            <a:ext cx="2694546" cy="1052497"/>
            <a:chOff x="71514" y="4300246"/>
            <a:chExt cx="2694546" cy="1052497"/>
          </a:xfrm>
        </p:grpSpPr>
        <p:pic>
          <p:nvPicPr>
            <p:cNvPr id="40" name="Image 39">
              <a:extLst>
                <a:ext uri="{FF2B5EF4-FFF2-40B4-BE49-F238E27FC236}">
                  <a16:creationId xmlns:a16="http://schemas.microsoft.com/office/drawing/2014/main" id="{0CF4A365-7AA3-F477-5F90-347D07BC3E0B}"/>
                </a:ext>
              </a:extLst>
            </p:cNvPr>
            <p:cNvPicPr>
              <a:picLocks noChangeAspect="1"/>
            </p:cNvPicPr>
            <p:nvPr/>
          </p:nvPicPr>
          <p:blipFill>
            <a:blip r:embed="rId9"/>
            <a:stretch>
              <a:fillRect/>
            </a:stretch>
          </p:blipFill>
          <p:spPr>
            <a:xfrm>
              <a:off x="71514" y="4632743"/>
              <a:ext cx="720000" cy="720000"/>
            </a:xfrm>
            <a:prstGeom prst="rect">
              <a:avLst/>
            </a:prstGeom>
          </p:spPr>
        </p:pic>
        <p:sp>
          <p:nvSpPr>
            <p:cNvPr id="19" name="ZoneTexte 18">
              <a:extLst>
                <a:ext uri="{FF2B5EF4-FFF2-40B4-BE49-F238E27FC236}">
                  <a16:creationId xmlns:a16="http://schemas.microsoft.com/office/drawing/2014/main" id="{4192DEC4-4D3D-DE74-E750-19D041BA7674}"/>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2" name="Image 1" descr="Une image contenant symbole, cercle, Graphique, conception&#10;&#10;Description générée automatiquement">
            <a:extLst>
              <a:ext uri="{FF2B5EF4-FFF2-40B4-BE49-F238E27FC236}">
                <a16:creationId xmlns:a16="http://schemas.microsoft.com/office/drawing/2014/main" id="{F673EA05-FB3B-62DB-5481-76763DA2B2AF}"/>
              </a:ext>
            </a:extLst>
          </p:cNvPr>
          <p:cNvPicPr>
            <a:picLocks noChangeAspect="1"/>
          </p:cNvPicPr>
          <p:nvPr/>
        </p:nvPicPr>
        <p:blipFill>
          <a:blip r:embed="rId10"/>
          <a:stretch>
            <a:fillRect/>
          </a:stretch>
        </p:blipFill>
        <p:spPr>
          <a:xfrm>
            <a:off x="3162585" y="1800101"/>
            <a:ext cx="468000" cy="468000"/>
          </a:xfrm>
          <a:prstGeom prst="rect">
            <a:avLst/>
          </a:prstGeom>
        </p:spPr>
      </p:pic>
      <p:pic>
        <p:nvPicPr>
          <p:cNvPr id="3" name="Image 2" descr="Une image contenant symbole, Police, Graphique, logo&#10;&#10;Description générée automatiquement">
            <a:extLst>
              <a:ext uri="{FF2B5EF4-FFF2-40B4-BE49-F238E27FC236}">
                <a16:creationId xmlns:a16="http://schemas.microsoft.com/office/drawing/2014/main" id="{A625F62D-B395-11C7-A737-EFB5F3B22652}"/>
              </a:ext>
            </a:extLst>
          </p:cNvPr>
          <p:cNvPicPr>
            <a:picLocks noChangeAspect="1"/>
          </p:cNvPicPr>
          <p:nvPr/>
        </p:nvPicPr>
        <p:blipFill>
          <a:blip r:embed="rId11"/>
          <a:stretch>
            <a:fillRect/>
          </a:stretch>
        </p:blipFill>
        <p:spPr>
          <a:xfrm>
            <a:off x="8594191" y="1748225"/>
            <a:ext cx="468000" cy="468000"/>
          </a:xfrm>
          <a:prstGeom prst="rect">
            <a:avLst/>
          </a:prstGeom>
        </p:spPr>
      </p:pic>
      <p:pic>
        <p:nvPicPr>
          <p:cNvPr id="5" name="Image 4" descr="Une image contenant cercle, Graphique, Police, symbole&#10;&#10;Description générée automatiquement">
            <a:extLst>
              <a:ext uri="{FF2B5EF4-FFF2-40B4-BE49-F238E27FC236}">
                <a16:creationId xmlns:a16="http://schemas.microsoft.com/office/drawing/2014/main" id="{81BE031D-B611-B3BA-97FE-BF102B12D19E}"/>
              </a:ext>
            </a:extLst>
          </p:cNvPr>
          <p:cNvPicPr>
            <a:picLocks noChangeAspect="1"/>
          </p:cNvPicPr>
          <p:nvPr/>
        </p:nvPicPr>
        <p:blipFill>
          <a:blip r:embed="rId12"/>
          <a:stretch>
            <a:fillRect/>
          </a:stretch>
        </p:blipFill>
        <p:spPr>
          <a:xfrm>
            <a:off x="8632027" y="4417584"/>
            <a:ext cx="468000" cy="468000"/>
          </a:xfrm>
          <a:prstGeom prst="rect">
            <a:avLst/>
          </a:prstGeom>
        </p:spPr>
      </p:pic>
      <p:pic>
        <p:nvPicPr>
          <p:cNvPr id="35" name="Image 34">
            <a:extLst>
              <a:ext uri="{FF2B5EF4-FFF2-40B4-BE49-F238E27FC236}">
                <a16:creationId xmlns:a16="http://schemas.microsoft.com/office/drawing/2014/main" id="{239CD3F1-95A0-55C2-4733-F7745074F7C5}"/>
              </a:ext>
            </a:extLst>
          </p:cNvPr>
          <p:cNvPicPr>
            <a:picLocks noChangeAspect="1"/>
          </p:cNvPicPr>
          <p:nvPr/>
        </p:nvPicPr>
        <p:blipFill>
          <a:blip r:embed="rId13"/>
          <a:srcRect l="948" t="13756" r="59923"/>
          <a:stretch/>
        </p:blipFill>
        <p:spPr>
          <a:xfrm>
            <a:off x="4587874" y="2434166"/>
            <a:ext cx="2070101" cy="1009043"/>
          </a:xfrm>
          <a:prstGeom prst="rect">
            <a:avLst/>
          </a:prstGeom>
        </p:spPr>
      </p:pic>
    </p:spTree>
    <p:extLst>
      <p:ext uri="{BB962C8B-B14F-4D97-AF65-F5344CB8AC3E}">
        <p14:creationId xmlns:p14="http://schemas.microsoft.com/office/powerpoint/2010/main" val="1563317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FE0E-C6CD-ED08-9EE8-FD0756C98C0E}"/>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AD9ED6AF-A7E5-EEB4-BF67-31EFBD44C7FA}"/>
              </a:ext>
            </a:extLst>
          </p:cNvPr>
          <p:cNvSpPr/>
          <p:nvPr/>
        </p:nvSpPr>
        <p:spPr>
          <a:xfrm>
            <a:off x="371100" y="1491669"/>
            <a:ext cx="8778789" cy="1345629"/>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572BE8A1-2371-33AC-A63C-98CAA1255D0B}"/>
              </a:ext>
            </a:extLst>
          </p:cNvPr>
          <p:cNvSpPr/>
          <p:nvPr/>
        </p:nvSpPr>
        <p:spPr>
          <a:xfrm>
            <a:off x="300401" y="131375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D977E38E-6D5E-2D43-B317-D9C5390C373E}"/>
              </a:ext>
            </a:extLst>
          </p:cNvPr>
          <p:cNvSpPr/>
          <p:nvPr/>
        </p:nvSpPr>
        <p:spPr>
          <a:xfrm>
            <a:off x="742819" y="1391407"/>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1A3D3221-18F8-7F52-A003-7F195C0FC991}"/>
              </a:ext>
            </a:extLst>
          </p:cNvPr>
          <p:cNvSpPr/>
          <p:nvPr/>
        </p:nvSpPr>
        <p:spPr>
          <a:xfrm rot="16200000">
            <a:off x="9829487" y="989817"/>
            <a:ext cx="1958967"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1A261B33-C7A1-DB51-2833-D1308EF3CD68}"/>
              </a:ext>
            </a:extLst>
          </p:cNvPr>
          <p:cNvSpPr/>
          <p:nvPr/>
        </p:nvSpPr>
        <p:spPr>
          <a:xfrm>
            <a:off x="364777" y="3352331"/>
            <a:ext cx="8785112" cy="1229194"/>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6F95DF4C-F617-49BB-CCE8-AB7119A044E7}"/>
              </a:ext>
            </a:extLst>
          </p:cNvPr>
          <p:cNvSpPr/>
          <p:nvPr/>
        </p:nvSpPr>
        <p:spPr>
          <a:xfrm>
            <a:off x="300401" y="3073163"/>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4B53196B-FC78-9B01-A7E2-DE94D8D902B3}"/>
              </a:ext>
            </a:extLst>
          </p:cNvPr>
          <p:cNvSpPr/>
          <p:nvPr/>
        </p:nvSpPr>
        <p:spPr>
          <a:xfrm>
            <a:off x="742819" y="3143496"/>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057A8A9B-93A9-A0A4-2A31-1BEE8D947E1E}"/>
              </a:ext>
            </a:extLst>
          </p:cNvPr>
          <p:cNvSpPr/>
          <p:nvPr/>
        </p:nvSpPr>
        <p:spPr>
          <a:xfrm>
            <a:off x="364776" y="5004158"/>
            <a:ext cx="8785113" cy="1311072"/>
          </a:xfrm>
          <a:prstGeom prst="round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1F6F66EC-1CFD-0F26-BC4E-F37B50E40899}"/>
              </a:ext>
            </a:extLst>
          </p:cNvPr>
          <p:cNvSpPr/>
          <p:nvPr/>
        </p:nvSpPr>
        <p:spPr>
          <a:xfrm>
            <a:off x="300401" y="4807735"/>
            <a:ext cx="576000" cy="576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813E99C2-7C5D-3306-23A1-4A6144AFE9B3}"/>
              </a:ext>
            </a:extLst>
          </p:cNvPr>
          <p:cNvSpPr/>
          <p:nvPr/>
        </p:nvSpPr>
        <p:spPr>
          <a:xfrm>
            <a:off x="742819" y="4878068"/>
            <a:ext cx="3248156" cy="4257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Evolutions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CC0317B7-1C93-E8F6-F7B5-833D7187FD6B}"/>
              </a:ext>
            </a:extLst>
          </p:cNvPr>
          <p:cNvSpPr txBox="1"/>
          <p:nvPr/>
        </p:nvSpPr>
        <p:spPr>
          <a:xfrm>
            <a:off x="10338586" y="1461481"/>
            <a:ext cx="1853415" cy="338554"/>
          </a:xfrm>
          <a:prstGeom prst="rect">
            <a:avLst/>
          </a:prstGeom>
          <a:noFill/>
        </p:spPr>
        <p:txBody>
          <a:bodyPr wrap="square">
            <a:spAutoFit/>
          </a:bodyPr>
          <a:lstStyle/>
          <a:p>
            <a:pPr lvl="0"/>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BECAAFF9-B82F-4513-4841-501FE4C341E1}"/>
              </a:ext>
            </a:extLst>
          </p:cNvPr>
          <p:cNvSpPr txBox="1"/>
          <p:nvPr/>
        </p:nvSpPr>
        <p:spPr>
          <a:xfrm>
            <a:off x="9498985" y="2194304"/>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E6EEEA84-D4E4-6837-BDB2-8D33DF87B92C}"/>
              </a:ext>
            </a:extLst>
          </p:cNvPr>
          <p:cNvSpPr txBox="1"/>
          <p:nvPr/>
        </p:nvSpPr>
        <p:spPr>
          <a:xfrm>
            <a:off x="9498985" y="2560300"/>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6BDFDECA-354F-3EEE-4713-55BAE24BA571}"/>
              </a:ext>
            </a:extLst>
          </p:cNvPr>
          <p:cNvSpPr txBox="1"/>
          <p:nvPr/>
        </p:nvSpPr>
        <p:spPr>
          <a:xfrm>
            <a:off x="9498985" y="2932172"/>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91A92703-ECA1-E2D9-ABB1-E5AC4D95B870}"/>
              </a:ext>
            </a:extLst>
          </p:cNvPr>
          <p:cNvGrpSpPr/>
          <p:nvPr/>
        </p:nvGrpSpPr>
        <p:grpSpPr>
          <a:xfrm>
            <a:off x="11205744" y="2183045"/>
            <a:ext cx="857700" cy="252000"/>
            <a:chOff x="1557481" y="4197166"/>
            <a:chExt cx="857700" cy="252000"/>
          </a:xfrm>
        </p:grpSpPr>
        <p:pic>
          <p:nvPicPr>
            <p:cNvPr id="23" name="Image 22">
              <a:extLst>
                <a:ext uri="{FF2B5EF4-FFF2-40B4-BE49-F238E27FC236}">
                  <a16:creationId xmlns:a16="http://schemas.microsoft.com/office/drawing/2014/main" id="{6219C91A-6724-0EE3-0EA3-CA0668747544}"/>
                </a:ext>
              </a:extLst>
            </p:cNvPr>
            <p:cNvPicPr>
              <a:picLocks noChangeAspect="1"/>
            </p:cNvPicPr>
            <p:nvPr/>
          </p:nvPicPr>
          <p:blipFill>
            <a:blip r:embed="rId3"/>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00CB58E1-D375-23BB-35D6-7D9D3F0940CB}"/>
                </a:ext>
              </a:extLst>
            </p:cNvPr>
            <p:cNvPicPr>
              <a:picLocks noChangeAspect="1"/>
            </p:cNvPicPr>
            <p:nvPr/>
          </p:nvPicPr>
          <p:blipFill>
            <a:blip r:embed="rId3"/>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18249079-0C20-905F-347F-71031FF60415}"/>
                </a:ext>
              </a:extLst>
            </p:cNvPr>
            <p:cNvPicPr>
              <a:picLocks noChangeAspect="1"/>
            </p:cNvPicPr>
            <p:nvPr/>
          </p:nvPicPr>
          <p:blipFill>
            <a:blip r:embed="rId3"/>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487BC1E8-4A49-91A9-20E9-651D938DE65E}"/>
              </a:ext>
            </a:extLst>
          </p:cNvPr>
          <p:cNvGrpSpPr/>
          <p:nvPr/>
        </p:nvGrpSpPr>
        <p:grpSpPr>
          <a:xfrm>
            <a:off x="11205744" y="2942746"/>
            <a:ext cx="857700" cy="252000"/>
            <a:chOff x="1557481" y="4804916"/>
            <a:chExt cx="857700" cy="252000"/>
          </a:xfrm>
        </p:grpSpPr>
        <p:pic>
          <p:nvPicPr>
            <p:cNvPr id="35" name="Image 34">
              <a:extLst>
                <a:ext uri="{FF2B5EF4-FFF2-40B4-BE49-F238E27FC236}">
                  <a16:creationId xmlns:a16="http://schemas.microsoft.com/office/drawing/2014/main" id="{DF9BADDE-8BFB-4CD4-04F0-06E19762C91B}"/>
                </a:ext>
              </a:extLst>
            </p:cNvPr>
            <p:cNvPicPr>
              <a:picLocks noChangeAspect="1"/>
            </p:cNvPicPr>
            <p:nvPr/>
          </p:nvPicPr>
          <p:blipFill>
            <a:blip r:embed="rId4"/>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E94A81B3-BF2D-4445-3292-ADD4050C2050}"/>
                </a:ext>
              </a:extLst>
            </p:cNvPr>
            <p:cNvPicPr>
              <a:picLocks noChangeAspect="1"/>
            </p:cNvPicPr>
            <p:nvPr/>
          </p:nvPicPr>
          <p:blipFill>
            <a:blip r:embed="rId4"/>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AA8EE18C-FF9A-B325-A593-6FF6BDF0B972}"/>
                </a:ext>
              </a:extLst>
            </p:cNvPr>
            <p:cNvPicPr>
              <a:picLocks noChangeAspect="1"/>
            </p:cNvPicPr>
            <p:nvPr/>
          </p:nvPicPr>
          <p:blipFill>
            <a:blip r:embed="rId4"/>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376612C4-E264-28D8-F113-01DE1FC4C98F}"/>
              </a:ext>
            </a:extLst>
          </p:cNvPr>
          <p:cNvGrpSpPr/>
          <p:nvPr/>
        </p:nvGrpSpPr>
        <p:grpSpPr>
          <a:xfrm>
            <a:off x="11205744" y="2575082"/>
            <a:ext cx="857699" cy="252000"/>
            <a:chOff x="2476644" y="4589203"/>
            <a:chExt cx="857699" cy="252000"/>
          </a:xfrm>
        </p:grpSpPr>
        <p:pic>
          <p:nvPicPr>
            <p:cNvPr id="46" name="Image 45">
              <a:extLst>
                <a:ext uri="{FF2B5EF4-FFF2-40B4-BE49-F238E27FC236}">
                  <a16:creationId xmlns:a16="http://schemas.microsoft.com/office/drawing/2014/main" id="{D8124D54-90D3-F347-180C-ADD6A887AADE}"/>
                </a:ext>
              </a:extLst>
            </p:cNvPr>
            <p:cNvPicPr>
              <a:picLocks noChangeAspect="1"/>
            </p:cNvPicPr>
            <p:nvPr/>
          </p:nvPicPr>
          <p:blipFill>
            <a:blip r:embed="rId5"/>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E588DBA1-96C0-3842-3848-3D72B36DE764}"/>
                </a:ext>
              </a:extLst>
            </p:cNvPr>
            <p:cNvPicPr>
              <a:picLocks noChangeAspect="1"/>
            </p:cNvPicPr>
            <p:nvPr/>
          </p:nvPicPr>
          <p:blipFill>
            <a:blip r:embed="rId5"/>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6E11716F-15BC-89D6-465C-E3B9EA2A1251}"/>
                </a:ext>
              </a:extLst>
            </p:cNvPr>
            <p:cNvPicPr>
              <a:picLocks noChangeAspect="1"/>
            </p:cNvPicPr>
            <p:nvPr/>
          </p:nvPicPr>
          <p:blipFill>
            <a:blip r:embed="rId5"/>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8ABDC8E2-77B5-7532-D3B8-C9A4B80E5126}"/>
              </a:ext>
            </a:extLst>
          </p:cNvPr>
          <p:cNvPicPr>
            <a:picLocks noChangeAspect="1"/>
          </p:cNvPicPr>
          <p:nvPr/>
        </p:nvPicPr>
        <p:blipFill>
          <a:blip r:embed="rId6"/>
          <a:stretch>
            <a:fillRect/>
          </a:stretch>
        </p:blipFill>
        <p:spPr>
          <a:xfrm>
            <a:off x="9687059" y="1459448"/>
            <a:ext cx="540000" cy="540000"/>
          </a:xfrm>
          <a:prstGeom prst="rect">
            <a:avLst/>
          </a:prstGeom>
        </p:spPr>
      </p:pic>
      <p:cxnSp>
        <p:nvCxnSpPr>
          <p:cNvPr id="29" name="Connecteur droit 28">
            <a:extLst>
              <a:ext uri="{FF2B5EF4-FFF2-40B4-BE49-F238E27FC236}">
                <a16:creationId xmlns:a16="http://schemas.microsoft.com/office/drawing/2014/main" id="{1A5006EB-847B-3819-ACE1-46409FE0DB03}"/>
              </a:ext>
            </a:extLst>
          </p:cNvPr>
          <p:cNvCxnSpPr/>
          <p:nvPr/>
        </p:nvCxnSpPr>
        <p:spPr>
          <a:xfrm>
            <a:off x="0" y="771525"/>
            <a:ext cx="121920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5CA3B1D9-198B-DD8E-52BB-3976B4DE706E}"/>
              </a:ext>
            </a:extLst>
          </p:cNvPr>
          <p:cNvSpPr txBox="1"/>
          <p:nvPr/>
        </p:nvSpPr>
        <p:spPr>
          <a:xfrm>
            <a:off x="218115" y="110422"/>
            <a:ext cx="9110731" cy="584775"/>
          </a:xfrm>
          <a:prstGeom prst="rect">
            <a:avLst/>
          </a:prstGeom>
          <a:noFill/>
        </p:spPr>
        <p:txBody>
          <a:bodyPr wrap="square">
            <a:spAutoFit/>
          </a:bodyPr>
          <a:lstStyle/>
          <a:p>
            <a:pPr lvl="0"/>
            <a:r>
              <a:rPr lang="fr-FR" sz="3100" b="1" dirty="0">
                <a:solidFill>
                  <a:schemeClr val="tx2"/>
                </a:solidFill>
              </a:rPr>
              <a:t>Prime </a:t>
            </a:r>
            <a:r>
              <a:rPr lang="fr-FR" sz="3100" b="1" dirty="0" err="1">
                <a:solidFill>
                  <a:schemeClr val="tx2"/>
                </a:solidFill>
              </a:rPr>
              <a:t>editing</a:t>
            </a:r>
            <a:r>
              <a:rPr lang="fr-FR" sz="3100" b="1" dirty="0">
                <a:solidFill>
                  <a:schemeClr val="tx2"/>
                </a:solidFill>
              </a:rPr>
              <a:t> (PE)</a:t>
            </a:r>
          </a:p>
        </p:txBody>
      </p:sp>
      <p:grpSp>
        <p:nvGrpSpPr>
          <p:cNvPr id="32" name="Groupe 31">
            <a:extLst>
              <a:ext uri="{FF2B5EF4-FFF2-40B4-BE49-F238E27FC236}">
                <a16:creationId xmlns:a16="http://schemas.microsoft.com/office/drawing/2014/main" id="{1B13B336-AF4B-FC3C-D5A9-B1DA05F896AD}"/>
              </a:ext>
            </a:extLst>
          </p:cNvPr>
          <p:cNvGrpSpPr/>
          <p:nvPr/>
        </p:nvGrpSpPr>
        <p:grpSpPr>
          <a:xfrm>
            <a:off x="9396921" y="108135"/>
            <a:ext cx="2625773" cy="580939"/>
            <a:chOff x="9396921" y="108135"/>
            <a:chExt cx="2625773" cy="580939"/>
          </a:xfrm>
        </p:grpSpPr>
        <p:pic>
          <p:nvPicPr>
            <p:cNvPr id="33" name="Image 32">
              <a:extLst>
                <a:ext uri="{FF2B5EF4-FFF2-40B4-BE49-F238E27FC236}">
                  <a16:creationId xmlns:a16="http://schemas.microsoft.com/office/drawing/2014/main" id="{30297BD5-AE85-4CE0-0F66-12EA4D3347B4}"/>
                </a:ext>
              </a:extLst>
            </p:cNvPr>
            <p:cNvPicPr>
              <a:picLocks noChangeAspect="1"/>
            </p:cNvPicPr>
            <p:nvPr/>
          </p:nvPicPr>
          <p:blipFill>
            <a:blip r:embed="rId7"/>
            <a:stretch>
              <a:fillRect/>
            </a:stretch>
          </p:blipFill>
          <p:spPr>
            <a:xfrm>
              <a:off x="9554107" y="218630"/>
              <a:ext cx="360000" cy="360000"/>
            </a:xfrm>
            <a:prstGeom prst="rect">
              <a:avLst/>
            </a:prstGeom>
          </p:spPr>
        </p:pic>
        <p:pic>
          <p:nvPicPr>
            <p:cNvPr id="36" name="Picture 2">
              <a:extLst>
                <a:ext uri="{FF2B5EF4-FFF2-40B4-BE49-F238E27FC236}">
                  <a16:creationId xmlns:a16="http://schemas.microsoft.com/office/drawing/2014/main" id="{C8CABE48-1E5A-F602-837F-96B061CAA10B}"/>
                </a:ext>
              </a:extLst>
            </p:cNvPr>
            <p:cNvPicPr>
              <a:picLocks noChangeAspect="1" noChangeArrowheads="1"/>
            </p:cNvPicPr>
            <p:nvPr/>
          </p:nvPicPr>
          <p:blipFill>
            <a:blip r:embed="rId8">
              <a:duotone>
                <a:prstClr val="black"/>
                <a:schemeClr val="tx1">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rcRect/>
            <a:stretch>
              <a:fillRect/>
            </a:stretch>
          </p:blipFill>
          <p:spPr bwMode="auto">
            <a:xfrm>
              <a:off x="10812915" y="310150"/>
              <a:ext cx="535409" cy="209144"/>
            </a:xfrm>
            <a:prstGeom prst="rect">
              <a:avLst/>
            </a:prstGeom>
            <a:noFill/>
            <a:extLst>
              <a:ext uri="{909E8E84-426E-40DD-AFC4-6F175D3DCCD1}">
                <a14:hiddenFill xmlns:a14="http://schemas.microsoft.com/office/drawing/2010/main">
                  <a:solidFill>
                    <a:srgbClr val="FFFFFF"/>
                  </a:solidFill>
                </a14:hiddenFill>
              </a:ext>
            </a:extLst>
          </p:spPr>
        </p:pic>
        <p:pic>
          <p:nvPicPr>
            <p:cNvPr id="38" name="Image 37">
              <a:extLst>
                <a:ext uri="{FF2B5EF4-FFF2-40B4-BE49-F238E27FC236}">
                  <a16:creationId xmlns:a16="http://schemas.microsoft.com/office/drawing/2014/main" id="{3499637F-4279-0AF4-8C24-1BC914F21C9B}"/>
                </a:ext>
              </a:extLst>
            </p:cNvPr>
            <p:cNvPicPr>
              <a:picLocks noChangeAspect="1"/>
            </p:cNvPicPr>
            <p:nvPr/>
          </p:nvPicPr>
          <p:blipFill>
            <a:blip r:embed="rId10"/>
            <a:stretch>
              <a:fillRect/>
            </a:stretch>
          </p:blipFill>
          <p:spPr>
            <a:xfrm>
              <a:off x="10228477" y="228513"/>
              <a:ext cx="360000" cy="360000"/>
            </a:xfrm>
            <a:prstGeom prst="rect">
              <a:avLst/>
            </a:prstGeom>
          </p:spPr>
        </p:pic>
        <p:pic>
          <p:nvPicPr>
            <p:cNvPr id="40" name="Image 39">
              <a:extLst>
                <a:ext uri="{FF2B5EF4-FFF2-40B4-BE49-F238E27FC236}">
                  <a16:creationId xmlns:a16="http://schemas.microsoft.com/office/drawing/2014/main" id="{8E742C07-F08A-8EA7-8115-5F821E78E922}"/>
                </a:ext>
              </a:extLst>
            </p:cNvPr>
            <p:cNvPicPr>
              <a:picLocks noChangeAspect="1"/>
            </p:cNvPicPr>
            <p:nvPr/>
          </p:nvPicPr>
          <p:blipFill>
            <a:blip r:embed="rId11"/>
            <a:stretch>
              <a:fillRect/>
            </a:stretch>
          </p:blipFill>
          <p:spPr>
            <a:xfrm>
              <a:off x="11595089" y="233166"/>
              <a:ext cx="360000" cy="360000"/>
            </a:xfrm>
            <a:prstGeom prst="rect">
              <a:avLst/>
            </a:prstGeom>
          </p:spPr>
        </p:pic>
        <p:grpSp>
          <p:nvGrpSpPr>
            <p:cNvPr id="52" name="Groupe 51">
              <a:extLst>
                <a:ext uri="{FF2B5EF4-FFF2-40B4-BE49-F238E27FC236}">
                  <a16:creationId xmlns:a16="http://schemas.microsoft.com/office/drawing/2014/main" id="{076CA338-610A-69BD-DE77-6A8407297C8F}"/>
                </a:ext>
              </a:extLst>
            </p:cNvPr>
            <p:cNvGrpSpPr/>
            <p:nvPr/>
          </p:nvGrpSpPr>
          <p:grpSpPr>
            <a:xfrm>
              <a:off x="9396921" y="108135"/>
              <a:ext cx="2625773" cy="580939"/>
              <a:chOff x="9396921" y="108135"/>
              <a:chExt cx="2625773" cy="580939"/>
            </a:xfrm>
          </p:grpSpPr>
          <p:sp>
            <p:nvSpPr>
              <p:cNvPr id="54" name="Rectangle : coins arrondis 53">
                <a:extLst>
                  <a:ext uri="{FF2B5EF4-FFF2-40B4-BE49-F238E27FC236}">
                    <a16:creationId xmlns:a16="http://schemas.microsoft.com/office/drawing/2014/main" id="{1EE7396F-B8B9-8CF7-259A-32E89448770B}"/>
                  </a:ext>
                </a:extLst>
              </p:cNvPr>
              <p:cNvSpPr/>
              <p:nvPr/>
            </p:nvSpPr>
            <p:spPr>
              <a:xfrm>
                <a:off x="946499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BDD64582-9157-2A41-D92F-BE591EBE3D99}"/>
                  </a:ext>
                </a:extLst>
              </p:cNvPr>
              <p:cNvSpPr/>
              <p:nvPr/>
            </p:nvSpPr>
            <p:spPr>
              <a:xfrm>
                <a:off x="1148447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7CE13758-5A5C-3CFC-22A4-D8C8A6D29034}"/>
                  </a:ext>
                </a:extLst>
              </p:cNvPr>
              <p:cNvSpPr/>
              <p:nvPr/>
            </p:nvSpPr>
            <p:spPr>
              <a:xfrm>
                <a:off x="10810104"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DAD5438B-B5C6-7AE3-45E3-38A647AA4E3B}"/>
                  </a:ext>
                </a:extLst>
              </p:cNvPr>
              <p:cNvSpPr/>
              <p:nvPr/>
            </p:nvSpPr>
            <p:spPr>
              <a:xfrm>
                <a:off x="10139367" y="141589"/>
                <a:ext cx="538220" cy="538220"/>
              </a:xfrm>
              <a:prstGeom prst="roundRect">
                <a:avLst/>
              </a:prstGeom>
              <a:solidFill>
                <a:schemeClr val="accent3">
                  <a:lumMod val="20000"/>
                  <a:lumOff val="80000"/>
                  <a:alpha val="2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5A0342A6-9F8A-FBBD-C23D-5884B5305DA0}"/>
                  </a:ext>
                </a:extLst>
              </p:cNvPr>
              <p:cNvSpPr/>
              <p:nvPr/>
            </p:nvSpPr>
            <p:spPr>
              <a:xfrm>
                <a:off x="9396921" y="108135"/>
                <a:ext cx="2019477" cy="58093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sp>
        <p:nvSpPr>
          <p:cNvPr id="65" name="Rectangle : avec coins arrondis en haut 64">
            <a:extLst>
              <a:ext uri="{FF2B5EF4-FFF2-40B4-BE49-F238E27FC236}">
                <a16:creationId xmlns:a16="http://schemas.microsoft.com/office/drawing/2014/main" id="{98634A84-F0B5-EF1F-7D92-01730A723B49}"/>
              </a:ext>
            </a:extLst>
          </p:cNvPr>
          <p:cNvSpPr/>
          <p:nvPr/>
        </p:nvSpPr>
        <p:spPr>
          <a:xfrm rot="16200000">
            <a:off x="9249389" y="3682221"/>
            <a:ext cx="3119165" cy="2766060"/>
          </a:xfrm>
          <a:prstGeom prst="round2SameRect">
            <a:avLst>
              <a:gd name="adj1" fmla="val 10809"/>
              <a:gd name="adj2" fmla="val 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66" name="ZoneTexte 65">
            <a:extLst>
              <a:ext uri="{FF2B5EF4-FFF2-40B4-BE49-F238E27FC236}">
                <a16:creationId xmlns:a16="http://schemas.microsoft.com/office/drawing/2014/main" id="{06D3C881-9A96-C8E3-DAB3-6F111162C9C8}"/>
              </a:ext>
            </a:extLst>
          </p:cNvPr>
          <p:cNvSpPr txBox="1"/>
          <p:nvPr/>
        </p:nvSpPr>
        <p:spPr>
          <a:xfrm>
            <a:off x="10500290" y="3658759"/>
            <a:ext cx="1094799" cy="338554"/>
          </a:xfrm>
          <a:prstGeom prst="rect">
            <a:avLst/>
          </a:prstGeom>
          <a:noFill/>
        </p:spPr>
        <p:txBody>
          <a:bodyPr wrap="square">
            <a:spAutoFit/>
          </a:bodyPr>
          <a:lstStyle/>
          <a:p>
            <a:pPr lvl="0"/>
            <a:r>
              <a:rPr lang="fr-FR" sz="1600" b="1" u="sng" dirty="0"/>
              <a:t>Sources</a:t>
            </a:r>
          </a:p>
        </p:txBody>
      </p:sp>
      <p:pic>
        <p:nvPicPr>
          <p:cNvPr id="88" name="Image 87">
            <a:extLst>
              <a:ext uri="{FF2B5EF4-FFF2-40B4-BE49-F238E27FC236}">
                <a16:creationId xmlns:a16="http://schemas.microsoft.com/office/drawing/2014/main" id="{1A0C886E-7D4C-676A-161A-0727F0D05CF5}"/>
              </a:ext>
            </a:extLst>
          </p:cNvPr>
          <p:cNvPicPr>
            <a:picLocks noChangeAspect="1"/>
          </p:cNvPicPr>
          <p:nvPr/>
        </p:nvPicPr>
        <p:blipFill>
          <a:blip r:embed="rId12"/>
          <a:stretch>
            <a:fillRect/>
          </a:stretch>
        </p:blipFill>
        <p:spPr>
          <a:xfrm>
            <a:off x="9733217" y="3659133"/>
            <a:ext cx="540000" cy="540000"/>
          </a:xfrm>
          <a:prstGeom prst="rect">
            <a:avLst/>
          </a:prstGeom>
        </p:spPr>
      </p:pic>
      <p:sp>
        <p:nvSpPr>
          <p:cNvPr id="8" name="ZoneTexte 7">
            <a:extLst>
              <a:ext uri="{FF2B5EF4-FFF2-40B4-BE49-F238E27FC236}">
                <a16:creationId xmlns:a16="http://schemas.microsoft.com/office/drawing/2014/main" id="{A4F85B1B-C299-F3CE-CC87-8940B7980A2A}"/>
              </a:ext>
            </a:extLst>
          </p:cNvPr>
          <p:cNvSpPr txBox="1"/>
          <p:nvPr/>
        </p:nvSpPr>
        <p:spPr>
          <a:xfrm>
            <a:off x="502919" y="3658759"/>
            <a:ext cx="8420636"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L</a:t>
            </a:r>
            <a:r>
              <a:rPr lang="en-US" sz="1200" b="0" i="0" u="none" strike="noStrike" baseline="0" dirty="0"/>
              <a:t>ength of the RTT (Reverse Transcription Template) and the PBS (Primer Binding Site) needs to be optimized for each target.</a:t>
            </a:r>
            <a:endParaRPr lang="en-US" sz="1200" dirty="0"/>
          </a:p>
          <a:p>
            <a:pPr marL="285750" indent="-285750" algn="just">
              <a:buFont typeface="Wingdings" panose="05000000000000000000" pitchFamily="2" charset="2"/>
              <a:buChar char="Ø"/>
            </a:pPr>
            <a:r>
              <a:rPr lang="en-US" sz="1200" b="0" i="0" u="none" strike="noStrike" baseline="0" dirty="0"/>
              <a:t>As for nuclease and BE, the DNA recognition domain of Cas9 is used for PE, so target sequences need to be adjacent to a PAM, which may represent a challenge if one is not available close to the target DNA locus.</a:t>
            </a:r>
          </a:p>
        </p:txBody>
      </p:sp>
      <p:sp>
        <p:nvSpPr>
          <p:cNvPr id="13" name="ZoneTexte 12">
            <a:extLst>
              <a:ext uri="{FF2B5EF4-FFF2-40B4-BE49-F238E27FC236}">
                <a16:creationId xmlns:a16="http://schemas.microsoft.com/office/drawing/2014/main" id="{D3BBB1FB-8784-89CC-F7A8-82DE33563F72}"/>
              </a:ext>
            </a:extLst>
          </p:cNvPr>
          <p:cNvSpPr txBox="1"/>
          <p:nvPr/>
        </p:nvSpPr>
        <p:spPr>
          <a:xfrm>
            <a:off x="526157" y="1871139"/>
            <a:ext cx="8623731" cy="830997"/>
          </a:xfrm>
          <a:prstGeom prst="rect">
            <a:avLst/>
          </a:prstGeom>
          <a:noFill/>
        </p:spPr>
        <p:txBody>
          <a:bodyPr wrap="square">
            <a:spAutoFit/>
          </a:bodyPr>
          <a:lstStyle/>
          <a:p>
            <a:pPr marL="285750" indent="-285750" algn="just">
              <a:buFont typeface="Wingdings" panose="05000000000000000000" pitchFamily="2" charset="2"/>
              <a:buChar char="Ø"/>
            </a:pPr>
            <a:r>
              <a:rPr lang="en-US" sz="1200" b="0" i="0" u="none" strike="noStrike" baseline="0" dirty="0"/>
              <a:t>PE is a technique that offers high precision and fewer errors compared to Cas9 nuclease or BE  and can make all possible small edits</a:t>
            </a:r>
            <a:r>
              <a:rPr lang="en-US" sz="1200" dirty="0"/>
              <a:t>.</a:t>
            </a:r>
            <a:endParaRPr lang="en-US" sz="1200" b="0" i="0" u="none" strike="noStrike" baseline="0" dirty="0"/>
          </a:p>
          <a:p>
            <a:pPr marL="285750" indent="-285750" algn="just">
              <a:buFont typeface="Wingdings" panose="05000000000000000000" pitchFamily="2" charset="2"/>
              <a:buChar char="Ø"/>
            </a:pPr>
            <a:r>
              <a:rPr lang="en-US" sz="1200" b="0" i="0" u="none" strike="noStrike" baseline="0" dirty="0"/>
              <a:t>It generally does not cause DSBs or on-target indels, except for a few versions of PE. </a:t>
            </a:r>
            <a:endParaRPr lang="en-US" sz="1200" dirty="0"/>
          </a:p>
          <a:p>
            <a:pPr marL="285750" indent="-285750" algn="just">
              <a:buFont typeface="Wingdings" panose="05000000000000000000" pitchFamily="2" charset="2"/>
              <a:buChar char="Ø"/>
            </a:pPr>
            <a:r>
              <a:rPr lang="en-US" sz="1200" b="0" i="0" u="none" strike="noStrike" baseline="0" dirty="0"/>
              <a:t>It does not cause off-target indels or bystander mutations.</a:t>
            </a:r>
            <a:endParaRPr lang="en-US" sz="1200" b="0" i="0" u="none" strike="noStrike" baseline="0" dirty="0">
              <a:solidFill>
                <a:srgbClr val="231F20"/>
              </a:solidFill>
            </a:endParaRPr>
          </a:p>
        </p:txBody>
      </p:sp>
      <p:pic>
        <p:nvPicPr>
          <p:cNvPr id="6" name="Image 5" descr="Une image contenant symbole, Graphique, logo, Police&#10;&#10;Description générée automatiquement">
            <a:extLst>
              <a:ext uri="{FF2B5EF4-FFF2-40B4-BE49-F238E27FC236}">
                <a16:creationId xmlns:a16="http://schemas.microsoft.com/office/drawing/2014/main" id="{2DA839B3-85AC-310B-596C-22D820DC3856}"/>
              </a:ext>
            </a:extLst>
          </p:cNvPr>
          <p:cNvPicPr>
            <a:picLocks noChangeAspect="1"/>
          </p:cNvPicPr>
          <p:nvPr/>
        </p:nvPicPr>
        <p:blipFill>
          <a:blip r:embed="rId13"/>
          <a:stretch>
            <a:fillRect/>
          </a:stretch>
        </p:blipFill>
        <p:spPr>
          <a:xfrm>
            <a:off x="364777" y="1374132"/>
            <a:ext cx="468000" cy="468000"/>
          </a:xfrm>
          <a:prstGeom prst="rect">
            <a:avLst/>
          </a:prstGeom>
        </p:spPr>
      </p:pic>
      <p:pic>
        <p:nvPicPr>
          <p:cNvPr id="7" name="Image 6" descr="Une image contenant Graphique, symbole, Police, logo&#10;&#10;Description générée automatiquement">
            <a:extLst>
              <a:ext uri="{FF2B5EF4-FFF2-40B4-BE49-F238E27FC236}">
                <a16:creationId xmlns:a16="http://schemas.microsoft.com/office/drawing/2014/main" id="{B7FDCBAA-62D8-9FE1-ED5F-D7EAA872C9B6}"/>
              </a:ext>
            </a:extLst>
          </p:cNvPr>
          <p:cNvPicPr>
            <a:picLocks noChangeAspect="1"/>
          </p:cNvPicPr>
          <p:nvPr/>
        </p:nvPicPr>
        <p:blipFill>
          <a:blip r:embed="rId14"/>
          <a:stretch>
            <a:fillRect/>
          </a:stretch>
        </p:blipFill>
        <p:spPr>
          <a:xfrm>
            <a:off x="351510" y="3144564"/>
            <a:ext cx="468000" cy="468000"/>
          </a:xfrm>
          <a:prstGeom prst="rect">
            <a:avLst/>
          </a:prstGeom>
        </p:spPr>
      </p:pic>
      <p:pic>
        <p:nvPicPr>
          <p:cNvPr id="10" name="Image 9" descr="Une image contenant Graphique, clipart, Police, graphisme&#10;&#10;Description générée automatiquement">
            <a:extLst>
              <a:ext uri="{FF2B5EF4-FFF2-40B4-BE49-F238E27FC236}">
                <a16:creationId xmlns:a16="http://schemas.microsoft.com/office/drawing/2014/main" id="{036DE75A-16D0-5B71-C88F-149427A32196}"/>
              </a:ext>
            </a:extLst>
          </p:cNvPr>
          <p:cNvPicPr>
            <a:picLocks noChangeAspect="1"/>
          </p:cNvPicPr>
          <p:nvPr/>
        </p:nvPicPr>
        <p:blipFill>
          <a:blip r:embed="rId15"/>
          <a:stretch>
            <a:fillRect/>
          </a:stretch>
        </p:blipFill>
        <p:spPr>
          <a:xfrm>
            <a:off x="400795" y="4862334"/>
            <a:ext cx="468000" cy="468000"/>
          </a:xfrm>
          <a:prstGeom prst="rect">
            <a:avLst/>
          </a:prstGeom>
        </p:spPr>
      </p:pic>
      <p:sp>
        <p:nvSpPr>
          <p:cNvPr id="14" name="ZoneTexte 13">
            <a:extLst>
              <a:ext uri="{FF2B5EF4-FFF2-40B4-BE49-F238E27FC236}">
                <a16:creationId xmlns:a16="http://schemas.microsoft.com/office/drawing/2014/main" id="{DC85EC42-0925-DB44-AEC9-5773797F065D}"/>
              </a:ext>
            </a:extLst>
          </p:cNvPr>
          <p:cNvSpPr txBox="1"/>
          <p:nvPr/>
        </p:nvSpPr>
        <p:spPr>
          <a:xfrm>
            <a:off x="497651" y="5061345"/>
            <a:ext cx="11565791" cy="1384995"/>
          </a:xfrm>
          <a:prstGeom prst="rect">
            <a:avLst/>
          </a:prstGeom>
          <a:noFill/>
        </p:spPr>
        <p:txBody>
          <a:bodyPr wrap="square">
            <a:spAutoFit/>
          </a:bodyPr>
          <a:lstStyle/>
          <a:p>
            <a:pPr marL="285750" indent="-285750" algn="just">
              <a:buFont typeface="Wingdings" panose="05000000000000000000" pitchFamily="2" charset="2"/>
              <a:buChar char="Ø"/>
            </a:pPr>
            <a:r>
              <a:rPr lang="fr-FR" sz="1050" b="0" i="0" u="none" strike="noStrike" baseline="0" dirty="0">
                <a:solidFill>
                  <a:srgbClr val="000000"/>
                </a:solidFill>
              </a:rPr>
              <a:t>PE2 </a:t>
            </a:r>
            <a:r>
              <a:rPr lang="en-US" sz="1050" b="0" i="0" u="none" strike="noStrike" baseline="0" dirty="0">
                <a:solidFill>
                  <a:srgbClr val="000000"/>
                </a:solidFill>
              </a:rPr>
              <a:t>is an improved version of the original PE system using an engineered RT to increase editing efficiency.</a:t>
            </a:r>
            <a:endParaRPr lang="en-US" sz="1050" dirty="0">
              <a:solidFill>
                <a:srgbClr val="000000"/>
              </a:solidFill>
            </a:endParaRPr>
          </a:p>
          <a:p>
            <a:pPr marL="285750" indent="-285750" algn="just">
              <a:buFont typeface="Wingdings" panose="05000000000000000000" pitchFamily="2" charset="2"/>
              <a:buChar char="Ø"/>
            </a:pPr>
            <a:r>
              <a:rPr lang="en-US" sz="1050" b="0" i="0" u="none" strike="noStrike" baseline="0" dirty="0">
                <a:solidFill>
                  <a:srgbClr val="000000"/>
                </a:solidFill>
              </a:rPr>
              <a:t>PE3 nicks the non-edited strand to further increase efficiency by stimulating the de novo synthesized 3′ flap to be used as a repair template instead of the original 5′ flap. However, PE3 sometimes generates unwanted indels since it may produce DSBs by simultaneously nicking both DNA strands. </a:t>
            </a:r>
            <a:endParaRPr lang="en-US" sz="1050" dirty="0">
              <a:solidFill>
                <a:srgbClr val="000000"/>
              </a:solidFill>
            </a:endParaRPr>
          </a:p>
          <a:p>
            <a:pPr marL="285750" indent="-285750" algn="just">
              <a:buFont typeface="Wingdings" panose="05000000000000000000" pitchFamily="2" charset="2"/>
              <a:buChar char="Ø"/>
            </a:pPr>
            <a:r>
              <a:rPr lang="en-US" sz="1050" b="0" i="0" u="none" strike="noStrike" baseline="0" dirty="0">
                <a:solidFill>
                  <a:srgbClr val="000000"/>
                </a:solidFill>
              </a:rPr>
              <a:t>PE4 and PE5 correspond to PE2 and PE3, respectively, with the additional expression of an engineered DNA mismatch repair (MMR)-inhibiting protein that increases editing efficiency.</a:t>
            </a:r>
            <a:endParaRPr lang="en-US" sz="1050" dirty="0">
              <a:solidFill>
                <a:srgbClr val="000000"/>
              </a:solidFill>
            </a:endParaRPr>
          </a:p>
          <a:p>
            <a:pPr marL="285750" indent="-285750" algn="just">
              <a:buFont typeface="Wingdings" panose="05000000000000000000" pitchFamily="2" charset="2"/>
              <a:buChar char="Ø"/>
            </a:pPr>
            <a:r>
              <a:rPr lang="en-US" sz="1050" b="0" i="0" u="none" strike="noStrike" baseline="0" dirty="0" err="1">
                <a:solidFill>
                  <a:srgbClr val="000000"/>
                </a:solidFill>
              </a:rPr>
              <a:t>PEmax</a:t>
            </a:r>
            <a:r>
              <a:rPr lang="en-US" sz="1050" b="0" i="0" u="none" strike="noStrike" baseline="0" dirty="0">
                <a:solidFill>
                  <a:srgbClr val="000000"/>
                </a:solidFill>
              </a:rPr>
              <a:t> was shown to improve editing rate in synergy with PE4, PE5, and engineered </a:t>
            </a:r>
            <a:r>
              <a:rPr lang="en-US" sz="1050" b="0" i="0" u="none" strike="noStrike" baseline="0" dirty="0" err="1">
                <a:solidFill>
                  <a:srgbClr val="000000"/>
                </a:solidFill>
              </a:rPr>
              <a:t>pegRNAs</a:t>
            </a:r>
            <a:r>
              <a:rPr lang="en-US" sz="1050" b="0" i="0" u="none" strike="noStrike" baseline="0" dirty="0">
                <a:solidFill>
                  <a:srgbClr val="000000"/>
                </a:solidFill>
              </a:rPr>
              <a:t> (</a:t>
            </a:r>
            <a:r>
              <a:rPr lang="en-US" sz="1050" b="0" i="0" u="none" strike="noStrike" baseline="0" dirty="0" err="1">
                <a:solidFill>
                  <a:srgbClr val="000000"/>
                </a:solidFill>
              </a:rPr>
              <a:t>epegRNAs</a:t>
            </a:r>
            <a:r>
              <a:rPr lang="en-US" sz="1050" b="0" i="0" u="none" strike="noStrike" baseline="0" dirty="0">
                <a:solidFill>
                  <a:srgbClr val="000000"/>
                </a:solidFill>
              </a:rPr>
              <a:t>).</a:t>
            </a:r>
            <a:endParaRPr lang="en-US" sz="1050" dirty="0">
              <a:solidFill>
                <a:srgbClr val="000000"/>
              </a:solidFill>
            </a:endParaRPr>
          </a:p>
          <a:p>
            <a:pPr marL="285750" indent="-285750" algn="just">
              <a:buFont typeface="Wingdings" panose="05000000000000000000" pitchFamily="2" charset="2"/>
              <a:buChar char="Ø"/>
            </a:pPr>
            <a:r>
              <a:rPr lang="en-US" sz="1050" b="0" i="0" u="none" strike="noStrike" baseline="0" dirty="0">
                <a:solidFill>
                  <a:srgbClr val="000000"/>
                </a:solidFill>
              </a:rPr>
              <a:t>Furthermore, PE6 emerged as shorter than </a:t>
            </a:r>
            <a:r>
              <a:rPr lang="en-US" sz="1050" b="0" i="0" u="none" strike="noStrike" baseline="0" dirty="0" err="1">
                <a:solidFill>
                  <a:srgbClr val="000000"/>
                </a:solidFill>
              </a:rPr>
              <a:t>PEmax</a:t>
            </a:r>
            <a:r>
              <a:rPr lang="en-US" sz="1050" b="0" i="0" u="none" strike="noStrike" baseline="0" dirty="0">
                <a:solidFill>
                  <a:srgbClr val="000000"/>
                </a:solidFill>
              </a:rPr>
              <a:t> by 0.5–0.8 kilobase (kb), with a 22-fold increased editing efficiency, following phage-assisted protein evolution </a:t>
            </a:r>
            <a:r>
              <a:rPr lang="fr-FR" sz="1050" b="0" i="0" u="none" strike="noStrike" baseline="0" dirty="0" err="1">
                <a:solidFill>
                  <a:srgbClr val="000000"/>
                </a:solidFill>
              </a:rPr>
              <a:t>experiments</a:t>
            </a:r>
            <a:r>
              <a:rPr lang="fr-FR" sz="1050" dirty="0">
                <a:solidFill>
                  <a:srgbClr val="000000"/>
                </a:solidFill>
              </a:rPr>
              <a:t>.</a:t>
            </a:r>
            <a:endParaRPr lang="en-US" sz="1050" dirty="0"/>
          </a:p>
          <a:p>
            <a:pPr marL="285750" indent="-285750" algn="just">
              <a:buFont typeface="Wingdings" panose="05000000000000000000" pitchFamily="2" charset="2"/>
              <a:buChar char="Ø"/>
            </a:pPr>
            <a:r>
              <a:rPr lang="en-US" sz="1050" b="0" i="0" u="none" strike="noStrike" baseline="0" dirty="0"/>
              <a:t>For larger insertion of DNA sequences, twin prime editing (</a:t>
            </a:r>
            <a:r>
              <a:rPr lang="en-US" sz="1050" b="0" i="0" u="none" strike="noStrike" baseline="0" dirty="0" err="1"/>
              <a:t>twinPE</a:t>
            </a:r>
            <a:r>
              <a:rPr lang="en-US" sz="1050" b="0" i="0" u="none" strike="noStrike" baseline="0" dirty="0"/>
              <a:t>) can be applied using a pair of </a:t>
            </a:r>
            <a:r>
              <a:rPr lang="en-US" sz="1050" b="0" i="0" u="none" strike="noStrike" baseline="0" dirty="0" err="1"/>
              <a:t>pegRNAs</a:t>
            </a:r>
            <a:r>
              <a:rPr lang="en-US" sz="1050" b="0" i="0" u="none" strike="noStrike" baseline="0" dirty="0"/>
              <a:t> located farther away from one another. </a:t>
            </a:r>
            <a:r>
              <a:rPr lang="en-US" sz="1050" b="0" i="0" u="none" strike="noStrike" baseline="0" dirty="0" err="1"/>
              <a:t>TwinPE</a:t>
            </a:r>
            <a:r>
              <a:rPr lang="en-US" sz="1050" b="0" i="0" u="none" strike="noStrike" baseline="0" dirty="0"/>
              <a:t> has demonstrated the ability to allow the insertion of a 113 bp sequence between the two </a:t>
            </a:r>
            <a:r>
              <a:rPr lang="en-US" sz="1050" b="0" i="0" u="none" strike="noStrike" baseline="0" dirty="0" err="1"/>
              <a:t>pegRNA</a:t>
            </a:r>
            <a:r>
              <a:rPr lang="en-US" sz="1050" b="0" i="0" u="none" strike="noStrike" baseline="0" dirty="0"/>
              <a:t>-directed </a:t>
            </a:r>
            <a:r>
              <a:rPr lang="fr-FR" sz="1050" b="0" i="0" u="none" strike="noStrike" baseline="0" dirty="0" err="1"/>
              <a:t>nicks</a:t>
            </a:r>
            <a:r>
              <a:rPr lang="fr-FR" sz="1050" b="0" i="0" u="none" strike="noStrike" baseline="0" dirty="0"/>
              <a:t>.</a:t>
            </a:r>
            <a:endParaRPr lang="fr-FR" sz="1050" dirty="0"/>
          </a:p>
        </p:txBody>
      </p:sp>
    </p:spTree>
    <p:extLst>
      <p:ext uri="{BB962C8B-B14F-4D97-AF65-F5344CB8AC3E}">
        <p14:creationId xmlns:p14="http://schemas.microsoft.com/office/powerpoint/2010/main" val="2330592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9F9E-A140-3B7A-3EDC-8B266F580E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33FEE45-8B38-88DD-46D6-E2590EC7EEFE}"/>
              </a:ext>
            </a:extLst>
          </p:cNvPr>
          <p:cNvSpPr>
            <a:spLocks noGrp="1"/>
          </p:cNvSpPr>
          <p:nvPr>
            <p:ph type="title"/>
          </p:nvPr>
        </p:nvSpPr>
        <p:spPr/>
        <p:txBody>
          <a:bodyPr/>
          <a:lstStyle/>
          <a:p>
            <a:r>
              <a:rPr lang="fr-FR" dirty="0"/>
              <a:t> </a:t>
            </a:r>
            <a:r>
              <a:rPr lang="fr-FR" dirty="0" err="1"/>
              <a:t>Sequence-Specific</a:t>
            </a:r>
            <a:r>
              <a:rPr lang="fr-FR" dirty="0"/>
              <a:t> </a:t>
            </a:r>
            <a:r>
              <a:rPr lang="fr-FR" dirty="0" err="1"/>
              <a:t>Nucleases</a:t>
            </a:r>
            <a:r>
              <a:rPr lang="fr-FR" dirty="0"/>
              <a:t> </a:t>
            </a:r>
            <a:r>
              <a:rPr lang="fr-FR" dirty="0" err="1"/>
              <a:t>summary</a:t>
            </a:r>
            <a:endParaRPr lang="fr-FR" dirty="0"/>
          </a:p>
        </p:txBody>
      </p:sp>
      <p:sp>
        <p:nvSpPr>
          <p:cNvPr id="3" name="Espace réservé du contenu 2">
            <a:extLst>
              <a:ext uri="{FF2B5EF4-FFF2-40B4-BE49-F238E27FC236}">
                <a16:creationId xmlns:a16="http://schemas.microsoft.com/office/drawing/2014/main" id="{71E62E45-E86E-2FCB-EF8D-853E7F36025F}"/>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77E1BD0E-BF20-3CCB-BB7B-D0A0AF551511}"/>
              </a:ext>
            </a:extLst>
          </p:cNvPr>
          <p:cNvSpPr>
            <a:spLocks noGrp="1"/>
          </p:cNvSpPr>
          <p:nvPr>
            <p:ph type="body" sz="quarter" idx="15"/>
          </p:nvPr>
        </p:nvSpPr>
        <p:spPr/>
        <p:txBody>
          <a:bodyPr/>
          <a:lstStyle/>
          <a:p>
            <a:endParaRPr lang="fr-FR"/>
          </a:p>
        </p:txBody>
      </p:sp>
      <p:sp>
        <p:nvSpPr>
          <p:cNvPr id="5" name="Rectangle 4">
            <a:extLst>
              <a:ext uri="{FF2B5EF4-FFF2-40B4-BE49-F238E27FC236}">
                <a16:creationId xmlns:a16="http://schemas.microsoft.com/office/drawing/2014/main" id="{EC55285B-225E-4BA7-CDAC-B30948A154CC}"/>
              </a:ext>
            </a:extLst>
          </p:cNvPr>
          <p:cNvSpPr/>
          <p:nvPr/>
        </p:nvSpPr>
        <p:spPr>
          <a:xfrm>
            <a:off x="608400" y="3429000"/>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Tableau récapitulatif</a:t>
            </a:r>
          </a:p>
        </p:txBody>
      </p:sp>
    </p:spTree>
    <p:extLst>
      <p:ext uri="{BB962C8B-B14F-4D97-AF65-F5344CB8AC3E}">
        <p14:creationId xmlns:p14="http://schemas.microsoft.com/office/powerpoint/2010/main" val="1670387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207A1-D2A0-8100-0BDE-FEB200AAE1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25457E-6B9B-0844-0C74-5730D4BCA91F}"/>
              </a:ext>
            </a:extLst>
          </p:cNvPr>
          <p:cNvSpPr>
            <a:spLocks noGrp="1"/>
          </p:cNvSpPr>
          <p:nvPr>
            <p:ph type="title"/>
          </p:nvPr>
        </p:nvSpPr>
        <p:spPr/>
        <p:txBody>
          <a:bodyPr/>
          <a:lstStyle/>
          <a:p>
            <a:r>
              <a:rPr lang="fr-FR" dirty="0" err="1"/>
              <a:t>Questionary</a:t>
            </a:r>
            <a:r>
              <a:rPr lang="fr-FR" dirty="0"/>
              <a:t> </a:t>
            </a:r>
          </a:p>
        </p:txBody>
      </p:sp>
      <p:sp>
        <p:nvSpPr>
          <p:cNvPr id="3" name="Espace réservé du contenu 2">
            <a:extLst>
              <a:ext uri="{FF2B5EF4-FFF2-40B4-BE49-F238E27FC236}">
                <a16:creationId xmlns:a16="http://schemas.microsoft.com/office/drawing/2014/main" id="{8F9A22DE-73D8-44CD-2C94-E2F9F91406B6}"/>
              </a:ext>
            </a:extLst>
          </p:cNvPr>
          <p:cNvSpPr>
            <a:spLocks noGrp="1"/>
          </p:cNvSpPr>
          <p:nvPr>
            <p:ph idx="1"/>
          </p:nvPr>
        </p:nvSpPr>
        <p:spPr/>
        <p:txBody>
          <a:bodyPr/>
          <a:lstStyle/>
          <a:p>
            <a:r>
              <a:rPr lang="fr-FR" dirty="0">
                <a:hlinkClick r:id="rId2"/>
              </a:rPr>
              <a:t>https://digistorm.app/c/2923247</a:t>
            </a:r>
            <a:endParaRPr lang="fr-FR" dirty="0"/>
          </a:p>
          <a:p>
            <a:r>
              <a:rPr lang="fr-FR" dirty="0"/>
              <a:t>MDP : </a:t>
            </a:r>
            <a:r>
              <a:rPr lang="fr-FR" b="1" i="0" dirty="0">
                <a:solidFill>
                  <a:srgbClr val="001D1D"/>
                </a:solidFill>
                <a:effectLst/>
                <a:latin typeface="Roboto Slab" panose="020F0502020204030204" pitchFamily="2" charset="0"/>
              </a:rPr>
              <a:t>m9ox3n</a:t>
            </a:r>
            <a:endParaRPr lang="fr-FR" dirty="0"/>
          </a:p>
        </p:txBody>
      </p:sp>
      <p:sp>
        <p:nvSpPr>
          <p:cNvPr id="4" name="Espace réservé du texte 3">
            <a:extLst>
              <a:ext uri="{FF2B5EF4-FFF2-40B4-BE49-F238E27FC236}">
                <a16:creationId xmlns:a16="http://schemas.microsoft.com/office/drawing/2014/main" id="{9907A8E2-3326-4746-A111-0650375FCEF4}"/>
              </a:ext>
            </a:extLst>
          </p:cNvPr>
          <p:cNvSpPr>
            <a:spLocks noGrp="1"/>
          </p:cNvSpPr>
          <p:nvPr>
            <p:ph type="body" sz="quarter" idx="15"/>
          </p:nvPr>
        </p:nvSpPr>
        <p:spPr/>
        <p:txBody>
          <a:bodyPr/>
          <a:lstStyle/>
          <a:p>
            <a:endParaRPr lang="fr-FR"/>
          </a:p>
        </p:txBody>
      </p:sp>
      <p:sp>
        <p:nvSpPr>
          <p:cNvPr id="5" name="Rectangle 4">
            <a:extLst>
              <a:ext uri="{FF2B5EF4-FFF2-40B4-BE49-F238E27FC236}">
                <a16:creationId xmlns:a16="http://schemas.microsoft.com/office/drawing/2014/main" id="{3357655C-AFEF-6FB3-37AF-A537242AD99E}"/>
              </a:ext>
            </a:extLst>
          </p:cNvPr>
          <p:cNvSpPr/>
          <p:nvPr/>
        </p:nvSpPr>
        <p:spPr>
          <a:xfrm>
            <a:off x="608400" y="3429000"/>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Outil </a:t>
            </a:r>
            <a:r>
              <a:rPr lang="fr-FR" dirty="0" err="1"/>
              <a:t>digistorm</a:t>
            </a:r>
            <a:r>
              <a:rPr lang="fr-FR" dirty="0"/>
              <a:t> pour gérer quizz intermédiaire et nuage de mot final pour la sélection</a:t>
            </a:r>
          </a:p>
        </p:txBody>
      </p:sp>
    </p:spTree>
    <p:extLst>
      <p:ext uri="{BB962C8B-B14F-4D97-AF65-F5344CB8AC3E}">
        <p14:creationId xmlns:p14="http://schemas.microsoft.com/office/powerpoint/2010/main" val="3106227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79219-4051-50EC-06D6-1DAB2FD53CA1}"/>
            </a:ext>
          </a:extLst>
        </p:cNvPr>
        <p:cNvGrpSpPr/>
        <p:nvPr/>
      </p:nvGrpSpPr>
      <p:grpSpPr>
        <a:xfrm>
          <a:off x="0" y="0"/>
          <a:ext cx="0" cy="0"/>
          <a:chOff x="0" y="0"/>
          <a:chExt cx="0" cy="0"/>
        </a:xfrm>
      </p:grpSpPr>
      <p:grpSp>
        <p:nvGrpSpPr>
          <p:cNvPr id="15" name="Groupe 14">
            <a:extLst>
              <a:ext uri="{FF2B5EF4-FFF2-40B4-BE49-F238E27FC236}">
                <a16:creationId xmlns:a16="http://schemas.microsoft.com/office/drawing/2014/main" id="{E1913FB0-F056-6448-480B-DCC4DBCE3285}"/>
              </a:ext>
            </a:extLst>
          </p:cNvPr>
          <p:cNvGrpSpPr/>
          <p:nvPr/>
        </p:nvGrpSpPr>
        <p:grpSpPr>
          <a:xfrm>
            <a:off x="5744210" y="1051560"/>
            <a:ext cx="335280" cy="4879536"/>
            <a:chOff x="5947410" y="711200"/>
            <a:chExt cx="335280" cy="4879536"/>
          </a:xfrm>
        </p:grpSpPr>
        <p:cxnSp>
          <p:nvCxnSpPr>
            <p:cNvPr id="14" name="Connecteur droit 13">
              <a:extLst>
                <a:ext uri="{FF2B5EF4-FFF2-40B4-BE49-F238E27FC236}">
                  <a16:creationId xmlns:a16="http://schemas.microsoft.com/office/drawing/2014/main" id="{5F9B87E5-3A34-440A-85AC-AC281C9E2350}"/>
                </a:ext>
              </a:extLst>
            </p:cNvPr>
            <p:cNvCxnSpPr>
              <a:cxnSpLocks/>
              <a:stCxn id="7" idx="4"/>
            </p:cNvCxnSpPr>
            <p:nvPr/>
          </p:nvCxnSpPr>
          <p:spPr>
            <a:xfrm>
              <a:off x="6115050" y="1046480"/>
              <a:ext cx="0" cy="434061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F5FFD331-D802-A0F5-CBBD-02D7E32F8C4D}"/>
                </a:ext>
              </a:extLst>
            </p:cNvPr>
            <p:cNvSpPr/>
            <p:nvPr/>
          </p:nvSpPr>
          <p:spPr>
            <a:xfrm>
              <a:off x="5947410" y="711200"/>
              <a:ext cx="335280" cy="33528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8" name="Ellipse 7">
              <a:extLst>
                <a:ext uri="{FF2B5EF4-FFF2-40B4-BE49-F238E27FC236}">
                  <a16:creationId xmlns:a16="http://schemas.microsoft.com/office/drawing/2014/main" id="{AB4D4B02-8564-9C18-C3F6-450CB7554105}"/>
                </a:ext>
              </a:extLst>
            </p:cNvPr>
            <p:cNvSpPr/>
            <p:nvPr/>
          </p:nvSpPr>
          <p:spPr>
            <a:xfrm>
              <a:off x="5947410" y="1847264"/>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9" name="Ellipse 8">
              <a:extLst>
                <a:ext uri="{FF2B5EF4-FFF2-40B4-BE49-F238E27FC236}">
                  <a16:creationId xmlns:a16="http://schemas.microsoft.com/office/drawing/2014/main" id="{7FC066B5-4FBE-4461-323A-A197554C392C}"/>
                </a:ext>
              </a:extLst>
            </p:cNvPr>
            <p:cNvSpPr/>
            <p:nvPr/>
          </p:nvSpPr>
          <p:spPr>
            <a:xfrm>
              <a:off x="5947410" y="2983328"/>
              <a:ext cx="335280" cy="335280"/>
            </a:xfrm>
            <a:prstGeom prst="ellipse">
              <a:avLst/>
            </a:prstGeom>
            <a:solidFill>
              <a:schemeClr val="accent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 name="Ellipse 9">
              <a:extLst>
                <a:ext uri="{FF2B5EF4-FFF2-40B4-BE49-F238E27FC236}">
                  <a16:creationId xmlns:a16="http://schemas.microsoft.com/office/drawing/2014/main" id="{A5DD85A0-6B92-3A96-C831-62E29F90CA2E}"/>
                </a:ext>
              </a:extLst>
            </p:cNvPr>
            <p:cNvSpPr/>
            <p:nvPr/>
          </p:nvSpPr>
          <p:spPr>
            <a:xfrm>
              <a:off x="5947410" y="4119392"/>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5"/>
                </a:solidFill>
              </a:endParaRPr>
            </a:p>
          </p:txBody>
        </p:sp>
        <p:sp>
          <p:nvSpPr>
            <p:cNvPr id="11" name="Ellipse 10">
              <a:extLst>
                <a:ext uri="{FF2B5EF4-FFF2-40B4-BE49-F238E27FC236}">
                  <a16:creationId xmlns:a16="http://schemas.microsoft.com/office/drawing/2014/main" id="{FC91BA73-7869-5B39-3D1C-59A2BE2EEEDA}"/>
                </a:ext>
              </a:extLst>
            </p:cNvPr>
            <p:cNvSpPr/>
            <p:nvPr/>
          </p:nvSpPr>
          <p:spPr>
            <a:xfrm>
              <a:off x="5947410" y="5255456"/>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sp>
        <p:nvSpPr>
          <p:cNvPr id="16" name="ZoneTexte 15">
            <a:extLst>
              <a:ext uri="{FF2B5EF4-FFF2-40B4-BE49-F238E27FC236}">
                <a16:creationId xmlns:a16="http://schemas.microsoft.com/office/drawing/2014/main" id="{C7B75A81-42A4-39F3-DDEB-249728065CC7}"/>
              </a:ext>
            </a:extLst>
          </p:cNvPr>
          <p:cNvSpPr txBox="1"/>
          <p:nvPr/>
        </p:nvSpPr>
        <p:spPr>
          <a:xfrm>
            <a:off x="990601" y="2183132"/>
            <a:ext cx="4753606" cy="338554"/>
          </a:xfrm>
          <a:prstGeom prst="rect">
            <a:avLst/>
          </a:prstGeom>
          <a:noFill/>
        </p:spPr>
        <p:txBody>
          <a:bodyPr wrap="square" rtlCol="0">
            <a:spAutoFit/>
          </a:bodyPr>
          <a:lstStyle/>
          <a:p>
            <a:pPr algn="r"/>
            <a:r>
              <a:rPr lang="en-US" sz="1600" b="1" dirty="0"/>
              <a:t>Engineering with Sequence-Specific Nucleases</a:t>
            </a:r>
            <a:endParaRPr lang="en-GB" sz="1600" b="1" dirty="0"/>
          </a:p>
        </p:txBody>
      </p:sp>
      <p:sp>
        <p:nvSpPr>
          <p:cNvPr id="17" name="ZoneTexte 16">
            <a:extLst>
              <a:ext uri="{FF2B5EF4-FFF2-40B4-BE49-F238E27FC236}">
                <a16:creationId xmlns:a16="http://schemas.microsoft.com/office/drawing/2014/main" id="{9F17C524-260A-11EC-F974-963FCE54A7BB}"/>
              </a:ext>
            </a:extLst>
          </p:cNvPr>
          <p:cNvSpPr txBox="1"/>
          <p:nvPr/>
        </p:nvSpPr>
        <p:spPr>
          <a:xfrm>
            <a:off x="6079490" y="1048286"/>
            <a:ext cx="4089472" cy="338554"/>
          </a:xfrm>
          <a:prstGeom prst="rect">
            <a:avLst/>
          </a:prstGeom>
          <a:noFill/>
        </p:spPr>
        <p:txBody>
          <a:bodyPr wrap="square" rtlCol="0">
            <a:spAutoFit/>
          </a:bodyPr>
          <a:lstStyle/>
          <a:p>
            <a:r>
              <a:rPr lang="en-GB" sz="1600" b="1" dirty="0"/>
              <a:t>General introduction</a:t>
            </a:r>
          </a:p>
        </p:txBody>
      </p:sp>
      <p:sp>
        <p:nvSpPr>
          <p:cNvPr id="18" name="ZoneTexte 17">
            <a:extLst>
              <a:ext uri="{FF2B5EF4-FFF2-40B4-BE49-F238E27FC236}">
                <a16:creationId xmlns:a16="http://schemas.microsoft.com/office/drawing/2014/main" id="{7B7B807C-6489-AE34-3378-4294FB20AF0F}"/>
              </a:ext>
            </a:extLst>
          </p:cNvPr>
          <p:cNvSpPr txBox="1"/>
          <p:nvPr/>
        </p:nvSpPr>
        <p:spPr>
          <a:xfrm>
            <a:off x="6079490" y="3320414"/>
            <a:ext cx="4089474" cy="338554"/>
          </a:xfrm>
          <a:prstGeom prst="rect">
            <a:avLst/>
          </a:prstGeom>
          <a:noFill/>
        </p:spPr>
        <p:txBody>
          <a:bodyPr wrap="square" rtlCol="0">
            <a:spAutoFit/>
          </a:bodyPr>
          <a:lstStyle/>
          <a:p>
            <a:r>
              <a:rPr lang="en-GB" sz="1600" b="1" dirty="0">
                <a:solidFill>
                  <a:schemeClr val="accent1"/>
                </a:solidFill>
              </a:rPr>
              <a:t>Engineering at Transcriptional Level</a:t>
            </a:r>
          </a:p>
        </p:txBody>
      </p:sp>
      <p:sp>
        <p:nvSpPr>
          <p:cNvPr id="6" name="ZoneTexte 5">
            <a:extLst>
              <a:ext uri="{FF2B5EF4-FFF2-40B4-BE49-F238E27FC236}">
                <a16:creationId xmlns:a16="http://schemas.microsoft.com/office/drawing/2014/main" id="{828BC71E-5FCF-83A3-2127-D9FC2BDE6F9F}"/>
              </a:ext>
            </a:extLst>
          </p:cNvPr>
          <p:cNvSpPr txBox="1"/>
          <p:nvPr/>
        </p:nvSpPr>
        <p:spPr>
          <a:xfrm>
            <a:off x="6079490" y="5595816"/>
            <a:ext cx="4089472" cy="338554"/>
          </a:xfrm>
          <a:prstGeom prst="rect">
            <a:avLst/>
          </a:prstGeom>
          <a:noFill/>
        </p:spPr>
        <p:txBody>
          <a:bodyPr wrap="square" rtlCol="0">
            <a:spAutoFit/>
          </a:bodyPr>
          <a:lstStyle/>
          <a:p>
            <a:pPr defTabSz="914400"/>
            <a:r>
              <a:rPr lang="en-US" sz="1600" b="1" dirty="0">
                <a:ea typeface="Ebrima" pitchFamily="2" charset="0"/>
                <a:cs typeface="Arial" panose="020B0604020202020204" pitchFamily="34" charset="0"/>
              </a:rPr>
              <a:t>Comparisons &amp; conclusions</a:t>
            </a:r>
          </a:p>
        </p:txBody>
      </p:sp>
      <p:sp>
        <p:nvSpPr>
          <p:cNvPr id="19" name="ZoneTexte 18">
            <a:extLst>
              <a:ext uri="{FF2B5EF4-FFF2-40B4-BE49-F238E27FC236}">
                <a16:creationId xmlns:a16="http://schemas.microsoft.com/office/drawing/2014/main" id="{3BC62D22-8517-61E0-2196-112E8AB03DC3}"/>
              </a:ext>
            </a:extLst>
          </p:cNvPr>
          <p:cNvSpPr txBox="1"/>
          <p:nvPr/>
        </p:nvSpPr>
        <p:spPr>
          <a:xfrm>
            <a:off x="990602" y="4471894"/>
            <a:ext cx="4753608" cy="338554"/>
          </a:xfrm>
          <a:prstGeom prst="rect">
            <a:avLst/>
          </a:prstGeom>
          <a:noFill/>
        </p:spPr>
        <p:txBody>
          <a:bodyPr wrap="square" rtlCol="0">
            <a:spAutoFit/>
          </a:bodyPr>
          <a:lstStyle/>
          <a:p>
            <a:pPr algn="r" defTabSz="914400"/>
            <a:r>
              <a:rPr lang="en-US" sz="1600" b="1" dirty="0">
                <a:ea typeface="Ebrima" pitchFamily="2" charset="0"/>
                <a:cs typeface="Arial" panose="020B0604020202020204" pitchFamily="34" charset="0"/>
              </a:rPr>
              <a:t>Engineering at Translational Level</a:t>
            </a:r>
          </a:p>
        </p:txBody>
      </p:sp>
    </p:spTree>
    <p:extLst>
      <p:ext uri="{BB962C8B-B14F-4D97-AF65-F5344CB8AC3E}">
        <p14:creationId xmlns:p14="http://schemas.microsoft.com/office/powerpoint/2010/main" val="3614252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3">
            <a:extLst>
              <a:ext uri="{FF2B5EF4-FFF2-40B4-BE49-F238E27FC236}">
                <a16:creationId xmlns:a16="http://schemas.microsoft.com/office/drawing/2014/main" id="{66066948-4D2E-7B0B-3B09-5F11AF1ABFB6}"/>
              </a:ext>
            </a:extLst>
          </p:cNvPr>
          <p:cNvSpPr txBox="1">
            <a:spLocks/>
          </p:cNvSpPr>
          <p:nvPr/>
        </p:nvSpPr>
        <p:spPr>
          <a:xfrm>
            <a:off x="4095750" y="1735679"/>
            <a:ext cx="6200775" cy="1455196"/>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700" b="0" i="0" kern="1200">
                <a:solidFill>
                  <a:schemeClr val="bg1"/>
                </a:solidFill>
                <a:latin typeface="Arial" panose="020B0604020202020204" pitchFamily="34" charset="0"/>
                <a:ea typeface="+mj-ea"/>
                <a:cs typeface="Arial" panose="020B0604020202020204" pitchFamily="34" charset="0"/>
              </a:defRPr>
            </a:lvl1pPr>
          </a:lstStyle>
          <a:p>
            <a:r>
              <a:rPr lang="en-US" sz="4800" b="1" dirty="0"/>
              <a:t>Engineering at Transcriptional Level</a:t>
            </a:r>
            <a:endParaRPr lang="en-GB" sz="4800" b="1" dirty="0"/>
          </a:p>
        </p:txBody>
      </p:sp>
    </p:spTree>
    <p:extLst>
      <p:ext uri="{BB962C8B-B14F-4D97-AF65-F5344CB8AC3E}">
        <p14:creationId xmlns:p14="http://schemas.microsoft.com/office/powerpoint/2010/main" val="1115216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6B80-B98B-8A8A-5E8F-4A3BFDFB4CDC}"/>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086E79B9-D11F-A196-7E28-DBBCF6B86B8C}"/>
              </a:ext>
            </a:extLst>
          </p:cNvPr>
          <p:cNvCxnSpPr/>
          <p:nvPr/>
        </p:nvCxnSpPr>
        <p:spPr>
          <a:xfrm>
            <a:off x="0" y="771525"/>
            <a:ext cx="12192000" cy="0"/>
          </a:xfrm>
          <a:prstGeom prst="line">
            <a:avLst/>
          </a:prstGeom>
          <a:ln w="38100">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C72A4761-0AFE-95DF-C976-5B4B00914605}"/>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tx2">
                    <a:lumMod val="75000"/>
                  </a:schemeClr>
                </a:solidFill>
              </a:rPr>
              <a:t>Epigenome</a:t>
            </a:r>
            <a:r>
              <a:rPr lang="fr-FR" sz="3100" b="1" dirty="0">
                <a:solidFill>
                  <a:schemeClr val="tx2">
                    <a:lumMod val="75000"/>
                  </a:schemeClr>
                </a:solidFill>
              </a:rPr>
              <a:t> </a:t>
            </a:r>
            <a:r>
              <a:rPr lang="fr-FR" sz="3100" b="1" dirty="0" err="1">
                <a:solidFill>
                  <a:schemeClr val="tx2">
                    <a:lumMod val="75000"/>
                  </a:schemeClr>
                </a:solidFill>
              </a:rPr>
              <a:t>editing</a:t>
            </a:r>
            <a:endParaRPr lang="fr-FR" sz="3100" b="1" dirty="0">
              <a:solidFill>
                <a:schemeClr val="tx2">
                  <a:lumMod val="75000"/>
                </a:schemeClr>
              </a:solidFill>
            </a:endParaRPr>
          </a:p>
        </p:txBody>
      </p:sp>
      <p:sp>
        <p:nvSpPr>
          <p:cNvPr id="20" name="Rectangle : coins arrondis 19">
            <a:extLst>
              <a:ext uri="{FF2B5EF4-FFF2-40B4-BE49-F238E27FC236}">
                <a16:creationId xmlns:a16="http://schemas.microsoft.com/office/drawing/2014/main" id="{4AF7983F-1F38-82C8-42AE-0A04DD0C058B}"/>
              </a:ext>
            </a:extLst>
          </p:cNvPr>
          <p:cNvSpPr/>
          <p:nvPr/>
        </p:nvSpPr>
        <p:spPr>
          <a:xfrm>
            <a:off x="3229069" y="2251681"/>
            <a:ext cx="5044440" cy="3483430"/>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D355A1FE-4E04-A617-3696-6B13E0577EB4}"/>
              </a:ext>
            </a:extLst>
          </p:cNvPr>
          <p:cNvSpPr/>
          <p:nvPr/>
        </p:nvSpPr>
        <p:spPr>
          <a:xfrm>
            <a:off x="3026550" y="1972513"/>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3260F249-C365-BDE8-6C96-6FC92881DA5E}"/>
              </a:ext>
            </a:extLst>
          </p:cNvPr>
          <p:cNvSpPr/>
          <p:nvPr/>
        </p:nvSpPr>
        <p:spPr>
          <a:xfrm>
            <a:off x="3468968" y="2050167"/>
            <a:ext cx="2297561"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5A24EDDE-85D7-39E5-692E-BAA2CD3818E7}"/>
              </a:ext>
            </a:extLst>
          </p:cNvPr>
          <p:cNvSpPr/>
          <p:nvPr/>
        </p:nvSpPr>
        <p:spPr>
          <a:xfrm rot="5400000">
            <a:off x="-358685" y="2607141"/>
            <a:ext cx="3483429" cy="2766060"/>
          </a:xfrm>
          <a:prstGeom prst="round2SameRect">
            <a:avLst>
              <a:gd name="adj1" fmla="val 10809"/>
              <a:gd name="adj2" fmla="val 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8094F015-A4D8-0D8B-4B24-716E94EF81DD}"/>
              </a:ext>
            </a:extLst>
          </p:cNvPr>
          <p:cNvSpPr/>
          <p:nvPr/>
        </p:nvSpPr>
        <p:spPr>
          <a:xfrm>
            <a:off x="8760710" y="2244424"/>
            <a:ext cx="3063240" cy="1909415"/>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37A3D895-57F9-F511-E38D-2B7F2A71A4C6}"/>
              </a:ext>
            </a:extLst>
          </p:cNvPr>
          <p:cNvSpPr/>
          <p:nvPr/>
        </p:nvSpPr>
        <p:spPr>
          <a:xfrm>
            <a:off x="8558191" y="1965257"/>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887DBE49-8F0E-9E58-24F2-5068CA99E5D5}"/>
              </a:ext>
            </a:extLst>
          </p:cNvPr>
          <p:cNvSpPr/>
          <p:nvPr/>
        </p:nvSpPr>
        <p:spPr>
          <a:xfrm>
            <a:off x="9000609" y="2035590"/>
            <a:ext cx="2297561"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5" name="Rectangle : coins arrondis 44">
            <a:extLst>
              <a:ext uri="{FF2B5EF4-FFF2-40B4-BE49-F238E27FC236}">
                <a16:creationId xmlns:a16="http://schemas.microsoft.com/office/drawing/2014/main" id="{F96D2C69-F29B-7830-FCEC-5877F3994E8D}"/>
              </a:ext>
            </a:extLst>
          </p:cNvPr>
          <p:cNvSpPr/>
          <p:nvPr/>
        </p:nvSpPr>
        <p:spPr>
          <a:xfrm>
            <a:off x="8760710" y="4659574"/>
            <a:ext cx="3063240" cy="1848827"/>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CF07A96E-A1BC-4289-F03B-F51CAC18B096}"/>
              </a:ext>
            </a:extLst>
          </p:cNvPr>
          <p:cNvSpPr/>
          <p:nvPr/>
        </p:nvSpPr>
        <p:spPr>
          <a:xfrm>
            <a:off x="8558191" y="4380407"/>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7AF70DE2-C5D6-FA90-5F8B-DDAD9ECECA1F}"/>
              </a:ext>
            </a:extLst>
          </p:cNvPr>
          <p:cNvSpPr/>
          <p:nvPr/>
        </p:nvSpPr>
        <p:spPr>
          <a:xfrm>
            <a:off x="9000609" y="4450740"/>
            <a:ext cx="2297561"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 name="Groupe 2">
            <a:extLst>
              <a:ext uri="{FF2B5EF4-FFF2-40B4-BE49-F238E27FC236}">
                <a16:creationId xmlns:a16="http://schemas.microsoft.com/office/drawing/2014/main" id="{A8F5BE61-136B-28C4-10FA-2851DC60203E}"/>
              </a:ext>
            </a:extLst>
          </p:cNvPr>
          <p:cNvGrpSpPr/>
          <p:nvPr/>
        </p:nvGrpSpPr>
        <p:grpSpPr>
          <a:xfrm>
            <a:off x="71514" y="2316811"/>
            <a:ext cx="2632872" cy="720000"/>
            <a:chOff x="71514" y="2316811"/>
            <a:chExt cx="2632872" cy="720000"/>
          </a:xfrm>
        </p:grpSpPr>
        <p:sp>
          <p:nvSpPr>
            <p:cNvPr id="4" name="ZoneTexte 3">
              <a:extLst>
                <a:ext uri="{FF2B5EF4-FFF2-40B4-BE49-F238E27FC236}">
                  <a16:creationId xmlns:a16="http://schemas.microsoft.com/office/drawing/2014/main" id="{ACF5082B-70BE-8F7B-375A-2E3B157774C2}"/>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b="1" dirty="0"/>
            </a:p>
          </p:txBody>
        </p:sp>
        <p:pic>
          <p:nvPicPr>
            <p:cNvPr id="5" name="Image 4">
              <a:extLst>
                <a:ext uri="{FF2B5EF4-FFF2-40B4-BE49-F238E27FC236}">
                  <a16:creationId xmlns:a16="http://schemas.microsoft.com/office/drawing/2014/main" id="{E329EF21-0A08-61E5-1BFB-EA928CCD880B}"/>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28CF4761-51E6-8D20-7782-99D15917E456}"/>
              </a:ext>
            </a:extLst>
          </p:cNvPr>
          <p:cNvGrpSpPr/>
          <p:nvPr/>
        </p:nvGrpSpPr>
        <p:grpSpPr>
          <a:xfrm>
            <a:off x="74170" y="3308528"/>
            <a:ext cx="2630216" cy="720000"/>
            <a:chOff x="74170" y="3340479"/>
            <a:chExt cx="2630216" cy="720000"/>
          </a:xfrm>
        </p:grpSpPr>
        <p:sp>
          <p:nvSpPr>
            <p:cNvPr id="23" name="ZoneTexte 22">
              <a:extLst>
                <a:ext uri="{FF2B5EF4-FFF2-40B4-BE49-F238E27FC236}">
                  <a16:creationId xmlns:a16="http://schemas.microsoft.com/office/drawing/2014/main" id="{D894CC60-F615-CEDC-6FCF-57B8B4D3940A}"/>
                </a:ext>
              </a:extLst>
            </p:cNvPr>
            <p:cNvSpPr txBox="1"/>
            <p:nvPr/>
          </p:nvSpPr>
          <p:spPr>
            <a:xfrm>
              <a:off x="839954" y="3484305"/>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24" name="Image 23">
              <a:extLst>
                <a:ext uri="{FF2B5EF4-FFF2-40B4-BE49-F238E27FC236}">
                  <a16:creationId xmlns:a16="http://schemas.microsoft.com/office/drawing/2014/main" id="{3FA4658A-984B-9F21-9785-0DD08FC38535}"/>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516E98C3-58F5-D941-F206-797E2C813C27}"/>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A5FE34AA-2264-7F06-A345-5F70DD591297}"/>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EDB9CD08-5820-BB30-ABF7-F5C16ECF60BB}"/>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CD0EB978-4C99-BE2C-D9F6-E17FD621C67A}"/>
              </a:ext>
            </a:extLst>
          </p:cNvPr>
          <p:cNvPicPr>
            <a:picLocks noChangeAspect="1"/>
          </p:cNvPicPr>
          <p:nvPr/>
        </p:nvPicPr>
        <p:blipFill>
          <a:blip r:embed="rId5"/>
          <a:stretch>
            <a:fillRect/>
          </a:stretch>
        </p:blipFill>
        <p:spPr>
          <a:xfrm>
            <a:off x="3084375" y="2029268"/>
            <a:ext cx="468000" cy="468000"/>
          </a:xfrm>
          <a:prstGeom prst="rect">
            <a:avLst/>
          </a:prstGeom>
        </p:spPr>
      </p:pic>
      <p:pic>
        <p:nvPicPr>
          <p:cNvPr id="39" name="Image 38" descr="Une image contenant symbole, Police, Graphique, logo&#10;&#10;Description générée automatiquement">
            <a:extLst>
              <a:ext uri="{FF2B5EF4-FFF2-40B4-BE49-F238E27FC236}">
                <a16:creationId xmlns:a16="http://schemas.microsoft.com/office/drawing/2014/main" id="{64841072-0ECC-DFE6-841D-C94C865EEAC7}"/>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E45FC107-35B3-F61F-CAB2-E071BAD4BE6F}"/>
              </a:ext>
            </a:extLst>
          </p:cNvPr>
          <p:cNvPicPr>
            <a:picLocks noChangeAspect="1"/>
          </p:cNvPicPr>
          <p:nvPr/>
        </p:nvPicPr>
        <p:blipFill>
          <a:blip r:embed="rId7"/>
          <a:stretch>
            <a:fillRect/>
          </a:stretch>
        </p:blipFill>
        <p:spPr>
          <a:xfrm>
            <a:off x="8632027" y="4417584"/>
            <a:ext cx="468000" cy="468000"/>
          </a:xfrm>
          <a:prstGeom prst="rect">
            <a:avLst/>
          </a:prstGeom>
        </p:spPr>
      </p:pic>
      <p:sp>
        <p:nvSpPr>
          <p:cNvPr id="29" name="ZoneTexte 28">
            <a:extLst>
              <a:ext uri="{FF2B5EF4-FFF2-40B4-BE49-F238E27FC236}">
                <a16:creationId xmlns:a16="http://schemas.microsoft.com/office/drawing/2014/main" id="{9B4BF0B1-5C29-C271-3F15-7B199E58288C}"/>
              </a:ext>
            </a:extLst>
          </p:cNvPr>
          <p:cNvSpPr txBox="1"/>
          <p:nvPr/>
        </p:nvSpPr>
        <p:spPr>
          <a:xfrm>
            <a:off x="3552375" y="2937480"/>
            <a:ext cx="4281487" cy="1938992"/>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a:t>Combination of </a:t>
            </a:r>
            <a:r>
              <a:rPr lang="fr-FR" sz="1200" dirty="0" err="1"/>
              <a:t>modified</a:t>
            </a:r>
            <a:r>
              <a:rPr lang="fr-FR" sz="1200" dirty="0"/>
              <a:t> </a:t>
            </a:r>
            <a:r>
              <a:rPr lang="fr-FR" sz="1200" dirty="0" err="1"/>
              <a:t>genome</a:t>
            </a:r>
            <a:r>
              <a:rPr lang="fr-FR" sz="1200" dirty="0"/>
              <a:t> </a:t>
            </a:r>
            <a:r>
              <a:rPr lang="fr-FR" sz="1200" dirty="0" err="1"/>
              <a:t>editing</a:t>
            </a:r>
            <a:r>
              <a:rPr lang="fr-FR" sz="1200" dirty="0"/>
              <a:t> </a:t>
            </a:r>
            <a:r>
              <a:rPr lang="fr-FR" sz="1200" dirty="0" err="1"/>
              <a:t>machinery</a:t>
            </a:r>
            <a:r>
              <a:rPr lang="fr-FR" sz="1200" dirty="0"/>
              <a:t> </a:t>
            </a:r>
            <a:r>
              <a:rPr lang="fr-FR" sz="1200" dirty="0" err="1"/>
              <a:t>with</a:t>
            </a:r>
            <a:r>
              <a:rPr lang="fr-FR" sz="1200" dirty="0"/>
              <a:t> </a:t>
            </a:r>
            <a:r>
              <a:rPr lang="fr-FR" sz="1200" dirty="0" err="1"/>
              <a:t>epigenetic</a:t>
            </a:r>
            <a:r>
              <a:rPr lang="fr-FR" sz="1200" dirty="0"/>
              <a:t> modification enzymes.</a:t>
            </a:r>
          </a:p>
          <a:p>
            <a:pPr marL="285750" indent="-285750" algn="just">
              <a:buFont typeface="Wingdings" panose="05000000000000000000" pitchFamily="2" charset="2"/>
              <a:buChar char="Ø"/>
            </a:pPr>
            <a:r>
              <a:rPr lang="fr-FR" sz="1200" dirty="0"/>
              <a:t>There </a:t>
            </a:r>
            <a:r>
              <a:rPr lang="fr-FR" sz="1200" dirty="0" err="1"/>
              <a:t>exists</a:t>
            </a:r>
            <a:r>
              <a:rPr lang="fr-FR" sz="1200" dirty="0"/>
              <a:t> lots of </a:t>
            </a:r>
            <a:r>
              <a:rPr lang="fr-FR" sz="1200" dirty="0" err="1"/>
              <a:t>epigenetic</a:t>
            </a:r>
            <a:r>
              <a:rPr lang="fr-FR" sz="1200" dirty="0"/>
              <a:t> </a:t>
            </a:r>
            <a:r>
              <a:rPr lang="fr-FR" sz="1200" dirty="0" err="1"/>
              <a:t>modifiers</a:t>
            </a:r>
            <a:r>
              <a:rPr lang="fr-FR" sz="1200" dirty="0"/>
              <a:t> : histone </a:t>
            </a:r>
            <a:r>
              <a:rPr lang="fr-FR" sz="1200" dirty="0" err="1"/>
              <a:t>acyltransferases</a:t>
            </a:r>
            <a:r>
              <a:rPr lang="fr-FR" sz="1200" dirty="0"/>
              <a:t>, </a:t>
            </a:r>
            <a:r>
              <a:rPr lang="fr-FR" sz="1200" dirty="0" err="1"/>
              <a:t>deacetylases</a:t>
            </a:r>
            <a:r>
              <a:rPr lang="fr-FR" sz="1200" dirty="0"/>
              <a:t>, </a:t>
            </a:r>
            <a:r>
              <a:rPr lang="fr-FR" sz="1200" dirty="0" err="1"/>
              <a:t>HMTs</a:t>
            </a:r>
            <a:r>
              <a:rPr lang="fr-FR" sz="1200" dirty="0"/>
              <a:t>, </a:t>
            </a:r>
            <a:r>
              <a:rPr lang="fr-FR" sz="1200" dirty="0" err="1"/>
              <a:t>demethylases</a:t>
            </a:r>
            <a:r>
              <a:rPr lang="fr-FR" sz="1200" dirty="0"/>
              <a:t>… </a:t>
            </a:r>
            <a:r>
              <a:rPr lang="fr-FR" sz="1200" dirty="0" err="1"/>
              <a:t>They</a:t>
            </a:r>
            <a:r>
              <a:rPr lang="fr-FR" sz="1200" dirty="0"/>
              <a:t> can </a:t>
            </a:r>
            <a:r>
              <a:rPr lang="fr-FR" sz="1200" dirty="0" err="1"/>
              <a:t>be</a:t>
            </a:r>
            <a:r>
              <a:rPr lang="fr-FR" sz="1200" dirty="0"/>
              <a:t> </a:t>
            </a:r>
            <a:r>
              <a:rPr lang="fr-FR" sz="1200" dirty="0" err="1"/>
              <a:t>fused</a:t>
            </a:r>
            <a:r>
              <a:rPr lang="fr-FR" sz="1200" dirty="0"/>
              <a:t> </a:t>
            </a:r>
            <a:r>
              <a:rPr lang="fr-FR" sz="1200" dirty="0" err="1"/>
              <a:t>with</a:t>
            </a:r>
            <a:r>
              <a:rPr lang="fr-FR" sz="1200" dirty="0"/>
              <a:t> </a:t>
            </a:r>
            <a:r>
              <a:rPr lang="fr-FR" sz="1200" dirty="0" err="1"/>
              <a:t>target-specific</a:t>
            </a:r>
            <a:r>
              <a:rPr lang="fr-FR" sz="1200" dirty="0"/>
              <a:t> </a:t>
            </a:r>
            <a:r>
              <a:rPr lang="fr-FR" sz="1200" dirty="0" err="1"/>
              <a:t>deactivated</a:t>
            </a:r>
            <a:r>
              <a:rPr lang="fr-FR" sz="1200" dirty="0"/>
              <a:t> zinc </a:t>
            </a:r>
            <a:r>
              <a:rPr lang="fr-FR" sz="1200" dirty="0" err="1"/>
              <a:t>fingers</a:t>
            </a:r>
            <a:r>
              <a:rPr lang="fr-FR" sz="1200" dirty="0"/>
              <a:t>, </a:t>
            </a:r>
            <a:r>
              <a:rPr lang="fr-FR" sz="1200" dirty="0" err="1"/>
              <a:t>TALEs</a:t>
            </a:r>
            <a:r>
              <a:rPr lang="fr-FR" sz="1200" dirty="0"/>
              <a:t> or Cas9 </a:t>
            </a:r>
            <a:r>
              <a:rPr lang="fr-FR" sz="1200" dirty="0" err="1"/>
              <a:t>proteins</a:t>
            </a:r>
            <a:r>
              <a:rPr lang="fr-FR" sz="1200" dirty="0"/>
              <a:t>.</a:t>
            </a:r>
          </a:p>
          <a:p>
            <a:pPr marL="285750" indent="-285750" algn="just">
              <a:buFont typeface="Wingdings" panose="05000000000000000000" pitchFamily="2" charset="2"/>
              <a:buChar char="Ø"/>
            </a:pPr>
            <a:r>
              <a:rPr lang="en-US" sz="1200" b="0" i="0" u="none" strike="noStrike" baseline="0" dirty="0"/>
              <a:t>Epigenome editing involves precise modifications to epigenetic markers, such as DNA methylation and histone modifications, offering potential treatments for diseases influenced by epigenetic factors.</a:t>
            </a:r>
          </a:p>
        </p:txBody>
      </p:sp>
      <p:grpSp>
        <p:nvGrpSpPr>
          <p:cNvPr id="33" name="Groupe 32">
            <a:extLst>
              <a:ext uri="{FF2B5EF4-FFF2-40B4-BE49-F238E27FC236}">
                <a16:creationId xmlns:a16="http://schemas.microsoft.com/office/drawing/2014/main" id="{1FE93547-8E46-7E81-CCB1-5D09826A1540}"/>
              </a:ext>
            </a:extLst>
          </p:cNvPr>
          <p:cNvGrpSpPr/>
          <p:nvPr/>
        </p:nvGrpSpPr>
        <p:grpSpPr>
          <a:xfrm>
            <a:off x="645225" y="945343"/>
            <a:ext cx="10937024" cy="565150"/>
            <a:chOff x="645225" y="945343"/>
            <a:chExt cx="10937024" cy="565150"/>
          </a:xfrm>
        </p:grpSpPr>
        <p:sp>
          <p:nvSpPr>
            <p:cNvPr id="37" name="Ellipse 36">
              <a:extLst>
                <a:ext uri="{FF2B5EF4-FFF2-40B4-BE49-F238E27FC236}">
                  <a16:creationId xmlns:a16="http://schemas.microsoft.com/office/drawing/2014/main" id="{93BE1CC9-65E8-34AE-9E4E-5CCC146011D4}"/>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space réservé du texte 9">
              <a:extLst>
                <a:ext uri="{FF2B5EF4-FFF2-40B4-BE49-F238E27FC236}">
                  <a16:creationId xmlns:a16="http://schemas.microsoft.com/office/drawing/2014/main" id="{74FF5342-8082-DB2B-C13E-A0C892AE14DB}"/>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2937086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8942-5681-7ECA-C7EC-857D2F3CF1EA}"/>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EE556F67-42D2-3D97-AE96-9703F465497E}"/>
              </a:ext>
            </a:extLst>
          </p:cNvPr>
          <p:cNvSpPr/>
          <p:nvPr/>
        </p:nvSpPr>
        <p:spPr>
          <a:xfrm>
            <a:off x="371100" y="1364427"/>
            <a:ext cx="8635047" cy="1311072"/>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0D27E431-61F9-900E-2915-088F15F2BC9D}"/>
              </a:ext>
            </a:extLst>
          </p:cNvPr>
          <p:cNvSpPr/>
          <p:nvPr/>
        </p:nvSpPr>
        <p:spPr>
          <a:xfrm>
            <a:off x="300401" y="1186511"/>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E92BF166-FD27-A04B-F438-D2CD4F1C0FC3}"/>
              </a:ext>
            </a:extLst>
          </p:cNvPr>
          <p:cNvSpPr/>
          <p:nvPr/>
        </p:nvSpPr>
        <p:spPr>
          <a:xfrm>
            <a:off x="742819" y="1264165"/>
            <a:ext cx="3415295"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043130F8-D5AB-1211-A31A-6BF4B84AA33F}"/>
              </a:ext>
            </a:extLst>
          </p:cNvPr>
          <p:cNvSpPr/>
          <p:nvPr/>
        </p:nvSpPr>
        <p:spPr>
          <a:xfrm rot="16200000">
            <a:off x="9878641" y="784232"/>
            <a:ext cx="1860661" cy="2766060"/>
          </a:xfrm>
          <a:prstGeom prst="round2SameRect">
            <a:avLst>
              <a:gd name="adj1" fmla="val 10809"/>
              <a:gd name="adj2" fmla="val 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6454CC78-9897-C1AF-4526-6A366F3D8AB5}"/>
              </a:ext>
            </a:extLst>
          </p:cNvPr>
          <p:cNvSpPr/>
          <p:nvPr/>
        </p:nvSpPr>
        <p:spPr>
          <a:xfrm>
            <a:off x="502920" y="3166425"/>
            <a:ext cx="8508400" cy="1480243"/>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1A4C9ECC-6EF8-E447-2160-87AFB090EBA9}"/>
              </a:ext>
            </a:extLst>
          </p:cNvPr>
          <p:cNvSpPr/>
          <p:nvPr/>
        </p:nvSpPr>
        <p:spPr>
          <a:xfrm>
            <a:off x="300401" y="2887258"/>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A323FEF6-D2CA-F69C-4730-162BDEBD4CEF}"/>
              </a:ext>
            </a:extLst>
          </p:cNvPr>
          <p:cNvSpPr/>
          <p:nvPr/>
        </p:nvSpPr>
        <p:spPr>
          <a:xfrm>
            <a:off x="742819" y="2957591"/>
            <a:ext cx="3415295"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19B4D12A-0AB7-040F-7302-2FD3DA96916F}"/>
              </a:ext>
            </a:extLst>
          </p:cNvPr>
          <p:cNvSpPr/>
          <p:nvPr/>
        </p:nvSpPr>
        <p:spPr>
          <a:xfrm>
            <a:off x="502919" y="5221998"/>
            <a:ext cx="8503229" cy="1480243"/>
          </a:xfrm>
          <a:prstGeom prst="round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2BC4082E-3122-0642-4071-148CD0CD6222}"/>
              </a:ext>
            </a:extLst>
          </p:cNvPr>
          <p:cNvSpPr/>
          <p:nvPr/>
        </p:nvSpPr>
        <p:spPr>
          <a:xfrm>
            <a:off x="300401" y="4915661"/>
            <a:ext cx="576000" cy="576000"/>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52A48515-F9F5-971F-FA7E-2A2A355327EA}"/>
              </a:ext>
            </a:extLst>
          </p:cNvPr>
          <p:cNvSpPr/>
          <p:nvPr/>
        </p:nvSpPr>
        <p:spPr>
          <a:xfrm>
            <a:off x="742819" y="4985994"/>
            <a:ext cx="3415295" cy="425732"/>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7FE0009F-ED16-01DC-BE19-238DF616A6C5}"/>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2553138C-C4BB-0646-1B3F-E1560219E38A}"/>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7FEC1AF7-C187-19A6-5086-961371D8C3D2}"/>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B41DDA9F-54DF-0306-A819-A9B6611A020F}"/>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8BEAA9F1-DB31-11D8-7997-99CC2AE09B72}"/>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1F169B48-80B3-4C38-8331-38B63081D240}"/>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587C3332-62CA-C57B-422F-D363FE1BE861}"/>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DD379174-AC78-9731-E532-E3708620C92F}"/>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84402208-DF3C-88FA-563D-BBA5AC14811C}"/>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09B37000-FD2B-A259-F9B3-9DB4E1507185}"/>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807BA33F-3DF3-6360-F235-18AFBC90D0FA}"/>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B476D8C5-9996-BD5A-AF41-702220A700AE}"/>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0F6E0123-433A-4F89-0D8E-6BD44F8DCD6C}"/>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FD9C0B2F-F5B6-D898-81FE-B7FB68F82F9A}"/>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73C129AA-F6DB-9402-DF08-9EBF18832BE6}"/>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37908C8A-5BA5-BB59-6E12-D9F56380814A}"/>
                </a:ext>
              </a:extLst>
            </p:cNvPr>
            <p:cNvPicPr>
              <a:picLocks noChangeAspect="1"/>
            </p:cNvPicPr>
            <p:nvPr/>
          </p:nvPicPr>
          <p:blipFill>
            <a:blip r:embed="rId4"/>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25E71439-9422-CD5F-AA9D-0D8A2D282D77}"/>
              </a:ext>
            </a:extLst>
          </p:cNvPr>
          <p:cNvPicPr>
            <a:picLocks noChangeAspect="1"/>
          </p:cNvPicPr>
          <p:nvPr/>
        </p:nvPicPr>
        <p:blipFill>
          <a:blip r:embed="rId5"/>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55C2B394-EF98-6FAE-C416-F94076B2A194}"/>
              </a:ext>
            </a:extLst>
          </p:cNvPr>
          <p:cNvSpPr/>
          <p:nvPr/>
        </p:nvSpPr>
        <p:spPr>
          <a:xfrm rot="16200000">
            <a:off x="9416360" y="3658746"/>
            <a:ext cx="2785225" cy="2766060"/>
          </a:xfrm>
          <a:prstGeom prst="round2SameRect">
            <a:avLst>
              <a:gd name="adj1" fmla="val 10809"/>
              <a:gd name="adj2" fmla="val 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A19DBF0F-9A9A-B45F-1277-9A82DA50C650}"/>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03B7DC3F-DD47-0AE0-1F91-D04599388018}"/>
              </a:ext>
            </a:extLst>
          </p:cNvPr>
          <p:cNvPicPr>
            <a:picLocks noChangeAspect="1"/>
          </p:cNvPicPr>
          <p:nvPr/>
        </p:nvPicPr>
        <p:blipFill>
          <a:blip r:embed="rId6"/>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F01354F4-FC6B-4EF9-B6EF-B4568EDC16B5}"/>
              </a:ext>
            </a:extLst>
          </p:cNvPr>
          <p:cNvPicPr>
            <a:picLocks noChangeAspect="1"/>
          </p:cNvPicPr>
          <p:nvPr/>
        </p:nvPicPr>
        <p:blipFill>
          <a:blip r:embed="rId7"/>
          <a:stretch>
            <a:fillRect/>
          </a:stretch>
        </p:blipFill>
        <p:spPr>
          <a:xfrm>
            <a:off x="364777" y="1221809"/>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A04AA1BE-EA0F-A8EE-AEAA-ED9BBC3DC7FF}"/>
              </a:ext>
            </a:extLst>
          </p:cNvPr>
          <p:cNvPicPr>
            <a:picLocks noChangeAspect="1"/>
          </p:cNvPicPr>
          <p:nvPr/>
        </p:nvPicPr>
        <p:blipFill>
          <a:blip r:embed="rId8"/>
          <a:stretch>
            <a:fillRect/>
          </a:stretch>
        </p:blipFill>
        <p:spPr>
          <a:xfrm>
            <a:off x="351510" y="2941689"/>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2B023812-1E48-DB6A-5ABA-53928CEE4C9A}"/>
              </a:ext>
            </a:extLst>
          </p:cNvPr>
          <p:cNvPicPr>
            <a:picLocks noChangeAspect="1"/>
          </p:cNvPicPr>
          <p:nvPr/>
        </p:nvPicPr>
        <p:blipFill>
          <a:blip r:embed="rId9"/>
          <a:stretch>
            <a:fillRect/>
          </a:stretch>
        </p:blipFill>
        <p:spPr>
          <a:xfrm>
            <a:off x="400795" y="4973809"/>
            <a:ext cx="468000" cy="468000"/>
          </a:xfrm>
          <a:prstGeom prst="rect">
            <a:avLst/>
          </a:prstGeom>
        </p:spPr>
      </p:pic>
      <p:cxnSp>
        <p:nvCxnSpPr>
          <p:cNvPr id="29" name="Connecteur droit 28">
            <a:extLst>
              <a:ext uri="{FF2B5EF4-FFF2-40B4-BE49-F238E27FC236}">
                <a16:creationId xmlns:a16="http://schemas.microsoft.com/office/drawing/2014/main" id="{1D5A9D00-3929-2547-4542-6F07E229971E}"/>
              </a:ext>
            </a:extLst>
          </p:cNvPr>
          <p:cNvCxnSpPr/>
          <p:nvPr/>
        </p:nvCxnSpPr>
        <p:spPr>
          <a:xfrm>
            <a:off x="0" y="771525"/>
            <a:ext cx="12192000" cy="0"/>
          </a:xfrm>
          <a:prstGeom prst="line">
            <a:avLst/>
          </a:prstGeom>
          <a:ln w="38100">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52" name="ZoneTexte 51">
            <a:extLst>
              <a:ext uri="{FF2B5EF4-FFF2-40B4-BE49-F238E27FC236}">
                <a16:creationId xmlns:a16="http://schemas.microsoft.com/office/drawing/2014/main" id="{00CAC610-D352-CCAD-F0BA-B84B5650C1E2}"/>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tx2">
                    <a:lumMod val="75000"/>
                  </a:schemeClr>
                </a:solidFill>
              </a:rPr>
              <a:t>Epigenome</a:t>
            </a:r>
            <a:r>
              <a:rPr lang="fr-FR" sz="3100" b="1" dirty="0">
                <a:solidFill>
                  <a:schemeClr val="tx2">
                    <a:lumMod val="75000"/>
                  </a:schemeClr>
                </a:solidFill>
              </a:rPr>
              <a:t> </a:t>
            </a:r>
            <a:r>
              <a:rPr lang="fr-FR" sz="3100" b="1" dirty="0" err="1">
                <a:solidFill>
                  <a:schemeClr val="tx2">
                    <a:lumMod val="75000"/>
                  </a:schemeClr>
                </a:solidFill>
              </a:rPr>
              <a:t>editing</a:t>
            </a:r>
            <a:endParaRPr lang="fr-FR" sz="3100" b="1" dirty="0">
              <a:solidFill>
                <a:schemeClr val="tx2">
                  <a:lumMod val="75000"/>
                </a:schemeClr>
              </a:solidFill>
            </a:endParaRPr>
          </a:p>
        </p:txBody>
      </p:sp>
      <p:sp>
        <p:nvSpPr>
          <p:cNvPr id="58" name="ZoneTexte 57">
            <a:extLst>
              <a:ext uri="{FF2B5EF4-FFF2-40B4-BE49-F238E27FC236}">
                <a16:creationId xmlns:a16="http://schemas.microsoft.com/office/drawing/2014/main" id="{2E5491C9-80D1-4724-8B45-0B2F0F5968B8}"/>
              </a:ext>
            </a:extLst>
          </p:cNvPr>
          <p:cNvSpPr txBox="1"/>
          <p:nvPr/>
        </p:nvSpPr>
        <p:spPr>
          <a:xfrm>
            <a:off x="497747" y="1820033"/>
            <a:ext cx="8498468" cy="646331"/>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a:t>Main </a:t>
            </a:r>
            <a:r>
              <a:rPr lang="fr-FR" sz="1200" dirty="0" err="1"/>
              <a:t>advantage</a:t>
            </a:r>
            <a:r>
              <a:rPr lang="fr-FR" sz="1200" dirty="0"/>
              <a:t> of the system : </a:t>
            </a:r>
            <a:r>
              <a:rPr lang="fr-FR" sz="1200" dirty="0" err="1"/>
              <a:t>flexibility</a:t>
            </a:r>
            <a:r>
              <a:rPr lang="fr-FR" sz="1200" dirty="0"/>
              <a:t> in </a:t>
            </a:r>
            <a:r>
              <a:rPr lang="fr-FR" sz="1200" dirty="0" err="1"/>
              <a:t>targeting</a:t>
            </a:r>
            <a:r>
              <a:rPr lang="fr-FR" sz="1200" dirty="0"/>
              <a:t> the locus </a:t>
            </a:r>
            <a:r>
              <a:rPr lang="fr-FR" sz="1200" dirty="0" err="1"/>
              <a:t>without</a:t>
            </a:r>
            <a:r>
              <a:rPr lang="fr-FR" sz="1200" dirty="0"/>
              <a:t> </a:t>
            </a:r>
            <a:r>
              <a:rPr lang="en-US" sz="1200" dirty="0"/>
              <a:t>undergoing alterations in the targeted sequence.</a:t>
            </a:r>
          </a:p>
          <a:p>
            <a:pPr marL="285750" indent="-285750" algn="just">
              <a:buFont typeface="Wingdings" panose="05000000000000000000" pitchFamily="2" charset="2"/>
              <a:buChar char="Ø"/>
            </a:pPr>
            <a:r>
              <a:rPr lang="fr-FR" sz="1200" b="0" i="0" u="none" strike="noStrike" baseline="0" dirty="0">
                <a:solidFill>
                  <a:srgbClr val="231F20"/>
                </a:solidFill>
              </a:rPr>
              <a:t>dCas9 </a:t>
            </a:r>
            <a:r>
              <a:rPr lang="fr-FR" sz="1200" b="0" i="0" u="none" strike="noStrike" baseline="0" dirty="0" err="1">
                <a:solidFill>
                  <a:srgbClr val="231F20"/>
                </a:solidFill>
              </a:rPr>
              <a:t>repressor</a:t>
            </a:r>
            <a:r>
              <a:rPr lang="fr-FR" sz="1200" b="0" i="0" u="none" strike="noStrike" baseline="0" dirty="0">
                <a:solidFill>
                  <a:srgbClr val="231F20"/>
                </a:solidFill>
              </a:rPr>
              <a:t> </a:t>
            </a:r>
            <a:r>
              <a:rPr lang="fr-FR" sz="1200" b="0" i="0" u="none" strike="noStrike" baseline="0" dirty="0" err="1">
                <a:solidFill>
                  <a:srgbClr val="231F20"/>
                </a:solidFill>
              </a:rPr>
              <a:t>proteins</a:t>
            </a:r>
            <a:r>
              <a:rPr lang="fr-FR" sz="1200" b="0" i="0" u="none" strike="noStrike" baseline="0" dirty="0">
                <a:solidFill>
                  <a:srgbClr val="231F20"/>
                </a:solidFill>
              </a:rPr>
              <a:t> </a:t>
            </a:r>
            <a:r>
              <a:rPr lang="en-US" sz="1200" b="0" i="0" u="none" strike="noStrike" baseline="0" dirty="0">
                <a:solidFill>
                  <a:srgbClr val="231F20"/>
                </a:solidFill>
              </a:rPr>
              <a:t>targeted to distal regulatory elements have been found to facilitate chromatin remodeling and </a:t>
            </a:r>
            <a:r>
              <a:rPr lang="it-IT" sz="1200" b="0" i="0" u="none" strike="noStrike" baseline="0" dirty="0">
                <a:solidFill>
                  <a:srgbClr val="231F20"/>
                </a:solidFill>
              </a:rPr>
              <a:t>gene </a:t>
            </a:r>
            <a:r>
              <a:rPr lang="it-IT" sz="1200" b="0" i="0" u="none" strike="noStrike" baseline="0" dirty="0" err="1">
                <a:solidFill>
                  <a:srgbClr val="231F20"/>
                </a:solidFill>
              </a:rPr>
              <a:t>repression</a:t>
            </a:r>
            <a:r>
              <a:rPr lang="it-IT" sz="1200" b="0" i="0" u="none" strike="noStrike" baseline="0" dirty="0">
                <a:solidFill>
                  <a:srgbClr val="231F20"/>
                </a:solidFill>
              </a:rPr>
              <a:t> via </a:t>
            </a:r>
            <a:r>
              <a:rPr lang="it-IT" sz="1200" b="0" i="0" u="none" strike="noStrike" baseline="0" dirty="0" err="1">
                <a:solidFill>
                  <a:srgbClr val="231F20"/>
                </a:solidFill>
              </a:rPr>
              <a:t>epigenomic</a:t>
            </a:r>
            <a:r>
              <a:rPr lang="it-IT" sz="1200" b="0" i="0" u="none" strike="noStrike" baseline="0" dirty="0">
                <a:solidFill>
                  <a:srgbClr val="231F20"/>
                </a:solidFill>
              </a:rPr>
              <a:t> </a:t>
            </a:r>
            <a:r>
              <a:rPr lang="it-IT" sz="1200" b="0" i="0" u="none" strike="noStrike" baseline="0" dirty="0" err="1">
                <a:solidFill>
                  <a:srgbClr val="231F20"/>
                </a:solidFill>
              </a:rPr>
              <a:t>modification</a:t>
            </a:r>
            <a:r>
              <a:rPr lang="it-IT" sz="1200" b="0" i="0" u="none" strike="noStrike" baseline="0" dirty="0">
                <a:solidFill>
                  <a:srgbClr val="231F20"/>
                </a:solidFill>
              </a:rPr>
              <a:t>.</a:t>
            </a:r>
            <a:endParaRPr lang="en-US" sz="1200" dirty="0"/>
          </a:p>
        </p:txBody>
      </p:sp>
    </p:spTree>
    <p:extLst>
      <p:ext uri="{BB962C8B-B14F-4D97-AF65-F5344CB8AC3E}">
        <p14:creationId xmlns:p14="http://schemas.microsoft.com/office/powerpoint/2010/main" val="3912304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C50F-8422-FBA2-FE60-EA2CCB95708A}"/>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B3C10ED7-FD58-7624-CA85-B798675A0962}"/>
              </a:ext>
            </a:extLst>
          </p:cNvPr>
          <p:cNvCxnSpPr/>
          <p:nvPr/>
        </p:nvCxnSpPr>
        <p:spPr>
          <a:xfrm>
            <a:off x="0" y="771525"/>
            <a:ext cx="12192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F2A594E4-DFC6-39F8-696A-7AF51F8EFD5D}"/>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1">
                    <a:lumMod val="75000"/>
                  </a:schemeClr>
                </a:solidFill>
              </a:rPr>
              <a:t>Promoter</a:t>
            </a:r>
            <a:r>
              <a:rPr lang="fr-FR" sz="3100" b="1" dirty="0">
                <a:solidFill>
                  <a:schemeClr val="accent1">
                    <a:lumMod val="75000"/>
                  </a:schemeClr>
                </a:solidFill>
              </a:rPr>
              <a:t> Engineering</a:t>
            </a:r>
          </a:p>
        </p:txBody>
      </p:sp>
      <p:sp>
        <p:nvSpPr>
          <p:cNvPr id="31" name="Espace réservé du texte 9">
            <a:extLst>
              <a:ext uri="{FF2B5EF4-FFF2-40B4-BE49-F238E27FC236}">
                <a16:creationId xmlns:a16="http://schemas.microsoft.com/office/drawing/2014/main" id="{E2EAAAEF-6783-1841-B17D-FFD22D3BF0C1}"/>
              </a:ext>
            </a:extLst>
          </p:cNvPr>
          <p:cNvSpPr txBox="1">
            <a:spLocks/>
          </p:cNvSpPr>
          <p:nvPr/>
        </p:nvSpPr>
        <p:spPr>
          <a:xfrm>
            <a:off x="933449" y="974609"/>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err="1"/>
              <a:t>Promoter</a:t>
            </a:r>
            <a:r>
              <a:rPr lang="fr-FR" sz="1800" b="1" dirty="0"/>
              <a:t> Engineering </a:t>
            </a:r>
            <a:r>
              <a:rPr lang="fr-FR" sz="1800" b="1" dirty="0" err="1"/>
              <a:t>allows</a:t>
            </a:r>
            <a:r>
              <a:rPr lang="fr-FR" sz="1800" b="1" dirty="0"/>
              <a:t> a </a:t>
            </a:r>
            <a:r>
              <a:rPr lang="fr-FR" sz="1800" b="1" dirty="0" err="1"/>
              <a:t>precise</a:t>
            </a:r>
            <a:r>
              <a:rPr lang="fr-FR" sz="1800" b="1" dirty="0"/>
              <a:t> control on transcription, </a:t>
            </a:r>
            <a:r>
              <a:rPr lang="fr-FR" sz="1800" b="1" dirty="0" err="1"/>
              <a:t>with</a:t>
            </a:r>
            <a:r>
              <a:rPr lang="fr-FR" sz="1800" b="1" dirty="0"/>
              <a:t> a possible to condition </a:t>
            </a:r>
            <a:r>
              <a:rPr lang="fr-FR" sz="1800" b="1" dirty="0" err="1"/>
              <a:t>gene</a:t>
            </a:r>
            <a:r>
              <a:rPr lang="fr-FR" sz="1800" b="1" dirty="0"/>
              <a:t> expression, </a:t>
            </a:r>
            <a:r>
              <a:rPr lang="fr-FR" sz="1800" b="1" dirty="0" err="1"/>
              <a:t>even</a:t>
            </a:r>
            <a:r>
              <a:rPr lang="fr-FR" sz="1800" b="1" dirty="0"/>
              <a:t> </a:t>
            </a:r>
            <a:r>
              <a:rPr lang="fr-FR" sz="1800" b="1" dirty="0" err="1"/>
              <a:t>thought</a:t>
            </a:r>
            <a:r>
              <a:rPr lang="fr-FR" sz="1800" b="1" dirty="0"/>
              <a:t> </a:t>
            </a:r>
            <a:r>
              <a:rPr lang="fr-FR" sz="1800" b="1" dirty="0" err="1"/>
              <a:t>promoters</a:t>
            </a:r>
            <a:r>
              <a:rPr lang="fr-FR" sz="1800" b="1" dirty="0"/>
              <a:t>’ design </a:t>
            </a:r>
            <a:r>
              <a:rPr lang="fr-FR" sz="1800" b="1" dirty="0" err="1"/>
              <a:t>is</a:t>
            </a:r>
            <a:r>
              <a:rPr lang="fr-FR" sz="1800" b="1" dirty="0"/>
              <a:t> </a:t>
            </a:r>
            <a:r>
              <a:rPr lang="fr-FR" sz="1800" b="1" dirty="0" err="1"/>
              <a:t>complexified</a:t>
            </a:r>
            <a:r>
              <a:rPr lang="fr-FR" sz="1800" b="1" dirty="0"/>
              <a:t> by </a:t>
            </a:r>
            <a:r>
              <a:rPr lang="fr-FR" sz="1800" b="1" dirty="0" err="1"/>
              <a:t>various</a:t>
            </a:r>
            <a:r>
              <a:rPr lang="fr-FR" sz="1800" b="1" dirty="0"/>
              <a:t> </a:t>
            </a:r>
            <a:r>
              <a:rPr lang="fr-FR" sz="1800" b="1" dirty="0" err="1"/>
              <a:t>actors</a:t>
            </a:r>
            <a:r>
              <a:rPr lang="fr-FR" sz="1800" b="1" dirty="0"/>
              <a:t>.</a:t>
            </a:r>
          </a:p>
        </p:txBody>
      </p:sp>
      <p:sp>
        <p:nvSpPr>
          <p:cNvPr id="32" name="Ellipse 31">
            <a:extLst>
              <a:ext uri="{FF2B5EF4-FFF2-40B4-BE49-F238E27FC236}">
                <a16:creationId xmlns:a16="http://schemas.microsoft.com/office/drawing/2014/main" id="{79C18C3A-F146-C6C0-A527-5AC70C146308}"/>
              </a:ext>
            </a:extLst>
          </p:cNvPr>
          <p:cNvSpPr/>
          <p:nvPr/>
        </p:nvSpPr>
        <p:spPr>
          <a:xfrm>
            <a:off x="645225" y="111569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3" name="Groupe 42">
            <a:extLst>
              <a:ext uri="{FF2B5EF4-FFF2-40B4-BE49-F238E27FC236}">
                <a16:creationId xmlns:a16="http://schemas.microsoft.com/office/drawing/2014/main" id="{A1DADA5B-4835-2204-10AD-2AEB35D77A9C}"/>
              </a:ext>
            </a:extLst>
          </p:cNvPr>
          <p:cNvGrpSpPr/>
          <p:nvPr/>
        </p:nvGrpSpPr>
        <p:grpSpPr>
          <a:xfrm>
            <a:off x="0" y="2272893"/>
            <a:ext cx="2766060" cy="3483429"/>
            <a:chOff x="0" y="2398498"/>
            <a:chExt cx="2766060" cy="3483429"/>
          </a:xfrm>
        </p:grpSpPr>
        <p:sp>
          <p:nvSpPr>
            <p:cNvPr id="25" name="Rectangle : avec coins arrondis en haut 24">
              <a:extLst>
                <a:ext uri="{FF2B5EF4-FFF2-40B4-BE49-F238E27FC236}">
                  <a16:creationId xmlns:a16="http://schemas.microsoft.com/office/drawing/2014/main" id="{BC8E7ADD-4C42-3D67-5834-D723F65D3279}"/>
                </a:ext>
              </a:extLst>
            </p:cNvPr>
            <p:cNvSpPr/>
            <p:nvPr/>
          </p:nvSpPr>
          <p:spPr>
            <a:xfrm rot="5400000">
              <a:off x="-358685" y="2757183"/>
              <a:ext cx="3483429" cy="2766060"/>
            </a:xfrm>
            <a:prstGeom prst="round2SameRect">
              <a:avLst>
                <a:gd name="adj1" fmla="val 10809"/>
                <a:gd name="adj2" fmla="val 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3" name="Groupe 2">
              <a:extLst>
                <a:ext uri="{FF2B5EF4-FFF2-40B4-BE49-F238E27FC236}">
                  <a16:creationId xmlns:a16="http://schemas.microsoft.com/office/drawing/2014/main" id="{AFB23273-9A14-A63E-73E9-9DDB85EB43D0}"/>
                </a:ext>
              </a:extLst>
            </p:cNvPr>
            <p:cNvGrpSpPr/>
            <p:nvPr/>
          </p:nvGrpSpPr>
          <p:grpSpPr>
            <a:xfrm>
              <a:off x="102351" y="2466853"/>
              <a:ext cx="2632872" cy="720000"/>
              <a:chOff x="71514" y="2316811"/>
              <a:chExt cx="2632872" cy="720000"/>
            </a:xfrm>
          </p:grpSpPr>
          <p:sp>
            <p:nvSpPr>
              <p:cNvPr id="4" name="ZoneTexte 3">
                <a:extLst>
                  <a:ext uri="{FF2B5EF4-FFF2-40B4-BE49-F238E27FC236}">
                    <a16:creationId xmlns:a16="http://schemas.microsoft.com/office/drawing/2014/main" id="{2386D0AF-1C27-E40F-6DC5-068CA9418C79}"/>
                  </a:ext>
                </a:extLst>
              </p:cNvPr>
              <p:cNvSpPr txBox="1"/>
              <p:nvPr/>
            </p:nvSpPr>
            <p:spPr>
              <a:xfrm>
                <a:off x="839954" y="2353646"/>
                <a:ext cx="1864432" cy="646331"/>
              </a:xfrm>
              <a:prstGeom prst="rect">
                <a:avLst/>
              </a:prstGeom>
              <a:noFill/>
            </p:spPr>
            <p:txBody>
              <a:bodyPr wrap="square" rtlCol="0">
                <a:spAutoFit/>
              </a:bodyPr>
              <a:lstStyle/>
              <a:p>
                <a:pPr algn="just"/>
                <a:r>
                  <a:rPr lang="en-US" sz="1200" dirty="0"/>
                  <a:t>Promoter Engineering started in the </a:t>
                </a:r>
                <a:r>
                  <a:rPr lang="en-US" sz="1200" b="1" dirty="0"/>
                  <a:t>1980s and 1990s.</a:t>
                </a:r>
                <a:endParaRPr lang="fr-FR" b="1" dirty="0"/>
              </a:p>
            </p:txBody>
          </p:sp>
          <p:pic>
            <p:nvPicPr>
              <p:cNvPr id="5" name="Image 4">
                <a:extLst>
                  <a:ext uri="{FF2B5EF4-FFF2-40B4-BE49-F238E27FC236}">
                    <a16:creationId xmlns:a16="http://schemas.microsoft.com/office/drawing/2014/main" id="{36B842AB-B8FD-96F8-B9F1-13B454235A5B}"/>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235439C7-E50A-8165-7C0C-37276580F592}"/>
                </a:ext>
              </a:extLst>
            </p:cNvPr>
            <p:cNvGrpSpPr/>
            <p:nvPr/>
          </p:nvGrpSpPr>
          <p:grpSpPr>
            <a:xfrm>
              <a:off x="103679" y="3579042"/>
              <a:ext cx="2630216" cy="830997"/>
              <a:chOff x="74170" y="3284980"/>
              <a:chExt cx="2630216" cy="830997"/>
            </a:xfrm>
          </p:grpSpPr>
          <p:sp>
            <p:nvSpPr>
              <p:cNvPr id="23" name="ZoneTexte 22">
                <a:extLst>
                  <a:ext uri="{FF2B5EF4-FFF2-40B4-BE49-F238E27FC236}">
                    <a16:creationId xmlns:a16="http://schemas.microsoft.com/office/drawing/2014/main" id="{0EDD49D4-D836-053F-6838-F252DA03B948}"/>
                  </a:ext>
                </a:extLst>
              </p:cNvPr>
              <p:cNvSpPr txBox="1"/>
              <p:nvPr/>
            </p:nvSpPr>
            <p:spPr>
              <a:xfrm>
                <a:off x="839954" y="3284980"/>
                <a:ext cx="1864432" cy="830997"/>
              </a:xfrm>
              <a:prstGeom prst="rect">
                <a:avLst/>
              </a:prstGeom>
              <a:noFill/>
            </p:spPr>
            <p:txBody>
              <a:bodyPr wrap="square">
                <a:spAutoFit/>
              </a:bodyPr>
              <a:lstStyle/>
              <a:p>
                <a:pPr algn="just"/>
                <a:r>
                  <a:rPr lang="en-US" sz="1200" b="0" i="0" u="none" strike="noStrike" baseline="0" dirty="0"/>
                  <a:t>Allows the </a:t>
                </a:r>
                <a:r>
                  <a:rPr lang="en-US" sz="1200" b="1" i="0" u="none" strike="noStrike" baseline="0" dirty="0"/>
                  <a:t>control of transcription </a:t>
                </a:r>
                <a:r>
                  <a:rPr lang="en-US" sz="1200" b="0" i="0" u="none" strike="noStrike" baseline="0" dirty="0"/>
                  <a:t>with properties not found in natural promoters.</a:t>
                </a:r>
                <a:endParaRPr lang="en-US" sz="1200" b="1" dirty="0"/>
              </a:p>
            </p:txBody>
          </p:sp>
          <p:pic>
            <p:nvPicPr>
              <p:cNvPr id="24" name="Image 23">
                <a:extLst>
                  <a:ext uri="{FF2B5EF4-FFF2-40B4-BE49-F238E27FC236}">
                    <a16:creationId xmlns:a16="http://schemas.microsoft.com/office/drawing/2014/main" id="{D28690C3-6382-85CE-C47C-9253549583B1}"/>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59511846-6280-777A-A138-7C2E111689A1}"/>
                </a:ext>
              </a:extLst>
            </p:cNvPr>
            <p:cNvGrpSpPr/>
            <p:nvPr/>
          </p:nvGrpSpPr>
          <p:grpSpPr>
            <a:xfrm>
              <a:off x="71514" y="4685311"/>
              <a:ext cx="2694546" cy="1015663"/>
              <a:chOff x="71514" y="4318663"/>
              <a:chExt cx="2694546" cy="1015663"/>
            </a:xfrm>
          </p:grpSpPr>
          <p:pic>
            <p:nvPicPr>
              <p:cNvPr id="34" name="Image 33">
                <a:extLst>
                  <a:ext uri="{FF2B5EF4-FFF2-40B4-BE49-F238E27FC236}">
                    <a16:creationId xmlns:a16="http://schemas.microsoft.com/office/drawing/2014/main" id="{BF0F4A71-56EE-5F71-0E7B-E4121DCF8826}"/>
                  </a:ext>
                </a:extLst>
              </p:cNvPr>
              <p:cNvPicPr>
                <a:picLocks noChangeAspect="1"/>
              </p:cNvPicPr>
              <p:nvPr/>
            </p:nvPicPr>
            <p:blipFill>
              <a:blip r:embed="rId4"/>
              <a:stretch>
                <a:fillRect/>
              </a:stretch>
            </p:blipFill>
            <p:spPr>
              <a:xfrm>
                <a:off x="71514" y="4466494"/>
                <a:ext cx="720000" cy="720000"/>
              </a:xfrm>
              <a:prstGeom prst="rect">
                <a:avLst/>
              </a:prstGeom>
            </p:spPr>
          </p:pic>
          <p:sp>
            <p:nvSpPr>
              <p:cNvPr id="35" name="ZoneTexte 34">
                <a:extLst>
                  <a:ext uri="{FF2B5EF4-FFF2-40B4-BE49-F238E27FC236}">
                    <a16:creationId xmlns:a16="http://schemas.microsoft.com/office/drawing/2014/main" id="{688B8B66-AB12-3E90-D5D7-B36C2EAA8A2A}"/>
                  </a:ext>
                </a:extLst>
              </p:cNvPr>
              <p:cNvSpPr txBox="1"/>
              <p:nvPr/>
            </p:nvSpPr>
            <p:spPr>
              <a:xfrm>
                <a:off x="791514" y="4318663"/>
                <a:ext cx="1974546" cy="1015663"/>
              </a:xfrm>
              <a:prstGeom prst="rect">
                <a:avLst/>
              </a:prstGeom>
              <a:noFill/>
            </p:spPr>
            <p:txBody>
              <a:bodyPr wrap="square">
                <a:spAutoFit/>
              </a:bodyPr>
              <a:lstStyle/>
              <a:p>
                <a:pPr algn="just"/>
                <a:r>
                  <a:rPr lang="en-US" sz="1200" b="0" i="0" u="none" strike="noStrike" baseline="0" dirty="0"/>
                  <a:t>To build synthetic promoters, </a:t>
                </a:r>
                <a:r>
                  <a:rPr lang="en-US" sz="1200" b="1" i="0" u="none" strike="noStrike" baseline="0" dirty="0"/>
                  <a:t>native promoters are needed</a:t>
                </a:r>
                <a:r>
                  <a:rPr lang="en-US" sz="1200" b="0" i="0" u="none" strike="noStrike" baseline="0" dirty="0"/>
                  <a:t>, from one or several species.</a:t>
                </a:r>
                <a:endParaRPr lang="fr-FR" sz="1200" dirty="0"/>
              </a:p>
            </p:txBody>
          </p:sp>
        </p:grpSp>
      </p:grpSp>
      <p:grpSp>
        <p:nvGrpSpPr>
          <p:cNvPr id="52" name="Groupe 51">
            <a:extLst>
              <a:ext uri="{FF2B5EF4-FFF2-40B4-BE49-F238E27FC236}">
                <a16:creationId xmlns:a16="http://schemas.microsoft.com/office/drawing/2014/main" id="{57DCFC2D-50E2-1347-0A40-73B15CF1414C}"/>
              </a:ext>
            </a:extLst>
          </p:cNvPr>
          <p:cNvGrpSpPr/>
          <p:nvPr/>
        </p:nvGrpSpPr>
        <p:grpSpPr>
          <a:xfrm>
            <a:off x="3005949" y="1773057"/>
            <a:ext cx="5246959" cy="4483101"/>
            <a:chOff x="2967592" y="1773057"/>
            <a:chExt cx="5246959" cy="4483101"/>
          </a:xfrm>
        </p:grpSpPr>
        <p:sp>
          <p:nvSpPr>
            <p:cNvPr id="20" name="Rectangle : coins arrondis 19">
              <a:extLst>
                <a:ext uri="{FF2B5EF4-FFF2-40B4-BE49-F238E27FC236}">
                  <a16:creationId xmlns:a16="http://schemas.microsoft.com/office/drawing/2014/main" id="{8E14172C-3078-8172-E273-83ECBF404F0C}"/>
                </a:ext>
              </a:extLst>
            </p:cNvPr>
            <p:cNvSpPr/>
            <p:nvPr/>
          </p:nvSpPr>
          <p:spPr>
            <a:xfrm>
              <a:off x="3170111" y="2052225"/>
              <a:ext cx="5044440" cy="4203933"/>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8AE82E74-6F71-6E1A-9F86-09AA3F64E7DC}"/>
                </a:ext>
              </a:extLst>
            </p:cNvPr>
            <p:cNvSpPr/>
            <p:nvPr/>
          </p:nvSpPr>
          <p:spPr>
            <a:xfrm>
              <a:off x="2967592" y="1773057"/>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B3B932A9-0806-6B52-0545-A6A4831DCF23}"/>
                </a:ext>
              </a:extLst>
            </p:cNvPr>
            <p:cNvSpPr/>
            <p:nvPr/>
          </p:nvSpPr>
          <p:spPr>
            <a:xfrm>
              <a:off x="3410010" y="1850711"/>
              <a:ext cx="2297561"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36" name="Image 35" descr="Une image contenant symbole, cercle, Graphique, conception&#10;&#10;Description générée automatiquement">
              <a:extLst>
                <a:ext uri="{FF2B5EF4-FFF2-40B4-BE49-F238E27FC236}">
                  <a16:creationId xmlns:a16="http://schemas.microsoft.com/office/drawing/2014/main" id="{686DAA25-C844-9169-6CE1-BC7BA3754A09}"/>
                </a:ext>
              </a:extLst>
            </p:cNvPr>
            <p:cNvPicPr>
              <a:picLocks noChangeAspect="1"/>
            </p:cNvPicPr>
            <p:nvPr/>
          </p:nvPicPr>
          <p:blipFill>
            <a:blip r:embed="rId5"/>
            <a:stretch>
              <a:fillRect/>
            </a:stretch>
          </p:blipFill>
          <p:spPr>
            <a:xfrm>
              <a:off x="3025417" y="1829812"/>
              <a:ext cx="468000" cy="468000"/>
            </a:xfrm>
            <a:prstGeom prst="rect">
              <a:avLst/>
            </a:prstGeom>
          </p:spPr>
        </p:pic>
        <p:sp>
          <p:nvSpPr>
            <p:cNvPr id="11" name="ZoneTexte 10">
              <a:extLst>
                <a:ext uri="{FF2B5EF4-FFF2-40B4-BE49-F238E27FC236}">
                  <a16:creationId xmlns:a16="http://schemas.microsoft.com/office/drawing/2014/main" id="{8339D54E-F6B9-B803-094F-C24D7B1C50C0}"/>
                </a:ext>
              </a:extLst>
            </p:cNvPr>
            <p:cNvSpPr txBox="1"/>
            <p:nvPr/>
          </p:nvSpPr>
          <p:spPr>
            <a:xfrm>
              <a:off x="3274792" y="2285840"/>
              <a:ext cx="4845981" cy="3970318"/>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There exists </a:t>
              </a:r>
              <a:r>
                <a:rPr lang="en-US" sz="1200" b="1" dirty="0"/>
                <a:t>prokaryotic and eukaryotic promoters</a:t>
              </a:r>
              <a:r>
                <a:rPr lang="en-US" sz="1200" dirty="0"/>
                <a:t>.</a:t>
              </a:r>
            </a:p>
            <a:p>
              <a:pPr marL="285750" indent="-285750" algn="just">
                <a:buFont typeface="Wingdings" panose="05000000000000000000" pitchFamily="2" charset="2"/>
                <a:buChar char="Ø"/>
              </a:pPr>
              <a:r>
                <a:rPr lang="en-US" sz="1200" b="1" i="0" u="none" strike="noStrike" baseline="0" dirty="0"/>
                <a:t>Prokaryotic promoters </a:t>
              </a:r>
              <a:r>
                <a:rPr lang="en-US" sz="1200" b="0" i="0" u="none" strike="noStrike" baseline="0" dirty="0"/>
                <a:t>are short, with less than 150 bp. They contain </a:t>
              </a:r>
              <a:r>
                <a:rPr lang="en-US" sz="1200" i="0" u="none" strike="noStrike" baseline="0" dirty="0"/>
                <a:t>key elements </a:t>
              </a:r>
              <a:r>
                <a:rPr lang="en-US" sz="1200" b="0" i="0" u="none" strike="noStrike" baseline="0" dirty="0"/>
                <a:t>that can impact, individually or globally, transcriptional capacity of the promoter. </a:t>
              </a:r>
            </a:p>
            <a:p>
              <a:pPr marL="285750" indent="-285750" algn="just">
                <a:buFont typeface="Wingdings" panose="05000000000000000000" pitchFamily="2" charset="2"/>
                <a:buChar char="Ø"/>
              </a:pPr>
              <a:r>
                <a:rPr lang="en-US" sz="1200" b="1" i="0" u="none" strike="noStrike" baseline="0" dirty="0"/>
                <a:t>Eukaryotic promoters </a:t>
              </a:r>
              <a:r>
                <a:rPr lang="en-US" sz="1200" b="0" i="0" u="none" strike="noStrike" baseline="0" dirty="0"/>
                <a:t>are larger, between 100 and 1000 bp, with more complex structures and conserved elements variating on a </a:t>
              </a:r>
              <a:r>
                <a:rPr lang="fr-FR" sz="1200" b="0" i="0" u="none" strike="noStrike" baseline="0" dirty="0" err="1"/>
                <a:t>species</a:t>
              </a:r>
              <a:r>
                <a:rPr lang="fr-FR" sz="1200" b="0" i="0" u="none" strike="noStrike" baseline="0" dirty="0"/>
                <a:t>-to-</a:t>
              </a:r>
              <a:r>
                <a:rPr lang="fr-FR" sz="1200" b="0" i="0" u="none" strike="noStrike" baseline="0" dirty="0" err="1"/>
                <a:t>species</a:t>
              </a:r>
              <a:r>
                <a:rPr lang="fr-FR" sz="1200" b="0" i="0" u="none" strike="noStrike" baseline="0" dirty="0"/>
                <a:t> basis. </a:t>
              </a:r>
              <a:r>
                <a:rPr lang="fr-FR" sz="1200" b="0" i="0" u="none" strike="noStrike" baseline="0" dirty="0" err="1"/>
                <a:t>Their</a:t>
              </a:r>
              <a:r>
                <a:rPr lang="fr-FR" sz="1200" b="0" i="0" u="none" strike="noStrike" baseline="0" dirty="0"/>
                <a:t> structure </a:t>
              </a:r>
              <a:r>
                <a:rPr lang="fr-FR" sz="1200" b="0" i="0" u="none" strike="noStrike" baseline="0" dirty="0" err="1"/>
                <a:t>is</a:t>
              </a:r>
              <a:r>
                <a:rPr lang="fr-FR" sz="1200" b="0" i="0" u="none" strike="noStrike" baseline="0" dirty="0"/>
                <a:t> </a:t>
              </a:r>
              <a:r>
                <a:rPr lang="fr-FR" sz="1200" b="0" i="0" u="none" strike="noStrike" baseline="0" dirty="0" err="1"/>
                <a:t>composed</a:t>
              </a:r>
              <a:r>
                <a:rPr lang="fr-FR" sz="1200" b="0" i="0" u="none" strike="noStrike" baseline="0" dirty="0"/>
                <a:t> of a </a:t>
              </a:r>
              <a:r>
                <a:rPr lang="fr-FR" sz="1200" b="0" i="0" u="none" strike="noStrike" baseline="0" dirty="0" err="1"/>
                <a:t>core</a:t>
              </a:r>
              <a:r>
                <a:rPr lang="fr-FR" sz="1200" b="0" i="0" u="none" strike="noStrike" baseline="0" dirty="0"/>
                <a:t> </a:t>
              </a:r>
              <a:r>
                <a:rPr lang="fr-FR" sz="1200" b="0" i="0" u="none" strike="noStrike" baseline="0" dirty="0" err="1"/>
                <a:t>promoter</a:t>
              </a:r>
              <a:r>
                <a:rPr lang="fr-FR" sz="1200" b="0" i="0" u="none" strike="noStrike" baseline="0" dirty="0"/>
                <a:t> </a:t>
              </a:r>
              <a:r>
                <a:rPr lang="fr-FR" sz="1200" b="0" i="0" u="none" strike="noStrike" baseline="0" dirty="0" err="1"/>
                <a:t>region</a:t>
              </a:r>
              <a:r>
                <a:rPr lang="fr-FR" sz="1200" b="0" i="0" u="none" strike="noStrike" baseline="0" dirty="0"/>
                <a:t> and </a:t>
              </a:r>
              <a:r>
                <a:rPr lang="en-US" sz="1200" b="0" i="0" u="none" strike="noStrike" baseline="0" dirty="0"/>
                <a:t>upstream activating sequences.</a:t>
              </a:r>
            </a:p>
            <a:p>
              <a:pPr marL="285750" indent="-285750" algn="just">
                <a:buFont typeface="Wingdings" panose="05000000000000000000" pitchFamily="2" charset="2"/>
                <a:buChar char="Ø"/>
              </a:pPr>
              <a:r>
                <a:rPr lang="en-US" sz="1200" b="1" i="0" u="none" strike="noStrike" baseline="0" dirty="0"/>
                <a:t>Synthetic promoters </a:t>
              </a:r>
              <a:r>
                <a:rPr lang="en-US" sz="1200" b="0" i="0" u="none" strike="noStrike" baseline="0" dirty="0"/>
                <a:t>can have reduced length and repeated sequences, stronger and/or graded compared to natural ones.</a:t>
              </a:r>
            </a:p>
            <a:p>
              <a:pPr marL="285750" indent="-285750" algn="just">
                <a:buFont typeface="Wingdings" panose="05000000000000000000" pitchFamily="2" charset="2"/>
                <a:buChar char="Ø"/>
              </a:pPr>
              <a:r>
                <a:rPr lang="en-US" sz="1200" b="0" i="0" u="none" strike="noStrike" baseline="0" dirty="0"/>
                <a:t>There are </a:t>
              </a:r>
              <a:r>
                <a:rPr lang="en-US" sz="1200" b="1" i="0" u="none" strike="noStrike" baseline="0" dirty="0"/>
                <a:t>two broad strategies to develop new promoters</a:t>
              </a:r>
              <a:r>
                <a:rPr lang="en-US" sz="1200" b="0" i="0" u="none" strike="noStrike" baseline="0" dirty="0"/>
                <a:t>. In one, promoters are diversified at the </a:t>
              </a:r>
              <a:r>
                <a:rPr lang="fr-FR" sz="1200" b="1" i="0" u="none" strike="noStrike" baseline="0" dirty="0" err="1"/>
                <a:t>nucleotide</a:t>
              </a:r>
              <a:r>
                <a:rPr lang="fr-FR" sz="1200" b="1" i="0" u="none" strike="noStrike" baseline="0" dirty="0"/>
                <a:t> </a:t>
              </a:r>
              <a:r>
                <a:rPr lang="fr-FR" sz="1200" b="1" i="0" u="none" strike="noStrike" baseline="0" dirty="0" err="1"/>
                <a:t>level</a:t>
              </a:r>
              <a:r>
                <a:rPr lang="fr-FR" sz="1200" dirty="0"/>
                <a:t>. </a:t>
              </a:r>
              <a:r>
                <a:rPr lang="en-US" sz="1200" b="0" i="0" u="none" strike="noStrike" baseline="0" dirty="0"/>
                <a:t>In the other, called </a:t>
              </a:r>
              <a:r>
                <a:rPr lang="en-US" sz="1200" b="1" i="0" u="none" strike="noStrike" baseline="0" dirty="0"/>
                <a:t>“hybrid promoter engineering</a:t>
              </a:r>
              <a:r>
                <a:rPr lang="en-US" sz="1200" b="0" i="0" u="none" strike="noStrike" baseline="0" dirty="0"/>
                <a:t>”, core promoter and </a:t>
              </a:r>
              <a:r>
                <a:rPr lang="fr-FR" sz="1200" b="0" i="0" u="none" strike="noStrike" baseline="0" dirty="0" err="1"/>
                <a:t>upstream</a:t>
              </a:r>
              <a:r>
                <a:rPr lang="fr-FR" sz="1200" b="0" i="0" u="none" strike="noStrike" baseline="0" dirty="0"/>
                <a:t> </a:t>
              </a:r>
              <a:r>
                <a:rPr lang="fr-FR" sz="1200" b="0" i="0" u="none" strike="noStrike" baseline="0" dirty="0" err="1"/>
                <a:t>activating</a:t>
              </a:r>
              <a:r>
                <a:rPr lang="fr-FR" sz="1200" b="0" i="0" u="none" strike="noStrike" baseline="0" dirty="0"/>
                <a:t> </a:t>
              </a:r>
              <a:r>
                <a:rPr lang="fr-FR" sz="1200" b="0" i="0" u="none" strike="noStrike" baseline="0" dirty="0" err="1"/>
                <a:t>sequence</a:t>
              </a:r>
              <a:r>
                <a:rPr lang="fr-FR" sz="1200" b="0" i="0" u="none" strike="noStrike" baseline="0" dirty="0"/>
                <a:t> (</a:t>
              </a:r>
              <a:r>
                <a:rPr lang="en-US" sz="1200" b="0" i="0" u="none" strike="noStrike" baseline="0" dirty="0"/>
                <a:t>UAS) are combined to form a new promoter.</a:t>
              </a:r>
            </a:p>
            <a:p>
              <a:pPr marL="285750" indent="-285750" algn="just">
                <a:buFont typeface="Wingdings" panose="05000000000000000000" pitchFamily="2" charset="2"/>
                <a:buChar char="Ø"/>
              </a:pPr>
              <a:r>
                <a:rPr lang="fr-FR" sz="1200" b="1" i="0" u="none" strike="noStrike" baseline="0" dirty="0" err="1"/>
                <a:t>Nucleotide</a:t>
              </a:r>
              <a:r>
                <a:rPr lang="fr-FR" sz="1200" b="1" i="0" u="none" strike="noStrike" baseline="0" dirty="0"/>
                <a:t> Diversification </a:t>
              </a:r>
              <a:r>
                <a:rPr lang="fr-FR" sz="1200" b="1" i="0" u="none" strike="noStrike" baseline="0" dirty="0" err="1"/>
                <a:t>Promoter</a:t>
              </a:r>
              <a:r>
                <a:rPr lang="fr-FR" sz="1200" b="1" i="0" u="none" strike="noStrike" baseline="0" dirty="0"/>
                <a:t> Engineering </a:t>
              </a:r>
              <a:r>
                <a:rPr lang="en-US" sz="1200" b="0" i="0" u="none" strike="noStrike" baseline="0" dirty="0"/>
                <a:t>leads to the creation of dozens to millions variations of a promoter scaffold.</a:t>
              </a:r>
            </a:p>
            <a:p>
              <a:pPr marL="285750" indent="-285750" algn="just">
                <a:buFont typeface="Wingdings" panose="05000000000000000000" pitchFamily="2" charset="2"/>
                <a:buChar char="Ø"/>
              </a:pPr>
              <a:r>
                <a:rPr lang="fr-FR" sz="1200" b="1" i="0" u="none" strike="noStrike" baseline="0" dirty="0" err="1"/>
                <a:t>Hybrid</a:t>
              </a:r>
              <a:r>
                <a:rPr lang="fr-FR" sz="1200" b="1" i="0" u="none" strike="noStrike" baseline="0" dirty="0"/>
                <a:t> </a:t>
              </a:r>
              <a:r>
                <a:rPr lang="fr-FR" sz="1200" b="1" i="0" u="none" strike="noStrike" baseline="0" dirty="0" err="1"/>
                <a:t>Promoter</a:t>
              </a:r>
              <a:r>
                <a:rPr lang="fr-FR" sz="1200" b="1" i="0" u="none" strike="noStrike" baseline="0" dirty="0"/>
                <a:t> Engineering </a:t>
              </a:r>
              <a:r>
                <a:rPr lang="en-US" sz="1200" b="0" i="0" u="none" strike="noStrike" baseline="0" dirty="0"/>
                <a:t>takes of advantage of the modularity of UAS elements to allow assembly of promoters with new properties, including enhanced strength or nonnative </a:t>
              </a:r>
              <a:r>
                <a:rPr lang="fr-FR" sz="1200" b="0" i="0" u="none" strike="noStrike" baseline="0" dirty="0" err="1"/>
                <a:t>regulation</a:t>
              </a:r>
              <a:r>
                <a:rPr lang="fr-FR" sz="1200" b="0" i="0" u="none" strike="noStrike" baseline="0" dirty="0"/>
                <a:t> (</a:t>
              </a:r>
              <a:r>
                <a:rPr lang="fr-FR" sz="1200" b="0" i="0" u="none" strike="noStrike" baseline="0" dirty="0" err="1"/>
                <a:t>inducibility</a:t>
              </a:r>
              <a:r>
                <a:rPr lang="fr-FR" sz="1200" b="0" i="0" u="none" strike="noStrike" baseline="0" dirty="0"/>
                <a:t>).</a:t>
              </a:r>
              <a:endParaRPr lang="en-US" sz="1200" b="0" i="0" u="none" strike="noStrike" baseline="0" dirty="0"/>
            </a:p>
          </p:txBody>
        </p:sp>
      </p:grpSp>
      <p:grpSp>
        <p:nvGrpSpPr>
          <p:cNvPr id="51" name="Groupe 50">
            <a:extLst>
              <a:ext uri="{FF2B5EF4-FFF2-40B4-BE49-F238E27FC236}">
                <a16:creationId xmlns:a16="http://schemas.microsoft.com/office/drawing/2014/main" id="{E3B8CF36-B7CC-FF48-D8FA-3318E7232A59}"/>
              </a:ext>
            </a:extLst>
          </p:cNvPr>
          <p:cNvGrpSpPr/>
          <p:nvPr/>
        </p:nvGrpSpPr>
        <p:grpSpPr>
          <a:xfrm>
            <a:off x="8492797" y="2755267"/>
            <a:ext cx="3265759" cy="2518680"/>
            <a:chOff x="8492797" y="2595353"/>
            <a:chExt cx="3265759" cy="2518680"/>
          </a:xfrm>
        </p:grpSpPr>
        <p:grpSp>
          <p:nvGrpSpPr>
            <p:cNvPr id="49" name="Groupe 48">
              <a:extLst>
                <a:ext uri="{FF2B5EF4-FFF2-40B4-BE49-F238E27FC236}">
                  <a16:creationId xmlns:a16="http://schemas.microsoft.com/office/drawing/2014/main" id="{EE0B4779-5BC4-DB02-ABAA-D49FF2047998}"/>
                </a:ext>
              </a:extLst>
            </p:cNvPr>
            <p:cNvGrpSpPr/>
            <p:nvPr/>
          </p:nvGrpSpPr>
          <p:grpSpPr>
            <a:xfrm>
              <a:off x="8492797" y="4153041"/>
              <a:ext cx="3265759" cy="960992"/>
              <a:chOff x="8558191" y="4153041"/>
              <a:chExt cx="3265759" cy="960992"/>
            </a:xfrm>
          </p:grpSpPr>
          <p:sp>
            <p:nvSpPr>
              <p:cNvPr id="45" name="Rectangle : coins arrondis 44">
                <a:extLst>
                  <a:ext uri="{FF2B5EF4-FFF2-40B4-BE49-F238E27FC236}">
                    <a16:creationId xmlns:a16="http://schemas.microsoft.com/office/drawing/2014/main" id="{DFC9BA9A-97DF-1C4A-4A17-7FF73D0306C0}"/>
                  </a:ext>
                </a:extLst>
              </p:cNvPr>
              <p:cNvSpPr/>
              <p:nvPr/>
            </p:nvSpPr>
            <p:spPr>
              <a:xfrm>
                <a:off x="8760710" y="4432209"/>
                <a:ext cx="3063240" cy="681824"/>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13EF6965-910C-ECEA-3A75-A81B9F19C0A2}"/>
                  </a:ext>
                </a:extLst>
              </p:cNvPr>
              <p:cNvSpPr/>
              <p:nvPr/>
            </p:nvSpPr>
            <p:spPr>
              <a:xfrm>
                <a:off x="8558191" y="4153041"/>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A16876AE-3221-7F69-F804-A64596E57D62}"/>
                  </a:ext>
                </a:extLst>
              </p:cNvPr>
              <p:cNvSpPr/>
              <p:nvPr/>
            </p:nvSpPr>
            <p:spPr>
              <a:xfrm>
                <a:off x="9000609" y="4223374"/>
                <a:ext cx="2297561"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42" name="Image 41" descr="Une image contenant cercle, Graphique, Police, symbole&#10;&#10;Description générée automatiquement">
                <a:extLst>
                  <a:ext uri="{FF2B5EF4-FFF2-40B4-BE49-F238E27FC236}">
                    <a16:creationId xmlns:a16="http://schemas.microsoft.com/office/drawing/2014/main" id="{92A8D9C9-3E80-4CDB-D6A2-313928936A7B}"/>
                  </a:ext>
                </a:extLst>
              </p:cNvPr>
              <p:cNvPicPr>
                <a:picLocks noChangeAspect="1"/>
              </p:cNvPicPr>
              <p:nvPr/>
            </p:nvPicPr>
            <p:blipFill>
              <a:blip r:embed="rId6"/>
              <a:stretch>
                <a:fillRect/>
              </a:stretch>
            </p:blipFill>
            <p:spPr>
              <a:xfrm>
                <a:off x="8608417" y="4204375"/>
                <a:ext cx="468000" cy="468000"/>
              </a:xfrm>
              <a:prstGeom prst="rect">
                <a:avLst/>
              </a:prstGeom>
            </p:spPr>
          </p:pic>
          <p:sp>
            <p:nvSpPr>
              <p:cNvPr id="12" name="ZoneTexte 11">
                <a:extLst>
                  <a:ext uri="{FF2B5EF4-FFF2-40B4-BE49-F238E27FC236}">
                    <a16:creationId xmlns:a16="http://schemas.microsoft.com/office/drawing/2014/main" id="{CDBCEE64-CB6F-5A3C-D8BB-11A3C814196F}"/>
                  </a:ext>
                </a:extLst>
              </p:cNvPr>
              <p:cNvSpPr txBox="1"/>
              <p:nvPr/>
            </p:nvSpPr>
            <p:spPr>
              <a:xfrm>
                <a:off x="8828191" y="4652368"/>
                <a:ext cx="1449284" cy="461665"/>
              </a:xfrm>
              <a:prstGeom prst="rect">
                <a:avLst/>
              </a:prstGeom>
              <a:noFill/>
            </p:spPr>
            <p:txBody>
              <a:bodyPr wrap="square">
                <a:spAutoFit/>
              </a:bodyPr>
              <a:lstStyle/>
              <a:p>
                <a:pPr marL="285750" indent="-285750" algn="just">
                  <a:buFont typeface="Wingdings" panose="05000000000000000000" pitchFamily="2" charset="2"/>
                  <a:buChar char="Ø"/>
                </a:pPr>
                <a:r>
                  <a:rPr lang="fr-FR" sz="1200" i="0" u="none" strike="noStrike" baseline="0" dirty="0" err="1"/>
                  <a:t>Bacteria</a:t>
                </a:r>
                <a:endParaRPr lang="fr-FR" sz="1200" i="0" u="none" strike="noStrike" baseline="0" dirty="0"/>
              </a:p>
              <a:p>
                <a:pPr marL="285750" indent="-285750" algn="just">
                  <a:buFont typeface="Wingdings" panose="05000000000000000000" pitchFamily="2" charset="2"/>
                  <a:buChar char="Ø"/>
                </a:pPr>
                <a:r>
                  <a:rPr lang="fr-FR" sz="1200" i="0" u="none" strike="noStrike" baseline="0" dirty="0"/>
                  <a:t>Plants</a:t>
                </a:r>
                <a:endParaRPr lang="en-US" sz="1200" i="0" u="none" strike="noStrike" baseline="0" dirty="0"/>
              </a:p>
            </p:txBody>
          </p:sp>
        </p:grpSp>
        <p:grpSp>
          <p:nvGrpSpPr>
            <p:cNvPr id="50" name="Groupe 49">
              <a:extLst>
                <a:ext uri="{FF2B5EF4-FFF2-40B4-BE49-F238E27FC236}">
                  <a16:creationId xmlns:a16="http://schemas.microsoft.com/office/drawing/2014/main" id="{7010B099-32BB-7256-8918-40F281E294AE}"/>
                </a:ext>
              </a:extLst>
            </p:cNvPr>
            <p:cNvGrpSpPr/>
            <p:nvPr/>
          </p:nvGrpSpPr>
          <p:grpSpPr>
            <a:xfrm>
              <a:off x="8492797" y="2595353"/>
              <a:ext cx="3265759" cy="970897"/>
              <a:chOff x="8492797" y="2595353"/>
              <a:chExt cx="3265759" cy="970897"/>
            </a:xfrm>
          </p:grpSpPr>
          <p:sp>
            <p:nvSpPr>
              <p:cNvPr id="26" name="Rectangle : coins arrondis 25">
                <a:extLst>
                  <a:ext uri="{FF2B5EF4-FFF2-40B4-BE49-F238E27FC236}">
                    <a16:creationId xmlns:a16="http://schemas.microsoft.com/office/drawing/2014/main" id="{2715ED9E-7AE1-2E27-7755-5ECDF1D27FD5}"/>
                  </a:ext>
                </a:extLst>
              </p:cNvPr>
              <p:cNvSpPr/>
              <p:nvPr/>
            </p:nvSpPr>
            <p:spPr>
              <a:xfrm>
                <a:off x="8695316" y="2874521"/>
                <a:ext cx="3063240" cy="691729"/>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9DD6CF9F-0F6C-8D52-384C-5BBD4497E79D}"/>
                  </a:ext>
                </a:extLst>
              </p:cNvPr>
              <p:cNvSpPr/>
              <p:nvPr/>
            </p:nvSpPr>
            <p:spPr>
              <a:xfrm>
                <a:off x="8492797" y="2595353"/>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AE1DD532-2F20-169A-A216-A65DDF93D369}"/>
                  </a:ext>
                </a:extLst>
              </p:cNvPr>
              <p:cNvSpPr/>
              <p:nvPr/>
            </p:nvSpPr>
            <p:spPr>
              <a:xfrm>
                <a:off x="8935215" y="2665686"/>
                <a:ext cx="2297561"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pic>
            <p:nvPicPr>
              <p:cNvPr id="39" name="Image 38" descr="Une image contenant symbole, Police, Graphique, logo&#10;&#10;Description générée automatiquement">
                <a:extLst>
                  <a:ext uri="{FF2B5EF4-FFF2-40B4-BE49-F238E27FC236}">
                    <a16:creationId xmlns:a16="http://schemas.microsoft.com/office/drawing/2014/main" id="{4ADDCB83-05C3-4007-7066-7A5DE4E1D5F8}"/>
                  </a:ext>
                </a:extLst>
              </p:cNvPr>
              <p:cNvPicPr>
                <a:picLocks noChangeAspect="1"/>
              </p:cNvPicPr>
              <p:nvPr/>
            </p:nvPicPr>
            <p:blipFill>
              <a:blip r:embed="rId7"/>
              <a:stretch>
                <a:fillRect/>
              </a:stretch>
            </p:blipFill>
            <p:spPr>
              <a:xfrm>
                <a:off x="8528797" y="2633478"/>
                <a:ext cx="468000" cy="468000"/>
              </a:xfrm>
              <a:prstGeom prst="rect">
                <a:avLst/>
              </a:prstGeom>
              <a:noFill/>
            </p:spPr>
          </p:pic>
          <p:sp>
            <p:nvSpPr>
              <p:cNvPr id="13" name="ZoneTexte 12">
                <a:extLst>
                  <a:ext uri="{FF2B5EF4-FFF2-40B4-BE49-F238E27FC236}">
                    <a16:creationId xmlns:a16="http://schemas.microsoft.com/office/drawing/2014/main" id="{BB1FBBDC-1FC2-3BAC-D07F-03F7E505900C}"/>
                  </a:ext>
                </a:extLst>
              </p:cNvPr>
              <p:cNvSpPr txBox="1"/>
              <p:nvPr/>
            </p:nvSpPr>
            <p:spPr>
              <a:xfrm>
                <a:off x="8762797" y="3098251"/>
                <a:ext cx="2995759" cy="461665"/>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err="1"/>
                  <a:t>Increase</a:t>
                </a:r>
                <a:r>
                  <a:rPr lang="fr-FR" sz="1200" dirty="0"/>
                  <a:t> </a:t>
                </a:r>
                <a:r>
                  <a:rPr lang="fr-FR" sz="1200" dirty="0" err="1"/>
                  <a:t>crops</a:t>
                </a:r>
                <a:r>
                  <a:rPr lang="fr-FR" sz="1200" dirty="0"/>
                  <a:t> </a:t>
                </a:r>
                <a:r>
                  <a:rPr lang="fr-FR" sz="1200" dirty="0" err="1"/>
                  <a:t>yields</a:t>
                </a:r>
                <a:r>
                  <a:rPr lang="fr-FR" sz="1200" dirty="0"/>
                  <a:t>, stress </a:t>
                </a:r>
                <a:r>
                  <a:rPr lang="fr-FR" sz="1200" dirty="0" err="1"/>
                  <a:t>tolerance</a:t>
                </a:r>
                <a:r>
                  <a:rPr lang="fr-FR" sz="1200" dirty="0"/>
                  <a:t>, and quality</a:t>
                </a:r>
                <a:r>
                  <a:rPr lang="fr-FR" sz="1200" baseline="30000" dirty="0"/>
                  <a:t>1</a:t>
                </a:r>
                <a:endParaRPr lang="en-US" sz="1200" i="0" u="none" strike="noStrike" baseline="30000" dirty="0"/>
              </a:p>
            </p:txBody>
          </p:sp>
        </p:grpSp>
      </p:grpSp>
      <p:sp>
        <p:nvSpPr>
          <p:cNvPr id="53" name="ZoneTexte 52">
            <a:extLst>
              <a:ext uri="{FF2B5EF4-FFF2-40B4-BE49-F238E27FC236}">
                <a16:creationId xmlns:a16="http://schemas.microsoft.com/office/drawing/2014/main" id="{4B1718EF-74C0-E09B-A8E0-9B83FB736C3E}"/>
              </a:ext>
            </a:extLst>
          </p:cNvPr>
          <p:cNvSpPr txBox="1"/>
          <p:nvPr/>
        </p:nvSpPr>
        <p:spPr>
          <a:xfrm>
            <a:off x="10068885" y="0"/>
            <a:ext cx="1905000"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1404991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E48B4-170B-F1E6-F442-E83B35E95EBE}"/>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82A03640-FA45-D246-0E74-1199E72CB975}"/>
              </a:ext>
            </a:extLst>
          </p:cNvPr>
          <p:cNvSpPr/>
          <p:nvPr/>
        </p:nvSpPr>
        <p:spPr>
          <a:xfrm>
            <a:off x="371100" y="1222593"/>
            <a:ext cx="8635047" cy="1944967"/>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DE70B2E0-853E-96EE-2BF9-3A067401EDE2}"/>
              </a:ext>
            </a:extLst>
          </p:cNvPr>
          <p:cNvSpPr/>
          <p:nvPr/>
        </p:nvSpPr>
        <p:spPr>
          <a:xfrm>
            <a:off x="300401" y="1044677"/>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04144B4B-CABA-F3A1-2A56-E79F9AFC899C}"/>
              </a:ext>
            </a:extLst>
          </p:cNvPr>
          <p:cNvSpPr/>
          <p:nvPr/>
        </p:nvSpPr>
        <p:spPr>
          <a:xfrm>
            <a:off x="742819" y="1122331"/>
            <a:ext cx="3415295"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C68D5916-0DC7-2F69-FD45-7677C929B61F}"/>
              </a:ext>
            </a:extLst>
          </p:cNvPr>
          <p:cNvSpPr/>
          <p:nvPr/>
        </p:nvSpPr>
        <p:spPr>
          <a:xfrm rot="16200000">
            <a:off x="9878642" y="765722"/>
            <a:ext cx="1860661" cy="2766060"/>
          </a:xfrm>
          <a:prstGeom prst="round2SameRect">
            <a:avLst>
              <a:gd name="adj1" fmla="val 10809"/>
              <a:gd name="adj2" fmla="val 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A8A51340-85AD-6517-AC43-810BD6FE09D0}"/>
              </a:ext>
            </a:extLst>
          </p:cNvPr>
          <p:cNvSpPr/>
          <p:nvPr/>
        </p:nvSpPr>
        <p:spPr>
          <a:xfrm>
            <a:off x="497747" y="3654430"/>
            <a:ext cx="8513573" cy="144289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36E95ED3-E498-E568-9C06-FCA0115254AC}"/>
              </a:ext>
            </a:extLst>
          </p:cNvPr>
          <p:cNvSpPr/>
          <p:nvPr/>
        </p:nvSpPr>
        <p:spPr>
          <a:xfrm>
            <a:off x="300401" y="3375262"/>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FF552D1F-95B5-780B-83C0-4B56C028797E}"/>
              </a:ext>
            </a:extLst>
          </p:cNvPr>
          <p:cNvSpPr/>
          <p:nvPr/>
        </p:nvSpPr>
        <p:spPr>
          <a:xfrm>
            <a:off x="742819" y="3445595"/>
            <a:ext cx="3415295"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9072EFCD-F2B8-95DD-09E0-4CBC246873FD}"/>
              </a:ext>
            </a:extLst>
          </p:cNvPr>
          <p:cNvSpPr/>
          <p:nvPr/>
        </p:nvSpPr>
        <p:spPr>
          <a:xfrm>
            <a:off x="502919" y="5611927"/>
            <a:ext cx="8503229" cy="877073"/>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5D277E98-6362-1EFB-2088-D57663187E34}"/>
              </a:ext>
            </a:extLst>
          </p:cNvPr>
          <p:cNvSpPr/>
          <p:nvPr/>
        </p:nvSpPr>
        <p:spPr>
          <a:xfrm>
            <a:off x="300401" y="5305590"/>
            <a:ext cx="576000" cy="576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0300B0A7-C925-B23B-67ED-240380C4B010}"/>
              </a:ext>
            </a:extLst>
          </p:cNvPr>
          <p:cNvSpPr/>
          <p:nvPr/>
        </p:nvSpPr>
        <p:spPr>
          <a:xfrm>
            <a:off x="742819" y="5375923"/>
            <a:ext cx="3415295" cy="42573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3" name="ZoneTexte 2">
            <a:extLst>
              <a:ext uri="{FF2B5EF4-FFF2-40B4-BE49-F238E27FC236}">
                <a16:creationId xmlns:a16="http://schemas.microsoft.com/office/drawing/2014/main" id="{F383770E-01C4-C93D-25A2-D8CF5961FBE4}"/>
              </a:ext>
            </a:extLst>
          </p:cNvPr>
          <p:cNvSpPr txBox="1"/>
          <p:nvPr/>
        </p:nvSpPr>
        <p:spPr>
          <a:xfrm>
            <a:off x="9498987" y="198597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F866074B-EC89-7612-AEE4-7C79681DBA25}"/>
              </a:ext>
            </a:extLst>
          </p:cNvPr>
          <p:cNvSpPr txBox="1"/>
          <p:nvPr/>
        </p:nvSpPr>
        <p:spPr>
          <a:xfrm>
            <a:off x="9498987" y="235197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22EECC4F-E08E-F1C2-D409-AE12A0FC83B3}"/>
              </a:ext>
            </a:extLst>
          </p:cNvPr>
          <p:cNvSpPr txBox="1"/>
          <p:nvPr/>
        </p:nvSpPr>
        <p:spPr>
          <a:xfrm>
            <a:off x="9498987" y="272384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ADF767DB-C3B0-012B-E787-EABFE447E3F7}"/>
              </a:ext>
            </a:extLst>
          </p:cNvPr>
          <p:cNvGrpSpPr/>
          <p:nvPr/>
        </p:nvGrpSpPr>
        <p:grpSpPr>
          <a:xfrm>
            <a:off x="11205746" y="1974716"/>
            <a:ext cx="857700" cy="252000"/>
            <a:chOff x="1557481" y="4197166"/>
            <a:chExt cx="857700" cy="252000"/>
          </a:xfrm>
        </p:grpSpPr>
        <p:pic>
          <p:nvPicPr>
            <p:cNvPr id="23" name="Image 22">
              <a:extLst>
                <a:ext uri="{FF2B5EF4-FFF2-40B4-BE49-F238E27FC236}">
                  <a16:creationId xmlns:a16="http://schemas.microsoft.com/office/drawing/2014/main" id="{04A9DBF7-FC19-6682-23DF-12D6BDF96B22}"/>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81FD3440-8EF2-03A6-DE92-CEFEFE531E37}"/>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BFA8A9D8-1478-F782-55EC-BF714400A8AC}"/>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AD0D5066-4639-052D-C626-4EDFA882F546}"/>
              </a:ext>
            </a:extLst>
          </p:cNvPr>
          <p:cNvGrpSpPr/>
          <p:nvPr/>
        </p:nvGrpSpPr>
        <p:grpSpPr>
          <a:xfrm>
            <a:off x="11205746" y="2734417"/>
            <a:ext cx="857700" cy="252000"/>
            <a:chOff x="1557481" y="4804916"/>
            <a:chExt cx="857700" cy="252000"/>
          </a:xfrm>
        </p:grpSpPr>
        <p:pic>
          <p:nvPicPr>
            <p:cNvPr id="35" name="Image 34">
              <a:extLst>
                <a:ext uri="{FF2B5EF4-FFF2-40B4-BE49-F238E27FC236}">
                  <a16:creationId xmlns:a16="http://schemas.microsoft.com/office/drawing/2014/main" id="{E2E3181C-9B23-203E-1660-7E555851001E}"/>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4E1B3331-C8DF-97BE-3D75-1E7CF81221A0}"/>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9C36170E-F611-7A41-146F-395B2A57B764}"/>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8DF44C2E-EAB4-310E-4AAF-6DD68CC1DAB6}"/>
              </a:ext>
            </a:extLst>
          </p:cNvPr>
          <p:cNvGrpSpPr/>
          <p:nvPr/>
        </p:nvGrpSpPr>
        <p:grpSpPr>
          <a:xfrm>
            <a:off x="11205746" y="2366753"/>
            <a:ext cx="857699" cy="252000"/>
            <a:chOff x="2476644" y="4589203"/>
            <a:chExt cx="857699" cy="252000"/>
          </a:xfrm>
        </p:grpSpPr>
        <p:pic>
          <p:nvPicPr>
            <p:cNvPr id="46" name="Image 45">
              <a:extLst>
                <a:ext uri="{FF2B5EF4-FFF2-40B4-BE49-F238E27FC236}">
                  <a16:creationId xmlns:a16="http://schemas.microsoft.com/office/drawing/2014/main" id="{0D8FEB8A-7A01-39FB-C5AD-07C7E2509EFC}"/>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333BAE0E-CC88-E144-02F3-3256F79388F2}"/>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082DE136-C84D-06E8-B2B6-3D3A28D20ABE}"/>
                </a:ext>
              </a:extLst>
            </p:cNvPr>
            <p:cNvPicPr>
              <a:picLocks noChangeAspect="1"/>
            </p:cNvPicPr>
            <p:nvPr/>
          </p:nvPicPr>
          <p:blipFill>
            <a:blip r:embed="rId4"/>
            <a:stretch>
              <a:fillRect/>
            </a:stretch>
          </p:blipFill>
          <p:spPr>
            <a:xfrm>
              <a:off x="3082343" y="4589203"/>
              <a:ext cx="252000" cy="252000"/>
            </a:xfrm>
            <a:prstGeom prst="rect">
              <a:avLst/>
            </a:prstGeom>
          </p:spPr>
        </p:pic>
      </p:grpSp>
      <p:grpSp>
        <p:nvGrpSpPr>
          <p:cNvPr id="17" name="Groupe 16">
            <a:extLst>
              <a:ext uri="{FF2B5EF4-FFF2-40B4-BE49-F238E27FC236}">
                <a16:creationId xmlns:a16="http://schemas.microsoft.com/office/drawing/2014/main" id="{0CFC95A1-FB50-9AC6-6D42-28944E8D4027}"/>
              </a:ext>
            </a:extLst>
          </p:cNvPr>
          <p:cNvGrpSpPr/>
          <p:nvPr/>
        </p:nvGrpSpPr>
        <p:grpSpPr>
          <a:xfrm>
            <a:off x="9569854" y="1347584"/>
            <a:ext cx="2616976" cy="468000"/>
            <a:chOff x="9569854" y="1347584"/>
            <a:chExt cx="2616976" cy="468000"/>
          </a:xfrm>
        </p:grpSpPr>
        <p:sp>
          <p:nvSpPr>
            <p:cNvPr id="2" name="ZoneTexte 1">
              <a:extLst>
                <a:ext uri="{FF2B5EF4-FFF2-40B4-BE49-F238E27FC236}">
                  <a16:creationId xmlns:a16="http://schemas.microsoft.com/office/drawing/2014/main" id="{780D8B2E-3E77-9E8B-2C28-4DDBC75C64A7}"/>
                </a:ext>
              </a:extLst>
            </p:cNvPr>
            <p:cNvSpPr txBox="1"/>
            <p:nvPr/>
          </p:nvSpPr>
          <p:spPr>
            <a:xfrm>
              <a:off x="10056601" y="1412307"/>
              <a:ext cx="2130229" cy="338554"/>
            </a:xfrm>
            <a:prstGeom prst="rect">
              <a:avLst/>
            </a:prstGeom>
            <a:noFill/>
          </p:spPr>
          <p:txBody>
            <a:bodyPr wrap="square">
              <a:spAutoFit/>
            </a:bodyPr>
            <a:lstStyle/>
            <a:p>
              <a:pPr lvl="0" algn="ctr"/>
              <a:r>
                <a:rPr lang="fr-FR" sz="1600" b="1" u="sng" dirty="0" err="1"/>
                <a:t>Alcimed’s</a:t>
              </a:r>
              <a:r>
                <a:rPr lang="fr-FR" sz="1600" b="1" u="sng" dirty="0"/>
                <a:t> feeling</a:t>
              </a:r>
            </a:p>
          </p:txBody>
        </p:sp>
        <p:pic>
          <p:nvPicPr>
            <p:cNvPr id="53" name="Image 52">
              <a:extLst>
                <a:ext uri="{FF2B5EF4-FFF2-40B4-BE49-F238E27FC236}">
                  <a16:creationId xmlns:a16="http://schemas.microsoft.com/office/drawing/2014/main" id="{88EB7838-7D64-18D7-BC2D-9EFFC2251DC1}"/>
                </a:ext>
              </a:extLst>
            </p:cNvPr>
            <p:cNvPicPr>
              <a:picLocks noChangeAspect="1"/>
            </p:cNvPicPr>
            <p:nvPr/>
          </p:nvPicPr>
          <p:blipFill>
            <a:blip r:embed="rId5"/>
            <a:stretch>
              <a:fillRect/>
            </a:stretch>
          </p:blipFill>
          <p:spPr>
            <a:xfrm>
              <a:off x="9569854" y="1347584"/>
              <a:ext cx="468000" cy="468000"/>
            </a:xfrm>
            <a:prstGeom prst="rect">
              <a:avLst/>
            </a:prstGeom>
          </p:spPr>
        </p:pic>
      </p:grpSp>
      <p:sp>
        <p:nvSpPr>
          <p:cNvPr id="32" name="Rectangle : avec coins arrondis en haut 31">
            <a:extLst>
              <a:ext uri="{FF2B5EF4-FFF2-40B4-BE49-F238E27FC236}">
                <a16:creationId xmlns:a16="http://schemas.microsoft.com/office/drawing/2014/main" id="{177B70D7-A93C-CCA2-0168-C31163472534}"/>
              </a:ext>
            </a:extLst>
          </p:cNvPr>
          <p:cNvSpPr/>
          <p:nvPr/>
        </p:nvSpPr>
        <p:spPr>
          <a:xfrm rot="16200000">
            <a:off x="9509355" y="3571018"/>
            <a:ext cx="2599236" cy="2766060"/>
          </a:xfrm>
          <a:prstGeom prst="round2SameRect">
            <a:avLst>
              <a:gd name="adj1" fmla="val 10809"/>
              <a:gd name="adj2" fmla="val 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grpSp>
        <p:nvGrpSpPr>
          <p:cNvPr id="18" name="Groupe 17">
            <a:extLst>
              <a:ext uri="{FF2B5EF4-FFF2-40B4-BE49-F238E27FC236}">
                <a16:creationId xmlns:a16="http://schemas.microsoft.com/office/drawing/2014/main" id="{8DDAEC1A-2652-EAD9-B26E-037B4C44B90A}"/>
              </a:ext>
            </a:extLst>
          </p:cNvPr>
          <p:cNvGrpSpPr/>
          <p:nvPr/>
        </p:nvGrpSpPr>
        <p:grpSpPr>
          <a:xfrm>
            <a:off x="9642885" y="3778098"/>
            <a:ext cx="2549119" cy="468000"/>
            <a:chOff x="9642885" y="4013432"/>
            <a:chExt cx="2549119" cy="468000"/>
          </a:xfrm>
        </p:grpSpPr>
        <p:sp>
          <p:nvSpPr>
            <p:cNvPr id="33" name="ZoneTexte 32">
              <a:extLst>
                <a:ext uri="{FF2B5EF4-FFF2-40B4-BE49-F238E27FC236}">
                  <a16:creationId xmlns:a16="http://schemas.microsoft.com/office/drawing/2014/main" id="{3F99C117-5C97-7FF5-513C-D44EAEAB0A78}"/>
                </a:ext>
              </a:extLst>
            </p:cNvPr>
            <p:cNvSpPr txBox="1"/>
            <p:nvPr/>
          </p:nvSpPr>
          <p:spPr>
            <a:xfrm>
              <a:off x="10110886" y="4037324"/>
              <a:ext cx="2081118" cy="338554"/>
            </a:xfrm>
            <a:prstGeom prst="rect">
              <a:avLst/>
            </a:prstGeom>
            <a:noFill/>
          </p:spPr>
          <p:txBody>
            <a:bodyPr wrap="square">
              <a:spAutoFit/>
            </a:bodyPr>
            <a:lstStyle/>
            <a:p>
              <a:pPr lvl="0" algn="ctr"/>
              <a:r>
                <a:rPr lang="fr-FR" sz="1600" b="1" u="sng" dirty="0"/>
                <a:t>Main Sources</a:t>
              </a:r>
            </a:p>
          </p:txBody>
        </p:sp>
        <p:pic>
          <p:nvPicPr>
            <p:cNvPr id="36" name="Image 35">
              <a:extLst>
                <a:ext uri="{FF2B5EF4-FFF2-40B4-BE49-F238E27FC236}">
                  <a16:creationId xmlns:a16="http://schemas.microsoft.com/office/drawing/2014/main" id="{65AE0F9A-A6A3-3D59-6153-0D6BB4B21DF4}"/>
                </a:ext>
              </a:extLst>
            </p:cNvPr>
            <p:cNvPicPr>
              <a:picLocks noChangeAspect="1"/>
            </p:cNvPicPr>
            <p:nvPr/>
          </p:nvPicPr>
          <p:blipFill>
            <a:blip r:embed="rId6"/>
            <a:stretch>
              <a:fillRect/>
            </a:stretch>
          </p:blipFill>
          <p:spPr>
            <a:xfrm>
              <a:off x="9642885" y="4013432"/>
              <a:ext cx="468000" cy="468000"/>
            </a:xfrm>
            <a:prstGeom prst="rect">
              <a:avLst/>
            </a:prstGeom>
          </p:spPr>
        </p:pic>
      </p:grpSp>
      <p:pic>
        <p:nvPicPr>
          <p:cNvPr id="38" name="Image 37" descr="Une image contenant symbole, Graphique, logo, Police&#10;&#10;Description générée automatiquement">
            <a:extLst>
              <a:ext uri="{FF2B5EF4-FFF2-40B4-BE49-F238E27FC236}">
                <a16:creationId xmlns:a16="http://schemas.microsoft.com/office/drawing/2014/main" id="{922D74D5-D140-5FF4-FA67-46C97C727EB9}"/>
              </a:ext>
            </a:extLst>
          </p:cNvPr>
          <p:cNvPicPr>
            <a:picLocks noChangeAspect="1"/>
          </p:cNvPicPr>
          <p:nvPr/>
        </p:nvPicPr>
        <p:blipFill>
          <a:blip r:embed="rId7"/>
          <a:stretch>
            <a:fillRect/>
          </a:stretch>
        </p:blipFill>
        <p:spPr>
          <a:xfrm>
            <a:off x="346777" y="1091212"/>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BA42A080-9F41-7F39-101F-A828F6F1A77A}"/>
              </a:ext>
            </a:extLst>
          </p:cNvPr>
          <p:cNvPicPr>
            <a:picLocks noChangeAspect="1"/>
          </p:cNvPicPr>
          <p:nvPr/>
        </p:nvPicPr>
        <p:blipFill>
          <a:blip r:embed="rId8"/>
          <a:stretch>
            <a:fillRect/>
          </a:stretch>
        </p:blipFill>
        <p:spPr>
          <a:xfrm>
            <a:off x="346777" y="3448161"/>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DD9EEE1E-2C5F-C303-9899-6775F76AF602}"/>
              </a:ext>
            </a:extLst>
          </p:cNvPr>
          <p:cNvPicPr>
            <a:picLocks noChangeAspect="1"/>
          </p:cNvPicPr>
          <p:nvPr/>
        </p:nvPicPr>
        <p:blipFill>
          <a:blip r:embed="rId9"/>
          <a:stretch>
            <a:fillRect/>
          </a:stretch>
        </p:blipFill>
        <p:spPr>
          <a:xfrm>
            <a:off x="364777" y="5375923"/>
            <a:ext cx="432000" cy="432000"/>
          </a:xfrm>
          <a:prstGeom prst="rect">
            <a:avLst/>
          </a:prstGeom>
        </p:spPr>
      </p:pic>
      <p:cxnSp>
        <p:nvCxnSpPr>
          <p:cNvPr id="29" name="Connecteur droit 28">
            <a:extLst>
              <a:ext uri="{FF2B5EF4-FFF2-40B4-BE49-F238E27FC236}">
                <a16:creationId xmlns:a16="http://schemas.microsoft.com/office/drawing/2014/main" id="{626B04F7-FC7A-7EE4-FEE6-3B1C61E5D92B}"/>
              </a:ext>
            </a:extLst>
          </p:cNvPr>
          <p:cNvCxnSpPr/>
          <p:nvPr/>
        </p:nvCxnSpPr>
        <p:spPr>
          <a:xfrm>
            <a:off x="0" y="771525"/>
            <a:ext cx="12192000" cy="0"/>
          </a:xfrm>
          <a:prstGeom prst="line">
            <a:avLst/>
          </a:prstGeom>
          <a:ln w="3810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2" name="ZoneTexte 51">
            <a:extLst>
              <a:ext uri="{FF2B5EF4-FFF2-40B4-BE49-F238E27FC236}">
                <a16:creationId xmlns:a16="http://schemas.microsoft.com/office/drawing/2014/main" id="{D7F15C93-2694-5D11-52A7-FDD1EBB3C0F2}"/>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1">
                    <a:lumMod val="75000"/>
                  </a:schemeClr>
                </a:solidFill>
              </a:rPr>
              <a:t>Promoter</a:t>
            </a:r>
            <a:r>
              <a:rPr lang="fr-FR" sz="3100" b="1" dirty="0">
                <a:solidFill>
                  <a:schemeClr val="accent1">
                    <a:lumMod val="75000"/>
                  </a:schemeClr>
                </a:solidFill>
              </a:rPr>
              <a:t> Engineering</a:t>
            </a:r>
          </a:p>
        </p:txBody>
      </p:sp>
      <p:sp>
        <p:nvSpPr>
          <p:cNvPr id="58" name="ZoneTexte 57">
            <a:extLst>
              <a:ext uri="{FF2B5EF4-FFF2-40B4-BE49-F238E27FC236}">
                <a16:creationId xmlns:a16="http://schemas.microsoft.com/office/drawing/2014/main" id="{3CC26D95-1DB8-9483-E96D-37AECAFBA66C}"/>
              </a:ext>
            </a:extLst>
          </p:cNvPr>
          <p:cNvSpPr txBox="1"/>
          <p:nvPr/>
        </p:nvSpPr>
        <p:spPr>
          <a:xfrm>
            <a:off x="497747" y="1549264"/>
            <a:ext cx="8498468" cy="1569660"/>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a:solidFill>
                  <a:srgbClr val="231F20"/>
                </a:solidFill>
              </a:rPr>
              <a:t>One of the </a:t>
            </a:r>
            <a:r>
              <a:rPr lang="fr-FR" sz="1200" b="1" dirty="0" err="1">
                <a:solidFill>
                  <a:srgbClr val="231F20"/>
                </a:solidFill>
              </a:rPr>
              <a:t>easiest</a:t>
            </a:r>
            <a:r>
              <a:rPr lang="fr-FR" sz="1200" b="1" dirty="0">
                <a:solidFill>
                  <a:srgbClr val="231F20"/>
                </a:solidFill>
              </a:rPr>
              <a:t> </a:t>
            </a:r>
            <a:r>
              <a:rPr lang="fr-FR" sz="1200" b="1" dirty="0" err="1">
                <a:solidFill>
                  <a:srgbClr val="231F20"/>
                </a:solidFill>
              </a:rPr>
              <a:t>method</a:t>
            </a:r>
            <a:r>
              <a:rPr lang="fr-FR" sz="1200" b="1" dirty="0">
                <a:solidFill>
                  <a:srgbClr val="231F20"/>
                </a:solidFill>
              </a:rPr>
              <a:t> </a:t>
            </a:r>
            <a:r>
              <a:rPr lang="fr-FR" sz="1200" dirty="0">
                <a:solidFill>
                  <a:srgbClr val="231F20"/>
                </a:solidFill>
              </a:rPr>
              <a:t>to control </a:t>
            </a:r>
            <a:r>
              <a:rPr lang="fr-FR" sz="1200" dirty="0" err="1">
                <a:solidFill>
                  <a:srgbClr val="231F20"/>
                </a:solidFill>
              </a:rPr>
              <a:t>gene</a:t>
            </a:r>
            <a:r>
              <a:rPr lang="fr-FR" sz="1200" dirty="0">
                <a:solidFill>
                  <a:srgbClr val="231F20"/>
                </a:solidFill>
              </a:rPr>
              <a:t> expression </a:t>
            </a:r>
            <a:r>
              <a:rPr lang="fr-FR" sz="1200" i="1" dirty="0">
                <a:solidFill>
                  <a:srgbClr val="231F20"/>
                </a:solidFill>
              </a:rPr>
              <a:t>via</a:t>
            </a:r>
            <a:r>
              <a:rPr lang="fr-FR" sz="1200" dirty="0">
                <a:solidFill>
                  <a:srgbClr val="231F20"/>
                </a:solidFill>
              </a:rPr>
              <a:t> the </a:t>
            </a:r>
            <a:r>
              <a:rPr lang="fr-FR" sz="1200" dirty="0" err="1">
                <a:solidFill>
                  <a:srgbClr val="231F20"/>
                </a:solidFill>
              </a:rPr>
              <a:t>selection</a:t>
            </a:r>
            <a:r>
              <a:rPr lang="fr-FR" sz="1200" dirty="0">
                <a:solidFill>
                  <a:srgbClr val="231F20"/>
                </a:solidFill>
              </a:rPr>
              <a:t> of the </a:t>
            </a:r>
            <a:r>
              <a:rPr lang="fr-FR" sz="1200" dirty="0" err="1">
                <a:solidFill>
                  <a:srgbClr val="231F20"/>
                </a:solidFill>
              </a:rPr>
              <a:t>appropriate</a:t>
            </a:r>
            <a:r>
              <a:rPr lang="fr-FR" sz="1200" dirty="0">
                <a:solidFill>
                  <a:srgbClr val="231F20"/>
                </a:solidFill>
              </a:rPr>
              <a:t> </a:t>
            </a:r>
            <a:r>
              <a:rPr lang="fr-FR" sz="1200" dirty="0" err="1">
                <a:solidFill>
                  <a:srgbClr val="231F20"/>
                </a:solidFill>
              </a:rPr>
              <a:t>promoter</a:t>
            </a:r>
            <a:r>
              <a:rPr lang="fr-FR" sz="1200" dirty="0">
                <a:solidFill>
                  <a:srgbClr val="231F20"/>
                </a:solidFill>
              </a:rPr>
              <a:t>.</a:t>
            </a:r>
          </a:p>
          <a:p>
            <a:pPr marL="285750" indent="-285750" algn="just">
              <a:buFont typeface="Wingdings" panose="05000000000000000000" pitchFamily="2" charset="2"/>
              <a:buChar char="Ø"/>
            </a:pPr>
            <a:r>
              <a:rPr lang="fr-FR" sz="1200" b="1" dirty="0" err="1"/>
              <a:t>Conditonnal</a:t>
            </a:r>
            <a:r>
              <a:rPr lang="fr-FR" sz="1200" b="1" dirty="0"/>
              <a:t> </a:t>
            </a:r>
            <a:r>
              <a:rPr lang="fr-FR" sz="1200" b="1" dirty="0" err="1"/>
              <a:t>gene</a:t>
            </a:r>
            <a:r>
              <a:rPr lang="fr-FR" sz="1200" b="1" dirty="0"/>
              <a:t> expression </a:t>
            </a:r>
            <a:r>
              <a:rPr lang="fr-FR" sz="1200" b="1" dirty="0" err="1"/>
              <a:t>is</a:t>
            </a:r>
            <a:r>
              <a:rPr lang="fr-FR" sz="1200" b="1" dirty="0"/>
              <a:t> possible </a:t>
            </a:r>
            <a:r>
              <a:rPr lang="fr-FR" sz="1200" dirty="0" err="1"/>
              <a:t>with</a:t>
            </a:r>
            <a:r>
              <a:rPr lang="fr-FR" sz="1200" dirty="0"/>
              <a:t> </a:t>
            </a:r>
            <a:r>
              <a:rPr lang="fr-FR" sz="1200" dirty="0" err="1"/>
              <a:t>i</a:t>
            </a:r>
            <a:r>
              <a:rPr lang="fr-FR" sz="1200" dirty="0" err="1">
                <a:solidFill>
                  <a:schemeClr val="tx1"/>
                </a:solidFill>
              </a:rPr>
              <a:t>nducible</a:t>
            </a:r>
            <a:r>
              <a:rPr lang="fr-FR" sz="1200" dirty="0">
                <a:solidFill>
                  <a:schemeClr val="tx1"/>
                </a:solidFill>
              </a:rPr>
              <a:t> </a:t>
            </a:r>
            <a:r>
              <a:rPr lang="fr-FR" sz="1200" dirty="0" err="1">
                <a:solidFill>
                  <a:schemeClr val="tx1"/>
                </a:solidFill>
              </a:rPr>
              <a:t>promoters</a:t>
            </a:r>
            <a:r>
              <a:rPr lang="fr-FR" sz="1200" dirty="0">
                <a:solidFill>
                  <a:schemeClr val="tx1"/>
                </a:solidFill>
              </a:rPr>
              <a:t> </a:t>
            </a:r>
            <a:r>
              <a:rPr lang="fr-FR" sz="1200" dirty="0" err="1">
                <a:solidFill>
                  <a:schemeClr val="tx1"/>
                </a:solidFill>
              </a:rPr>
              <a:t>that</a:t>
            </a:r>
            <a:r>
              <a:rPr lang="fr-FR" sz="1200" dirty="0">
                <a:solidFill>
                  <a:schemeClr val="tx1"/>
                </a:solidFill>
              </a:rPr>
              <a:t> are responsive to cellular </a:t>
            </a:r>
            <a:r>
              <a:rPr lang="fr-FR" sz="1200" dirty="0" err="1">
                <a:solidFill>
                  <a:schemeClr val="tx1"/>
                </a:solidFill>
              </a:rPr>
              <a:t>environment</a:t>
            </a:r>
            <a:r>
              <a:rPr lang="fr-FR" sz="1200" dirty="0">
                <a:solidFill>
                  <a:schemeClr val="tx1"/>
                </a:solidFill>
              </a:rPr>
              <a:t> : </a:t>
            </a:r>
            <a:r>
              <a:rPr lang="fr-FR" sz="1200" dirty="0" err="1">
                <a:solidFill>
                  <a:schemeClr val="tx1"/>
                </a:solidFill>
              </a:rPr>
              <a:t>temperature</a:t>
            </a:r>
            <a:r>
              <a:rPr lang="fr-FR" sz="1200" dirty="0">
                <a:solidFill>
                  <a:schemeClr val="tx1"/>
                </a:solidFill>
              </a:rPr>
              <a:t>, </a:t>
            </a:r>
            <a:r>
              <a:rPr lang="fr-FR" sz="1200" dirty="0" err="1">
                <a:solidFill>
                  <a:schemeClr val="tx1"/>
                </a:solidFill>
              </a:rPr>
              <a:t>oxygen</a:t>
            </a:r>
            <a:r>
              <a:rPr lang="fr-FR" sz="1200" dirty="0">
                <a:solidFill>
                  <a:schemeClr val="tx1"/>
                </a:solidFill>
              </a:rPr>
              <a:t> </a:t>
            </a:r>
            <a:r>
              <a:rPr lang="fr-FR" sz="1200" dirty="0" err="1">
                <a:solidFill>
                  <a:schemeClr val="tx1"/>
                </a:solidFill>
              </a:rPr>
              <a:t>availability</a:t>
            </a:r>
            <a:r>
              <a:rPr lang="fr-FR" sz="1200" dirty="0">
                <a:solidFill>
                  <a:schemeClr val="tx1"/>
                </a:solidFill>
              </a:rPr>
              <a:t>, </a:t>
            </a:r>
            <a:r>
              <a:rPr lang="fr-FR" sz="1200" dirty="0" err="1">
                <a:solidFill>
                  <a:schemeClr val="tx1"/>
                </a:solidFill>
              </a:rPr>
              <a:t>intracellular</a:t>
            </a:r>
            <a:r>
              <a:rPr lang="fr-FR" sz="1200" dirty="0">
                <a:solidFill>
                  <a:schemeClr val="tx1"/>
                </a:solidFill>
              </a:rPr>
              <a:t> </a:t>
            </a:r>
            <a:r>
              <a:rPr lang="fr-FR" sz="1200" dirty="0"/>
              <a:t>concentration of </a:t>
            </a:r>
            <a:r>
              <a:rPr lang="fr-FR" sz="1200" dirty="0" err="1"/>
              <a:t>precise</a:t>
            </a:r>
            <a:r>
              <a:rPr lang="fr-FR" sz="1200" dirty="0"/>
              <a:t> </a:t>
            </a:r>
            <a:r>
              <a:rPr lang="fr-FR" sz="1200" dirty="0" err="1"/>
              <a:t>molecules</a:t>
            </a:r>
            <a:r>
              <a:rPr lang="fr-FR" sz="1200" dirty="0"/>
              <a:t>… </a:t>
            </a:r>
            <a:r>
              <a:rPr lang="fr-FR" sz="1200" dirty="0" err="1"/>
              <a:t>Inducible</a:t>
            </a:r>
            <a:r>
              <a:rPr lang="fr-FR" sz="1200" dirty="0"/>
              <a:t> </a:t>
            </a:r>
            <a:r>
              <a:rPr lang="en-US" sz="1200" dirty="0"/>
              <a:t>promoters are generally inexpensive, non-toxic, with high specificity. </a:t>
            </a:r>
          </a:p>
          <a:p>
            <a:pPr marL="285750" indent="-285750" algn="just">
              <a:buFont typeface="Wingdings" panose="05000000000000000000" pitchFamily="2" charset="2"/>
              <a:buChar char="Ø"/>
            </a:pPr>
            <a:r>
              <a:rPr lang="en-US" sz="1200" b="0" i="0" u="none" strike="noStrike" baseline="0" dirty="0"/>
              <a:t>The short </a:t>
            </a:r>
            <a:r>
              <a:rPr lang="en-US" sz="1200" b="1" i="0" u="none" strike="noStrike" baseline="0" dirty="0"/>
              <a:t>length and relative simplicity </a:t>
            </a:r>
            <a:r>
              <a:rPr lang="en-US" sz="1200" i="0" u="none" strike="noStrike" baseline="0" dirty="0"/>
              <a:t>of prokaryotic promoters </a:t>
            </a:r>
            <a:r>
              <a:rPr lang="en-US" sz="1200" b="0" i="0" u="none" strike="noStrike" baseline="0" dirty="0"/>
              <a:t>make them usable to many engineering strategies</a:t>
            </a:r>
          </a:p>
          <a:p>
            <a:pPr marL="285750" indent="-285750" algn="just">
              <a:buFont typeface="Wingdings" panose="05000000000000000000" pitchFamily="2" charset="2"/>
              <a:buChar char="Ø"/>
            </a:pPr>
            <a:r>
              <a:rPr lang="en-US" sz="1200" dirty="0"/>
              <a:t>Current techniques for engineering new promoters can be </a:t>
            </a:r>
            <a:r>
              <a:rPr lang="en-US" sz="1200" b="1" dirty="0"/>
              <a:t>broadly applicable</a:t>
            </a:r>
            <a:r>
              <a:rPr lang="en-US" sz="1200" dirty="0"/>
              <a:t>.</a:t>
            </a:r>
          </a:p>
          <a:p>
            <a:pPr marL="285750" indent="-285750" algn="just">
              <a:buFont typeface="Wingdings" panose="05000000000000000000" pitchFamily="2" charset="2"/>
              <a:buChar char="Ø"/>
            </a:pPr>
            <a:r>
              <a:rPr lang="fr-FR" sz="1200" b="0" i="0" u="none" strike="noStrike" baseline="0" dirty="0" err="1"/>
              <a:t>Hybrid</a:t>
            </a:r>
            <a:r>
              <a:rPr lang="fr-FR" sz="1200" b="0" i="0" u="none" strike="noStrike" baseline="0" dirty="0"/>
              <a:t> </a:t>
            </a:r>
            <a:r>
              <a:rPr lang="fr-FR" sz="1200" b="0" i="0" u="none" strike="noStrike" baseline="0" dirty="0" err="1"/>
              <a:t>promoter</a:t>
            </a:r>
            <a:r>
              <a:rPr lang="fr-FR" sz="1200" b="0" i="0" u="none" strike="noStrike" baseline="0" dirty="0"/>
              <a:t> design </a:t>
            </a:r>
            <a:r>
              <a:rPr lang="fr-FR" sz="1200" b="0" i="0" u="none" strike="noStrike" baseline="0" dirty="0" err="1"/>
              <a:t>treat</a:t>
            </a:r>
            <a:r>
              <a:rPr lang="fr-FR" sz="1200" b="0" i="0" u="none" strike="noStrike" baseline="0" dirty="0"/>
              <a:t> </a:t>
            </a:r>
            <a:r>
              <a:rPr lang="en-US" sz="1200" b="0" i="0" u="none" strike="noStrike" baseline="0" dirty="0"/>
              <a:t>sequence promoter elements as “parts” which can be </a:t>
            </a:r>
            <a:r>
              <a:rPr lang="en-US" sz="1200" b="1" i="0" u="none" strike="noStrike" baseline="0" dirty="0"/>
              <a:t>rearranged, swapped, or replicated</a:t>
            </a:r>
            <a:r>
              <a:rPr lang="en-US" sz="1200" b="0" i="0" u="none" strike="noStrike" baseline="0" dirty="0"/>
              <a:t>, making it useful for maximizing promoter strength or establishing novel modes of </a:t>
            </a:r>
            <a:r>
              <a:rPr lang="fr-FR" sz="1200" b="0" i="0" u="none" strike="noStrike" baseline="0" dirty="0" err="1"/>
              <a:t>transcriptional</a:t>
            </a:r>
            <a:r>
              <a:rPr lang="fr-FR" sz="1200" b="0" i="0" u="none" strike="noStrike" baseline="0" dirty="0"/>
              <a:t> </a:t>
            </a:r>
            <a:r>
              <a:rPr lang="fr-FR" sz="1200" b="0" i="0" u="none" strike="noStrike" baseline="0" dirty="0" err="1"/>
              <a:t>regulation</a:t>
            </a:r>
            <a:r>
              <a:rPr lang="fr-FR" sz="1200" b="0" i="0" u="none" strike="noStrike" baseline="0" dirty="0"/>
              <a:t>.</a:t>
            </a:r>
            <a:endParaRPr lang="fr-FR" sz="1200" dirty="0">
              <a:solidFill>
                <a:schemeClr val="tx1"/>
              </a:solidFill>
            </a:endParaRPr>
          </a:p>
        </p:txBody>
      </p:sp>
      <p:sp>
        <p:nvSpPr>
          <p:cNvPr id="9" name="ZoneTexte 8">
            <a:extLst>
              <a:ext uri="{FF2B5EF4-FFF2-40B4-BE49-F238E27FC236}">
                <a16:creationId xmlns:a16="http://schemas.microsoft.com/office/drawing/2014/main" id="{623A9822-F211-6CBC-496F-10EF0C2EB358}"/>
              </a:ext>
            </a:extLst>
          </p:cNvPr>
          <p:cNvSpPr txBox="1"/>
          <p:nvPr/>
        </p:nvSpPr>
        <p:spPr>
          <a:xfrm>
            <a:off x="9498986" y="4298172"/>
            <a:ext cx="2617920" cy="1785104"/>
          </a:xfrm>
          <a:prstGeom prst="rect">
            <a:avLst/>
          </a:prstGeom>
          <a:noFill/>
        </p:spPr>
        <p:txBody>
          <a:bodyPr wrap="square">
            <a:spAutoFit/>
          </a:bodyPr>
          <a:lstStyle/>
          <a:p>
            <a:pPr algn="just"/>
            <a:r>
              <a:rPr lang="en-US" sz="1000" b="0" i="0" dirty="0">
                <a:solidFill>
                  <a:srgbClr val="212121"/>
                </a:solidFill>
                <a:effectLst/>
              </a:rPr>
              <a:t>1. </a:t>
            </a:r>
            <a:r>
              <a:rPr lang="fr-FR" sz="1000" b="0" i="0" dirty="0">
                <a:solidFill>
                  <a:srgbClr val="2A2A2A"/>
                </a:solidFill>
                <a:effectLst/>
              </a:rPr>
              <a:t>Lu Shi, Jing Su, </a:t>
            </a:r>
            <a:r>
              <a:rPr lang="fr-FR" sz="1000" b="0" i="0" dirty="0" err="1">
                <a:solidFill>
                  <a:srgbClr val="2A2A2A"/>
                </a:solidFill>
                <a:effectLst/>
              </a:rPr>
              <a:t>Myeong</a:t>
            </a:r>
            <a:r>
              <a:rPr lang="fr-FR" sz="1000" b="0" i="0" dirty="0">
                <a:solidFill>
                  <a:srgbClr val="2A2A2A"/>
                </a:solidFill>
                <a:effectLst/>
              </a:rPr>
              <a:t>-Je Cho, </a:t>
            </a:r>
            <a:r>
              <a:rPr lang="fr-FR" sz="1000" b="0" i="0" dirty="0" err="1">
                <a:solidFill>
                  <a:srgbClr val="2A2A2A"/>
                </a:solidFill>
                <a:effectLst/>
              </a:rPr>
              <a:t>Hao</a:t>
            </a:r>
            <a:r>
              <a:rPr lang="fr-FR" sz="1000" b="0" i="0" dirty="0">
                <a:solidFill>
                  <a:srgbClr val="2A2A2A"/>
                </a:solidFill>
                <a:effectLst/>
              </a:rPr>
              <a:t> Song, </a:t>
            </a:r>
            <a:r>
              <a:rPr lang="fr-FR" sz="1000" b="0" i="0" dirty="0" err="1">
                <a:solidFill>
                  <a:srgbClr val="2A2A2A"/>
                </a:solidFill>
                <a:effectLst/>
              </a:rPr>
              <a:t>Xiaoou</a:t>
            </a:r>
            <a:r>
              <a:rPr lang="fr-FR" sz="1000" b="0" i="0" dirty="0">
                <a:solidFill>
                  <a:srgbClr val="2A2A2A"/>
                </a:solidFill>
                <a:effectLst/>
              </a:rPr>
              <a:t> Dong, Ying Liang, </a:t>
            </a:r>
            <a:r>
              <a:rPr lang="fr-FR" sz="1000" b="0" i="0" dirty="0" err="1">
                <a:solidFill>
                  <a:srgbClr val="2A2A2A"/>
                </a:solidFill>
                <a:effectLst/>
              </a:rPr>
              <a:t>Zhiyong</a:t>
            </a:r>
            <a:r>
              <a:rPr lang="fr-FR" sz="1000" b="0" i="0" dirty="0">
                <a:solidFill>
                  <a:srgbClr val="2A2A2A"/>
                </a:solidFill>
                <a:effectLst/>
              </a:rPr>
              <a:t> Zhang, </a:t>
            </a:r>
            <a:r>
              <a:rPr lang="fr-FR" sz="1000" b="0" i="0" dirty="0" err="1">
                <a:solidFill>
                  <a:srgbClr val="2A2A2A"/>
                </a:solidFill>
                <a:effectLst/>
              </a:rPr>
              <a:t>Promoter</a:t>
            </a:r>
            <a:r>
              <a:rPr lang="fr-FR" sz="1000" b="0" i="0" dirty="0">
                <a:solidFill>
                  <a:srgbClr val="2A2A2A"/>
                </a:solidFill>
                <a:effectLst/>
              </a:rPr>
              <a:t> </a:t>
            </a:r>
            <a:r>
              <a:rPr lang="fr-FR" sz="1000" b="0" i="0" dirty="0" err="1">
                <a:solidFill>
                  <a:srgbClr val="2A2A2A"/>
                </a:solidFill>
                <a:effectLst/>
              </a:rPr>
              <a:t>editing</a:t>
            </a:r>
            <a:r>
              <a:rPr lang="fr-FR" sz="1000" b="0" i="0" dirty="0">
                <a:solidFill>
                  <a:srgbClr val="2A2A2A"/>
                </a:solidFill>
                <a:effectLst/>
              </a:rPr>
              <a:t> for the </a:t>
            </a:r>
            <a:r>
              <a:rPr lang="fr-FR" sz="1000" b="0" i="0" dirty="0" err="1">
                <a:solidFill>
                  <a:srgbClr val="2A2A2A"/>
                </a:solidFill>
                <a:effectLst/>
              </a:rPr>
              <a:t>genetic</a:t>
            </a:r>
            <a:r>
              <a:rPr lang="fr-FR" sz="1000" b="0" i="0" dirty="0">
                <a:solidFill>
                  <a:srgbClr val="2A2A2A"/>
                </a:solidFill>
                <a:effectLst/>
              </a:rPr>
              <a:t> </a:t>
            </a:r>
            <a:r>
              <a:rPr lang="fr-FR" sz="1000" b="0" i="0" dirty="0" err="1">
                <a:solidFill>
                  <a:srgbClr val="2A2A2A"/>
                </a:solidFill>
                <a:effectLst/>
              </a:rPr>
              <a:t>improvement</a:t>
            </a:r>
            <a:r>
              <a:rPr lang="fr-FR" sz="1000" b="0" i="0" dirty="0">
                <a:solidFill>
                  <a:srgbClr val="2A2A2A"/>
                </a:solidFill>
                <a:effectLst/>
              </a:rPr>
              <a:t> of </a:t>
            </a:r>
            <a:r>
              <a:rPr lang="fr-FR" sz="1000" b="0" i="0" dirty="0" err="1">
                <a:solidFill>
                  <a:srgbClr val="2A2A2A"/>
                </a:solidFill>
                <a:effectLst/>
              </a:rPr>
              <a:t>crops</a:t>
            </a:r>
            <a:r>
              <a:rPr lang="fr-FR" sz="1000" b="0" i="0" dirty="0">
                <a:solidFill>
                  <a:srgbClr val="2A2A2A"/>
                </a:solidFill>
                <a:effectLst/>
              </a:rPr>
              <a:t>, </a:t>
            </a:r>
            <a:r>
              <a:rPr lang="fr-FR" sz="1000" b="0" i="1" dirty="0">
                <a:solidFill>
                  <a:srgbClr val="2A2A2A"/>
                </a:solidFill>
                <a:effectLst/>
              </a:rPr>
              <a:t>Journal of </a:t>
            </a:r>
            <a:r>
              <a:rPr lang="fr-FR" sz="1000" b="0" i="1" dirty="0" err="1">
                <a:solidFill>
                  <a:srgbClr val="2A2A2A"/>
                </a:solidFill>
                <a:effectLst/>
              </a:rPr>
              <a:t>Experimental</a:t>
            </a:r>
            <a:r>
              <a:rPr lang="fr-FR" sz="1000" b="0" i="1" dirty="0">
                <a:solidFill>
                  <a:srgbClr val="2A2A2A"/>
                </a:solidFill>
                <a:effectLst/>
              </a:rPr>
              <a:t> </a:t>
            </a:r>
            <a:r>
              <a:rPr lang="fr-FR" sz="1000" b="0" i="1" dirty="0" err="1">
                <a:solidFill>
                  <a:srgbClr val="2A2A2A"/>
                </a:solidFill>
                <a:effectLst/>
              </a:rPr>
              <a:t>Botany</a:t>
            </a:r>
            <a:r>
              <a:rPr lang="fr-FR" sz="1000" b="0" i="0" dirty="0">
                <a:solidFill>
                  <a:srgbClr val="2A2A2A"/>
                </a:solidFill>
                <a:effectLst/>
              </a:rPr>
              <a:t>, Volume 74, Issue 15, 17 August 2023, Pages 4349–4366</a:t>
            </a:r>
            <a:endParaRPr lang="en-US" sz="1000" b="0" i="0" dirty="0">
              <a:solidFill>
                <a:srgbClr val="212121"/>
              </a:solidFill>
              <a:effectLst/>
            </a:endParaRPr>
          </a:p>
          <a:p>
            <a:pPr algn="just"/>
            <a:endParaRPr lang="en-US" sz="1000" dirty="0">
              <a:solidFill>
                <a:srgbClr val="212121"/>
              </a:solidFill>
            </a:endParaRPr>
          </a:p>
          <a:p>
            <a:pPr algn="just"/>
            <a:r>
              <a:rPr lang="en-US" sz="1000" b="0" i="0" dirty="0" err="1">
                <a:solidFill>
                  <a:srgbClr val="212121"/>
                </a:solidFill>
                <a:effectLst/>
              </a:rPr>
              <a:t>Cazier</a:t>
            </a:r>
            <a:r>
              <a:rPr lang="en-US" sz="1000" b="0" i="0" dirty="0">
                <a:solidFill>
                  <a:srgbClr val="212121"/>
                </a:solidFill>
                <a:effectLst/>
              </a:rPr>
              <a:t> AP, </a:t>
            </a:r>
            <a:r>
              <a:rPr lang="en-US" sz="1000" b="0" i="0" dirty="0" err="1">
                <a:solidFill>
                  <a:srgbClr val="212121"/>
                </a:solidFill>
                <a:effectLst/>
              </a:rPr>
              <a:t>Blazeck</a:t>
            </a:r>
            <a:r>
              <a:rPr lang="en-US" sz="1000" b="0" i="0" dirty="0">
                <a:solidFill>
                  <a:srgbClr val="212121"/>
                </a:solidFill>
                <a:effectLst/>
              </a:rPr>
              <a:t> J. Advances in promoter engineering: Novel applications and predefined transcriptional control. </a:t>
            </a:r>
            <a:r>
              <a:rPr lang="en-US" sz="1000" b="0" i="0" dirty="0" err="1">
                <a:solidFill>
                  <a:srgbClr val="212121"/>
                </a:solidFill>
                <a:effectLst/>
              </a:rPr>
              <a:t>Biotechnol</a:t>
            </a:r>
            <a:r>
              <a:rPr lang="en-US" sz="1000" b="0" i="0" dirty="0">
                <a:solidFill>
                  <a:srgbClr val="212121"/>
                </a:solidFill>
                <a:effectLst/>
              </a:rPr>
              <a:t> J. 2021 Oct;16(10):e2100239.</a:t>
            </a:r>
            <a:endParaRPr lang="fr-FR" sz="1000" dirty="0"/>
          </a:p>
        </p:txBody>
      </p:sp>
      <p:sp>
        <p:nvSpPr>
          <p:cNvPr id="11" name="ZoneTexte 10">
            <a:extLst>
              <a:ext uri="{FF2B5EF4-FFF2-40B4-BE49-F238E27FC236}">
                <a16:creationId xmlns:a16="http://schemas.microsoft.com/office/drawing/2014/main" id="{FACC2839-B762-DBDC-01BA-A7631D9A0403}"/>
              </a:ext>
            </a:extLst>
          </p:cNvPr>
          <p:cNvSpPr txBox="1"/>
          <p:nvPr/>
        </p:nvSpPr>
        <p:spPr>
          <a:xfrm>
            <a:off x="619125" y="5801655"/>
            <a:ext cx="8377090" cy="646331"/>
          </a:xfrm>
          <a:prstGeom prst="rect">
            <a:avLst/>
          </a:prstGeom>
          <a:noFill/>
        </p:spPr>
        <p:txBody>
          <a:bodyPr wrap="square">
            <a:spAutoFit/>
          </a:bodyPr>
          <a:lstStyle/>
          <a:p>
            <a:pPr marL="285750" indent="-285750" algn="just">
              <a:buFont typeface="Wingdings" panose="05000000000000000000" pitchFamily="2" charset="2"/>
              <a:buChar char="Ø"/>
            </a:pPr>
            <a:r>
              <a:rPr lang="en-US" sz="1200" dirty="0"/>
              <a:t>Many of the advances in promoter engineering achieved in bacteria have focused on E. coli, efforts have been made to </a:t>
            </a:r>
            <a:r>
              <a:rPr lang="en-US" sz="1200" b="1" dirty="0"/>
              <a:t>design promoters compatible across a broad spectrum of bacteria</a:t>
            </a:r>
            <a:r>
              <a:rPr lang="en-US" sz="1200" dirty="0"/>
              <a:t>.</a:t>
            </a:r>
          </a:p>
          <a:p>
            <a:pPr marL="285750" indent="-285750" algn="just">
              <a:buFont typeface="Wingdings" panose="05000000000000000000" pitchFamily="2" charset="2"/>
              <a:buChar char="Ø"/>
            </a:pPr>
            <a:r>
              <a:rPr lang="en-US" sz="1200" dirty="0"/>
              <a:t>Prediction of promoter transcriptional strength has been shown to be amenable to </a:t>
            </a:r>
            <a:r>
              <a:rPr lang="en-US" sz="1200" b="1" dirty="0"/>
              <a:t>machine learning techniques.</a:t>
            </a:r>
          </a:p>
        </p:txBody>
      </p:sp>
      <p:sp>
        <p:nvSpPr>
          <p:cNvPr id="13" name="ZoneTexte 12">
            <a:extLst>
              <a:ext uri="{FF2B5EF4-FFF2-40B4-BE49-F238E27FC236}">
                <a16:creationId xmlns:a16="http://schemas.microsoft.com/office/drawing/2014/main" id="{21A5A58F-72C6-13D4-A29F-0B83DFC4F89A}"/>
              </a:ext>
            </a:extLst>
          </p:cNvPr>
          <p:cNvSpPr txBox="1"/>
          <p:nvPr/>
        </p:nvSpPr>
        <p:spPr>
          <a:xfrm>
            <a:off x="619124" y="3881268"/>
            <a:ext cx="8377089" cy="1200329"/>
          </a:xfrm>
          <a:prstGeom prst="rect">
            <a:avLst/>
          </a:prstGeom>
          <a:noFill/>
        </p:spPr>
        <p:txBody>
          <a:bodyPr wrap="square">
            <a:spAutoFit/>
          </a:bodyPr>
          <a:lstStyle/>
          <a:p>
            <a:pPr marL="171450" indent="-171450" algn="just">
              <a:buFont typeface="Wingdings" panose="05000000000000000000" pitchFamily="2" charset="2"/>
              <a:buChar char="Ø"/>
            </a:pPr>
            <a:r>
              <a:rPr lang="en-US" sz="1200" dirty="0"/>
              <a:t>Method that requires characterization and selection of the promoter with desired properties, which is </a:t>
            </a:r>
            <a:r>
              <a:rPr lang="en-US" sz="1200" b="1" dirty="0"/>
              <a:t>time consuming</a:t>
            </a:r>
            <a:r>
              <a:rPr lang="en-US" sz="1200" dirty="0"/>
              <a:t>.</a:t>
            </a:r>
          </a:p>
          <a:p>
            <a:pPr marL="171450" indent="-171450" algn="just">
              <a:buFont typeface="Wingdings" panose="05000000000000000000" pitchFamily="2" charset="2"/>
              <a:buChar char="Ø"/>
            </a:pPr>
            <a:r>
              <a:rPr lang="en-US" sz="1200" dirty="0"/>
              <a:t>There exists numerous interactions between promoter and transcription factors, </a:t>
            </a:r>
            <a:r>
              <a:rPr lang="en-US" sz="1200" b="1" dirty="0"/>
              <a:t>complexifying new promoter’s design</a:t>
            </a:r>
            <a:r>
              <a:rPr lang="en-US" sz="1200" dirty="0"/>
              <a:t>.</a:t>
            </a:r>
          </a:p>
          <a:p>
            <a:pPr marL="171450" indent="-171450" algn="just">
              <a:buFont typeface="Wingdings" panose="05000000000000000000" pitchFamily="2" charset="2"/>
              <a:buChar char="Ø"/>
            </a:pPr>
            <a:r>
              <a:rPr lang="en-US" sz="1200" dirty="0"/>
              <a:t>For </a:t>
            </a:r>
            <a:r>
              <a:rPr lang="en-US" sz="1200" b="1" dirty="0"/>
              <a:t>eukaryotic promoters</a:t>
            </a:r>
            <a:r>
              <a:rPr lang="en-US" sz="1200" dirty="0"/>
              <a:t>, UAS elements are required to enhance the strength of core promoter to attain robust gene expression. Also, </a:t>
            </a:r>
            <a:r>
              <a:rPr lang="en-US" sz="1200" b="1" dirty="0"/>
              <a:t>core promoter is the trickiest to work on </a:t>
            </a:r>
            <a:r>
              <a:rPr lang="en-US" sz="1200" dirty="0"/>
              <a:t>since changes </a:t>
            </a:r>
            <a:r>
              <a:rPr lang="fr-FR" sz="1200" dirty="0" err="1"/>
              <a:t>drastically</a:t>
            </a:r>
            <a:r>
              <a:rPr lang="fr-FR" sz="1200" dirty="0"/>
              <a:t> impact </a:t>
            </a:r>
            <a:r>
              <a:rPr lang="fr-FR" sz="1200" dirty="0" err="1"/>
              <a:t>promoter</a:t>
            </a:r>
            <a:r>
              <a:rPr lang="fr-FR" sz="1200" dirty="0"/>
              <a:t> </a:t>
            </a:r>
            <a:r>
              <a:rPr lang="fr-FR" sz="1200" dirty="0" err="1"/>
              <a:t>strength</a:t>
            </a:r>
            <a:r>
              <a:rPr lang="fr-FR" sz="1200" dirty="0"/>
              <a:t>.</a:t>
            </a:r>
          </a:p>
          <a:p>
            <a:pPr marL="171450" indent="-171450" algn="just">
              <a:buFont typeface="Wingdings" panose="05000000000000000000" pitchFamily="2" charset="2"/>
              <a:buChar char="Ø"/>
            </a:pPr>
            <a:r>
              <a:rPr lang="fr-FR" sz="1200" dirty="0" err="1"/>
              <a:t>Nucleotide</a:t>
            </a:r>
            <a:r>
              <a:rPr lang="fr-FR" sz="1200" dirty="0"/>
              <a:t> Diversification </a:t>
            </a:r>
            <a:r>
              <a:rPr lang="fr-FR" sz="1200" dirty="0" err="1"/>
              <a:t>Promoter</a:t>
            </a:r>
            <a:r>
              <a:rPr lang="fr-FR" sz="1200" dirty="0"/>
              <a:t> Engineering </a:t>
            </a:r>
            <a:r>
              <a:rPr lang="fr-FR" sz="1200" dirty="0" err="1"/>
              <a:t>method</a:t>
            </a:r>
            <a:r>
              <a:rPr lang="fr-FR" sz="1200" dirty="0"/>
              <a:t> </a:t>
            </a:r>
            <a:r>
              <a:rPr lang="fr-FR" sz="1200" dirty="0" err="1"/>
              <a:t>creates</a:t>
            </a:r>
            <a:r>
              <a:rPr lang="fr-FR" sz="1200" dirty="0"/>
              <a:t> variants </a:t>
            </a:r>
            <a:r>
              <a:rPr lang="en-US" sz="1200" b="1" dirty="0"/>
              <a:t>in a pseudo-random manner</a:t>
            </a:r>
            <a:r>
              <a:rPr lang="en-US" sz="1200" dirty="0"/>
              <a:t>.</a:t>
            </a:r>
          </a:p>
        </p:txBody>
      </p:sp>
      <p:sp>
        <p:nvSpPr>
          <p:cNvPr id="31" name="Rectangle 30">
            <a:extLst>
              <a:ext uri="{FF2B5EF4-FFF2-40B4-BE49-F238E27FC236}">
                <a16:creationId xmlns:a16="http://schemas.microsoft.com/office/drawing/2014/main" id="{BA600AE7-1D00-740C-F5E5-972726C34A66}"/>
              </a:ext>
            </a:extLst>
          </p:cNvPr>
          <p:cNvSpPr/>
          <p:nvPr/>
        </p:nvSpPr>
        <p:spPr>
          <a:xfrm>
            <a:off x="11811445" y="2262974"/>
            <a:ext cx="252000" cy="774423"/>
          </a:xfrm>
          <a:prstGeom prst="rect">
            <a:avLst/>
          </a:prstGeom>
          <a:solidFill>
            <a:srgbClr val="FF99B4">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9C2BE7DA-02DA-9FA5-B537-2925E2EE0246}"/>
              </a:ext>
            </a:extLst>
          </p:cNvPr>
          <p:cNvSpPr txBox="1"/>
          <p:nvPr/>
        </p:nvSpPr>
        <p:spPr>
          <a:xfrm>
            <a:off x="10068885" y="0"/>
            <a:ext cx="1905000" cy="707886"/>
          </a:xfrm>
          <a:prstGeom prst="rect">
            <a:avLst/>
          </a:prstGeom>
          <a:noFill/>
        </p:spPr>
        <p:txBody>
          <a:bodyPr wrap="square" rtlCol="0">
            <a:spAutoFit/>
          </a:bodyPr>
          <a:lstStyle/>
          <a:p>
            <a:r>
              <a:rPr lang="fr-FR" sz="4000" b="1" dirty="0">
                <a:highlight>
                  <a:srgbClr val="FFFF00"/>
                </a:highlight>
              </a:rPr>
              <a:t>OK</a:t>
            </a:r>
          </a:p>
        </p:txBody>
      </p:sp>
    </p:spTree>
    <p:extLst>
      <p:ext uri="{BB962C8B-B14F-4D97-AF65-F5344CB8AC3E}">
        <p14:creationId xmlns:p14="http://schemas.microsoft.com/office/powerpoint/2010/main" val="2959974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6F6A-8E97-1B3C-7F16-ED7D7E7E7849}"/>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A85AB5F3-0B30-0A7B-9877-1571339110D7}"/>
              </a:ext>
            </a:extLst>
          </p:cNvPr>
          <p:cNvCxnSpPr/>
          <p:nvPr/>
        </p:nvCxnSpPr>
        <p:spPr>
          <a:xfrm>
            <a:off x="0" y="771525"/>
            <a:ext cx="12192000" cy="0"/>
          </a:xfrm>
          <a:prstGeom prst="line">
            <a:avLst/>
          </a:prstGeom>
          <a:ln w="381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16C33307-C43A-1866-318F-BB90C4CB5423}"/>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4">
                    <a:lumMod val="75000"/>
                  </a:schemeClr>
                </a:solidFill>
              </a:rPr>
              <a:t>CRISPRi</a:t>
            </a:r>
            <a:r>
              <a:rPr lang="fr-FR" sz="3100" b="1" dirty="0">
                <a:solidFill>
                  <a:schemeClr val="accent4">
                    <a:lumMod val="75000"/>
                  </a:schemeClr>
                </a:solidFill>
              </a:rPr>
              <a:t>/</a:t>
            </a:r>
            <a:r>
              <a:rPr lang="fr-FR" sz="3100" b="1" dirty="0" err="1">
                <a:solidFill>
                  <a:schemeClr val="accent4">
                    <a:lumMod val="75000"/>
                  </a:schemeClr>
                </a:solidFill>
              </a:rPr>
              <a:t>CRISPRa</a:t>
            </a:r>
            <a:endParaRPr lang="fr-FR" sz="3100" b="1" dirty="0">
              <a:solidFill>
                <a:schemeClr val="accent4">
                  <a:lumMod val="75000"/>
                </a:schemeClr>
              </a:solidFill>
            </a:endParaRPr>
          </a:p>
        </p:txBody>
      </p:sp>
      <p:sp>
        <p:nvSpPr>
          <p:cNvPr id="20" name="Rectangle : coins arrondis 19">
            <a:extLst>
              <a:ext uri="{FF2B5EF4-FFF2-40B4-BE49-F238E27FC236}">
                <a16:creationId xmlns:a16="http://schemas.microsoft.com/office/drawing/2014/main" id="{196D48D2-0D01-576F-D407-FE8101957AC4}"/>
              </a:ext>
            </a:extLst>
          </p:cNvPr>
          <p:cNvSpPr/>
          <p:nvPr/>
        </p:nvSpPr>
        <p:spPr>
          <a:xfrm>
            <a:off x="3229069" y="2251681"/>
            <a:ext cx="5044440" cy="3483430"/>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5C6D6EA2-43BA-03FB-6C75-26BDDFE26A7A}"/>
              </a:ext>
            </a:extLst>
          </p:cNvPr>
          <p:cNvSpPr/>
          <p:nvPr/>
        </p:nvSpPr>
        <p:spPr>
          <a:xfrm>
            <a:off x="3026550" y="1972513"/>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52966E6F-714E-2BAD-95E1-CAF10DEC3E67}"/>
              </a:ext>
            </a:extLst>
          </p:cNvPr>
          <p:cNvSpPr/>
          <p:nvPr/>
        </p:nvSpPr>
        <p:spPr>
          <a:xfrm>
            <a:off x="3468968" y="2050167"/>
            <a:ext cx="2297561"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FEF3571E-92B4-C2CE-AB38-ADF1737099D9}"/>
              </a:ext>
            </a:extLst>
          </p:cNvPr>
          <p:cNvSpPr/>
          <p:nvPr/>
        </p:nvSpPr>
        <p:spPr>
          <a:xfrm rot="5400000">
            <a:off x="-358685" y="2607141"/>
            <a:ext cx="3483429" cy="2766060"/>
          </a:xfrm>
          <a:prstGeom prst="round2SameRect">
            <a:avLst>
              <a:gd name="adj1" fmla="val 10809"/>
              <a:gd name="adj2" fmla="val 0"/>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DA2BCA1E-BDC1-1321-3E62-D4DFA1B19058}"/>
              </a:ext>
            </a:extLst>
          </p:cNvPr>
          <p:cNvSpPr/>
          <p:nvPr/>
        </p:nvSpPr>
        <p:spPr>
          <a:xfrm>
            <a:off x="8760710" y="2244424"/>
            <a:ext cx="3063240" cy="1909415"/>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64C5C65A-3F3B-1871-CF22-320FA141AF7B}"/>
              </a:ext>
            </a:extLst>
          </p:cNvPr>
          <p:cNvSpPr/>
          <p:nvPr/>
        </p:nvSpPr>
        <p:spPr>
          <a:xfrm>
            <a:off x="8558191" y="1965257"/>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46A390CA-D6AF-E4FC-BDFC-24218060600B}"/>
              </a:ext>
            </a:extLst>
          </p:cNvPr>
          <p:cNvSpPr/>
          <p:nvPr/>
        </p:nvSpPr>
        <p:spPr>
          <a:xfrm>
            <a:off x="9000609" y="2035590"/>
            <a:ext cx="2297561"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5" name="Rectangle : coins arrondis 44">
            <a:extLst>
              <a:ext uri="{FF2B5EF4-FFF2-40B4-BE49-F238E27FC236}">
                <a16:creationId xmlns:a16="http://schemas.microsoft.com/office/drawing/2014/main" id="{F66216EE-AAE5-C4D5-6520-0C68EB8A881E}"/>
              </a:ext>
            </a:extLst>
          </p:cNvPr>
          <p:cNvSpPr/>
          <p:nvPr/>
        </p:nvSpPr>
        <p:spPr>
          <a:xfrm>
            <a:off x="8760710" y="4659574"/>
            <a:ext cx="3063240" cy="1848827"/>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CBE1D77A-761C-F291-DA92-709316C49604}"/>
              </a:ext>
            </a:extLst>
          </p:cNvPr>
          <p:cNvSpPr/>
          <p:nvPr/>
        </p:nvSpPr>
        <p:spPr>
          <a:xfrm>
            <a:off x="8558191" y="4380407"/>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38D649D4-72DC-6E38-7EB6-0D17777CDADA}"/>
              </a:ext>
            </a:extLst>
          </p:cNvPr>
          <p:cNvSpPr/>
          <p:nvPr/>
        </p:nvSpPr>
        <p:spPr>
          <a:xfrm>
            <a:off x="9000609" y="4450740"/>
            <a:ext cx="2297561"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 name="Groupe 2">
            <a:extLst>
              <a:ext uri="{FF2B5EF4-FFF2-40B4-BE49-F238E27FC236}">
                <a16:creationId xmlns:a16="http://schemas.microsoft.com/office/drawing/2014/main" id="{40E58878-763F-4377-A921-D7B780FCE399}"/>
              </a:ext>
            </a:extLst>
          </p:cNvPr>
          <p:cNvGrpSpPr/>
          <p:nvPr/>
        </p:nvGrpSpPr>
        <p:grpSpPr>
          <a:xfrm>
            <a:off x="71514" y="2316811"/>
            <a:ext cx="2632872" cy="720000"/>
            <a:chOff x="71514" y="2316811"/>
            <a:chExt cx="2632872" cy="720000"/>
          </a:xfrm>
        </p:grpSpPr>
        <p:sp>
          <p:nvSpPr>
            <p:cNvPr id="4" name="ZoneTexte 3">
              <a:extLst>
                <a:ext uri="{FF2B5EF4-FFF2-40B4-BE49-F238E27FC236}">
                  <a16:creationId xmlns:a16="http://schemas.microsoft.com/office/drawing/2014/main" id="{E5C65F6E-3925-1B9F-FCD1-8E6C214CC3BA}"/>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b="1" dirty="0"/>
            </a:p>
          </p:txBody>
        </p:sp>
        <p:pic>
          <p:nvPicPr>
            <p:cNvPr id="5" name="Image 4">
              <a:extLst>
                <a:ext uri="{FF2B5EF4-FFF2-40B4-BE49-F238E27FC236}">
                  <a16:creationId xmlns:a16="http://schemas.microsoft.com/office/drawing/2014/main" id="{24F16253-F2EE-9133-F774-E75B6EAA53FB}"/>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0D822569-2EF1-9ABE-B940-0CCDFD8BCB7A}"/>
              </a:ext>
            </a:extLst>
          </p:cNvPr>
          <p:cNvGrpSpPr/>
          <p:nvPr/>
        </p:nvGrpSpPr>
        <p:grpSpPr>
          <a:xfrm>
            <a:off x="74170" y="3308528"/>
            <a:ext cx="2630216" cy="720000"/>
            <a:chOff x="74170" y="3340479"/>
            <a:chExt cx="2630216" cy="720000"/>
          </a:xfrm>
        </p:grpSpPr>
        <p:sp>
          <p:nvSpPr>
            <p:cNvPr id="23" name="ZoneTexte 22">
              <a:extLst>
                <a:ext uri="{FF2B5EF4-FFF2-40B4-BE49-F238E27FC236}">
                  <a16:creationId xmlns:a16="http://schemas.microsoft.com/office/drawing/2014/main" id="{B9E9B7E6-3D69-2A75-C87D-B1931CDE1899}"/>
                </a:ext>
              </a:extLst>
            </p:cNvPr>
            <p:cNvSpPr txBox="1"/>
            <p:nvPr/>
          </p:nvSpPr>
          <p:spPr>
            <a:xfrm>
              <a:off x="839954" y="3484305"/>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24" name="Image 23">
              <a:extLst>
                <a:ext uri="{FF2B5EF4-FFF2-40B4-BE49-F238E27FC236}">
                  <a16:creationId xmlns:a16="http://schemas.microsoft.com/office/drawing/2014/main" id="{BCBA118A-2711-F3D5-79C8-D7266ED0EDA1}"/>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5963EA0E-D7F5-9DAB-23FF-AD6A77B9D66B}"/>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3DA54274-4A6F-2698-5F51-67686FB2742F}"/>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AC64713F-FABC-4CE9-2B80-EE518D6CAB8A}"/>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FC8217B2-718F-F7F8-E86F-85DAA1641231}"/>
              </a:ext>
            </a:extLst>
          </p:cNvPr>
          <p:cNvPicPr>
            <a:picLocks noChangeAspect="1"/>
          </p:cNvPicPr>
          <p:nvPr/>
        </p:nvPicPr>
        <p:blipFill>
          <a:blip r:embed="rId5"/>
          <a:stretch>
            <a:fillRect/>
          </a:stretch>
        </p:blipFill>
        <p:spPr>
          <a:xfrm>
            <a:off x="3084375" y="2029268"/>
            <a:ext cx="468000" cy="468000"/>
          </a:xfrm>
          <a:prstGeom prst="rect">
            <a:avLst/>
          </a:prstGeom>
        </p:spPr>
      </p:pic>
      <p:pic>
        <p:nvPicPr>
          <p:cNvPr id="39" name="Image 38" descr="Une image contenant symbole, Police, Graphique, logo&#10;&#10;Description générée automatiquement">
            <a:extLst>
              <a:ext uri="{FF2B5EF4-FFF2-40B4-BE49-F238E27FC236}">
                <a16:creationId xmlns:a16="http://schemas.microsoft.com/office/drawing/2014/main" id="{9BF52964-E8A4-6155-F470-1A373634214E}"/>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ABAE54E1-396C-D275-7F60-B08D28FE5B28}"/>
              </a:ext>
            </a:extLst>
          </p:cNvPr>
          <p:cNvPicPr>
            <a:picLocks noChangeAspect="1"/>
          </p:cNvPicPr>
          <p:nvPr/>
        </p:nvPicPr>
        <p:blipFill>
          <a:blip r:embed="rId7"/>
          <a:stretch>
            <a:fillRect/>
          </a:stretch>
        </p:blipFill>
        <p:spPr>
          <a:xfrm>
            <a:off x="8632027" y="4417584"/>
            <a:ext cx="468000" cy="468000"/>
          </a:xfrm>
          <a:prstGeom prst="rect">
            <a:avLst/>
          </a:prstGeom>
        </p:spPr>
      </p:pic>
      <p:sp>
        <p:nvSpPr>
          <p:cNvPr id="2" name="ZoneTexte 1">
            <a:extLst>
              <a:ext uri="{FF2B5EF4-FFF2-40B4-BE49-F238E27FC236}">
                <a16:creationId xmlns:a16="http://schemas.microsoft.com/office/drawing/2014/main" id="{B3D06437-236D-2C26-3301-FF8BF9B059F4}"/>
              </a:ext>
            </a:extLst>
          </p:cNvPr>
          <p:cNvSpPr txBox="1"/>
          <p:nvPr/>
        </p:nvSpPr>
        <p:spPr>
          <a:xfrm>
            <a:off x="3314550" y="3720265"/>
            <a:ext cx="4791697" cy="2308324"/>
          </a:xfrm>
          <a:prstGeom prst="rect">
            <a:avLst/>
          </a:prstGeom>
          <a:noFill/>
        </p:spPr>
        <p:txBody>
          <a:bodyPr wrap="square">
            <a:spAutoFit/>
          </a:bodyPr>
          <a:lstStyle/>
          <a:p>
            <a:pPr marL="285750" indent="-285750" algn="just">
              <a:buFont typeface="Wingdings" panose="05000000000000000000" pitchFamily="2" charset="2"/>
              <a:buChar char="Ø"/>
            </a:pPr>
            <a:r>
              <a:rPr lang="fr-FR" sz="1200" dirty="0"/>
              <a:t>A mutation </a:t>
            </a:r>
            <a:r>
              <a:rPr lang="fr-FR" sz="1200" dirty="0" err="1"/>
              <a:t>is</a:t>
            </a:r>
            <a:r>
              <a:rPr lang="fr-FR" sz="1200" dirty="0"/>
              <a:t> </a:t>
            </a:r>
            <a:r>
              <a:rPr lang="fr-FR" sz="1200" dirty="0" err="1"/>
              <a:t>done</a:t>
            </a:r>
            <a:r>
              <a:rPr lang="fr-FR" sz="1200" dirty="0"/>
              <a:t> on Cas 9 to </a:t>
            </a:r>
            <a:r>
              <a:rPr lang="fr-FR" sz="1200" dirty="0" err="1"/>
              <a:t>deactivate</a:t>
            </a:r>
            <a:r>
              <a:rPr lang="fr-FR" sz="1200" dirty="0"/>
              <a:t> </a:t>
            </a:r>
            <a:r>
              <a:rPr lang="fr-FR" sz="1200" dirty="0" err="1"/>
              <a:t>its</a:t>
            </a:r>
            <a:r>
              <a:rPr lang="fr-FR" sz="1200" dirty="0"/>
              <a:t> </a:t>
            </a:r>
            <a:r>
              <a:rPr lang="fr-FR" sz="1200" dirty="0" err="1"/>
              <a:t>nuclease</a:t>
            </a:r>
            <a:r>
              <a:rPr lang="fr-FR" sz="1200" dirty="0"/>
              <a:t> </a:t>
            </a:r>
            <a:r>
              <a:rPr lang="fr-FR" sz="1200" dirty="0" err="1"/>
              <a:t>activity</a:t>
            </a:r>
            <a:r>
              <a:rPr lang="fr-FR" sz="1200" dirty="0"/>
              <a:t>.</a:t>
            </a:r>
          </a:p>
          <a:p>
            <a:pPr marL="285750" indent="-285750" algn="just">
              <a:buFont typeface="Wingdings" panose="05000000000000000000" pitchFamily="2" charset="2"/>
              <a:buChar char="Ø"/>
            </a:pPr>
            <a:r>
              <a:rPr lang="fr-FR" sz="1200" b="0" i="0" u="none" strike="noStrike" baseline="0" dirty="0"/>
              <a:t>CRISPR/ </a:t>
            </a:r>
            <a:r>
              <a:rPr lang="en-US" sz="1200" b="0" i="0" u="none" strike="noStrike" baseline="0" dirty="0"/>
              <a:t>dCas9 becomes a novel tool to sterically hinder either the binding of RNA polymerase to the promoter region or their elongation through the </a:t>
            </a:r>
            <a:r>
              <a:rPr lang="en-US" sz="1200" b="0" i="0" u="none" strike="noStrike" baseline="0" dirty="0" err="1"/>
              <a:t>exonic</a:t>
            </a:r>
            <a:r>
              <a:rPr lang="en-US" sz="1200" b="0" i="0" u="none" strike="noStrike" baseline="0" dirty="0"/>
              <a:t> region.</a:t>
            </a:r>
            <a:endParaRPr lang="en-US" sz="1200" dirty="0"/>
          </a:p>
          <a:p>
            <a:pPr marL="285750" indent="-285750" algn="just">
              <a:buFont typeface="Wingdings" panose="05000000000000000000" pitchFamily="2" charset="2"/>
              <a:buChar char="Ø"/>
            </a:pPr>
            <a:r>
              <a:rPr lang="fr-FR" sz="1200" dirty="0" err="1"/>
              <a:t>CRIPSRi</a:t>
            </a:r>
            <a:r>
              <a:rPr lang="fr-FR" sz="1200" dirty="0"/>
              <a:t> = CRISPR </a:t>
            </a:r>
            <a:r>
              <a:rPr lang="fr-FR" sz="1200" dirty="0" err="1"/>
              <a:t>interference</a:t>
            </a:r>
            <a:r>
              <a:rPr lang="fr-FR" sz="1200" dirty="0"/>
              <a:t>. It </a:t>
            </a:r>
            <a:r>
              <a:rPr lang="fr-FR" sz="1200" dirty="0" err="1"/>
              <a:t>allows</a:t>
            </a:r>
            <a:r>
              <a:rPr lang="fr-FR" sz="1200" dirty="0"/>
              <a:t> suppression of transcription. It can </a:t>
            </a:r>
            <a:r>
              <a:rPr lang="fr-FR" sz="1200" dirty="0" err="1"/>
              <a:t>repress</a:t>
            </a:r>
            <a:r>
              <a:rPr lang="fr-FR" sz="1200" dirty="0"/>
              <a:t> </a:t>
            </a:r>
            <a:r>
              <a:rPr lang="fr-FR" sz="1200" dirty="0" err="1"/>
              <a:t>gene</a:t>
            </a:r>
            <a:r>
              <a:rPr lang="fr-FR" sz="1200" dirty="0"/>
              <a:t> expression up to 99.9% in procaryotes.</a:t>
            </a:r>
          </a:p>
          <a:p>
            <a:pPr marL="285750" indent="-285750" algn="just">
              <a:buFont typeface="Wingdings" panose="05000000000000000000" pitchFamily="2" charset="2"/>
              <a:buChar char="Ø"/>
            </a:pPr>
            <a:r>
              <a:rPr lang="fr-FR" sz="1200" dirty="0" err="1"/>
              <a:t>CRISPRa</a:t>
            </a:r>
            <a:r>
              <a:rPr lang="fr-FR" sz="1200" dirty="0"/>
              <a:t> = CRISPR activation. It </a:t>
            </a:r>
            <a:r>
              <a:rPr lang="fr-FR" sz="1200" dirty="0" err="1"/>
              <a:t>allows</a:t>
            </a:r>
            <a:r>
              <a:rPr lang="fr-FR" sz="1200" dirty="0"/>
              <a:t> activation of transcription.</a:t>
            </a:r>
            <a:endParaRPr lang="fr-FR" sz="1200" dirty="0">
              <a:solidFill>
                <a:schemeClr val="tx1"/>
              </a:solidFill>
            </a:endParaRPr>
          </a:p>
          <a:p>
            <a:pPr marL="285750" indent="-285750" algn="just">
              <a:buFont typeface="Wingdings" panose="05000000000000000000" pitchFamily="2" charset="2"/>
              <a:buChar char="Ø"/>
            </a:pPr>
            <a:r>
              <a:rPr lang="fr-FR" sz="1200" dirty="0" err="1"/>
              <a:t>Inducible</a:t>
            </a:r>
            <a:r>
              <a:rPr lang="fr-FR" sz="1200" dirty="0"/>
              <a:t> </a:t>
            </a:r>
            <a:r>
              <a:rPr lang="fr-FR" sz="1200" dirty="0" err="1"/>
              <a:t>promoters</a:t>
            </a:r>
            <a:r>
              <a:rPr lang="fr-FR" sz="1200" dirty="0"/>
              <a:t> can </a:t>
            </a:r>
            <a:r>
              <a:rPr lang="fr-FR" sz="1200" dirty="0" err="1"/>
              <a:t>be</a:t>
            </a:r>
            <a:r>
              <a:rPr lang="fr-FR" sz="1200" dirty="0"/>
              <a:t> </a:t>
            </a:r>
            <a:r>
              <a:rPr lang="fr-FR" sz="1200" dirty="0" err="1"/>
              <a:t>used</a:t>
            </a:r>
            <a:r>
              <a:rPr lang="fr-FR" sz="1200" dirty="0"/>
              <a:t>. </a:t>
            </a:r>
            <a:r>
              <a:rPr lang="fr-FR" sz="1200" dirty="0" err="1"/>
              <a:t>They</a:t>
            </a:r>
            <a:r>
              <a:rPr lang="fr-FR" sz="1200" dirty="0"/>
              <a:t> can </a:t>
            </a:r>
            <a:r>
              <a:rPr lang="fr-FR" sz="1200" dirty="0" err="1"/>
              <a:t>be</a:t>
            </a:r>
            <a:r>
              <a:rPr lang="fr-FR" sz="1200" dirty="0"/>
              <a:t> </a:t>
            </a:r>
            <a:r>
              <a:rPr lang="fr-FR" sz="1200" dirty="0" err="1"/>
              <a:t>natural</a:t>
            </a:r>
            <a:r>
              <a:rPr lang="fr-FR" sz="1200" dirty="0"/>
              <a:t> or </a:t>
            </a:r>
            <a:r>
              <a:rPr lang="fr-FR" sz="1200" dirty="0" err="1"/>
              <a:t>synthetic</a:t>
            </a:r>
            <a:r>
              <a:rPr lang="fr-FR" sz="1200" dirty="0"/>
              <a:t> and </a:t>
            </a:r>
            <a:r>
              <a:rPr lang="fr-FR" sz="1200" dirty="0" err="1"/>
              <a:t>induced</a:t>
            </a:r>
            <a:r>
              <a:rPr lang="fr-FR" sz="1200" dirty="0"/>
              <a:t> in </a:t>
            </a:r>
            <a:r>
              <a:rPr lang="fr-FR" sz="1200" dirty="0" err="1"/>
              <a:t>response</a:t>
            </a:r>
            <a:r>
              <a:rPr lang="fr-FR" sz="1200" dirty="0"/>
              <a:t> to </a:t>
            </a:r>
            <a:r>
              <a:rPr lang="fr-FR" sz="1200" dirty="0" err="1"/>
              <a:t>physical</a:t>
            </a:r>
            <a:r>
              <a:rPr lang="fr-FR" sz="1200" dirty="0"/>
              <a:t>, </a:t>
            </a:r>
            <a:r>
              <a:rPr lang="fr-FR" sz="1200" dirty="0" err="1"/>
              <a:t>biological</a:t>
            </a:r>
            <a:r>
              <a:rPr lang="fr-FR" sz="1200" dirty="0"/>
              <a:t> or </a:t>
            </a:r>
            <a:r>
              <a:rPr lang="fr-FR" sz="1200" dirty="0" err="1"/>
              <a:t>chemical</a:t>
            </a:r>
            <a:r>
              <a:rPr lang="fr-FR" sz="1200" dirty="0"/>
              <a:t> </a:t>
            </a:r>
            <a:r>
              <a:rPr lang="fr-FR" sz="1200" dirty="0" err="1"/>
              <a:t>cues</a:t>
            </a:r>
            <a:r>
              <a:rPr lang="fr-FR" sz="1200" dirty="0"/>
              <a:t> </a:t>
            </a:r>
            <a:r>
              <a:rPr lang="fr-FR" sz="1200" dirty="0">
                <a:sym typeface="Wingdings" panose="05000000000000000000" pitchFamily="2" charset="2"/>
              </a:rPr>
              <a:t> </a:t>
            </a:r>
            <a:r>
              <a:rPr lang="fr-FR" sz="1200" dirty="0" err="1">
                <a:sym typeface="Wingdings" panose="05000000000000000000" pitchFamily="2" charset="2"/>
              </a:rPr>
              <a:t>allows</a:t>
            </a:r>
            <a:r>
              <a:rPr lang="fr-FR" sz="1200" dirty="0">
                <a:sym typeface="Wingdings" panose="05000000000000000000" pitchFamily="2" charset="2"/>
              </a:rPr>
              <a:t> a </a:t>
            </a:r>
            <a:r>
              <a:rPr lang="fr-FR" sz="1200" dirty="0" err="1">
                <a:sym typeface="Wingdings" panose="05000000000000000000" pitchFamily="2" charset="2"/>
              </a:rPr>
              <a:t>conditional</a:t>
            </a:r>
            <a:r>
              <a:rPr lang="fr-FR" sz="1200" dirty="0">
                <a:sym typeface="Wingdings" panose="05000000000000000000" pitchFamily="2" charset="2"/>
              </a:rPr>
              <a:t> expression.</a:t>
            </a:r>
            <a:endParaRPr lang="fr-FR" sz="1200" dirty="0">
              <a:solidFill>
                <a:schemeClr val="tx1"/>
              </a:solidFill>
            </a:endParaRPr>
          </a:p>
        </p:txBody>
      </p:sp>
      <p:pic>
        <p:nvPicPr>
          <p:cNvPr id="7" name="Image 6">
            <a:extLst>
              <a:ext uri="{FF2B5EF4-FFF2-40B4-BE49-F238E27FC236}">
                <a16:creationId xmlns:a16="http://schemas.microsoft.com/office/drawing/2014/main" id="{178D2AEA-DAAC-CE0C-EC1D-9BE873D5436B}"/>
              </a:ext>
            </a:extLst>
          </p:cNvPr>
          <p:cNvPicPr>
            <a:picLocks noChangeAspect="1"/>
          </p:cNvPicPr>
          <p:nvPr/>
        </p:nvPicPr>
        <p:blipFill>
          <a:blip r:embed="rId8"/>
          <a:srcRect t="15670" r="25720"/>
          <a:stretch/>
        </p:blipFill>
        <p:spPr>
          <a:xfrm>
            <a:off x="3676229" y="2643564"/>
            <a:ext cx="3791372" cy="1019449"/>
          </a:xfrm>
          <a:prstGeom prst="rect">
            <a:avLst/>
          </a:prstGeom>
        </p:spPr>
      </p:pic>
      <p:grpSp>
        <p:nvGrpSpPr>
          <p:cNvPr id="8" name="Groupe 7">
            <a:extLst>
              <a:ext uri="{FF2B5EF4-FFF2-40B4-BE49-F238E27FC236}">
                <a16:creationId xmlns:a16="http://schemas.microsoft.com/office/drawing/2014/main" id="{FF96860A-6FF0-578F-0D36-FEAD9AEEB0CF}"/>
              </a:ext>
            </a:extLst>
          </p:cNvPr>
          <p:cNvGrpSpPr/>
          <p:nvPr/>
        </p:nvGrpSpPr>
        <p:grpSpPr>
          <a:xfrm>
            <a:off x="645225" y="945343"/>
            <a:ext cx="10937024" cy="565150"/>
            <a:chOff x="645225" y="945343"/>
            <a:chExt cx="10937024" cy="565150"/>
          </a:xfrm>
        </p:grpSpPr>
        <p:sp>
          <p:nvSpPr>
            <p:cNvPr id="9" name="Ellipse 8">
              <a:extLst>
                <a:ext uri="{FF2B5EF4-FFF2-40B4-BE49-F238E27FC236}">
                  <a16:creationId xmlns:a16="http://schemas.microsoft.com/office/drawing/2014/main" id="{8C4311E0-BAB2-1D6D-35C1-F3D0D0BB224C}"/>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space réservé du texte 9">
              <a:extLst>
                <a:ext uri="{FF2B5EF4-FFF2-40B4-BE49-F238E27FC236}">
                  <a16:creationId xmlns:a16="http://schemas.microsoft.com/office/drawing/2014/main" id="{93D78108-85F7-05A3-F414-2E302991C957}"/>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41049624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75E55-C01C-3F96-0EB3-FB88C1974FDA}"/>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5BCB51FD-6D32-A7B8-75EE-CC4934FFB357}"/>
              </a:ext>
            </a:extLst>
          </p:cNvPr>
          <p:cNvSpPr/>
          <p:nvPr/>
        </p:nvSpPr>
        <p:spPr>
          <a:xfrm>
            <a:off x="371100" y="1364427"/>
            <a:ext cx="8635047" cy="1311072"/>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8457DBF7-5A93-5E48-B58D-C0D2E944E27F}"/>
              </a:ext>
            </a:extLst>
          </p:cNvPr>
          <p:cNvSpPr/>
          <p:nvPr/>
        </p:nvSpPr>
        <p:spPr>
          <a:xfrm>
            <a:off x="300401" y="1186511"/>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4B1B1F51-877D-C95D-A7D0-9859E4CAD11B}"/>
              </a:ext>
            </a:extLst>
          </p:cNvPr>
          <p:cNvSpPr/>
          <p:nvPr/>
        </p:nvSpPr>
        <p:spPr>
          <a:xfrm>
            <a:off x="742819" y="1264165"/>
            <a:ext cx="3415295"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F99FDF80-05A0-AC18-A162-93A982D1628F}"/>
              </a:ext>
            </a:extLst>
          </p:cNvPr>
          <p:cNvSpPr/>
          <p:nvPr/>
        </p:nvSpPr>
        <p:spPr>
          <a:xfrm rot="16200000">
            <a:off x="9878641" y="784232"/>
            <a:ext cx="1860661" cy="2766060"/>
          </a:xfrm>
          <a:prstGeom prst="round2SameRect">
            <a:avLst>
              <a:gd name="adj1" fmla="val 10809"/>
              <a:gd name="adj2" fmla="val 0"/>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EE69C454-62B4-997B-42A4-7C2D2E77747C}"/>
              </a:ext>
            </a:extLst>
          </p:cNvPr>
          <p:cNvSpPr/>
          <p:nvPr/>
        </p:nvSpPr>
        <p:spPr>
          <a:xfrm>
            <a:off x="502920" y="3166425"/>
            <a:ext cx="8508400" cy="1480243"/>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F503EA18-B1C7-2F3E-E61D-C17B14B2A9C4}"/>
              </a:ext>
            </a:extLst>
          </p:cNvPr>
          <p:cNvSpPr/>
          <p:nvPr/>
        </p:nvSpPr>
        <p:spPr>
          <a:xfrm>
            <a:off x="300401" y="2887258"/>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1BCE40CF-8A6D-6ADD-F181-D00014C5BFA5}"/>
              </a:ext>
            </a:extLst>
          </p:cNvPr>
          <p:cNvSpPr/>
          <p:nvPr/>
        </p:nvSpPr>
        <p:spPr>
          <a:xfrm>
            <a:off x="742819" y="2957591"/>
            <a:ext cx="3415295"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17A34A71-D8C4-10AC-3CC4-FFE8A5C152F8}"/>
              </a:ext>
            </a:extLst>
          </p:cNvPr>
          <p:cNvSpPr/>
          <p:nvPr/>
        </p:nvSpPr>
        <p:spPr>
          <a:xfrm>
            <a:off x="502919" y="5221998"/>
            <a:ext cx="8503229" cy="1480243"/>
          </a:xfrm>
          <a:prstGeom prst="round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6E4EB581-73F3-73CA-53BF-1DD0C2863B29}"/>
              </a:ext>
            </a:extLst>
          </p:cNvPr>
          <p:cNvSpPr/>
          <p:nvPr/>
        </p:nvSpPr>
        <p:spPr>
          <a:xfrm>
            <a:off x="300401" y="4915661"/>
            <a:ext cx="576000" cy="576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8431BBE9-DB57-C691-B542-9DB038ABE250}"/>
              </a:ext>
            </a:extLst>
          </p:cNvPr>
          <p:cNvSpPr/>
          <p:nvPr/>
        </p:nvSpPr>
        <p:spPr>
          <a:xfrm>
            <a:off x="742819" y="4985994"/>
            <a:ext cx="3415295" cy="42573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97709DA6-FF11-78A5-FB7E-27A5C050344B}"/>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6F378FE9-96EA-9C8F-8B12-0A37938A7325}"/>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D6FBC15C-E841-A3A2-8C38-A56CA08FB494}"/>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2E76DA40-59D0-5D96-694D-1BD9A2A76F1A}"/>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D12A3D88-2DD3-5E08-48A0-9F32B9705525}"/>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57970FFE-1821-D4BD-64E5-B28E20ADD385}"/>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89CAB0B2-D008-E09A-7960-A4158DBDE3C0}"/>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69B46C4A-A6FA-E912-7647-434162BC4664}"/>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71355DD5-A1FB-1565-D773-8AB0F659E003}"/>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39DD300D-51B4-8266-37F3-8748F00D6DC0}"/>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CF06E5C0-A4D4-0AB8-3C34-EBDEF6D04AA0}"/>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5DB27873-E522-8403-BF43-2858D3DEBF64}"/>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099C39FA-3DBC-13C5-45E4-4AAC9633CBFE}"/>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39922F99-8F1B-2B9A-DC5F-80E626094D84}"/>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F10A46C1-EEEF-5A8C-F7D3-8696826D12A4}"/>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B884AB79-6BE0-D80D-FE24-1A962D133720}"/>
                </a:ext>
              </a:extLst>
            </p:cNvPr>
            <p:cNvPicPr>
              <a:picLocks noChangeAspect="1"/>
            </p:cNvPicPr>
            <p:nvPr/>
          </p:nvPicPr>
          <p:blipFill>
            <a:blip r:embed="rId4"/>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36D0057E-D56C-DE8F-1F4B-3BF57BC34D22}"/>
              </a:ext>
            </a:extLst>
          </p:cNvPr>
          <p:cNvPicPr>
            <a:picLocks noChangeAspect="1"/>
          </p:cNvPicPr>
          <p:nvPr/>
        </p:nvPicPr>
        <p:blipFill>
          <a:blip r:embed="rId5"/>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172FA793-F480-9C6E-748D-44EED9C8001F}"/>
              </a:ext>
            </a:extLst>
          </p:cNvPr>
          <p:cNvSpPr/>
          <p:nvPr/>
        </p:nvSpPr>
        <p:spPr>
          <a:xfrm rot="16200000">
            <a:off x="9416360" y="3658746"/>
            <a:ext cx="2785225" cy="2766060"/>
          </a:xfrm>
          <a:prstGeom prst="round2SameRect">
            <a:avLst>
              <a:gd name="adj1" fmla="val 10809"/>
              <a:gd name="adj2" fmla="val 0"/>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C876731C-BAE6-9F5E-1E41-AF6E612F925A}"/>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AB179B40-9459-F94A-DB35-F3F60B8F02B1}"/>
              </a:ext>
            </a:extLst>
          </p:cNvPr>
          <p:cNvPicPr>
            <a:picLocks noChangeAspect="1"/>
          </p:cNvPicPr>
          <p:nvPr/>
        </p:nvPicPr>
        <p:blipFill>
          <a:blip r:embed="rId6"/>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5CA36523-0019-BF3E-DEF4-BE2ABCACFBCB}"/>
              </a:ext>
            </a:extLst>
          </p:cNvPr>
          <p:cNvPicPr>
            <a:picLocks noChangeAspect="1"/>
          </p:cNvPicPr>
          <p:nvPr/>
        </p:nvPicPr>
        <p:blipFill>
          <a:blip r:embed="rId7"/>
          <a:stretch>
            <a:fillRect/>
          </a:stretch>
        </p:blipFill>
        <p:spPr>
          <a:xfrm>
            <a:off x="364777" y="1221809"/>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F181C4D4-0A8A-176A-7411-27E480CBD327}"/>
              </a:ext>
            </a:extLst>
          </p:cNvPr>
          <p:cNvPicPr>
            <a:picLocks noChangeAspect="1"/>
          </p:cNvPicPr>
          <p:nvPr/>
        </p:nvPicPr>
        <p:blipFill>
          <a:blip r:embed="rId8"/>
          <a:stretch>
            <a:fillRect/>
          </a:stretch>
        </p:blipFill>
        <p:spPr>
          <a:xfrm>
            <a:off x="351510" y="2941689"/>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A9DA95C3-51AC-8ABD-0D50-FCE21709346C}"/>
              </a:ext>
            </a:extLst>
          </p:cNvPr>
          <p:cNvPicPr>
            <a:picLocks noChangeAspect="1"/>
          </p:cNvPicPr>
          <p:nvPr/>
        </p:nvPicPr>
        <p:blipFill>
          <a:blip r:embed="rId9"/>
          <a:stretch>
            <a:fillRect/>
          </a:stretch>
        </p:blipFill>
        <p:spPr>
          <a:xfrm>
            <a:off x="400795" y="4973809"/>
            <a:ext cx="468000" cy="468000"/>
          </a:xfrm>
          <a:prstGeom prst="rect">
            <a:avLst/>
          </a:prstGeom>
        </p:spPr>
      </p:pic>
      <p:cxnSp>
        <p:nvCxnSpPr>
          <p:cNvPr id="6" name="Connecteur droit 5">
            <a:extLst>
              <a:ext uri="{FF2B5EF4-FFF2-40B4-BE49-F238E27FC236}">
                <a16:creationId xmlns:a16="http://schemas.microsoft.com/office/drawing/2014/main" id="{6725331B-D3CC-A596-87F3-A5DD0C6B1957}"/>
              </a:ext>
            </a:extLst>
          </p:cNvPr>
          <p:cNvCxnSpPr/>
          <p:nvPr/>
        </p:nvCxnSpPr>
        <p:spPr>
          <a:xfrm>
            <a:off x="0" y="771525"/>
            <a:ext cx="12192000" cy="0"/>
          </a:xfrm>
          <a:prstGeom prst="line">
            <a:avLst/>
          </a:prstGeom>
          <a:ln w="3810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sp>
        <p:nvSpPr>
          <p:cNvPr id="8" name="ZoneTexte 7">
            <a:extLst>
              <a:ext uri="{FF2B5EF4-FFF2-40B4-BE49-F238E27FC236}">
                <a16:creationId xmlns:a16="http://schemas.microsoft.com/office/drawing/2014/main" id="{9C98FE71-167C-569E-A7DD-3D2A8DE3BFC2}"/>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4">
                    <a:lumMod val="75000"/>
                  </a:schemeClr>
                </a:solidFill>
              </a:rPr>
              <a:t>CRISPRi</a:t>
            </a:r>
            <a:r>
              <a:rPr lang="fr-FR" sz="3100" b="1" dirty="0">
                <a:solidFill>
                  <a:schemeClr val="accent4">
                    <a:lumMod val="75000"/>
                  </a:schemeClr>
                </a:solidFill>
              </a:rPr>
              <a:t>/</a:t>
            </a:r>
            <a:r>
              <a:rPr lang="fr-FR" sz="3100" b="1" dirty="0" err="1">
                <a:solidFill>
                  <a:schemeClr val="accent4">
                    <a:lumMod val="75000"/>
                  </a:schemeClr>
                </a:solidFill>
              </a:rPr>
              <a:t>CRISPRa</a:t>
            </a:r>
            <a:endParaRPr lang="fr-FR" sz="3100" b="1" dirty="0">
              <a:solidFill>
                <a:schemeClr val="accent4">
                  <a:lumMod val="75000"/>
                </a:schemeClr>
              </a:solidFill>
            </a:endParaRPr>
          </a:p>
        </p:txBody>
      </p:sp>
    </p:spTree>
    <p:extLst>
      <p:ext uri="{BB962C8B-B14F-4D97-AF65-F5344CB8AC3E}">
        <p14:creationId xmlns:p14="http://schemas.microsoft.com/office/powerpoint/2010/main" val="2283060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A9A92-132D-D034-8E22-D974D45208E2}"/>
            </a:ext>
          </a:extLst>
        </p:cNvPr>
        <p:cNvGrpSpPr/>
        <p:nvPr/>
      </p:nvGrpSpPr>
      <p:grpSpPr>
        <a:xfrm>
          <a:off x="0" y="0"/>
          <a:ext cx="0" cy="0"/>
          <a:chOff x="0" y="0"/>
          <a:chExt cx="0" cy="0"/>
        </a:xfrm>
      </p:grpSpPr>
      <p:grpSp>
        <p:nvGrpSpPr>
          <p:cNvPr id="15" name="Groupe 14">
            <a:extLst>
              <a:ext uri="{FF2B5EF4-FFF2-40B4-BE49-F238E27FC236}">
                <a16:creationId xmlns:a16="http://schemas.microsoft.com/office/drawing/2014/main" id="{120AE492-7A95-E74E-F833-46570AE9E840}"/>
              </a:ext>
            </a:extLst>
          </p:cNvPr>
          <p:cNvGrpSpPr/>
          <p:nvPr/>
        </p:nvGrpSpPr>
        <p:grpSpPr>
          <a:xfrm>
            <a:off x="5744210" y="1051560"/>
            <a:ext cx="335280" cy="4879536"/>
            <a:chOff x="5947410" y="711200"/>
            <a:chExt cx="335280" cy="4879536"/>
          </a:xfrm>
        </p:grpSpPr>
        <p:cxnSp>
          <p:nvCxnSpPr>
            <p:cNvPr id="14" name="Connecteur droit 13">
              <a:extLst>
                <a:ext uri="{FF2B5EF4-FFF2-40B4-BE49-F238E27FC236}">
                  <a16:creationId xmlns:a16="http://schemas.microsoft.com/office/drawing/2014/main" id="{85FE679F-3BB2-F317-27C5-34D9EADCBF34}"/>
                </a:ext>
              </a:extLst>
            </p:cNvPr>
            <p:cNvCxnSpPr>
              <a:cxnSpLocks/>
              <a:stCxn id="7" idx="4"/>
            </p:cNvCxnSpPr>
            <p:nvPr/>
          </p:nvCxnSpPr>
          <p:spPr>
            <a:xfrm>
              <a:off x="6115050" y="1046480"/>
              <a:ext cx="0" cy="434061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C43C49DD-2DA7-E15B-4130-C6A6FA620A69}"/>
                </a:ext>
              </a:extLst>
            </p:cNvPr>
            <p:cNvSpPr/>
            <p:nvPr/>
          </p:nvSpPr>
          <p:spPr>
            <a:xfrm>
              <a:off x="5947410" y="711200"/>
              <a:ext cx="335280" cy="33528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8" name="Ellipse 7">
              <a:extLst>
                <a:ext uri="{FF2B5EF4-FFF2-40B4-BE49-F238E27FC236}">
                  <a16:creationId xmlns:a16="http://schemas.microsoft.com/office/drawing/2014/main" id="{2663537F-BA5A-AF83-D011-DD75B393DC05}"/>
                </a:ext>
              </a:extLst>
            </p:cNvPr>
            <p:cNvSpPr/>
            <p:nvPr/>
          </p:nvSpPr>
          <p:spPr>
            <a:xfrm>
              <a:off x="5947410" y="1847264"/>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9" name="Ellipse 8">
              <a:extLst>
                <a:ext uri="{FF2B5EF4-FFF2-40B4-BE49-F238E27FC236}">
                  <a16:creationId xmlns:a16="http://schemas.microsoft.com/office/drawing/2014/main" id="{EC7595D7-EE3F-8762-EBB9-FB74E8860A23}"/>
                </a:ext>
              </a:extLst>
            </p:cNvPr>
            <p:cNvSpPr/>
            <p:nvPr/>
          </p:nvSpPr>
          <p:spPr>
            <a:xfrm>
              <a:off x="5947410" y="2983328"/>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 name="Ellipse 9">
              <a:extLst>
                <a:ext uri="{FF2B5EF4-FFF2-40B4-BE49-F238E27FC236}">
                  <a16:creationId xmlns:a16="http://schemas.microsoft.com/office/drawing/2014/main" id="{0C12D1BA-FF1E-55D4-A9BD-F14BDA9E472A}"/>
                </a:ext>
              </a:extLst>
            </p:cNvPr>
            <p:cNvSpPr/>
            <p:nvPr/>
          </p:nvSpPr>
          <p:spPr>
            <a:xfrm>
              <a:off x="5947410" y="4119392"/>
              <a:ext cx="335280" cy="335280"/>
            </a:xfrm>
            <a:prstGeom prst="ellipse">
              <a:avLst/>
            </a:prstGeom>
            <a:solidFill>
              <a:schemeClr val="accent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5"/>
                </a:solidFill>
              </a:endParaRPr>
            </a:p>
          </p:txBody>
        </p:sp>
        <p:sp>
          <p:nvSpPr>
            <p:cNvPr id="11" name="Ellipse 10">
              <a:extLst>
                <a:ext uri="{FF2B5EF4-FFF2-40B4-BE49-F238E27FC236}">
                  <a16:creationId xmlns:a16="http://schemas.microsoft.com/office/drawing/2014/main" id="{AEB3721B-70A1-D469-C33E-D708FFABA19F}"/>
                </a:ext>
              </a:extLst>
            </p:cNvPr>
            <p:cNvSpPr/>
            <p:nvPr/>
          </p:nvSpPr>
          <p:spPr>
            <a:xfrm>
              <a:off x="5947410" y="5255456"/>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sp>
        <p:nvSpPr>
          <p:cNvPr id="16" name="ZoneTexte 15">
            <a:extLst>
              <a:ext uri="{FF2B5EF4-FFF2-40B4-BE49-F238E27FC236}">
                <a16:creationId xmlns:a16="http://schemas.microsoft.com/office/drawing/2014/main" id="{E69CA234-F973-551A-908B-B5BD2F6D19C3}"/>
              </a:ext>
            </a:extLst>
          </p:cNvPr>
          <p:cNvSpPr txBox="1"/>
          <p:nvPr/>
        </p:nvSpPr>
        <p:spPr>
          <a:xfrm>
            <a:off x="990601" y="2183132"/>
            <a:ext cx="4753606" cy="338554"/>
          </a:xfrm>
          <a:prstGeom prst="rect">
            <a:avLst/>
          </a:prstGeom>
          <a:noFill/>
        </p:spPr>
        <p:txBody>
          <a:bodyPr wrap="square" rtlCol="0">
            <a:spAutoFit/>
          </a:bodyPr>
          <a:lstStyle/>
          <a:p>
            <a:pPr algn="r"/>
            <a:r>
              <a:rPr lang="en-US" sz="1600" b="1" dirty="0"/>
              <a:t>Engineering with Sequence-Specific Nucleases</a:t>
            </a:r>
            <a:endParaRPr lang="en-GB" sz="1600" b="1" dirty="0"/>
          </a:p>
        </p:txBody>
      </p:sp>
      <p:sp>
        <p:nvSpPr>
          <p:cNvPr id="17" name="ZoneTexte 16">
            <a:extLst>
              <a:ext uri="{FF2B5EF4-FFF2-40B4-BE49-F238E27FC236}">
                <a16:creationId xmlns:a16="http://schemas.microsoft.com/office/drawing/2014/main" id="{A3507414-D075-C864-20ED-73F134F01CB2}"/>
              </a:ext>
            </a:extLst>
          </p:cNvPr>
          <p:cNvSpPr txBox="1"/>
          <p:nvPr/>
        </p:nvSpPr>
        <p:spPr>
          <a:xfrm>
            <a:off x="6079490" y="1048286"/>
            <a:ext cx="4089472" cy="338554"/>
          </a:xfrm>
          <a:prstGeom prst="rect">
            <a:avLst/>
          </a:prstGeom>
          <a:noFill/>
        </p:spPr>
        <p:txBody>
          <a:bodyPr wrap="square" rtlCol="0">
            <a:spAutoFit/>
          </a:bodyPr>
          <a:lstStyle/>
          <a:p>
            <a:r>
              <a:rPr lang="en-GB" sz="1600" b="1" dirty="0"/>
              <a:t>General introduction</a:t>
            </a:r>
          </a:p>
        </p:txBody>
      </p:sp>
      <p:sp>
        <p:nvSpPr>
          <p:cNvPr id="18" name="ZoneTexte 17">
            <a:extLst>
              <a:ext uri="{FF2B5EF4-FFF2-40B4-BE49-F238E27FC236}">
                <a16:creationId xmlns:a16="http://schemas.microsoft.com/office/drawing/2014/main" id="{CC460D62-A5D5-B2F7-023A-42F6D530225A}"/>
              </a:ext>
            </a:extLst>
          </p:cNvPr>
          <p:cNvSpPr txBox="1"/>
          <p:nvPr/>
        </p:nvSpPr>
        <p:spPr>
          <a:xfrm>
            <a:off x="6079490" y="3320414"/>
            <a:ext cx="4089474" cy="338554"/>
          </a:xfrm>
          <a:prstGeom prst="rect">
            <a:avLst/>
          </a:prstGeom>
          <a:noFill/>
        </p:spPr>
        <p:txBody>
          <a:bodyPr wrap="square" rtlCol="0">
            <a:spAutoFit/>
          </a:bodyPr>
          <a:lstStyle/>
          <a:p>
            <a:r>
              <a:rPr lang="en-GB" sz="1600" b="1" dirty="0"/>
              <a:t>Engineering at Transcriptional Level</a:t>
            </a:r>
          </a:p>
        </p:txBody>
      </p:sp>
      <p:sp>
        <p:nvSpPr>
          <p:cNvPr id="6" name="ZoneTexte 5">
            <a:extLst>
              <a:ext uri="{FF2B5EF4-FFF2-40B4-BE49-F238E27FC236}">
                <a16:creationId xmlns:a16="http://schemas.microsoft.com/office/drawing/2014/main" id="{BFC6E357-F66B-B572-34C5-756E8210CCBF}"/>
              </a:ext>
            </a:extLst>
          </p:cNvPr>
          <p:cNvSpPr txBox="1"/>
          <p:nvPr/>
        </p:nvSpPr>
        <p:spPr>
          <a:xfrm>
            <a:off x="6079490" y="5595816"/>
            <a:ext cx="4089472" cy="338554"/>
          </a:xfrm>
          <a:prstGeom prst="rect">
            <a:avLst/>
          </a:prstGeom>
          <a:noFill/>
        </p:spPr>
        <p:txBody>
          <a:bodyPr wrap="square" rtlCol="0">
            <a:spAutoFit/>
          </a:bodyPr>
          <a:lstStyle/>
          <a:p>
            <a:pPr defTabSz="914400"/>
            <a:r>
              <a:rPr lang="en-US" sz="1600" b="1" dirty="0">
                <a:ea typeface="Ebrima" pitchFamily="2" charset="0"/>
                <a:cs typeface="Arial" panose="020B0604020202020204" pitchFamily="34" charset="0"/>
              </a:rPr>
              <a:t>Comparisons &amp; conclusions</a:t>
            </a:r>
          </a:p>
        </p:txBody>
      </p:sp>
      <p:sp>
        <p:nvSpPr>
          <p:cNvPr id="19" name="ZoneTexte 18">
            <a:extLst>
              <a:ext uri="{FF2B5EF4-FFF2-40B4-BE49-F238E27FC236}">
                <a16:creationId xmlns:a16="http://schemas.microsoft.com/office/drawing/2014/main" id="{F5D24477-0B48-D6F6-EA4F-650A79878802}"/>
              </a:ext>
            </a:extLst>
          </p:cNvPr>
          <p:cNvSpPr txBox="1"/>
          <p:nvPr/>
        </p:nvSpPr>
        <p:spPr>
          <a:xfrm>
            <a:off x="990602" y="4471894"/>
            <a:ext cx="4753608" cy="338554"/>
          </a:xfrm>
          <a:prstGeom prst="rect">
            <a:avLst/>
          </a:prstGeom>
          <a:noFill/>
        </p:spPr>
        <p:txBody>
          <a:bodyPr wrap="square" rtlCol="0">
            <a:spAutoFit/>
          </a:bodyPr>
          <a:lstStyle/>
          <a:p>
            <a:pPr algn="r" defTabSz="914400"/>
            <a:r>
              <a:rPr lang="en-US" sz="1600" b="1" dirty="0">
                <a:solidFill>
                  <a:schemeClr val="accent1"/>
                </a:solidFill>
                <a:ea typeface="Ebrima" pitchFamily="2" charset="0"/>
                <a:cs typeface="Arial" panose="020B0604020202020204" pitchFamily="34" charset="0"/>
              </a:rPr>
              <a:t>Engineering at Translational Level</a:t>
            </a:r>
          </a:p>
        </p:txBody>
      </p:sp>
    </p:spTree>
    <p:extLst>
      <p:ext uri="{BB962C8B-B14F-4D97-AF65-F5344CB8AC3E}">
        <p14:creationId xmlns:p14="http://schemas.microsoft.com/office/powerpoint/2010/main" val="2306320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3">
            <a:extLst>
              <a:ext uri="{FF2B5EF4-FFF2-40B4-BE49-F238E27FC236}">
                <a16:creationId xmlns:a16="http://schemas.microsoft.com/office/drawing/2014/main" id="{ED69043E-B5E7-A6D0-4494-D4966588AD52}"/>
              </a:ext>
            </a:extLst>
          </p:cNvPr>
          <p:cNvSpPr txBox="1">
            <a:spLocks/>
          </p:cNvSpPr>
          <p:nvPr/>
        </p:nvSpPr>
        <p:spPr>
          <a:xfrm>
            <a:off x="742950" y="2715689"/>
            <a:ext cx="6457950" cy="142662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700" b="0" i="0" kern="1200">
                <a:solidFill>
                  <a:schemeClr val="bg1"/>
                </a:solidFill>
                <a:latin typeface="Arial" panose="020B0604020202020204" pitchFamily="34" charset="0"/>
                <a:ea typeface="+mj-ea"/>
                <a:cs typeface="Arial" panose="020B0604020202020204" pitchFamily="34" charset="0"/>
              </a:defRPr>
            </a:lvl1pPr>
          </a:lstStyle>
          <a:p>
            <a:r>
              <a:rPr lang="en-US" b="1" dirty="0"/>
              <a:t>Engineering at Translational Level</a:t>
            </a:r>
            <a:endParaRPr lang="en-GB" b="1" dirty="0"/>
          </a:p>
        </p:txBody>
      </p:sp>
    </p:spTree>
    <p:extLst>
      <p:ext uri="{BB962C8B-B14F-4D97-AF65-F5344CB8AC3E}">
        <p14:creationId xmlns:p14="http://schemas.microsoft.com/office/powerpoint/2010/main" val="4217432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7201A-4846-DF10-7F1A-903B155EB4D8}"/>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1C3D0683-550C-5276-60A5-D0F905B7279E}"/>
              </a:ext>
            </a:extLst>
          </p:cNvPr>
          <p:cNvCxnSpPr/>
          <p:nvPr/>
        </p:nvCxnSpPr>
        <p:spPr>
          <a:xfrm>
            <a:off x="0" y="771525"/>
            <a:ext cx="12192000"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793C8E68-FA90-E7A8-ACE6-C39E9B2E456B}"/>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2">
                    <a:lumMod val="75000"/>
                  </a:schemeClr>
                </a:solidFill>
              </a:rPr>
              <a:t>Riboswitches</a:t>
            </a:r>
            <a:endParaRPr lang="fr-FR" sz="3100" b="1" dirty="0">
              <a:solidFill>
                <a:schemeClr val="accent2">
                  <a:lumMod val="75000"/>
                </a:schemeClr>
              </a:solidFill>
            </a:endParaRPr>
          </a:p>
        </p:txBody>
      </p:sp>
      <p:sp>
        <p:nvSpPr>
          <p:cNvPr id="20" name="Rectangle : coins arrondis 19">
            <a:extLst>
              <a:ext uri="{FF2B5EF4-FFF2-40B4-BE49-F238E27FC236}">
                <a16:creationId xmlns:a16="http://schemas.microsoft.com/office/drawing/2014/main" id="{2A7FE8A3-044B-91AE-A062-46C6F38A7CCA}"/>
              </a:ext>
            </a:extLst>
          </p:cNvPr>
          <p:cNvSpPr/>
          <p:nvPr/>
        </p:nvSpPr>
        <p:spPr>
          <a:xfrm>
            <a:off x="3229069" y="2251681"/>
            <a:ext cx="5044440" cy="3483430"/>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8D16CD59-B466-4A02-3C36-B4B1A85B95A7}"/>
              </a:ext>
            </a:extLst>
          </p:cNvPr>
          <p:cNvSpPr/>
          <p:nvPr/>
        </p:nvSpPr>
        <p:spPr>
          <a:xfrm>
            <a:off x="3026550" y="1972513"/>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8CCC69BB-8386-A29C-7C90-3B5BC8389193}"/>
              </a:ext>
            </a:extLst>
          </p:cNvPr>
          <p:cNvSpPr/>
          <p:nvPr/>
        </p:nvSpPr>
        <p:spPr>
          <a:xfrm>
            <a:off x="3468968" y="2050167"/>
            <a:ext cx="2297561"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F1609DB7-0D66-B8A9-08B2-1575CF0C5B60}"/>
              </a:ext>
            </a:extLst>
          </p:cNvPr>
          <p:cNvSpPr/>
          <p:nvPr/>
        </p:nvSpPr>
        <p:spPr>
          <a:xfrm rot="5400000">
            <a:off x="-358685" y="2607141"/>
            <a:ext cx="3483429" cy="2766060"/>
          </a:xfrm>
          <a:prstGeom prst="round2SameRect">
            <a:avLst>
              <a:gd name="adj1" fmla="val 10809"/>
              <a:gd name="adj2"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E4061145-242B-409F-494C-563562666E10}"/>
              </a:ext>
            </a:extLst>
          </p:cNvPr>
          <p:cNvSpPr/>
          <p:nvPr/>
        </p:nvSpPr>
        <p:spPr>
          <a:xfrm>
            <a:off x="8760710" y="2244424"/>
            <a:ext cx="3063240" cy="1909415"/>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D9124B5A-F852-A615-7A44-964F5E50FE7E}"/>
              </a:ext>
            </a:extLst>
          </p:cNvPr>
          <p:cNvSpPr/>
          <p:nvPr/>
        </p:nvSpPr>
        <p:spPr>
          <a:xfrm>
            <a:off x="8558191" y="1965257"/>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7A2A7F38-B387-EC26-C19D-745C23EB0242}"/>
              </a:ext>
            </a:extLst>
          </p:cNvPr>
          <p:cNvSpPr/>
          <p:nvPr/>
        </p:nvSpPr>
        <p:spPr>
          <a:xfrm>
            <a:off x="9000609" y="2035590"/>
            <a:ext cx="2297561"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5" name="Rectangle : coins arrondis 44">
            <a:extLst>
              <a:ext uri="{FF2B5EF4-FFF2-40B4-BE49-F238E27FC236}">
                <a16:creationId xmlns:a16="http://schemas.microsoft.com/office/drawing/2014/main" id="{3A486F5E-C9B0-317D-BE43-F1CF67DC52D2}"/>
              </a:ext>
            </a:extLst>
          </p:cNvPr>
          <p:cNvSpPr/>
          <p:nvPr/>
        </p:nvSpPr>
        <p:spPr>
          <a:xfrm>
            <a:off x="8760710" y="4659574"/>
            <a:ext cx="3063240" cy="1848827"/>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71E1F117-0775-38AC-D39F-5C225D966967}"/>
              </a:ext>
            </a:extLst>
          </p:cNvPr>
          <p:cNvSpPr/>
          <p:nvPr/>
        </p:nvSpPr>
        <p:spPr>
          <a:xfrm>
            <a:off x="8558191" y="4380407"/>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4EC52011-0C22-27EA-2867-7A7DF9EE6B54}"/>
              </a:ext>
            </a:extLst>
          </p:cNvPr>
          <p:cNvSpPr/>
          <p:nvPr/>
        </p:nvSpPr>
        <p:spPr>
          <a:xfrm>
            <a:off x="9000609" y="4450740"/>
            <a:ext cx="2297561"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 name="Groupe 2">
            <a:extLst>
              <a:ext uri="{FF2B5EF4-FFF2-40B4-BE49-F238E27FC236}">
                <a16:creationId xmlns:a16="http://schemas.microsoft.com/office/drawing/2014/main" id="{6DB2604A-D209-CC66-BD97-C552EF122D14}"/>
              </a:ext>
            </a:extLst>
          </p:cNvPr>
          <p:cNvGrpSpPr/>
          <p:nvPr/>
        </p:nvGrpSpPr>
        <p:grpSpPr>
          <a:xfrm>
            <a:off x="71514" y="2316811"/>
            <a:ext cx="2632872" cy="720000"/>
            <a:chOff x="71514" y="2316811"/>
            <a:chExt cx="2632872" cy="720000"/>
          </a:xfrm>
        </p:grpSpPr>
        <p:sp>
          <p:nvSpPr>
            <p:cNvPr id="4" name="ZoneTexte 3">
              <a:extLst>
                <a:ext uri="{FF2B5EF4-FFF2-40B4-BE49-F238E27FC236}">
                  <a16:creationId xmlns:a16="http://schemas.microsoft.com/office/drawing/2014/main" id="{330973CB-D5E2-1D94-A792-53C400426AA5}"/>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b="1" dirty="0"/>
            </a:p>
          </p:txBody>
        </p:sp>
        <p:pic>
          <p:nvPicPr>
            <p:cNvPr id="5" name="Image 4">
              <a:extLst>
                <a:ext uri="{FF2B5EF4-FFF2-40B4-BE49-F238E27FC236}">
                  <a16:creationId xmlns:a16="http://schemas.microsoft.com/office/drawing/2014/main" id="{C58B7F15-6B3F-0959-7B79-8D4FB6363F4D}"/>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F19E2615-AE43-63B4-ABD7-36FB3A6AF022}"/>
              </a:ext>
            </a:extLst>
          </p:cNvPr>
          <p:cNvGrpSpPr/>
          <p:nvPr/>
        </p:nvGrpSpPr>
        <p:grpSpPr>
          <a:xfrm>
            <a:off x="74170" y="3308528"/>
            <a:ext cx="2630216" cy="720000"/>
            <a:chOff x="74170" y="3340479"/>
            <a:chExt cx="2630216" cy="720000"/>
          </a:xfrm>
        </p:grpSpPr>
        <p:sp>
          <p:nvSpPr>
            <p:cNvPr id="23" name="ZoneTexte 22">
              <a:extLst>
                <a:ext uri="{FF2B5EF4-FFF2-40B4-BE49-F238E27FC236}">
                  <a16:creationId xmlns:a16="http://schemas.microsoft.com/office/drawing/2014/main" id="{29214D91-06A4-3D67-0E8A-6985678F88F4}"/>
                </a:ext>
              </a:extLst>
            </p:cNvPr>
            <p:cNvSpPr txBox="1"/>
            <p:nvPr/>
          </p:nvSpPr>
          <p:spPr>
            <a:xfrm>
              <a:off x="839954" y="3484305"/>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24" name="Image 23">
              <a:extLst>
                <a:ext uri="{FF2B5EF4-FFF2-40B4-BE49-F238E27FC236}">
                  <a16:creationId xmlns:a16="http://schemas.microsoft.com/office/drawing/2014/main" id="{0DB685E4-E915-931C-01AD-7A0F1AE19004}"/>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89F28548-BC6C-31F8-494E-942340ADE90A}"/>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EC5DD99A-549C-E795-0CDD-FDAEB640479D}"/>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CF74C560-51A4-0036-143E-E2A7A04A670F}"/>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49D96C8F-CB75-D1E8-8D39-E16AACBC427D}"/>
              </a:ext>
            </a:extLst>
          </p:cNvPr>
          <p:cNvPicPr>
            <a:picLocks noChangeAspect="1"/>
          </p:cNvPicPr>
          <p:nvPr/>
        </p:nvPicPr>
        <p:blipFill>
          <a:blip r:embed="rId5"/>
          <a:stretch>
            <a:fillRect/>
          </a:stretch>
        </p:blipFill>
        <p:spPr>
          <a:xfrm>
            <a:off x="3084375" y="2029268"/>
            <a:ext cx="468000" cy="468000"/>
          </a:xfrm>
          <a:prstGeom prst="rect">
            <a:avLst/>
          </a:prstGeom>
          <a:noFill/>
        </p:spPr>
      </p:pic>
      <p:pic>
        <p:nvPicPr>
          <p:cNvPr id="39" name="Image 38" descr="Une image contenant symbole, Police, Graphique, logo&#10;&#10;Description générée automatiquement">
            <a:extLst>
              <a:ext uri="{FF2B5EF4-FFF2-40B4-BE49-F238E27FC236}">
                <a16:creationId xmlns:a16="http://schemas.microsoft.com/office/drawing/2014/main" id="{33109D66-DE2C-CC45-D571-9036C6502EB4}"/>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7DB393CC-B95D-EB79-1125-9B12456A8839}"/>
              </a:ext>
            </a:extLst>
          </p:cNvPr>
          <p:cNvPicPr>
            <a:picLocks noChangeAspect="1"/>
          </p:cNvPicPr>
          <p:nvPr/>
        </p:nvPicPr>
        <p:blipFill>
          <a:blip r:embed="rId7"/>
          <a:stretch>
            <a:fillRect/>
          </a:stretch>
        </p:blipFill>
        <p:spPr>
          <a:xfrm>
            <a:off x="8632027" y="4417584"/>
            <a:ext cx="468000" cy="468000"/>
          </a:xfrm>
          <a:prstGeom prst="rect">
            <a:avLst/>
          </a:prstGeom>
        </p:spPr>
      </p:pic>
      <p:sp>
        <p:nvSpPr>
          <p:cNvPr id="6" name="ZoneTexte 5">
            <a:extLst>
              <a:ext uri="{FF2B5EF4-FFF2-40B4-BE49-F238E27FC236}">
                <a16:creationId xmlns:a16="http://schemas.microsoft.com/office/drawing/2014/main" id="{AB514293-CAA0-F437-AB2B-6BE8E58BE6E3}"/>
              </a:ext>
            </a:extLst>
          </p:cNvPr>
          <p:cNvSpPr txBox="1"/>
          <p:nvPr/>
        </p:nvSpPr>
        <p:spPr>
          <a:xfrm>
            <a:off x="3552375" y="2676811"/>
            <a:ext cx="4265011" cy="1384995"/>
          </a:xfrm>
          <a:prstGeom prst="rect">
            <a:avLst/>
          </a:prstGeom>
          <a:noFill/>
        </p:spPr>
        <p:txBody>
          <a:bodyPr wrap="square">
            <a:spAutoFit/>
          </a:bodyPr>
          <a:lstStyle/>
          <a:p>
            <a:pPr marL="285750" indent="-285750" algn="just">
              <a:buFont typeface="Wingdings" panose="05000000000000000000" pitchFamily="2" charset="2"/>
              <a:buChar char="Ø"/>
            </a:pPr>
            <a:r>
              <a:rPr lang="fr-FR" sz="1400" dirty="0" err="1">
                <a:solidFill>
                  <a:sysClr val="windowText" lastClr="000000"/>
                </a:solidFill>
              </a:rPr>
              <a:t>Riboswitches</a:t>
            </a:r>
            <a:r>
              <a:rPr lang="fr-FR" sz="1400" dirty="0">
                <a:solidFill>
                  <a:sysClr val="windowText" lastClr="000000"/>
                </a:solidFill>
              </a:rPr>
              <a:t> are RNA </a:t>
            </a:r>
            <a:r>
              <a:rPr lang="fr-FR" sz="1400" dirty="0" err="1">
                <a:solidFill>
                  <a:sysClr val="windowText" lastClr="000000"/>
                </a:solidFill>
              </a:rPr>
              <a:t>sensors</a:t>
            </a:r>
            <a:r>
              <a:rPr lang="fr-FR" sz="1400" dirty="0">
                <a:solidFill>
                  <a:sysClr val="windowText" lastClr="000000"/>
                </a:solidFill>
              </a:rPr>
              <a:t> capable of </a:t>
            </a:r>
            <a:r>
              <a:rPr lang="fr-FR" sz="1400" dirty="0" err="1">
                <a:solidFill>
                  <a:sysClr val="windowText" lastClr="000000"/>
                </a:solidFill>
              </a:rPr>
              <a:t>controlling</a:t>
            </a:r>
            <a:r>
              <a:rPr lang="fr-FR" sz="1400" dirty="0">
                <a:solidFill>
                  <a:sysClr val="windowText" lastClr="000000"/>
                </a:solidFill>
              </a:rPr>
              <a:t> </a:t>
            </a:r>
            <a:r>
              <a:rPr lang="fr-FR" sz="1400" dirty="0" err="1">
                <a:solidFill>
                  <a:sysClr val="windowText" lastClr="000000"/>
                </a:solidFill>
              </a:rPr>
              <a:t>gene</a:t>
            </a:r>
            <a:r>
              <a:rPr lang="fr-FR" sz="1400" dirty="0">
                <a:solidFill>
                  <a:sysClr val="windowText" lastClr="000000"/>
                </a:solidFill>
              </a:rPr>
              <a:t> expression in </a:t>
            </a:r>
            <a:r>
              <a:rPr lang="fr-FR" sz="1400" dirty="0" err="1">
                <a:solidFill>
                  <a:sysClr val="windowText" lastClr="000000"/>
                </a:solidFill>
              </a:rPr>
              <a:t>response</a:t>
            </a:r>
            <a:r>
              <a:rPr lang="fr-FR" sz="1400" dirty="0">
                <a:solidFill>
                  <a:sysClr val="windowText" lastClr="000000"/>
                </a:solidFill>
              </a:rPr>
              <a:t> to a </a:t>
            </a:r>
            <a:r>
              <a:rPr lang="fr-FR" sz="1400" dirty="0" err="1">
                <a:solidFill>
                  <a:sysClr val="windowText" lastClr="000000"/>
                </a:solidFill>
              </a:rPr>
              <a:t>particular</a:t>
            </a:r>
            <a:r>
              <a:rPr lang="fr-FR" sz="1400" dirty="0">
                <a:solidFill>
                  <a:sysClr val="windowText" lastClr="000000"/>
                </a:solidFill>
              </a:rPr>
              <a:t> ligand or </a:t>
            </a:r>
            <a:r>
              <a:rPr lang="fr-FR" sz="1400" dirty="0" err="1">
                <a:solidFill>
                  <a:sysClr val="windowText" lastClr="000000"/>
                </a:solidFill>
              </a:rPr>
              <a:t>metabolite</a:t>
            </a:r>
            <a:endParaRPr lang="fr-FR" sz="1400" dirty="0">
              <a:solidFill>
                <a:sysClr val="windowText" lastClr="000000"/>
              </a:solidFill>
            </a:endParaRPr>
          </a:p>
          <a:p>
            <a:pPr marL="285750" indent="-285750" algn="just">
              <a:buFont typeface="Wingdings" panose="05000000000000000000" pitchFamily="2" charset="2"/>
              <a:buChar char="Ø"/>
            </a:pPr>
            <a:r>
              <a:rPr lang="fr-FR" sz="1400" dirty="0">
                <a:solidFill>
                  <a:sysClr val="windowText" lastClr="000000"/>
                </a:solidFill>
              </a:rPr>
              <a:t>Ligand </a:t>
            </a:r>
            <a:r>
              <a:rPr lang="fr-FR" sz="1400" dirty="0" err="1">
                <a:solidFill>
                  <a:sysClr val="windowText" lastClr="000000"/>
                </a:solidFill>
              </a:rPr>
              <a:t>binds</a:t>
            </a:r>
            <a:r>
              <a:rPr lang="fr-FR" sz="1400" dirty="0">
                <a:solidFill>
                  <a:sysClr val="windowText" lastClr="000000"/>
                </a:solidFill>
              </a:rPr>
              <a:t> on </a:t>
            </a:r>
            <a:r>
              <a:rPr lang="fr-FR" sz="1400" dirty="0" err="1">
                <a:solidFill>
                  <a:sysClr val="windowText" lastClr="000000"/>
                </a:solidFill>
              </a:rPr>
              <a:t>aptamer</a:t>
            </a:r>
            <a:r>
              <a:rPr lang="fr-FR" sz="1400" dirty="0">
                <a:solidFill>
                  <a:sysClr val="windowText" lastClr="000000"/>
                </a:solidFill>
              </a:rPr>
              <a:t> </a:t>
            </a:r>
            <a:r>
              <a:rPr lang="fr-FR" sz="1400" dirty="0" err="1">
                <a:solidFill>
                  <a:sysClr val="windowText" lastClr="000000"/>
                </a:solidFill>
              </a:rPr>
              <a:t>domain</a:t>
            </a:r>
            <a:r>
              <a:rPr lang="fr-FR" sz="1400" dirty="0">
                <a:solidFill>
                  <a:sysClr val="windowText" lastClr="000000"/>
                </a:solidFill>
              </a:rPr>
              <a:t> of the </a:t>
            </a:r>
            <a:r>
              <a:rPr lang="fr-FR" sz="1400" dirty="0" err="1">
                <a:solidFill>
                  <a:sysClr val="windowText" lastClr="000000"/>
                </a:solidFill>
              </a:rPr>
              <a:t>riboswitch</a:t>
            </a:r>
            <a:r>
              <a:rPr lang="fr-FR" sz="1400" dirty="0">
                <a:solidFill>
                  <a:sysClr val="windowText" lastClr="000000"/>
                </a:solidFill>
              </a:rPr>
              <a:t> </a:t>
            </a:r>
            <a:r>
              <a:rPr lang="fr-FR" sz="1400" dirty="0">
                <a:solidFill>
                  <a:sysClr val="windowText" lastClr="000000"/>
                </a:solidFill>
                <a:sym typeface="Wingdings" panose="05000000000000000000" pitchFamily="2" charset="2"/>
              </a:rPr>
              <a:t> change in conformation  on/off  activation or répression of </a:t>
            </a:r>
            <a:r>
              <a:rPr lang="fr-FR" sz="1400" dirty="0" err="1">
                <a:solidFill>
                  <a:sysClr val="windowText" lastClr="000000"/>
                </a:solidFill>
                <a:sym typeface="Wingdings" panose="05000000000000000000" pitchFamily="2" charset="2"/>
              </a:rPr>
              <a:t>gene</a:t>
            </a:r>
            <a:r>
              <a:rPr lang="fr-FR" sz="1400" dirty="0">
                <a:solidFill>
                  <a:sysClr val="windowText" lastClr="000000"/>
                </a:solidFill>
                <a:sym typeface="Wingdings" panose="05000000000000000000" pitchFamily="2" charset="2"/>
              </a:rPr>
              <a:t> expression</a:t>
            </a:r>
            <a:r>
              <a:rPr lang="fr-FR" sz="1400" dirty="0">
                <a:solidFill>
                  <a:sysClr val="windowText" lastClr="000000"/>
                </a:solidFill>
              </a:rPr>
              <a:t>.</a:t>
            </a:r>
          </a:p>
        </p:txBody>
      </p:sp>
      <p:grpSp>
        <p:nvGrpSpPr>
          <p:cNvPr id="8" name="Groupe 7">
            <a:extLst>
              <a:ext uri="{FF2B5EF4-FFF2-40B4-BE49-F238E27FC236}">
                <a16:creationId xmlns:a16="http://schemas.microsoft.com/office/drawing/2014/main" id="{F76A1DB5-8948-FC73-77E5-9A5F830B7941}"/>
              </a:ext>
            </a:extLst>
          </p:cNvPr>
          <p:cNvGrpSpPr/>
          <p:nvPr/>
        </p:nvGrpSpPr>
        <p:grpSpPr>
          <a:xfrm>
            <a:off x="645225" y="945343"/>
            <a:ext cx="10937024" cy="565150"/>
            <a:chOff x="645225" y="945343"/>
            <a:chExt cx="10937024" cy="565150"/>
          </a:xfrm>
        </p:grpSpPr>
        <p:sp>
          <p:nvSpPr>
            <p:cNvPr id="9" name="Ellipse 8">
              <a:extLst>
                <a:ext uri="{FF2B5EF4-FFF2-40B4-BE49-F238E27FC236}">
                  <a16:creationId xmlns:a16="http://schemas.microsoft.com/office/drawing/2014/main" id="{ABC268BB-1217-11C0-E54D-9813888A8D99}"/>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space réservé du texte 9">
              <a:extLst>
                <a:ext uri="{FF2B5EF4-FFF2-40B4-BE49-F238E27FC236}">
                  <a16:creationId xmlns:a16="http://schemas.microsoft.com/office/drawing/2014/main" id="{BF3872C1-24E8-AE56-8A09-A961104FC38B}"/>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2534264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4E7E-FCE0-6F81-3E16-25574EF274EA}"/>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41D4D3FF-F571-D734-F15F-ABF7A0287311}"/>
              </a:ext>
            </a:extLst>
          </p:cNvPr>
          <p:cNvSpPr/>
          <p:nvPr/>
        </p:nvSpPr>
        <p:spPr>
          <a:xfrm>
            <a:off x="371100" y="1364427"/>
            <a:ext cx="8635047" cy="1311072"/>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CCEC1A44-3D18-DDF1-A622-F82A9784D6AE}"/>
              </a:ext>
            </a:extLst>
          </p:cNvPr>
          <p:cNvSpPr/>
          <p:nvPr/>
        </p:nvSpPr>
        <p:spPr>
          <a:xfrm>
            <a:off x="300401" y="1186511"/>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D2CBB56D-0080-7291-7CB4-81ED3C250D70}"/>
              </a:ext>
            </a:extLst>
          </p:cNvPr>
          <p:cNvSpPr/>
          <p:nvPr/>
        </p:nvSpPr>
        <p:spPr>
          <a:xfrm>
            <a:off x="742819" y="1264165"/>
            <a:ext cx="3415295"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DD6B1192-D59C-23BF-6833-60A3D10B1B5D}"/>
              </a:ext>
            </a:extLst>
          </p:cNvPr>
          <p:cNvSpPr/>
          <p:nvPr/>
        </p:nvSpPr>
        <p:spPr>
          <a:xfrm rot="16200000">
            <a:off x="9878641" y="784232"/>
            <a:ext cx="1860661" cy="2766060"/>
          </a:xfrm>
          <a:prstGeom prst="round2SameRect">
            <a:avLst>
              <a:gd name="adj1" fmla="val 10809"/>
              <a:gd name="adj2"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DF34DED6-1FBD-9E61-D7F9-961EF51D261C}"/>
              </a:ext>
            </a:extLst>
          </p:cNvPr>
          <p:cNvSpPr/>
          <p:nvPr/>
        </p:nvSpPr>
        <p:spPr>
          <a:xfrm>
            <a:off x="502920" y="3166425"/>
            <a:ext cx="8508400" cy="1480243"/>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4987B8CC-BC50-9295-B229-EDA074866025}"/>
              </a:ext>
            </a:extLst>
          </p:cNvPr>
          <p:cNvSpPr/>
          <p:nvPr/>
        </p:nvSpPr>
        <p:spPr>
          <a:xfrm>
            <a:off x="300401" y="2887258"/>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A6E8468E-D791-9979-063A-6760DB9547C2}"/>
              </a:ext>
            </a:extLst>
          </p:cNvPr>
          <p:cNvSpPr/>
          <p:nvPr/>
        </p:nvSpPr>
        <p:spPr>
          <a:xfrm>
            <a:off x="742819" y="2957591"/>
            <a:ext cx="3415295"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80BEE082-2B46-D999-2FB3-167742FA5F4E}"/>
              </a:ext>
            </a:extLst>
          </p:cNvPr>
          <p:cNvSpPr/>
          <p:nvPr/>
        </p:nvSpPr>
        <p:spPr>
          <a:xfrm>
            <a:off x="502919" y="5221998"/>
            <a:ext cx="8503229" cy="1480243"/>
          </a:xfrm>
          <a:prstGeom prst="round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F9F7A8F8-4EDC-61A3-0796-09E0DEB5E257}"/>
              </a:ext>
            </a:extLst>
          </p:cNvPr>
          <p:cNvSpPr/>
          <p:nvPr/>
        </p:nvSpPr>
        <p:spPr>
          <a:xfrm>
            <a:off x="300401" y="4915661"/>
            <a:ext cx="576000" cy="576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AD2D7994-8186-B95A-30EB-B35E55125E1F}"/>
              </a:ext>
            </a:extLst>
          </p:cNvPr>
          <p:cNvSpPr/>
          <p:nvPr/>
        </p:nvSpPr>
        <p:spPr>
          <a:xfrm>
            <a:off x="742819" y="4985994"/>
            <a:ext cx="3415295" cy="42573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95462E4C-A31C-C237-D392-FA17D1E25CA3}"/>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A36E84C2-06DF-169C-DF64-A472E712DFCB}"/>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F4E473DE-438E-17A5-65EB-45CBA3AE05E6}"/>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62B0844E-5007-AFAB-5962-21DED4CDB1D9}"/>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A62E6DA5-DDF6-BAAF-CE9F-F5C8759B5610}"/>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40F2DA1B-0879-7C2C-FD66-84D1A7E2D53E}"/>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68D4334E-0E3E-52A3-91CC-F0980092DEC1}"/>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C45F62BC-60FB-C8ED-E3E2-BBB33872DED7}"/>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34C2EE97-9046-6B45-7DF7-E8986779EBE1}"/>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E4C0E956-1DF1-BB2F-1FB2-AB4AFB12A242}"/>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D65A904E-19FD-D4DA-17C3-275CC2BDEA1A}"/>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F4694425-7B7B-83DF-B550-7798FA607A4E}"/>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806CFF94-0EF1-386F-CC40-1497EE24D535}"/>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A75B82DE-AA1C-39EB-4A00-B36F54478A23}"/>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D8278421-7D0F-CB2E-3A6F-84327DCBB4C2}"/>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E6E01D54-DE80-EED1-6B2B-232DA2BCFAD0}"/>
                </a:ext>
              </a:extLst>
            </p:cNvPr>
            <p:cNvPicPr>
              <a:picLocks noChangeAspect="1"/>
            </p:cNvPicPr>
            <p:nvPr/>
          </p:nvPicPr>
          <p:blipFill>
            <a:blip r:embed="rId4"/>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47BAA93D-5720-E562-CE06-826ABB856A2D}"/>
              </a:ext>
            </a:extLst>
          </p:cNvPr>
          <p:cNvPicPr>
            <a:picLocks noChangeAspect="1"/>
          </p:cNvPicPr>
          <p:nvPr/>
        </p:nvPicPr>
        <p:blipFill>
          <a:blip r:embed="rId5"/>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C592DC92-CB07-4EC4-A79A-2906FDEFC238}"/>
              </a:ext>
            </a:extLst>
          </p:cNvPr>
          <p:cNvSpPr/>
          <p:nvPr/>
        </p:nvSpPr>
        <p:spPr>
          <a:xfrm rot="16200000">
            <a:off x="9416360" y="3658746"/>
            <a:ext cx="2785225" cy="2766060"/>
          </a:xfrm>
          <a:prstGeom prst="round2SameRect">
            <a:avLst>
              <a:gd name="adj1" fmla="val 10809"/>
              <a:gd name="adj2"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8DF5801E-5F97-BC7D-E75F-74758ACAE65D}"/>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5B2FAE91-7C13-5A1C-AB4B-3F3D5C3DE1F3}"/>
              </a:ext>
            </a:extLst>
          </p:cNvPr>
          <p:cNvPicPr>
            <a:picLocks noChangeAspect="1"/>
          </p:cNvPicPr>
          <p:nvPr/>
        </p:nvPicPr>
        <p:blipFill>
          <a:blip r:embed="rId6"/>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F0D89787-E8B1-A62B-C933-45DE60BF0904}"/>
              </a:ext>
            </a:extLst>
          </p:cNvPr>
          <p:cNvPicPr>
            <a:picLocks noChangeAspect="1"/>
          </p:cNvPicPr>
          <p:nvPr/>
        </p:nvPicPr>
        <p:blipFill>
          <a:blip r:embed="rId7"/>
          <a:stretch>
            <a:fillRect/>
          </a:stretch>
        </p:blipFill>
        <p:spPr>
          <a:xfrm>
            <a:off x="364777" y="1221809"/>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3E322C47-1635-6A1F-5148-C8EBFE01959C}"/>
              </a:ext>
            </a:extLst>
          </p:cNvPr>
          <p:cNvPicPr>
            <a:picLocks noChangeAspect="1"/>
          </p:cNvPicPr>
          <p:nvPr/>
        </p:nvPicPr>
        <p:blipFill>
          <a:blip r:embed="rId8"/>
          <a:stretch>
            <a:fillRect/>
          </a:stretch>
        </p:blipFill>
        <p:spPr>
          <a:xfrm>
            <a:off x="351510" y="2941689"/>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D1631479-8A71-A2CA-A16F-F86DED3D0B2E}"/>
              </a:ext>
            </a:extLst>
          </p:cNvPr>
          <p:cNvPicPr>
            <a:picLocks noChangeAspect="1"/>
          </p:cNvPicPr>
          <p:nvPr/>
        </p:nvPicPr>
        <p:blipFill>
          <a:blip r:embed="rId9"/>
          <a:stretch>
            <a:fillRect/>
          </a:stretch>
        </p:blipFill>
        <p:spPr>
          <a:xfrm>
            <a:off x="400795" y="4973809"/>
            <a:ext cx="468000" cy="468000"/>
          </a:xfrm>
          <a:prstGeom prst="rect">
            <a:avLst/>
          </a:prstGeom>
        </p:spPr>
      </p:pic>
      <p:cxnSp>
        <p:nvCxnSpPr>
          <p:cNvPr id="6" name="Connecteur droit 5">
            <a:extLst>
              <a:ext uri="{FF2B5EF4-FFF2-40B4-BE49-F238E27FC236}">
                <a16:creationId xmlns:a16="http://schemas.microsoft.com/office/drawing/2014/main" id="{D22D200F-1B13-04D7-7912-368625F24929}"/>
              </a:ext>
            </a:extLst>
          </p:cNvPr>
          <p:cNvCxnSpPr/>
          <p:nvPr/>
        </p:nvCxnSpPr>
        <p:spPr>
          <a:xfrm>
            <a:off x="0" y="771525"/>
            <a:ext cx="12192000" cy="0"/>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B05F823E-95A2-20D3-75B2-9A5D9C0A1B46}"/>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2">
                    <a:lumMod val="75000"/>
                  </a:schemeClr>
                </a:solidFill>
              </a:rPr>
              <a:t>Riboswitches</a:t>
            </a:r>
            <a:endParaRPr lang="fr-FR" sz="3100" b="1" dirty="0">
              <a:solidFill>
                <a:schemeClr val="accent2">
                  <a:lumMod val="75000"/>
                </a:schemeClr>
              </a:solidFill>
            </a:endParaRPr>
          </a:p>
        </p:txBody>
      </p:sp>
    </p:spTree>
    <p:extLst>
      <p:ext uri="{BB962C8B-B14F-4D97-AF65-F5344CB8AC3E}">
        <p14:creationId xmlns:p14="http://schemas.microsoft.com/office/powerpoint/2010/main" val="247909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6535E-9959-D14C-1B18-AE601644B9D5}"/>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EC438EC1-C7E9-5112-A440-29E5667258A7}"/>
              </a:ext>
            </a:extLst>
          </p:cNvPr>
          <p:cNvCxnSpPr/>
          <p:nvPr/>
        </p:nvCxnSpPr>
        <p:spPr>
          <a:xfrm>
            <a:off x="0" y="771525"/>
            <a:ext cx="12192000" cy="0"/>
          </a:xfrm>
          <a:prstGeom prst="line">
            <a:avLst/>
          </a:prstGeom>
          <a:ln w="38100">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EE141F1C-69F3-585C-F959-5980373D4D95}"/>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5">
                    <a:lumMod val="75000"/>
                  </a:schemeClr>
                </a:solidFill>
              </a:rPr>
              <a:t>Compartmentalization</a:t>
            </a:r>
            <a:endParaRPr lang="fr-FR" sz="3100" b="1" dirty="0">
              <a:solidFill>
                <a:schemeClr val="accent5">
                  <a:lumMod val="75000"/>
                </a:schemeClr>
              </a:solidFill>
            </a:endParaRPr>
          </a:p>
        </p:txBody>
      </p:sp>
      <p:sp>
        <p:nvSpPr>
          <p:cNvPr id="20" name="Rectangle : coins arrondis 19">
            <a:extLst>
              <a:ext uri="{FF2B5EF4-FFF2-40B4-BE49-F238E27FC236}">
                <a16:creationId xmlns:a16="http://schemas.microsoft.com/office/drawing/2014/main" id="{B63DF031-FCB8-A033-6AFB-BB35B326E90E}"/>
              </a:ext>
            </a:extLst>
          </p:cNvPr>
          <p:cNvSpPr/>
          <p:nvPr/>
        </p:nvSpPr>
        <p:spPr>
          <a:xfrm>
            <a:off x="3229069" y="2251681"/>
            <a:ext cx="5044440" cy="3483430"/>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A0249503-2B00-F0A5-959C-64B2521F00D8}"/>
              </a:ext>
            </a:extLst>
          </p:cNvPr>
          <p:cNvSpPr/>
          <p:nvPr/>
        </p:nvSpPr>
        <p:spPr>
          <a:xfrm>
            <a:off x="3026550" y="1972513"/>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6967175A-59B3-F715-5B3D-5A862B2D8D7C}"/>
              </a:ext>
            </a:extLst>
          </p:cNvPr>
          <p:cNvSpPr/>
          <p:nvPr/>
        </p:nvSpPr>
        <p:spPr>
          <a:xfrm>
            <a:off x="3468968" y="2050167"/>
            <a:ext cx="2297561"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Characteristics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510E6026-0C60-9991-BA5D-C511E9CAA7AC}"/>
              </a:ext>
            </a:extLst>
          </p:cNvPr>
          <p:cNvSpPr/>
          <p:nvPr/>
        </p:nvSpPr>
        <p:spPr>
          <a:xfrm rot="5400000">
            <a:off x="-358685" y="2607141"/>
            <a:ext cx="3483429"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FF40D9B9-B194-396B-FFA1-797D81AD63E6}"/>
              </a:ext>
            </a:extLst>
          </p:cNvPr>
          <p:cNvSpPr/>
          <p:nvPr/>
        </p:nvSpPr>
        <p:spPr>
          <a:xfrm>
            <a:off x="8760710" y="2244424"/>
            <a:ext cx="3063240" cy="1909415"/>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BA2305A7-7049-234E-581E-DC008A0357CB}"/>
              </a:ext>
            </a:extLst>
          </p:cNvPr>
          <p:cNvSpPr/>
          <p:nvPr/>
        </p:nvSpPr>
        <p:spPr>
          <a:xfrm>
            <a:off x="8558191" y="1965257"/>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AC870798-C809-D231-2B14-BBD286037601}"/>
              </a:ext>
            </a:extLst>
          </p:cNvPr>
          <p:cNvSpPr/>
          <p:nvPr/>
        </p:nvSpPr>
        <p:spPr>
          <a:xfrm>
            <a:off x="9000609" y="2035590"/>
            <a:ext cx="2297561"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Applications’ areas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5" name="Rectangle : coins arrondis 44">
            <a:extLst>
              <a:ext uri="{FF2B5EF4-FFF2-40B4-BE49-F238E27FC236}">
                <a16:creationId xmlns:a16="http://schemas.microsoft.com/office/drawing/2014/main" id="{97AE567B-2BC7-1AD4-B67B-EC395C7FDC8A}"/>
              </a:ext>
            </a:extLst>
          </p:cNvPr>
          <p:cNvSpPr/>
          <p:nvPr/>
        </p:nvSpPr>
        <p:spPr>
          <a:xfrm>
            <a:off x="8760710" y="4659574"/>
            <a:ext cx="3063240" cy="1848827"/>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3A998240-CA81-9701-DA01-D0413FE6DA7D}"/>
              </a:ext>
            </a:extLst>
          </p:cNvPr>
          <p:cNvSpPr/>
          <p:nvPr/>
        </p:nvSpPr>
        <p:spPr>
          <a:xfrm>
            <a:off x="8558191" y="4380407"/>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6D8C637F-00C5-CF81-A893-335419CC34E7}"/>
              </a:ext>
            </a:extLst>
          </p:cNvPr>
          <p:cNvSpPr/>
          <p:nvPr/>
        </p:nvSpPr>
        <p:spPr>
          <a:xfrm>
            <a:off x="9000609" y="4450740"/>
            <a:ext cx="2297561"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Target </a:t>
            </a:r>
            <a:r>
              <a:rPr kumimoji="0" lang="fr-FR" sz="1600" b="1" i="0" u="none" strike="noStrike" kern="1200" cap="small" spc="0" normalizeH="0" baseline="0" noProof="0" dirty="0" err="1">
                <a:ln>
                  <a:noFill/>
                </a:ln>
                <a:solidFill>
                  <a:prstClr val="white"/>
                </a:solidFill>
                <a:effectLst/>
                <a:uLnTx/>
                <a:uFillTx/>
                <a:ea typeface="+mn-ea"/>
                <a:cs typeface="+mn-cs"/>
              </a:rPr>
              <a:t>Organisms</a:t>
            </a:r>
            <a:endParaRPr kumimoji="0" lang="en-US" sz="1600" b="1" i="0" u="none" strike="noStrike" kern="1200" cap="small" spc="0" normalizeH="0" baseline="0" noProof="0" dirty="0">
              <a:ln>
                <a:noFill/>
              </a:ln>
              <a:solidFill>
                <a:prstClr val="white"/>
              </a:solidFill>
              <a:effectLst/>
              <a:uLnTx/>
              <a:uFillTx/>
              <a:ea typeface="+mn-ea"/>
              <a:cs typeface="+mn-cs"/>
            </a:endParaRPr>
          </a:p>
        </p:txBody>
      </p:sp>
      <p:grpSp>
        <p:nvGrpSpPr>
          <p:cNvPr id="3" name="Groupe 2">
            <a:extLst>
              <a:ext uri="{FF2B5EF4-FFF2-40B4-BE49-F238E27FC236}">
                <a16:creationId xmlns:a16="http://schemas.microsoft.com/office/drawing/2014/main" id="{93CBB523-4F79-5F71-8740-51290A31B5A8}"/>
              </a:ext>
            </a:extLst>
          </p:cNvPr>
          <p:cNvGrpSpPr/>
          <p:nvPr/>
        </p:nvGrpSpPr>
        <p:grpSpPr>
          <a:xfrm>
            <a:off x="71514" y="2316811"/>
            <a:ext cx="2632872" cy="720000"/>
            <a:chOff x="71514" y="2316811"/>
            <a:chExt cx="2632872" cy="720000"/>
          </a:xfrm>
        </p:grpSpPr>
        <p:sp>
          <p:nvSpPr>
            <p:cNvPr id="4" name="ZoneTexte 3">
              <a:extLst>
                <a:ext uri="{FF2B5EF4-FFF2-40B4-BE49-F238E27FC236}">
                  <a16:creationId xmlns:a16="http://schemas.microsoft.com/office/drawing/2014/main" id="{22DEEBA9-2CDD-C084-1776-DCAD1CF00CFE}"/>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b="1" dirty="0"/>
            </a:p>
          </p:txBody>
        </p:sp>
        <p:pic>
          <p:nvPicPr>
            <p:cNvPr id="5" name="Image 4">
              <a:extLst>
                <a:ext uri="{FF2B5EF4-FFF2-40B4-BE49-F238E27FC236}">
                  <a16:creationId xmlns:a16="http://schemas.microsoft.com/office/drawing/2014/main" id="{C82B105A-E3AD-27E6-E4CF-1108435D499E}"/>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24F11AE0-D3DF-11B2-FD36-7A3AEAC9EBA6}"/>
              </a:ext>
            </a:extLst>
          </p:cNvPr>
          <p:cNvGrpSpPr/>
          <p:nvPr/>
        </p:nvGrpSpPr>
        <p:grpSpPr>
          <a:xfrm>
            <a:off x="74170" y="3308528"/>
            <a:ext cx="2630216" cy="720000"/>
            <a:chOff x="74170" y="3340479"/>
            <a:chExt cx="2630216" cy="720000"/>
          </a:xfrm>
        </p:grpSpPr>
        <p:sp>
          <p:nvSpPr>
            <p:cNvPr id="23" name="ZoneTexte 22">
              <a:extLst>
                <a:ext uri="{FF2B5EF4-FFF2-40B4-BE49-F238E27FC236}">
                  <a16:creationId xmlns:a16="http://schemas.microsoft.com/office/drawing/2014/main" id="{62FC8BF9-23C8-83DB-C765-449C2BD2EB0A}"/>
                </a:ext>
              </a:extLst>
            </p:cNvPr>
            <p:cNvSpPr txBox="1"/>
            <p:nvPr/>
          </p:nvSpPr>
          <p:spPr>
            <a:xfrm>
              <a:off x="839954" y="3484305"/>
              <a:ext cx="1864432" cy="276999"/>
            </a:xfrm>
            <a:prstGeom prst="rect">
              <a:avLst/>
            </a:prstGeom>
            <a:noFill/>
          </p:spPr>
          <p:txBody>
            <a:bodyPr wrap="square">
              <a:spAutoFit/>
            </a:bodyPr>
            <a:lstStyle/>
            <a:p>
              <a:pPr algn="just"/>
              <a:r>
                <a:rPr lang="en-US" sz="1200" b="0" i="0" u="none" strike="noStrike" baseline="0" dirty="0"/>
                <a:t>Allows</a:t>
              </a:r>
              <a:endParaRPr lang="en-US" sz="1200" b="1" dirty="0"/>
            </a:p>
          </p:txBody>
        </p:sp>
        <p:pic>
          <p:nvPicPr>
            <p:cNvPr id="24" name="Image 23">
              <a:extLst>
                <a:ext uri="{FF2B5EF4-FFF2-40B4-BE49-F238E27FC236}">
                  <a16:creationId xmlns:a16="http://schemas.microsoft.com/office/drawing/2014/main" id="{F28F4E4E-2573-EB91-48B0-FF95177E6A88}"/>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CD35A1B6-9C43-86E4-FE61-B86C4E5E55D9}"/>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F6F6E450-C5AF-A234-5DFB-7440899E910A}"/>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0C5CDF4F-AFBE-0366-465A-F1DF2608A8BF}"/>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8E23C2E8-C8C3-C794-1C1A-FFE145AC564D}"/>
              </a:ext>
            </a:extLst>
          </p:cNvPr>
          <p:cNvPicPr>
            <a:picLocks noChangeAspect="1"/>
          </p:cNvPicPr>
          <p:nvPr/>
        </p:nvPicPr>
        <p:blipFill>
          <a:blip r:embed="rId5"/>
          <a:stretch>
            <a:fillRect/>
          </a:stretch>
        </p:blipFill>
        <p:spPr>
          <a:xfrm>
            <a:off x="3084375" y="2029268"/>
            <a:ext cx="468000" cy="468000"/>
          </a:xfrm>
          <a:prstGeom prst="rect">
            <a:avLst/>
          </a:prstGeom>
          <a:noFill/>
        </p:spPr>
      </p:pic>
      <p:pic>
        <p:nvPicPr>
          <p:cNvPr id="39" name="Image 38" descr="Une image contenant symbole, Police, Graphique, logo&#10;&#10;Description générée automatiquement">
            <a:extLst>
              <a:ext uri="{FF2B5EF4-FFF2-40B4-BE49-F238E27FC236}">
                <a16:creationId xmlns:a16="http://schemas.microsoft.com/office/drawing/2014/main" id="{209C9815-8200-B557-1280-20F575E62341}"/>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D506F583-4CB8-5C6C-8900-9A1CF3F55AC6}"/>
              </a:ext>
            </a:extLst>
          </p:cNvPr>
          <p:cNvPicPr>
            <a:picLocks noChangeAspect="1"/>
          </p:cNvPicPr>
          <p:nvPr/>
        </p:nvPicPr>
        <p:blipFill>
          <a:blip r:embed="rId7"/>
          <a:stretch>
            <a:fillRect/>
          </a:stretch>
        </p:blipFill>
        <p:spPr>
          <a:xfrm>
            <a:off x="8632027" y="4417584"/>
            <a:ext cx="468000" cy="468000"/>
          </a:xfrm>
          <a:prstGeom prst="rect">
            <a:avLst/>
          </a:prstGeom>
        </p:spPr>
      </p:pic>
      <p:sp>
        <p:nvSpPr>
          <p:cNvPr id="6" name="ZoneTexte 5">
            <a:extLst>
              <a:ext uri="{FF2B5EF4-FFF2-40B4-BE49-F238E27FC236}">
                <a16:creationId xmlns:a16="http://schemas.microsoft.com/office/drawing/2014/main" id="{1FE5BBB4-B655-AA20-A26B-1513FCB8873B}"/>
              </a:ext>
            </a:extLst>
          </p:cNvPr>
          <p:cNvSpPr txBox="1"/>
          <p:nvPr/>
        </p:nvSpPr>
        <p:spPr>
          <a:xfrm>
            <a:off x="3552375" y="2676811"/>
            <a:ext cx="4265011" cy="1815882"/>
          </a:xfrm>
          <a:prstGeom prst="rect">
            <a:avLst/>
          </a:prstGeom>
          <a:noFill/>
        </p:spPr>
        <p:txBody>
          <a:bodyPr wrap="square">
            <a:spAutoFit/>
          </a:bodyPr>
          <a:lstStyle/>
          <a:p>
            <a:pPr marL="285750" indent="-285750" algn="just">
              <a:buFont typeface="Wingdings" panose="05000000000000000000" pitchFamily="2" charset="2"/>
              <a:buChar char="Ø"/>
            </a:pPr>
            <a:r>
              <a:rPr lang="en-US" sz="1400" dirty="0">
                <a:solidFill>
                  <a:sysClr val="windowText" lastClr="000000"/>
                </a:solidFill>
              </a:rPr>
              <a:t>It consists into a targeted localization of transgene in a </a:t>
            </a:r>
            <a:r>
              <a:rPr lang="fr-FR" sz="1400" dirty="0" err="1">
                <a:solidFill>
                  <a:sysClr val="windowText" lastClr="000000"/>
                </a:solidFill>
              </a:rPr>
              <a:t>particular</a:t>
            </a:r>
            <a:r>
              <a:rPr lang="fr-FR" sz="1400" dirty="0">
                <a:solidFill>
                  <a:sysClr val="windowText" lastClr="000000"/>
                </a:solidFill>
              </a:rPr>
              <a:t> cellular </a:t>
            </a:r>
            <a:r>
              <a:rPr lang="fr-FR" sz="1400" dirty="0" err="1">
                <a:solidFill>
                  <a:sysClr val="windowText" lastClr="000000"/>
                </a:solidFill>
              </a:rPr>
              <a:t>compartment</a:t>
            </a:r>
            <a:endParaRPr lang="fr-FR" sz="1400" dirty="0">
              <a:solidFill>
                <a:sysClr val="windowText" lastClr="000000"/>
              </a:solidFill>
            </a:endParaRPr>
          </a:p>
          <a:p>
            <a:pPr marL="285750" indent="-285750" algn="just">
              <a:buFont typeface="Wingdings" panose="05000000000000000000" pitchFamily="2" charset="2"/>
              <a:buChar char="Ø"/>
            </a:pPr>
            <a:r>
              <a:rPr lang="fr-FR" sz="1400" dirty="0">
                <a:solidFill>
                  <a:sysClr val="windowText" lastClr="000000"/>
                </a:solidFill>
              </a:rPr>
              <a:t>engineering of </a:t>
            </a:r>
            <a:r>
              <a:rPr lang="fr-FR" sz="1400" dirty="0" err="1">
                <a:solidFill>
                  <a:sysClr val="windowText" lastClr="000000"/>
                </a:solidFill>
              </a:rPr>
              <a:t>intracellular</a:t>
            </a:r>
            <a:r>
              <a:rPr lang="fr-FR" sz="1400" dirty="0">
                <a:solidFill>
                  <a:sysClr val="windowText" lastClr="000000"/>
                </a:solidFill>
              </a:rPr>
              <a:t> </a:t>
            </a:r>
            <a:r>
              <a:rPr lang="fr-FR" sz="1400" dirty="0" err="1">
                <a:solidFill>
                  <a:sysClr val="windowText" lastClr="000000"/>
                </a:solidFill>
              </a:rPr>
              <a:t>transporters</a:t>
            </a:r>
            <a:endParaRPr lang="fr-FR" sz="1400" dirty="0">
              <a:solidFill>
                <a:sysClr val="windowText" lastClr="000000"/>
              </a:solidFill>
            </a:endParaRPr>
          </a:p>
          <a:p>
            <a:pPr marL="285750" indent="-285750" algn="just">
              <a:buFont typeface="Wingdings" panose="05000000000000000000" pitchFamily="2" charset="2"/>
              <a:buChar char="Ø"/>
            </a:pPr>
            <a:r>
              <a:rPr lang="en-US" sz="1400" dirty="0">
                <a:solidFill>
                  <a:sysClr val="windowText" lastClr="000000"/>
                </a:solidFill>
              </a:rPr>
              <a:t>dual targeting of the protein when required</a:t>
            </a:r>
            <a:endParaRPr lang="fr-FR" sz="1400" dirty="0">
              <a:solidFill>
                <a:sysClr val="windowText" lastClr="000000"/>
              </a:solidFill>
            </a:endParaRPr>
          </a:p>
          <a:p>
            <a:pPr marL="285750" indent="-285750" algn="just">
              <a:buFont typeface="Wingdings" panose="05000000000000000000" pitchFamily="2" charset="2"/>
              <a:buChar char="Ø"/>
            </a:pPr>
            <a:r>
              <a:rPr lang="en-US" sz="1400" dirty="0">
                <a:solidFill>
                  <a:sysClr val="windowText" lastClr="000000"/>
                </a:solidFill>
              </a:rPr>
              <a:t>planned targeting of the foreign protein into a particular organelle is an important point</a:t>
            </a:r>
            <a:endParaRPr lang="fr-FR" sz="1400" dirty="0">
              <a:solidFill>
                <a:sysClr val="windowText" lastClr="000000"/>
              </a:solidFill>
            </a:endParaRPr>
          </a:p>
          <a:p>
            <a:pPr marL="285750" indent="-285750" algn="just">
              <a:buFont typeface="Wingdings" panose="05000000000000000000" pitchFamily="2" charset="2"/>
              <a:buChar char="Ø"/>
            </a:pPr>
            <a:r>
              <a:rPr lang="fr-FR" sz="1400" dirty="0" err="1">
                <a:solidFill>
                  <a:sysClr val="windowText" lastClr="000000"/>
                </a:solidFill>
              </a:rPr>
              <a:t>availability</a:t>
            </a:r>
            <a:r>
              <a:rPr lang="fr-FR" sz="1400" dirty="0">
                <a:solidFill>
                  <a:sysClr val="windowText" lastClr="000000"/>
                </a:solidFill>
              </a:rPr>
              <a:t> of </a:t>
            </a:r>
            <a:r>
              <a:rPr lang="fr-FR" sz="1400" dirty="0" err="1">
                <a:solidFill>
                  <a:sysClr val="windowText" lastClr="000000"/>
                </a:solidFill>
              </a:rPr>
              <a:t>substrate</a:t>
            </a:r>
            <a:r>
              <a:rPr lang="fr-FR" sz="1400" dirty="0">
                <a:solidFill>
                  <a:sysClr val="windowText" lastClr="000000"/>
                </a:solidFill>
              </a:rPr>
              <a:t> </a:t>
            </a:r>
            <a:r>
              <a:rPr lang="fr-FR" sz="1400" dirty="0" err="1">
                <a:solidFill>
                  <a:sysClr val="windowText" lastClr="000000"/>
                </a:solidFill>
              </a:rPr>
              <a:t>molecule</a:t>
            </a:r>
            <a:r>
              <a:rPr lang="fr-FR" sz="1400" dirty="0">
                <a:solidFill>
                  <a:sysClr val="windowText" lastClr="000000"/>
                </a:solidFill>
              </a:rPr>
              <a:t> in </a:t>
            </a:r>
            <a:r>
              <a:rPr lang="fr-FR" sz="1400" dirty="0" err="1">
                <a:solidFill>
                  <a:sysClr val="windowText" lastClr="000000"/>
                </a:solidFill>
              </a:rPr>
              <a:t>specific</a:t>
            </a:r>
            <a:r>
              <a:rPr lang="fr-FR" sz="1400" dirty="0">
                <a:solidFill>
                  <a:sysClr val="windowText" lastClr="000000"/>
                </a:solidFill>
              </a:rPr>
              <a:t> </a:t>
            </a:r>
            <a:r>
              <a:rPr lang="fr-FR" sz="1400" dirty="0" err="1">
                <a:solidFill>
                  <a:sysClr val="windowText" lastClr="000000"/>
                </a:solidFill>
              </a:rPr>
              <a:t>compartment</a:t>
            </a:r>
            <a:r>
              <a:rPr lang="fr-FR" sz="1400" dirty="0">
                <a:solidFill>
                  <a:sysClr val="windowText" lastClr="000000"/>
                </a:solidFill>
              </a:rPr>
              <a:t> </a:t>
            </a:r>
            <a:r>
              <a:rPr lang="fr-FR" sz="1400" dirty="0" err="1">
                <a:solidFill>
                  <a:sysClr val="windowText" lastClr="000000"/>
                </a:solidFill>
              </a:rPr>
              <a:t>is</a:t>
            </a:r>
            <a:r>
              <a:rPr lang="fr-FR" sz="1400" dirty="0">
                <a:solidFill>
                  <a:sysClr val="windowText" lastClr="000000"/>
                </a:solidFill>
              </a:rPr>
              <a:t> to </a:t>
            </a:r>
            <a:r>
              <a:rPr lang="fr-FR" sz="1400" dirty="0" err="1">
                <a:solidFill>
                  <a:sysClr val="windowText" lastClr="000000"/>
                </a:solidFill>
              </a:rPr>
              <a:t>consider</a:t>
            </a:r>
            <a:endParaRPr lang="fr-FR" sz="1400" dirty="0">
              <a:solidFill>
                <a:sysClr val="windowText" lastClr="000000"/>
              </a:solidFill>
            </a:endParaRPr>
          </a:p>
        </p:txBody>
      </p:sp>
      <p:grpSp>
        <p:nvGrpSpPr>
          <p:cNvPr id="2" name="Groupe 1">
            <a:extLst>
              <a:ext uri="{FF2B5EF4-FFF2-40B4-BE49-F238E27FC236}">
                <a16:creationId xmlns:a16="http://schemas.microsoft.com/office/drawing/2014/main" id="{CEF652C3-7C47-B993-DE2D-92F22165BCAB}"/>
              </a:ext>
            </a:extLst>
          </p:cNvPr>
          <p:cNvGrpSpPr/>
          <p:nvPr/>
        </p:nvGrpSpPr>
        <p:grpSpPr>
          <a:xfrm>
            <a:off x="645225" y="945343"/>
            <a:ext cx="10937024" cy="565150"/>
            <a:chOff x="645225" y="945343"/>
            <a:chExt cx="10937024" cy="565150"/>
          </a:xfrm>
        </p:grpSpPr>
        <p:sp>
          <p:nvSpPr>
            <p:cNvPr id="7" name="Ellipse 6">
              <a:extLst>
                <a:ext uri="{FF2B5EF4-FFF2-40B4-BE49-F238E27FC236}">
                  <a16:creationId xmlns:a16="http://schemas.microsoft.com/office/drawing/2014/main" id="{AE5997F1-A159-3673-0369-65194C7A2798}"/>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9">
              <a:extLst>
                <a:ext uri="{FF2B5EF4-FFF2-40B4-BE49-F238E27FC236}">
                  <a16:creationId xmlns:a16="http://schemas.microsoft.com/office/drawing/2014/main" id="{AEE6AB11-DD99-16F9-5CFC-9A42EF52470F}"/>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706071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269C-D336-95E1-7ED8-931032099FD4}"/>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1A991AA4-CEE5-FEA0-98AF-D6D768880A6D}"/>
              </a:ext>
            </a:extLst>
          </p:cNvPr>
          <p:cNvSpPr/>
          <p:nvPr/>
        </p:nvSpPr>
        <p:spPr>
          <a:xfrm>
            <a:off x="371100" y="1364427"/>
            <a:ext cx="8635047" cy="1311072"/>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F5EE883A-3ED2-58E1-819C-AC3057371D41}"/>
              </a:ext>
            </a:extLst>
          </p:cNvPr>
          <p:cNvSpPr/>
          <p:nvPr/>
        </p:nvSpPr>
        <p:spPr>
          <a:xfrm>
            <a:off x="300401" y="1186511"/>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D6DB3B96-B256-946E-E29F-29E32452A821}"/>
              </a:ext>
            </a:extLst>
          </p:cNvPr>
          <p:cNvSpPr/>
          <p:nvPr/>
        </p:nvSpPr>
        <p:spPr>
          <a:xfrm>
            <a:off x="742819" y="1264165"/>
            <a:ext cx="3415295"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621EE342-05CC-AC22-3617-CCC79CDFCCC9}"/>
              </a:ext>
            </a:extLst>
          </p:cNvPr>
          <p:cNvSpPr/>
          <p:nvPr/>
        </p:nvSpPr>
        <p:spPr>
          <a:xfrm rot="16200000">
            <a:off x="9878641" y="784232"/>
            <a:ext cx="1860661"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BAB86CEF-FA59-7AFB-C1C4-951C766DE956}"/>
              </a:ext>
            </a:extLst>
          </p:cNvPr>
          <p:cNvSpPr/>
          <p:nvPr/>
        </p:nvSpPr>
        <p:spPr>
          <a:xfrm>
            <a:off x="502920" y="3166425"/>
            <a:ext cx="8508400" cy="1480243"/>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F479E840-4D9E-AA8F-7F52-231FA3C0E0DC}"/>
              </a:ext>
            </a:extLst>
          </p:cNvPr>
          <p:cNvSpPr/>
          <p:nvPr/>
        </p:nvSpPr>
        <p:spPr>
          <a:xfrm>
            <a:off x="300401" y="2887258"/>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F50F473E-4FD9-73C9-6965-8E871E218830}"/>
              </a:ext>
            </a:extLst>
          </p:cNvPr>
          <p:cNvSpPr/>
          <p:nvPr/>
        </p:nvSpPr>
        <p:spPr>
          <a:xfrm>
            <a:off x="742819" y="2957591"/>
            <a:ext cx="3415295"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3914D292-ED01-C7C0-FDC8-B0FA0A9095B3}"/>
              </a:ext>
            </a:extLst>
          </p:cNvPr>
          <p:cNvSpPr/>
          <p:nvPr/>
        </p:nvSpPr>
        <p:spPr>
          <a:xfrm>
            <a:off x="502919" y="5221998"/>
            <a:ext cx="8503229" cy="1480243"/>
          </a:xfrm>
          <a:prstGeom prst="roundRect">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41BE3698-4184-8E19-76E8-D2D6C2CE6F1D}"/>
              </a:ext>
            </a:extLst>
          </p:cNvPr>
          <p:cNvSpPr/>
          <p:nvPr/>
        </p:nvSpPr>
        <p:spPr>
          <a:xfrm>
            <a:off x="300401" y="4915661"/>
            <a:ext cx="576000" cy="576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480D23EB-4FDE-63F6-3235-0703C3EC9584}"/>
              </a:ext>
            </a:extLst>
          </p:cNvPr>
          <p:cNvSpPr/>
          <p:nvPr/>
        </p:nvSpPr>
        <p:spPr>
          <a:xfrm>
            <a:off x="742819" y="4985994"/>
            <a:ext cx="3415295" cy="42573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C8E668A9-4328-1C62-AB2D-D55D37AC9BF1}"/>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518D4CCA-36A3-533F-3BD1-1B6CB0922BFF}"/>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F98FAB99-10DD-057F-553F-B49B4DEF30CA}"/>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CA7BC655-B7C3-B8C3-6A14-03839225ACD6}"/>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81DD3170-9358-7D35-52B3-D494E0A95C5A}"/>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E0AD90A8-1DDA-569F-E657-727211A81ADA}"/>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775094A6-600E-9136-3470-6884D0C318F2}"/>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4A980589-79A2-3965-2024-9DD687E68EED}"/>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3DE2C2D0-F59F-0AC3-F7F2-E6BA42E8EFCA}"/>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B574C4C7-0D78-CB87-5EFE-580C862D5C4D}"/>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2344080D-40D7-3F9A-DA88-87789ADF2BAE}"/>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626BEDD5-C7AE-BAFB-F318-6BCB5437B3BF}"/>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04C17AC1-D3BC-41BC-518A-6A69DD794FFC}"/>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D20B05D4-5C13-076E-1D20-60E3A9BCCB00}"/>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0274E428-5675-C48A-CF8F-947E79EBAABD}"/>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DE91FC5D-46B8-9185-A694-66FFFEA70A99}"/>
                </a:ext>
              </a:extLst>
            </p:cNvPr>
            <p:cNvPicPr>
              <a:picLocks noChangeAspect="1"/>
            </p:cNvPicPr>
            <p:nvPr/>
          </p:nvPicPr>
          <p:blipFill>
            <a:blip r:embed="rId4"/>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56032CC0-A740-D60E-436A-79EFAB2D819C}"/>
              </a:ext>
            </a:extLst>
          </p:cNvPr>
          <p:cNvPicPr>
            <a:picLocks noChangeAspect="1"/>
          </p:cNvPicPr>
          <p:nvPr/>
        </p:nvPicPr>
        <p:blipFill>
          <a:blip r:embed="rId5"/>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BA4CD856-0C52-1825-74BD-F324915593F7}"/>
              </a:ext>
            </a:extLst>
          </p:cNvPr>
          <p:cNvSpPr/>
          <p:nvPr/>
        </p:nvSpPr>
        <p:spPr>
          <a:xfrm rot="16200000">
            <a:off x="9416360" y="3658746"/>
            <a:ext cx="2785225" cy="2766060"/>
          </a:xfrm>
          <a:prstGeom prst="round2SameRect">
            <a:avLst>
              <a:gd name="adj1" fmla="val 10809"/>
              <a:gd name="adj2"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CC5E8E69-5021-378E-6D63-DD65EEBBF493}"/>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2796DAF6-C681-98AF-6BEB-D9DD41267245}"/>
              </a:ext>
            </a:extLst>
          </p:cNvPr>
          <p:cNvPicPr>
            <a:picLocks noChangeAspect="1"/>
          </p:cNvPicPr>
          <p:nvPr/>
        </p:nvPicPr>
        <p:blipFill>
          <a:blip r:embed="rId6"/>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6048CEC7-CCF5-AE5D-313D-50B6D3BF7DFA}"/>
              </a:ext>
            </a:extLst>
          </p:cNvPr>
          <p:cNvPicPr>
            <a:picLocks noChangeAspect="1"/>
          </p:cNvPicPr>
          <p:nvPr/>
        </p:nvPicPr>
        <p:blipFill>
          <a:blip r:embed="rId7"/>
          <a:stretch>
            <a:fillRect/>
          </a:stretch>
        </p:blipFill>
        <p:spPr>
          <a:xfrm>
            <a:off x="364777" y="1221809"/>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C84116AC-AB8F-8C8B-AC62-603D61B9102C}"/>
              </a:ext>
            </a:extLst>
          </p:cNvPr>
          <p:cNvPicPr>
            <a:picLocks noChangeAspect="1"/>
          </p:cNvPicPr>
          <p:nvPr/>
        </p:nvPicPr>
        <p:blipFill>
          <a:blip r:embed="rId8"/>
          <a:stretch>
            <a:fillRect/>
          </a:stretch>
        </p:blipFill>
        <p:spPr>
          <a:xfrm>
            <a:off x="351510" y="2941689"/>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1C4C47F3-8191-DCA1-5BC0-0B3CEEAB1DD6}"/>
              </a:ext>
            </a:extLst>
          </p:cNvPr>
          <p:cNvPicPr>
            <a:picLocks noChangeAspect="1"/>
          </p:cNvPicPr>
          <p:nvPr/>
        </p:nvPicPr>
        <p:blipFill>
          <a:blip r:embed="rId9"/>
          <a:stretch>
            <a:fillRect/>
          </a:stretch>
        </p:blipFill>
        <p:spPr>
          <a:xfrm>
            <a:off x="400795" y="4973809"/>
            <a:ext cx="468000" cy="468000"/>
          </a:xfrm>
          <a:prstGeom prst="rect">
            <a:avLst/>
          </a:prstGeom>
        </p:spPr>
      </p:pic>
      <p:cxnSp>
        <p:nvCxnSpPr>
          <p:cNvPr id="8" name="Connecteur droit 7">
            <a:extLst>
              <a:ext uri="{FF2B5EF4-FFF2-40B4-BE49-F238E27FC236}">
                <a16:creationId xmlns:a16="http://schemas.microsoft.com/office/drawing/2014/main" id="{F6F28233-DDEA-E7B9-E7F8-E58FAA6CE2A3}"/>
              </a:ext>
            </a:extLst>
          </p:cNvPr>
          <p:cNvCxnSpPr/>
          <p:nvPr/>
        </p:nvCxnSpPr>
        <p:spPr>
          <a:xfrm>
            <a:off x="0" y="771525"/>
            <a:ext cx="12192000" cy="0"/>
          </a:xfrm>
          <a:prstGeom prst="line">
            <a:avLst/>
          </a:prstGeom>
          <a:ln w="38100">
            <a:solidFill>
              <a:schemeClr val="accent5">
                <a:lumMod val="75000"/>
              </a:schemeClr>
            </a:solidFill>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50F81DF0-6B0F-CCEB-A6A8-9E3D165C6B2E}"/>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accent5">
                    <a:lumMod val="75000"/>
                  </a:schemeClr>
                </a:solidFill>
              </a:rPr>
              <a:t>Compartmentalization</a:t>
            </a:r>
            <a:endParaRPr lang="fr-FR" sz="3100" b="1" dirty="0">
              <a:solidFill>
                <a:schemeClr val="accent5">
                  <a:lumMod val="75000"/>
                </a:schemeClr>
              </a:solidFill>
            </a:endParaRPr>
          </a:p>
        </p:txBody>
      </p:sp>
    </p:spTree>
    <p:extLst>
      <p:ext uri="{BB962C8B-B14F-4D97-AF65-F5344CB8AC3E}">
        <p14:creationId xmlns:p14="http://schemas.microsoft.com/office/powerpoint/2010/main" val="3990334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ED62-1D4C-686B-8385-DC7FBEEA604C}"/>
            </a:ext>
          </a:extLst>
        </p:cNvPr>
        <p:cNvGrpSpPr/>
        <p:nvPr/>
      </p:nvGrpSpPr>
      <p:grpSpPr>
        <a:xfrm>
          <a:off x="0" y="0"/>
          <a:ext cx="0" cy="0"/>
          <a:chOff x="0" y="0"/>
          <a:chExt cx="0" cy="0"/>
        </a:xfrm>
      </p:grpSpPr>
      <p:cxnSp>
        <p:nvCxnSpPr>
          <p:cNvPr id="17" name="Connecteur droit 16">
            <a:extLst>
              <a:ext uri="{FF2B5EF4-FFF2-40B4-BE49-F238E27FC236}">
                <a16:creationId xmlns:a16="http://schemas.microsoft.com/office/drawing/2014/main" id="{DB4373AC-EFDA-FC92-AB31-EEC6A9BB5BE8}"/>
              </a:ext>
            </a:extLst>
          </p:cNvPr>
          <p:cNvCxnSpPr/>
          <p:nvPr/>
        </p:nvCxnSpPr>
        <p:spPr>
          <a:xfrm>
            <a:off x="0" y="771525"/>
            <a:ext cx="12192000" cy="0"/>
          </a:xfrm>
          <a:prstGeom prst="line">
            <a:avLst/>
          </a:prstGeom>
          <a:ln w="381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6D058712-741E-C32F-ABE8-8981B9865C1B}"/>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bg2">
                    <a:lumMod val="75000"/>
                  </a:schemeClr>
                </a:solidFill>
              </a:rPr>
              <a:t>Polycistonic</a:t>
            </a:r>
            <a:r>
              <a:rPr lang="fr-FR" sz="3100" b="1" dirty="0">
                <a:solidFill>
                  <a:schemeClr val="bg2">
                    <a:lumMod val="75000"/>
                  </a:schemeClr>
                </a:solidFill>
              </a:rPr>
              <a:t> Expression </a:t>
            </a:r>
            <a:r>
              <a:rPr lang="fr-FR" sz="3100" b="1" dirty="0" err="1">
                <a:solidFill>
                  <a:schemeClr val="bg2">
                    <a:lumMod val="75000"/>
                  </a:schemeClr>
                </a:solidFill>
              </a:rPr>
              <a:t>Using</a:t>
            </a:r>
            <a:r>
              <a:rPr lang="fr-FR" sz="3100" b="1" dirty="0">
                <a:solidFill>
                  <a:schemeClr val="bg2">
                    <a:lumMod val="75000"/>
                  </a:schemeClr>
                </a:solidFill>
              </a:rPr>
              <a:t> 2A Peptides</a:t>
            </a:r>
          </a:p>
        </p:txBody>
      </p:sp>
      <p:sp>
        <p:nvSpPr>
          <p:cNvPr id="20" name="Rectangle : coins arrondis 19">
            <a:extLst>
              <a:ext uri="{FF2B5EF4-FFF2-40B4-BE49-F238E27FC236}">
                <a16:creationId xmlns:a16="http://schemas.microsoft.com/office/drawing/2014/main" id="{FA28A46C-AA72-8E7E-5D8E-49B835E17309}"/>
              </a:ext>
            </a:extLst>
          </p:cNvPr>
          <p:cNvSpPr/>
          <p:nvPr/>
        </p:nvSpPr>
        <p:spPr>
          <a:xfrm>
            <a:off x="3229069" y="2251681"/>
            <a:ext cx="5044440" cy="3483430"/>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D2B11722-3C3E-1D91-DF20-EA15B3889D53}"/>
              </a:ext>
            </a:extLst>
          </p:cNvPr>
          <p:cNvSpPr/>
          <p:nvPr/>
        </p:nvSpPr>
        <p:spPr>
          <a:xfrm>
            <a:off x="3026550" y="1972513"/>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6106550C-7BA9-734F-3033-637D8365136D}"/>
              </a:ext>
            </a:extLst>
          </p:cNvPr>
          <p:cNvSpPr/>
          <p:nvPr/>
        </p:nvSpPr>
        <p:spPr>
          <a:xfrm>
            <a:off x="3468968" y="2050167"/>
            <a:ext cx="2297561"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schemeClr val="tx1"/>
                </a:solidFill>
                <a:effectLst/>
                <a:uLnTx/>
                <a:uFillTx/>
                <a:ea typeface="+mn-ea"/>
                <a:cs typeface="+mn-cs"/>
              </a:rPr>
              <a:t>Characteristics</a:t>
            </a:r>
            <a:endParaRPr kumimoji="0" lang="en-US" sz="1600" b="1" i="0" u="none" strike="noStrike" kern="1200" cap="small" spc="0" normalizeH="0" baseline="0" noProof="0" dirty="0">
              <a:ln>
                <a:noFill/>
              </a:ln>
              <a:solidFill>
                <a:schemeClr val="tx1"/>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6E76AC06-6F54-B9CB-90A2-EC16442388CC}"/>
              </a:ext>
            </a:extLst>
          </p:cNvPr>
          <p:cNvSpPr/>
          <p:nvPr/>
        </p:nvSpPr>
        <p:spPr>
          <a:xfrm rot="5400000">
            <a:off x="-358685" y="2607141"/>
            <a:ext cx="3483429" cy="2766060"/>
          </a:xfrm>
          <a:prstGeom prst="round2SameRect">
            <a:avLst>
              <a:gd name="adj1" fmla="val 10809"/>
              <a:gd name="adj2" fmla="val 0"/>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992F1984-ADC4-85A4-5B97-D77D8004D1F8}"/>
              </a:ext>
            </a:extLst>
          </p:cNvPr>
          <p:cNvSpPr/>
          <p:nvPr/>
        </p:nvSpPr>
        <p:spPr>
          <a:xfrm>
            <a:off x="8760710" y="2244424"/>
            <a:ext cx="3063240" cy="1909415"/>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49D0DCA8-8ACE-5096-75AE-4C216A5289C8}"/>
              </a:ext>
            </a:extLst>
          </p:cNvPr>
          <p:cNvSpPr/>
          <p:nvPr/>
        </p:nvSpPr>
        <p:spPr>
          <a:xfrm>
            <a:off x="8558191" y="1965257"/>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D25002B8-F730-544D-8135-25890B4E1811}"/>
              </a:ext>
            </a:extLst>
          </p:cNvPr>
          <p:cNvSpPr/>
          <p:nvPr/>
        </p:nvSpPr>
        <p:spPr>
          <a:xfrm>
            <a:off x="9000609" y="2035590"/>
            <a:ext cx="2297561"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schemeClr val="tx1"/>
                </a:solidFill>
                <a:effectLst/>
                <a:uLnTx/>
                <a:uFillTx/>
                <a:ea typeface="+mn-ea"/>
                <a:cs typeface="+mn-cs"/>
              </a:rPr>
              <a:t>Applications’ areas</a:t>
            </a:r>
            <a:endParaRPr kumimoji="0" lang="en-US" sz="1600" b="1" i="0" u="none" strike="noStrike" kern="1200" cap="small" spc="0" normalizeH="0" baseline="0" noProof="0" dirty="0">
              <a:ln>
                <a:noFill/>
              </a:ln>
              <a:solidFill>
                <a:schemeClr val="tx1"/>
              </a:solidFill>
              <a:effectLst/>
              <a:uLnTx/>
              <a:uFillTx/>
              <a:ea typeface="+mn-ea"/>
              <a:cs typeface="+mn-cs"/>
            </a:endParaRPr>
          </a:p>
        </p:txBody>
      </p:sp>
      <p:sp>
        <p:nvSpPr>
          <p:cNvPr id="45" name="Rectangle : coins arrondis 44">
            <a:extLst>
              <a:ext uri="{FF2B5EF4-FFF2-40B4-BE49-F238E27FC236}">
                <a16:creationId xmlns:a16="http://schemas.microsoft.com/office/drawing/2014/main" id="{0BBE2116-4BA0-64B0-8483-468D747EEF82}"/>
              </a:ext>
            </a:extLst>
          </p:cNvPr>
          <p:cNvSpPr/>
          <p:nvPr/>
        </p:nvSpPr>
        <p:spPr>
          <a:xfrm>
            <a:off x="8760710" y="4659574"/>
            <a:ext cx="3063240" cy="1848827"/>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6" name="Ellipse 45">
            <a:extLst>
              <a:ext uri="{FF2B5EF4-FFF2-40B4-BE49-F238E27FC236}">
                <a16:creationId xmlns:a16="http://schemas.microsoft.com/office/drawing/2014/main" id="{5E3851EE-A264-3854-5DC2-65F16AE27BD5}"/>
              </a:ext>
            </a:extLst>
          </p:cNvPr>
          <p:cNvSpPr/>
          <p:nvPr/>
        </p:nvSpPr>
        <p:spPr>
          <a:xfrm>
            <a:off x="8558191" y="4380407"/>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7" name="Rectangle : coins arrondis 46">
            <a:extLst>
              <a:ext uri="{FF2B5EF4-FFF2-40B4-BE49-F238E27FC236}">
                <a16:creationId xmlns:a16="http://schemas.microsoft.com/office/drawing/2014/main" id="{CF43F1DE-F300-E71C-1CB9-52A32CB30170}"/>
              </a:ext>
            </a:extLst>
          </p:cNvPr>
          <p:cNvSpPr/>
          <p:nvPr/>
        </p:nvSpPr>
        <p:spPr>
          <a:xfrm>
            <a:off x="9000609" y="4450740"/>
            <a:ext cx="2297561"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schemeClr val="tx1"/>
                </a:solidFill>
                <a:effectLst/>
                <a:uLnTx/>
                <a:uFillTx/>
                <a:ea typeface="+mn-ea"/>
                <a:cs typeface="+mn-cs"/>
              </a:rPr>
              <a:t>Target </a:t>
            </a:r>
            <a:r>
              <a:rPr kumimoji="0" lang="fr-FR" sz="1600" b="1" i="0" u="none" strike="noStrike" kern="1200" cap="small" spc="0" normalizeH="0" baseline="0" noProof="0" dirty="0" err="1">
                <a:ln>
                  <a:noFill/>
                </a:ln>
                <a:solidFill>
                  <a:schemeClr val="tx1"/>
                </a:solidFill>
                <a:effectLst/>
                <a:uLnTx/>
                <a:uFillTx/>
                <a:ea typeface="+mn-ea"/>
                <a:cs typeface="+mn-cs"/>
              </a:rPr>
              <a:t>Organisms</a:t>
            </a:r>
            <a:endParaRPr kumimoji="0" lang="en-US" sz="1600" b="1" i="0" u="none" strike="noStrike" kern="1200" cap="small" spc="0" normalizeH="0" baseline="0" noProof="0" dirty="0">
              <a:ln>
                <a:noFill/>
              </a:ln>
              <a:solidFill>
                <a:schemeClr val="tx1"/>
              </a:solidFill>
              <a:effectLst/>
              <a:uLnTx/>
              <a:uFillTx/>
              <a:ea typeface="+mn-ea"/>
              <a:cs typeface="+mn-cs"/>
            </a:endParaRPr>
          </a:p>
        </p:txBody>
      </p:sp>
      <p:grpSp>
        <p:nvGrpSpPr>
          <p:cNvPr id="3" name="Groupe 2">
            <a:extLst>
              <a:ext uri="{FF2B5EF4-FFF2-40B4-BE49-F238E27FC236}">
                <a16:creationId xmlns:a16="http://schemas.microsoft.com/office/drawing/2014/main" id="{C64593A1-87FE-D029-E7B7-ED45BC728AD5}"/>
              </a:ext>
            </a:extLst>
          </p:cNvPr>
          <p:cNvGrpSpPr/>
          <p:nvPr/>
        </p:nvGrpSpPr>
        <p:grpSpPr>
          <a:xfrm>
            <a:off x="71514" y="2316811"/>
            <a:ext cx="2632872" cy="720000"/>
            <a:chOff x="71514" y="2316811"/>
            <a:chExt cx="2632872" cy="720000"/>
          </a:xfrm>
        </p:grpSpPr>
        <p:sp>
          <p:nvSpPr>
            <p:cNvPr id="4" name="ZoneTexte 3">
              <a:extLst>
                <a:ext uri="{FF2B5EF4-FFF2-40B4-BE49-F238E27FC236}">
                  <a16:creationId xmlns:a16="http://schemas.microsoft.com/office/drawing/2014/main" id="{A64944B2-500D-CE7F-8C15-7F0973DDA20B}"/>
                </a:ext>
              </a:extLst>
            </p:cNvPr>
            <p:cNvSpPr txBox="1"/>
            <p:nvPr/>
          </p:nvSpPr>
          <p:spPr>
            <a:xfrm>
              <a:off x="839954" y="2353646"/>
              <a:ext cx="1864432" cy="276999"/>
            </a:xfrm>
            <a:prstGeom prst="rect">
              <a:avLst/>
            </a:prstGeom>
            <a:noFill/>
          </p:spPr>
          <p:txBody>
            <a:bodyPr wrap="square" rtlCol="0">
              <a:spAutoFit/>
            </a:bodyPr>
            <a:lstStyle/>
            <a:p>
              <a:pPr algn="just"/>
              <a:r>
                <a:rPr lang="en-US" sz="1200" dirty="0"/>
                <a:t>…</a:t>
              </a:r>
              <a:endParaRPr lang="fr-FR" b="1" dirty="0"/>
            </a:p>
          </p:txBody>
        </p:sp>
        <p:pic>
          <p:nvPicPr>
            <p:cNvPr id="5" name="Image 4">
              <a:extLst>
                <a:ext uri="{FF2B5EF4-FFF2-40B4-BE49-F238E27FC236}">
                  <a16:creationId xmlns:a16="http://schemas.microsoft.com/office/drawing/2014/main" id="{89A522FC-609D-132C-DC32-91BDF5DDEECD}"/>
                </a:ext>
              </a:extLst>
            </p:cNvPr>
            <p:cNvPicPr>
              <a:picLocks noChangeAspect="1"/>
            </p:cNvPicPr>
            <p:nvPr/>
          </p:nvPicPr>
          <p:blipFill>
            <a:blip r:embed="rId2"/>
            <a:stretch>
              <a:fillRect/>
            </a:stretch>
          </p:blipFill>
          <p:spPr>
            <a:xfrm>
              <a:off x="71514" y="2316811"/>
              <a:ext cx="720000" cy="720000"/>
            </a:xfrm>
            <a:prstGeom prst="rect">
              <a:avLst/>
            </a:prstGeom>
          </p:spPr>
        </p:pic>
      </p:grpSp>
      <p:grpSp>
        <p:nvGrpSpPr>
          <p:cNvPr id="19" name="Groupe 18">
            <a:extLst>
              <a:ext uri="{FF2B5EF4-FFF2-40B4-BE49-F238E27FC236}">
                <a16:creationId xmlns:a16="http://schemas.microsoft.com/office/drawing/2014/main" id="{B56EC44C-7ADA-A446-3E77-54F3373F29EA}"/>
              </a:ext>
            </a:extLst>
          </p:cNvPr>
          <p:cNvGrpSpPr/>
          <p:nvPr/>
        </p:nvGrpSpPr>
        <p:grpSpPr>
          <a:xfrm>
            <a:off x="74170" y="3308528"/>
            <a:ext cx="2630216" cy="974823"/>
            <a:chOff x="74170" y="3340479"/>
            <a:chExt cx="2630216" cy="974823"/>
          </a:xfrm>
        </p:grpSpPr>
        <p:sp>
          <p:nvSpPr>
            <p:cNvPr id="23" name="ZoneTexte 22">
              <a:extLst>
                <a:ext uri="{FF2B5EF4-FFF2-40B4-BE49-F238E27FC236}">
                  <a16:creationId xmlns:a16="http://schemas.microsoft.com/office/drawing/2014/main" id="{5D386B54-2193-7E15-6AFF-EA0A04D05677}"/>
                </a:ext>
              </a:extLst>
            </p:cNvPr>
            <p:cNvSpPr txBox="1"/>
            <p:nvPr/>
          </p:nvSpPr>
          <p:spPr>
            <a:xfrm>
              <a:off x="839954" y="3484305"/>
              <a:ext cx="1864432" cy="830997"/>
            </a:xfrm>
            <a:prstGeom prst="rect">
              <a:avLst/>
            </a:prstGeom>
            <a:noFill/>
          </p:spPr>
          <p:txBody>
            <a:bodyPr wrap="square">
              <a:spAutoFit/>
            </a:bodyPr>
            <a:lstStyle/>
            <a:p>
              <a:pPr algn="just"/>
              <a:r>
                <a:rPr lang="en-US" sz="1200" b="0" i="0" u="none" strike="noStrike" baseline="0" dirty="0"/>
                <a:t>Allows more than 1 modification and the separation of two proteins.</a:t>
              </a:r>
              <a:endParaRPr lang="en-US" sz="1200" b="1" dirty="0"/>
            </a:p>
          </p:txBody>
        </p:sp>
        <p:pic>
          <p:nvPicPr>
            <p:cNvPr id="24" name="Image 23">
              <a:extLst>
                <a:ext uri="{FF2B5EF4-FFF2-40B4-BE49-F238E27FC236}">
                  <a16:creationId xmlns:a16="http://schemas.microsoft.com/office/drawing/2014/main" id="{F3348ED9-4661-0A6C-B70F-04AB426E9484}"/>
                </a:ext>
              </a:extLst>
            </p:cNvPr>
            <p:cNvPicPr>
              <a:picLocks noChangeAspect="1"/>
            </p:cNvPicPr>
            <p:nvPr/>
          </p:nvPicPr>
          <p:blipFill>
            <a:blip r:embed="rId3"/>
            <a:stretch>
              <a:fillRect/>
            </a:stretch>
          </p:blipFill>
          <p:spPr>
            <a:xfrm>
              <a:off x="74170" y="3340479"/>
              <a:ext cx="720000" cy="720000"/>
            </a:xfrm>
            <a:prstGeom prst="rect">
              <a:avLst/>
            </a:prstGeom>
          </p:spPr>
        </p:pic>
      </p:grpSp>
      <p:grpSp>
        <p:nvGrpSpPr>
          <p:cNvPr id="30" name="Groupe 29">
            <a:extLst>
              <a:ext uri="{FF2B5EF4-FFF2-40B4-BE49-F238E27FC236}">
                <a16:creationId xmlns:a16="http://schemas.microsoft.com/office/drawing/2014/main" id="{98EBD562-D033-3107-50E4-BAABB756224C}"/>
              </a:ext>
            </a:extLst>
          </p:cNvPr>
          <p:cNvGrpSpPr/>
          <p:nvPr/>
        </p:nvGrpSpPr>
        <p:grpSpPr>
          <a:xfrm>
            <a:off x="71514" y="4300246"/>
            <a:ext cx="2694546" cy="1052497"/>
            <a:chOff x="71514" y="4300246"/>
            <a:chExt cx="2694546" cy="1052497"/>
          </a:xfrm>
        </p:grpSpPr>
        <p:pic>
          <p:nvPicPr>
            <p:cNvPr id="34" name="Image 33">
              <a:extLst>
                <a:ext uri="{FF2B5EF4-FFF2-40B4-BE49-F238E27FC236}">
                  <a16:creationId xmlns:a16="http://schemas.microsoft.com/office/drawing/2014/main" id="{16F49954-5197-67A3-720F-FBA3B3E3B363}"/>
                </a:ext>
              </a:extLst>
            </p:cNvPr>
            <p:cNvPicPr>
              <a:picLocks noChangeAspect="1"/>
            </p:cNvPicPr>
            <p:nvPr/>
          </p:nvPicPr>
          <p:blipFill>
            <a:blip r:embed="rId4"/>
            <a:stretch>
              <a:fillRect/>
            </a:stretch>
          </p:blipFill>
          <p:spPr>
            <a:xfrm>
              <a:off x="71514" y="4632743"/>
              <a:ext cx="720000" cy="720000"/>
            </a:xfrm>
            <a:prstGeom prst="rect">
              <a:avLst/>
            </a:prstGeom>
          </p:spPr>
        </p:pic>
        <p:sp>
          <p:nvSpPr>
            <p:cNvPr id="35" name="ZoneTexte 34">
              <a:extLst>
                <a:ext uri="{FF2B5EF4-FFF2-40B4-BE49-F238E27FC236}">
                  <a16:creationId xmlns:a16="http://schemas.microsoft.com/office/drawing/2014/main" id="{52B075FA-DA5B-8337-121A-60B788E680E4}"/>
                </a:ext>
              </a:extLst>
            </p:cNvPr>
            <p:cNvSpPr txBox="1"/>
            <p:nvPr/>
          </p:nvSpPr>
          <p:spPr>
            <a:xfrm>
              <a:off x="791514" y="4300246"/>
              <a:ext cx="1974546" cy="276999"/>
            </a:xfrm>
            <a:prstGeom prst="rect">
              <a:avLst/>
            </a:prstGeom>
            <a:noFill/>
          </p:spPr>
          <p:txBody>
            <a:bodyPr wrap="square">
              <a:spAutoFit/>
            </a:bodyPr>
            <a:lstStyle/>
            <a:p>
              <a:pPr algn="just"/>
              <a:r>
                <a:rPr lang="en-US" sz="1200" b="0" i="0" u="none" strike="noStrike" baseline="0" dirty="0"/>
                <a:t>-</a:t>
              </a:r>
              <a:endParaRPr lang="fr-FR" sz="1200" dirty="0"/>
            </a:p>
          </p:txBody>
        </p:sp>
      </p:grpSp>
      <p:pic>
        <p:nvPicPr>
          <p:cNvPr id="36" name="Image 35" descr="Une image contenant symbole, cercle, Graphique, conception&#10;&#10;Description générée automatiquement">
            <a:extLst>
              <a:ext uri="{FF2B5EF4-FFF2-40B4-BE49-F238E27FC236}">
                <a16:creationId xmlns:a16="http://schemas.microsoft.com/office/drawing/2014/main" id="{78C24667-1894-E544-0779-023BF5D3CFB2}"/>
              </a:ext>
            </a:extLst>
          </p:cNvPr>
          <p:cNvPicPr>
            <a:picLocks noChangeAspect="1"/>
          </p:cNvPicPr>
          <p:nvPr/>
        </p:nvPicPr>
        <p:blipFill>
          <a:blip r:embed="rId5"/>
          <a:stretch>
            <a:fillRect/>
          </a:stretch>
        </p:blipFill>
        <p:spPr>
          <a:xfrm>
            <a:off x="3084375" y="2029268"/>
            <a:ext cx="468000" cy="468000"/>
          </a:xfrm>
          <a:prstGeom prst="rect">
            <a:avLst/>
          </a:prstGeom>
          <a:noFill/>
        </p:spPr>
      </p:pic>
      <p:pic>
        <p:nvPicPr>
          <p:cNvPr id="39" name="Image 38" descr="Une image contenant symbole, Police, Graphique, logo&#10;&#10;Description générée automatiquement">
            <a:extLst>
              <a:ext uri="{FF2B5EF4-FFF2-40B4-BE49-F238E27FC236}">
                <a16:creationId xmlns:a16="http://schemas.microsoft.com/office/drawing/2014/main" id="{FEAEBB77-5071-A2CE-98DE-319EC16A811E}"/>
              </a:ext>
            </a:extLst>
          </p:cNvPr>
          <p:cNvPicPr>
            <a:picLocks noChangeAspect="1"/>
          </p:cNvPicPr>
          <p:nvPr/>
        </p:nvPicPr>
        <p:blipFill>
          <a:blip r:embed="rId6"/>
          <a:stretch>
            <a:fillRect/>
          </a:stretch>
        </p:blipFill>
        <p:spPr>
          <a:xfrm>
            <a:off x="8594191" y="2003382"/>
            <a:ext cx="468000" cy="468000"/>
          </a:xfrm>
          <a:prstGeom prst="rect">
            <a:avLst/>
          </a:prstGeom>
        </p:spPr>
      </p:pic>
      <p:pic>
        <p:nvPicPr>
          <p:cNvPr id="42" name="Image 41" descr="Une image contenant cercle, Graphique, Police, symbole&#10;&#10;Description générée automatiquement">
            <a:extLst>
              <a:ext uri="{FF2B5EF4-FFF2-40B4-BE49-F238E27FC236}">
                <a16:creationId xmlns:a16="http://schemas.microsoft.com/office/drawing/2014/main" id="{1940FD01-2D0E-9D46-8788-D070407A69DC}"/>
              </a:ext>
            </a:extLst>
          </p:cNvPr>
          <p:cNvPicPr>
            <a:picLocks noChangeAspect="1"/>
          </p:cNvPicPr>
          <p:nvPr/>
        </p:nvPicPr>
        <p:blipFill>
          <a:blip r:embed="rId7"/>
          <a:stretch>
            <a:fillRect/>
          </a:stretch>
        </p:blipFill>
        <p:spPr>
          <a:xfrm>
            <a:off x="8632027" y="4417584"/>
            <a:ext cx="468000" cy="468000"/>
          </a:xfrm>
          <a:prstGeom prst="rect">
            <a:avLst/>
          </a:prstGeom>
        </p:spPr>
      </p:pic>
      <p:sp>
        <p:nvSpPr>
          <p:cNvPr id="6" name="ZoneTexte 5">
            <a:extLst>
              <a:ext uri="{FF2B5EF4-FFF2-40B4-BE49-F238E27FC236}">
                <a16:creationId xmlns:a16="http://schemas.microsoft.com/office/drawing/2014/main" id="{409439C4-09AB-47CE-CBDD-4B45E595215C}"/>
              </a:ext>
            </a:extLst>
          </p:cNvPr>
          <p:cNvSpPr txBox="1"/>
          <p:nvPr/>
        </p:nvSpPr>
        <p:spPr>
          <a:xfrm>
            <a:off x="3552375" y="2676811"/>
            <a:ext cx="4265011" cy="2031325"/>
          </a:xfrm>
          <a:prstGeom prst="rect">
            <a:avLst/>
          </a:prstGeom>
          <a:noFill/>
        </p:spPr>
        <p:txBody>
          <a:bodyPr wrap="square">
            <a:spAutoFit/>
          </a:bodyPr>
          <a:lstStyle/>
          <a:p>
            <a:pPr marL="285750" indent="-285750" algn="just">
              <a:buFont typeface="Wingdings" panose="05000000000000000000" pitchFamily="2" charset="2"/>
              <a:buChar char="Ø"/>
            </a:pPr>
            <a:r>
              <a:rPr lang="en-US" sz="1400" dirty="0">
                <a:solidFill>
                  <a:sysClr val="windowText" lastClr="000000"/>
                </a:solidFill>
              </a:rPr>
              <a:t>It uses self-cleaving 2A peptides.</a:t>
            </a:r>
            <a:endParaRPr lang="fr-FR" sz="1400" dirty="0">
              <a:solidFill>
                <a:sysClr val="windowText" lastClr="000000"/>
              </a:solidFill>
            </a:endParaRPr>
          </a:p>
          <a:p>
            <a:pPr marL="285750" indent="-285750" algn="just">
              <a:buFont typeface="Wingdings" panose="05000000000000000000" pitchFamily="2" charset="2"/>
              <a:buChar char="Ø"/>
            </a:pPr>
            <a:r>
              <a:rPr lang="en-US" sz="1400" dirty="0">
                <a:solidFill>
                  <a:sysClr val="windowText" lastClr="000000"/>
                </a:solidFill>
              </a:rPr>
              <a:t>It can be used between protein encoding regions of two transgenic proteins.</a:t>
            </a:r>
            <a:endParaRPr lang="fr-FR" sz="1400" dirty="0">
              <a:solidFill>
                <a:sysClr val="windowText" lastClr="000000"/>
              </a:solidFill>
            </a:endParaRPr>
          </a:p>
          <a:p>
            <a:pPr marL="285750" indent="-285750" algn="just">
              <a:buFont typeface="Wingdings" panose="05000000000000000000" pitchFamily="2" charset="2"/>
              <a:buChar char="Ø"/>
            </a:pPr>
            <a:r>
              <a:rPr lang="en-US" sz="1400" b="0" i="0" u="none" strike="noStrike" baseline="0" dirty="0"/>
              <a:t>The 2A peptide is 60 bp long (20 amino acids) and is cloned between the two genes of interest, resulting in the synthesis of single mRNA transcript under the control of a single promoter.</a:t>
            </a:r>
          </a:p>
          <a:p>
            <a:pPr marL="285750" indent="-285750" algn="just">
              <a:buFont typeface="Wingdings" panose="05000000000000000000" pitchFamily="2" charset="2"/>
              <a:buChar char="Ø"/>
            </a:pPr>
            <a:r>
              <a:rPr lang="fr-FR" sz="1400" dirty="0">
                <a:solidFill>
                  <a:sysClr val="windowText" lastClr="000000"/>
                </a:solidFill>
              </a:rPr>
              <a:t>The </a:t>
            </a:r>
            <a:r>
              <a:rPr lang="fr-FR" sz="1400" dirty="0" err="1">
                <a:solidFill>
                  <a:sysClr val="windowText" lastClr="000000"/>
                </a:solidFill>
              </a:rPr>
              <a:t>cleavage</a:t>
            </a:r>
            <a:r>
              <a:rPr lang="fr-FR" sz="1400" dirty="0">
                <a:solidFill>
                  <a:sysClr val="windowText" lastClr="000000"/>
                </a:solidFill>
              </a:rPr>
              <a:t> </a:t>
            </a:r>
            <a:r>
              <a:rPr lang="fr-FR" sz="1400" dirty="0" err="1">
                <a:solidFill>
                  <a:sysClr val="windowText" lastClr="000000"/>
                </a:solidFill>
              </a:rPr>
              <a:t>occurs</a:t>
            </a:r>
            <a:r>
              <a:rPr lang="fr-FR" sz="1400" dirty="0">
                <a:solidFill>
                  <a:sysClr val="windowText" lastClr="000000"/>
                </a:solidFill>
              </a:rPr>
              <a:t> at the C-</a:t>
            </a:r>
            <a:r>
              <a:rPr lang="fr-FR" sz="1400" dirty="0" err="1">
                <a:solidFill>
                  <a:sysClr val="windowText" lastClr="000000"/>
                </a:solidFill>
              </a:rPr>
              <a:t>term</a:t>
            </a:r>
            <a:r>
              <a:rPr lang="fr-FR" sz="1400" dirty="0">
                <a:solidFill>
                  <a:sysClr val="windowText" lastClr="000000"/>
                </a:solidFill>
              </a:rPr>
              <a:t> </a:t>
            </a:r>
            <a:r>
              <a:rPr lang="fr-FR" sz="1400" dirty="0" err="1">
                <a:solidFill>
                  <a:sysClr val="windowText" lastClr="000000"/>
                </a:solidFill>
              </a:rPr>
              <a:t>during</a:t>
            </a:r>
            <a:r>
              <a:rPr lang="fr-FR" sz="1400" dirty="0">
                <a:solidFill>
                  <a:sysClr val="windowText" lastClr="000000"/>
                </a:solidFill>
              </a:rPr>
              <a:t> translation </a:t>
            </a:r>
            <a:r>
              <a:rPr lang="fr-FR" sz="1400" dirty="0" err="1">
                <a:solidFill>
                  <a:sysClr val="windowText" lastClr="000000"/>
                </a:solidFill>
              </a:rPr>
              <a:t>without</a:t>
            </a:r>
            <a:r>
              <a:rPr lang="fr-FR" sz="1400" dirty="0">
                <a:solidFill>
                  <a:sysClr val="windowText" lastClr="000000"/>
                </a:solidFill>
              </a:rPr>
              <a:t> enzyme</a:t>
            </a:r>
          </a:p>
        </p:txBody>
      </p:sp>
      <p:grpSp>
        <p:nvGrpSpPr>
          <p:cNvPr id="2" name="Groupe 1">
            <a:extLst>
              <a:ext uri="{FF2B5EF4-FFF2-40B4-BE49-F238E27FC236}">
                <a16:creationId xmlns:a16="http://schemas.microsoft.com/office/drawing/2014/main" id="{202E332E-68DF-1567-CCE0-C68FF134D52C}"/>
              </a:ext>
            </a:extLst>
          </p:cNvPr>
          <p:cNvGrpSpPr/>
          <p:nvPr/>
        </p:nvGrpSpPr>
        <p:grpSpPr>
          <a:xfrm>
            <a:off x="645225" y="945343"/>
            <a:ext cx="10937024" cy="565150"/>
            <a:chOff x="645225" y="945343"/>
            <a:chExt cx="10937024" cy="565150"/>
          </a:xfrm>
        </p:grpSpPr>
        <p:sp>
          <p:nvSpPr>
            <p:cNvPr id="7" name="Ellipse 6">
              <a:extLst>
                <a:ext uri="{FF2B5EF4-FFF2-40B4-BE49-F238E27FC236}">
                  <a16:creationId xmlns:a16="http://schemas.microsoft.com/office/drawing/2014/main" id="{073F1B4C-BF1C-CCDB-7B38-7F3EEBBE2944}"/>
                </a:ext>
              </a:extLst>
            </p:cNvPr>
            <p:cNvSpPr/>
            <p:nvPr/>
          </p:nvSpPr>
          <p:spPr>
            <a:xfrm>
              <a:off x="645225" y="1114035"/>
              <a:ext cx="227767" cy="22776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9">
              <a:extLst>
                <a:ext uri="{FF2B5EF4-FFF2-40B4-BE49-F238E27FC236}">
                  <a16:creationId xmlns:a16="http://schemas.microsoft.com/office/drawing/2014/main" id="{4D44469F-FD8B-A91F-88E9-BD7BC826D42A}"/>
                </a:ext>
              </a:extLst>
            </p:cNvPr>
            <p:cNvSpPr txBox="1">
              <a:spLocks/>
            </p:cNvSpPr>
            <p:nvPr/>
          </p:nvSpPr>
          <p:spPr>
            <a:xfrm>
              <a:off x="933449" y="945343"/>
              <a:ext cx="10648800" cy="565150"/>
            </a:xfrm>
            <a:prstGeom prst="rect">
              <a:avLst/>
            </a:prstGeom>
          </p:spPr>
          <p:txBody>
            <a:bodyPr/>
            <a:lstStyle>
              <a:lvl1pPr marL="0" indent="0" algn="l" defTabSz="914400" rtl="0" eaLnBrk="1" latinLnBrk="0" hangingPunct="1">
                <a:lnSpc>
                  <a:spcPct val="90000"/>
                </a:lnSpc>
                <a:spcBef>
                  <a:spcPts val="1000"/>
                </a:spcBef>
                <a:buFontTx/>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Key message</a:t>
              </a:r>
            </a:p>
          </p:txBody>
        </p:sp>
      </p:grpSp>
    </p:spTree>
    <p:extLst>
      <p:ext uri="{BB962C8B-B14F-4D97-AF65-F5344CB8AC3E}">
        <p14:creationId xmlns:p14="http://schemas.microsoft.com/office/powerpoint/2010/main" val="16242555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A2452-A8CC-3605-DB9C-8130BDE89B33}"/>
            </a:ext>
          </a:extLst>
        </p:cNvPr>
        <p:cNvGrpSpPr/>
        <p:nvPr/>
      </p:nvGrpSpPr>
      <p:grpSpPr>
        <a:xfrm>
          <a:off x="0" y="0"/>
          <a:ext cx="0" cy="0"/>
          <a:chOff x="0" y="0"/>
          <a:chExt cx="0" cy="0"/>
        </a:xfrm>
      </p:grpSpPr>
      <p:sp>
        <p:nvSpPr>
          <p:cNvPr id="20" name="Rectangle : coins arrondis 19">
            <a:extLst>
              <a:ext uri="{FF2B5EF4-FFF2-40B4-BE49-F238E27FC236}">
                <a16:creationId xmlns:a16="http://schemas.microsoft.com/office/drawing/2014/main" id="{2CFA0392-FAAD-4BB5-41ED-1851FD3A1F5D}"/>
              </a:ext>
            </a:extLst>
          </p:cNvPr>
          <p:cNvSpPr/>
          <p:nvPr/>
        </p:nvSpPr>
        <p:spPr>
          <a:xfrm>
            <a:off x="371100" y="1364427"/>
            <a:ext cx="8635047" cy="1311072"/>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1" name="Ellipse 20">
            <a:extLst>
              <a:ext uri="{FF2B5EF4-FFF2-40B4-BE49-F238E27FC236}">
                <a16:creationId xmlns:a16="http://schemas.microsoft.com/office/drawing/2014/main" id="{7EEE9F24-81E7-49BF-A108-125ACDE2BEC9}"/>
              </a:ext>
            </a:extLst>
          </p:cNvPr>
          <p:cNvSpPr/>
          <p:nvPr/>
        </p:nvSpPr>
        <p:spPr>
          <a:xfrm>
            <a:off x="300401" y="1186511"/>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2" name="Rectangle : coins arrondis 21">
            <a:extLst>
              <a:ext uri="{FF2B5EF4-FFF2-40B4-BE49-F238E27FC236}">
                <a16:creationId xmlns:a16="http://schemas.microsoft.com/office/drawing/2014/main" id="{65AD9541-908F-412B-50E0-E16E27B5AA6C}"/>
              </a:ext>
            </a:extLst>
          </p:cNvPr>
          <p:cNvSpPr/>
          <p:nvPr/>
        </p:nvSpPr>
        <p:spPr>
          <a:xfrm>
            <a:off x="742819" y="1264165"/>
            <a:ext cx="3415295"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a:ln>
                  <a:noFill/>
                </a:ln>
                <a:solidFill>
                  <a:prstClr val="white"/>
                </a:solidFill>
                <a:effectLst/>
                <a:uLnTx/>
                <a:uFillTx/>
                <a:ea typeface="+mn-ea"/>
                <a:cs typeface="+mn-cs"/>
              </a:rPr>
              <a:t>Positive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5" name="Rectangle : avec coins arrondis en haut 24">
            <a:extLst>
              <a:ext uri="{FF2B5EF4-FFF2-40B4-BE49-F238E27FC236}">
                <a16:creationId xmlns:a16="http://schemas.microsoft.com/office/drawing/2014/main" id="{3DC8B21F-E98D-91F3-256A-F06AD6DB94C9}"/>
              </a:ext>
            </a:extLst>
          </p:cNvPr>
          <p:cNvSpPr/>
          <p:nvPr/>
        </p:nvSpPr>
        <p:spPr>
          <a:xfrm rot="16200000">
            <a:off x="9878641" y="784232"/>
            <a:ext cx="1860661" cy="2766060"/>
          </a:xfrm>
          <a:prstGeom prst="round2SameRect">
            <a:avLst>
              <a:gd name="adj1" fmla="val 10809"/>
              <a:gd name="adj2" fmla="val 0"/>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6" name="Rectangle : coins arrondis 25">
            <a:extLst>
              <a:ext uri="{FF2B5EF4-FFF2-40B4-BE49-F238E27FC236}">
                <a16:creationId xmlns:a16="http://schemas.microsoft.com/office/drawing/2014/main" id="{ED4BB83F-BE5D-BAE2-3A57-71F6688A118F}"/>
              </a:ext>
            </a:extLst>
          </p:cNvPr>
          <p:cNvSpPr/>
          <p:nvPr/>
        </p:nvSpPr>
        <p:spPr>
          <a:xfrm>
            <a:off x="502920" y="3166425"/>
            <a:ext cx="8508400" cy="1480243"/>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7" name="Ellipse 26">
            <a:extLst>
              <a:ext uri="{FF2B5EF4-FFF2-40B4-BE49-F238E27FC236}">
                <a16:creationId xmlns:a16="http://schemas.microsoft.com/office/drawing/2014/main" id="{A19765AF-137F-749F-86CD-E40F7ED7783D}"/>
              </a:ext>
            </a:extLst>
          </p:cNvPr>
          <p:cNvSpPr/>
          <p:nvPr/>
        </p:nvSpPr>
        <p:spPr>
          <a:xfrm>
            <a:off x="300401" y="2887258"/>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28" name="Rectangle : coins arrondis 27">
            <a:extLst>
              <a:ext uri="{FF2B5EF4-FFF2-40B4-BE49-F238E27FC236}">
                <a16:creationId xmlns:a16="http://schemas.microsoft.com/office/drawing/2014/main" id="{C5AAD5DA-5E04-106E-5639-3F65CE1C7B40}"/>
              </a:ext>
            </a:extLst>
          </p:cNvPr>
          <p:cNvSpPr/>
          <p:nvPr/>
        </p:nvSpPr>
        <p:spPr>
          <a:xfrm>
            <a:off x="742819" y="2957591"/>
            <a:ext cx="3415295"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Negative</a:t>
            </a:r>
            <a:r>
              <a:rPr kumimoji="0" lang="fr-FR" sz="1600" b="1" i="0" u="none" strike="noStrike" kern="1200" cap="small" spc="0" normalizeH="0" baseline="0" noProof="0" dirty="0">
                <a:ln>
                  <a:noFill/>
                </a:ln>
                <a:solidFill>
                  <a:prstClr val="white"/>
                </a:solidFill>
                <a:effectLst/>
                <a:uLnTx/>
                <a:uFillTx/>
                <a:ea typeface="+mn-ea"/>
                <a:cs typeface="+mn-cs"/>
              </a:rPr>
              <a:t> points</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41" name="Rectangle : coins arrondis 40">
            <a:extLst>
              <a:ext uri="{FF2B5EF4-FFF2-40B4-BE49-F238E27FC236}">
                <a16:creationId xmlns:a16="http://schemas.microsoft.com/office/drawing/2014/main" id="{94800E09-E175-FCAD-18B5-B0E6BA7996CE}"/>
              </a:ext>
            </a:extLst>
          </p:cNvPr>
          <p:cNvSpPr/>
          <p:nvPr/>
        </p:nvSpPr>
        <p:spPr>
          <a:xfrm>
            <a:off x="502919" y="5221998"/>
            <a:ext cx="8503229" cy="1480243"/>
          </a:xfrm>
          <a:prstGeom prst="round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2" name="Ellipse 41">
            <a:extLst>
              <a:ext uri="{FF2B5EF4-FFF2-40B4-BE49-F238E27FC236}">
                <a16:creationId xmlns:a16="http://schemas.microsoft.com/office/drawing/2014/main" id="{968CF06B-A662-7F78-1695-FC2B397F04C9}"/>
              </a:ext>
            </a:extLst>
          </p:cNvPr>
          <p:cNvSpPr/>
          <p:nvPr/>
        </p:nvSpPr>
        <p:spPr>
          <a:xfrm>
            <a:off x="300401" y="4915661"/>
            <a:ext cx="576000" cy="576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43" name="Rectangle : coins arrondis 42">
            <a:extLst>
              <a:ext uri="{FF2B5EF4-FFF2-40B4-BE49-F238E27FC236}">
                <a16:creationId xmlns:a16="http://schemas.microsoft.com/office/drawing/2014/main" id="{69D1C75B-B486-0B2D-7437-93D429C411B4}"/>
              </a:ext>
            </a:extLst>
          </p:cNvPr>
          <p:cNvSpPr/>
          <p:nvPr/>
        </p:nvSpPr>
        <p:spPr>
          <a:xfrm>
            <a:off x="742819" y="4985994"/>
            <a:ext cx="3415295" cy="425732"/>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small" spc="0" normalizeH="0" baseline="0" noProof="0" dirty="0" err="1">
                <a:ln>
                  <a:noFill/>
                </a:ln>
                <a:solidFill>
                  <a:prstClr val="white"/>
                </a:solidFill>
                <a:effectLst/>
                <a:uLnTx/>
                <a:uFillTx/>
                <a:ea typeface="+mn-ea"/>
                <a:cs typeface="+mn-cs"/>
              </a:rPr>
              <a:t>Improvement</a:t>
            </a:r>
            <a:r>
              <a:rPr kumimoji="0" lang="fr-FR" sz="1600" b="1" i="0" u="none" strike="noStrike" kern="1200" cap="small" spc="0" normalizeH="0" baseline="0" noProof="0" dirty="0">
                <a:ln>
                  <a:noFill/>
                </a:ln>
                <a:solidFill>
                  <a:prstClr val="white"/>
                </a:solidFill>
                <a:effectLst/>
                <a:uLnTx/>
                <a:uFillTx/>
                <a:ea typeface="+mn-ea"/>
                <a:cs typeface="+mn-cs"/>
              </a:rPr>
              <a:t> of the </a:t>
            </a:r>
            <a:r>
              <a:rPr kumimoji="0" lang="fr-FR" sz="1600" b="1" i="0" u="none" strike="noStrike" kern="1200" cap="small" spc="0" normalizeH="0" baseline="0" noProof="0" dirty="0" err="1">
                <a:ln>
                  <a:noFill/>
                </a:ln>
                <a:solidFill>
                  <a:prstClr val="white"/>
                </a:solidFill>
                <a:effectLst/>
                <a:uLnTx/>
                <a:uFillTx/>
                <a:ea typeface="+mn-ea"/>
                <a:cs typeface="+mn-cs"/>
              </a:rPr>
              <a:t>technology</a:t>
            </a:r>
            <a:endParaRPr kumimoji="0" lang="en-US" sz="1600" b="1" i="0" u="none" strike="noStrike" kern="1200" cap="small" spc="0" normalizeH="0" baseline="0" noProof="0" dirty="0">
              <a:ln>
                <a:noFill/>
              </a:ln>
              <a:solidFill>
                <a:prstClr val="white"/>
              </a:solidFill>
              <a:effectLst/>
              <a:uLnTx/>
              <a:uFillTx/>
              <a:ea typeface="+mn-ea"/>
              <a:cs typeface="+mn-cs"/>
            </a:endParaRPr>
          </a:p>
        </p:txBody>
      </p:sp>
      <p:sp>
        <p:nvSpPr>
          <p:cNvPr id="2" name="ZoneTexte 1">
            <a:extLst>
              <a:ext uri="{FF2B5EF4-FFF2-40B4-BE49-F238E27FC236}">
                <a16:creationId xmlns:a16="http://schemas.microsoft.com/office/drawing/2014/main" id="{48EF686C-8964-F39C-F284-E9C08A3355D3}"/>
              </a:ext>
            </a:extLst>
          </p:cNvPr>
          <p:cNvSpPr txBox="1"/>
          <p:nvPr/>
        </p:nvSpPr>
        <p:spPr>
          <a:xfrm>
            <a:off x="9420768" y="1420189"/>
            <a:ext cx="2766061" cy="338554"/>
          </a:xfrm>
          <a:prstGeom prst="rect">
            <a:avLst/>
          </a:prstGeom>
          <a:noFill/>
        </p:spPr>
        <p:txBody>
          <a:bodyPr wrap="square">
            <a:spAutoFit/>
          </a:bodyPr>
          <a:lstStyle/>
          <a:p>
            <a:pPr lvl="0" algn="ctr"/>
            <a:r>
              <a:rPr lang="fr-FR" sz="1600" b="1" dirty="0"/>
              <a:t>      </a:t>
            </a:r>
            <a:r>
              <a:rPr lang="fr-FR" sz="1600" b="1" u="sng" dirty="0" err="1"/>
              <a:t>Alcimed’s</a:t>
            </a:r>
            <a:r>
              <a:rPr lang="fr-FR" sz="1600" b="1" u="sng" dirty="0"/>
              <a:t> feeling</a:t>
            </a:r>
          </a:p>
        </p:txBody>
      </p:sp>
      <p:sp>
        <p:nvSpPr>
          <p:cNvPr id="3" name="ZoneTexte 2">
            <a:extLst>
              <a:ext uri="{FF2B5EF4-FFF2-40B4-BE49-F238E27FC236}">
                <a16:creationId xmlns:a16="http://schemas.microsoft.com/office/drawing/2014/main" id="{82FC5DA6-42F8-37B8-8F26-CF52EA859871}"/>
              </a:ext>
            </a:extLst>
          </p:cNvPr>
          <p:cNvSpPr txBox="1"/>
          <p:nvPr/>
        </p:nvSpPr>
        <p:spPr>
          <a:xfrm>
            <a:off x="9498986" y="2004485"/>
            <a:ext cx="1223796" cy="276999"/>
          </a:xfrm>
          <a:prstGeom prst="rect">
            <a:avLst/>
          </a:prstGeom>
          <a:noFill/>
        </p:spPr>
        <p:txBody>
          <a:bodyPr wrap="square" rtlCol="0">
            <a:spAutoFit/>
          </a:bodyPr>
          <a:lstStyle/>
          <a:p>
            <a:r>
              <a:rPr lang="fr-FR" sz="1200" b="1" dirty="0" err="1"/>
              <a:t>Specificity</a:t>
            </a:r>
            <a:endParaRPr lang="fr-FR" sz="1200" b="1" dirty="0"/>
          </a:p>
        </p:txBody>
      </p:sp>
      <p:sp>
        <p:nvSpPr>
          <p:cNvPr id="4" name="ZoneTexte 3">
            <a:extLst>
              <a:ext uri="{FF2B5EF4-FFF2-40B4-BE49-F238E27FC236}">
                <a16:creationId xmlns:a16="http://schemas.microsoft.com/office/drawing/2014/main" id="{CA41F4C5-7418-6E89-8E4E-C2E8FE06DDF2}"/>
              </a:ext>
            </a:extLst>
          </p:cNvPr>
          <p:cNvSpPr txBox="1"/>
          <p:nvPr/>
        </p:nvSpPr>
        <p:spPr>
          <a:xfrm>
            <a:off x="9498986" y="2370481"/>
            <a:ext cx="1585056" cy="276999"/>
          </a:xfrm>
          <a:prstGeom prst="rect">
            <a:avLst/>
          </a:prstGeom>
          <a:noFill/>
        </p:spPr>
        <p:txBody>
          <a:bodyPr wrap="square" rtlCol="0">
            <a:spAutoFit/>
          </a:bodyPr>
          <a:lstStyle/>
          <a:p>
            <a:r>
              <a:rPr lang="fr-FR" sz="1200" b="1" dirty="0"/>
              <a:t>Wide </a:t>
            </a:r>
            <a:r>
              <a:rPr lang="fr-FR" sz="1200" b="1" dirty="0" err="1"/>
              <a:t>applicability</a:t>
            </a:r>
            <a:r>
              <a:rPr lang="fr-FR" sz="1200" b="1" dirty="0"/>
              <a:t> </a:t>
            </a:r>
          </a:p>
        </p:txBody>
      </p:sp>
      <p:sp>
        <p:nvSpPr>
          <p:cNvPr id="5" name="ZoneTexte 4">
            <a:extLst>
              <a:ext uri="{FF2B5EF4-FFF2-40B4-BE49-F238E27FC236}">
                <a16:creationId xmlns:a16="http://schemas.microsoft.com/office/drawing/2014/main" id="{E4A2F8C1-51E7-0E5A-49F8-4019969865BE}"/>
              </a:ext>
            </a:extLst>
          </p:cNvPr>
          <p:cNvSpPr txBox="1"/>
          <p:nvPr/>
        </p:nvSpPr>
        <p:spPr>
          <a:xfrm>
            <a:off x="9498986" y="2742353"/>
            <a:ext cx="1585056" cy="276999"/>
          </a:xfrm>
          <a:prstGeom prst="rect">
            <a:avLst/>
          </a:prstGeom>
          <a:noFill/>
        </p:spPr>
        <p:txBody>
          <a:bodyPr wrap="square" rtlCol="0">
            <a:spAutoFit/>
          </a:bodyPr>
          <a:lstStyle/>
          <a:p>
            <a:r>
              <a:rPr lang="fr-FR" sz="1200" b="1" dirty="0" err="1"/>
              <a:t>Easy</a:t>
            </a:r>
            <a:r>
              <a:rPr lang="fr-FR" sz="1200" b="1" dirty="0"/>
              <a:t> to </a:t>
            </a:r>
            <a:r>
              <a:rPr lang="fr-FR" sz="1200" b="1" dirty="0" err="1"/>
              <a:t>implement</a:t>
            </a:r>
            <a:endParaRPr lang="fr-FR" sz="1200" b="1" dirty="0"/>
          </a:p>
        </p:txBody>
      </p:sp>
      <p:grpSp>
        <p:nvGrpSpPr>
          <p:cNvPr id="19" name="Groupe 18">
            <a:extLst>
              <a:ext uri="{FF2B5EF4-FFF2-40B4-BE49-F238E27FC236}">
                <a16:creationId xmlns:a16="http://schemas.microsoft.com/office/drawing/2014/main" id="{B097A5BC-1EA0-B04E-2BD2-26BC0A6FFE37}"/>
              </a:ext>
            </a:extLst>
          </p:cNvPr>
          <p:cNvGrpSpPr/>
          <p:nvPr/>
        </p:nvGrpSpPr>
        <p:grpSpPr>
          <a:xfrm>
            <a:off x="11205745" y="1993226"/>
            <a:ext cx="857700" cy="252000"/>
            <a:chOff x="1557481" y="4197166"/>
            <a:chExt cx="857700" cy="252000"/>
          </a:xfrm>
        </p:grpSpPr>
        <p:pic>
          <p:nvPicPr>
            <p:cNvPr id="23" name="Image 22">
              <a:extLst>
                <a:ext uri="{FF2B5EF4-FFF2-40B4-BE49-F238E27FC236}">
                  <a16:creationId xmlns:a16="http://schemas.microsoft.com/office/drawing/2014/main" id="{2B4634E4-C019-62CA-064C-2A7CADD50AFC}"/>
                </a:ext>
              </a:extLst>
            </p:cNvPr>
            <p:cNvPicPr>
              <a:picLocks noChangeAspect="1"/>
            </p:cNvPicPr>
            <p:nvPr/>
          </p:nvPicPr>
          <p:blipFill>
            <a:blip r:embed="rId2"/>
            <a:stretch>
              <a:fillRect/>
            </a:stretch>
          </p:blipFill>
          <p:spPr>
            <a:xfrm>
              <a:off x="1557481" y="4197166"/>
              <a:ext cx="252000" cy="252000"/>
            </a:xfrm>
            <a:prstGeom prst="rect">
              <a:avLst/>
            </a:prstGeom>
          </p:spPr>
        </p:pic>
        <p:pic>
          <p:nvPicPr>
            <p:cNvPr id="24" name="Image 23">
              <a:extLst>
                <a:ext uri="{FF2B5EF4-FFF2-40B4-BE49-F238E27FC236}">
                  <a16:creationId xmlns:a16="http://schemas.microsoft.com/office/drawing/2014/main" id="{69844888-92FA-2125-463D-731BD673B30D}"/>
                </a:ext>
              </a:extLst>
            </p:cNvPr>
            <p:cNvPicPr>
              <a:picLocks noChangeAspect="1"/>
            </p:cNvPicPr>
            <p:nvPr/>
          </p:nvPicPr>
          <p:blipFill>
            <a:blip r:embed="rId2"/>
            <a:stretch>
              <a:fillRect/>
            </a:stretch>
          </p:blipFill>
          <p:spPr>
            <a:xfrm>
              <a:off x="1860331" y="4197166"/>
              <a:ext cx="252000" cy="252000"/>
            </a:xfrm>
            <a:prstGeom prst="rect">
              <a:avLst/>
            </a:prstGeom>
          </p:spPr>
        </p:pic>
        <p:pic>
          <p:nvPicPr>
            <p:cNvPr id="30" name="Image 29">
              <a:extLst>
                <a:ext uri="{FF2B5EF4-FFF2-40B4-BE49-F238E27FC236}">
                  <a16:creationId xmlns:a16="http://schemas.microsoft.com/office/drawing/2014/main" id="{AB8F092C-EEE3-6849-339F-29DD2FABF004}"/>
                </a:ext>
              </a:extLst>
            </p:cNvPr>
            <p:cNvPicPr>
              <a:picLocks noChangeAspect="1"/>
            </p:cNvPicPr>
            <p:nvPr/>
          </p:nvPicPr>
          <p:blipFill>
            <a:blip r:embed="rId2"/>
            <a:stretch>
              <a:fillRect/>
            </a:stretch>
          </p:blipFill>
          <p:spPr>
            <a:xfrm>
              <a:off x="2163181" y="4197166"/>
              <a:ext cx="252000" cy="252000"/>
            </a:xfrm>
            <a:prstGeom prst="rect">
              <a:avLst/>
            </a:prstGeom>
          </p:spPr>
        </p:pic>
      </p:grpSp>
      <p:grpSp>
        <p:nvGrpSpPr>
          <p:cNvPr id="34" name="Groupe 33">
            <a:extLst>
              <a:ext uri="{FF2B5EF4-FFF2-40B4-BE49-F238E27FC236}">
                <a16:creationId xmlns:a16="http://schemas.microsoft.com/office/drawing/2014/main" id="{9477382C-6DA3-BF98-46E7-0521BBE0DF21}"/>
              </a:ext>
            </a:extLst>
          </p:cNvPr>
          <p:cNvGrpSpPr/>
          <p:nvPr/>
        </p:nvGrpSpPr>
        <p:grpSpPr>
          <a:xfrm>
            <a:off x="11205745" y="2752927"/>
            <a:ext cx="857700" cy="252000"/>
            <a:chOff x="1557481" y="4804916"/>
            <a:chExt cx="857700" cy="252000"/>
          </a:xfrm>
        </p:grpSpPr>
        <p:pic>
          <p:nvPicPr>
            <p:cNvPr id="35" name="Image 34">
              <a:extLst>
                <a:ext uri="{FF2B5EF4-FFF2-40B4-BE49-F238E27FC236}">
                  <a16:creationId xmlns:a16="http://schemas.microsoft.com/office/drawing/2014/main" id="{06081948-1750-9741-BC5B-2179D582015C}"/>
                </a:ext>
              </a:extLst>
            </p:cNvPr>
            <p:cNvPicPr>
              <a:picLocks noChangeAspect="1"/>
            </p:cNvPicPr>
            <p:nvPr/>
          </p:nvPicPr>
          <p:blipFill>
            <a:blip r:embed="rId3"/>
            <a:stretch>
              <a:fillRect/>
            </a:stretch>
          </p:blipFill>
          <p:spPr>
            <a:xfrm>
              <a:off x="1557481" y="4804916"/>
              <a:ext cx="252000" cy="252000"/>
            </a:xfrm>
            <a:prstGeom prst="rect">
              <a:avLst/>
            </a:prstGeom>
          </p:spPr>
        </p:pic>
        <p:pic>
          <p:nvPicPr>
            <p:cNvPr id="37" name="Image 36">
              <a:extLst>
                <a:ext uri="{FF2B5EF4-FFF2-40B4-BE49-F238E27FC236}">
                  <a16:creationId xmlns:a16="http://schemas.microsoft.com/office/drawing/2014/main" id="{D9EB8E09-0F1D-E3BE-877E-335C33BFAC7D}"/>
                </a:ext>
              </a:extLst>
            </p:cNvPr>
            <p:cNvPicPr>
              <a:picLocks noChangeAspect="1"/>
            </p:cNvPicPr>
            <p:nvPr/>
          </p:nvPicPr>
          <p:blipFill>
            <a:blip r:embed="rId3"/>
            <a:stretch>
              <a:fillRect/>
            </a:stretch>
          </p:blipFill>
          <p:spPr>
            <a:xfrm>
              <a:off x="1860331" y="4804916"/>
              <a:ext cx="252000" cy="252000"/>
            </a:xfrm>
            <a:prstGeom prst="rect">
              <a:avLst/>
            </a:prstGeom>
          </p:spPr>
        </p:pic>
        <p:pic>
          <p:nvPicPr>
            <p:cNvPr id="39" name="Image 38">
              <a:extLst>
                <a:ext uri="{FF2B5EF4-FFF2-40B4-BE49-F238E27FC236}">
                  <a16:creationId xmlns:a16="http://schemas.microsoft.com/office/drawing/2014/main" id="{6CE7D2F0-CE4B-378D-35C4-66A441B47256}"/>
                </a:ext>
              </a:extLst>
            </p:cNvPr>
            <p:cNvPicPr>
              <a:picLocks noChangeAspect="1"/>
            </p:cNvPicPr>
            <p:nvPr/>
          </p:nvPicPr>
          <p:blipFill>
            <a:blip r:embed="rId3"/>
            <a:stretch>
              <a:fillRect/>
            </a:stretch>
          </p:blipFill>
          <p:spPr>
            <a:xfrm>
              <a:off x="2163181" y="4804916"/>
              <a:ext cx="252000" cy="252000"/>
            </a:xfrm>
            <a:prstGeom prst="rect">
              <a:avLst/>
            </a:prstGeom>
            <a:ln>
              <a:noFill/>
            </a:ln>
          </p:spPr>
        </p:pic>
      </p:grpSp>
      <p:grpSp>
        <p:nvGrpSpPr>
          <p:cNvPr id="45" name="Groupe 44">
            <a:extLst>
              <a:ext uri="{FF2B5EF4-FFF2-40B4-BE49-F238E27FC236}">
                <a16:creationId xmlns:a16="http://schemas.microsoft.com/office/drawing/2014/main" id="{6C723E31-D73E-01C9-2B65-8D74C62D50C2}"/>
              </a:ext>
            </a:extLst>
          </p:cNvPr>
          <p:cNvGrpSpPr/>
          <p:nvPr/>
        </p:nvGrpSpPr>
        <p:grpSpPr>
          <a:xfrm>
            <a:off x="11205745" y="2385263"/>
            <a:ext cx="857699" cy="252000"/>
            <a:chOff x="2476644" y="4589203"/>
            <a:chExt cx="857699" cy="252000"/>
          </a:xfrm>
        </p:grpSpPr>
        <p:pic>
          <p:nvPicPr>
            <p:cNvPr id="46" name="Image 45">
              <a:extLst>
                <a:ext uri="{FF2B5EF4-FFF2-40B4-BE49-F238E27FC236}">
                  <a16:creationId xmlns:a16="http://schemas.microsoft.com/office/drawing/2014/main" id="{4AE895F5-D649-F723-E8FE-3B0F7844ACCD}"/>
                </a:ext>
              </a:extLst>
            </p:cNvPr>
            <p:cNvPicPr>
              <a:picLocks noChangeAspect="1"/>
            </p:cNvPicPr>
            <p:nvPr/>
          </p:nvPicPr>
          <p:blipFill>
            <a:blip r:embed="rId4"/>
            <a:stretch>
              <a:fillRect/>
            </a:stretch>
          </p:blipFill>
          <p:spPr>
            <a:xfrm>
              <a:off x="2476644" y="4589203"/>
              <a:ext cx="252000" cy="252000"/>
            </a:xfrm>
            <a:prstGeom prst="rect">
              <a:avLst/>
            </a:prstGeom>
          </p:spPr>
        </p:pic>
        <p:pic>
          <p:nvPicPr>
            <p:cNvPr id="47" name="Image 46">
              <a:extLst>
                <a:ext uri="{FF2B5EF4-FFF2-40B4-BE49-F238E27FC236}">
                  <a16:creationId xmlns:a16="http://schemas.microsoft.com/office/drawing/2014/main" id="{A9F4631F-8E7B-EB08-D3A3-737EBE57FBE4}"/>
                </a:ext>
              </a:extLst>
            </p:cNvPr>
            <p:cNvPicPr>
              <a:picLocks noChangeAspect="1"/>
            </p:cNvPicPr>
            <p:nvPr/>
          </p:nvPicPr>
          <p:blipFill>
            <a:blip r:embed="rId4"/>
            <a:stretch>
              <a:fillRect/>
            </a:stretch>
          </p:blipFill>
          <p:spPr>
            <a:xfrm>
              <a:off x="2779494" y="4589203"/>
              <a:ext cx="252000" cy="252000"/>
            </a:xfrm>
            <a:prstGeom prst="rect">
              <a:avLst/>
            </a:prstGeom>
          </p:spPr>
        </p:pic>
        <p:pic>
          <p:nvPicPr>
            <p:cNvPr id="48" name="Image 47">
              <a:extLst>
                <a:ext uri="{FF2B5EF4-FFF2-40B4-BE49-F238E27FC236}">
                  <a16:creationId xmlns:a16="http://schemas.microsoft.com/office/drawing/2014/main" id="{159DCE0B-5455-8C72-8EA2-A8B9A5C59ED4}"/>
                </a:ext>
              </a:extLst>
            </p:cNvPr>
            <p:cNvPicPr>
              <a:picLocks noChangeAspect="1"/>
            </p:cNvPicPr>
            <p:nvPr/>
          </p:nvPicPr>
          <p:blipFill>
            <a:blip r:embed="rId4"/>
            <a:stretch>
              <a:fillRect/>
            </a:stretch>
          </p:blipFill>
          <p:spPr>
            <a:xfrm>
              <a:off x="3082343" y="4589203"/>
              <a:ext cx="252000" cy="252000"/>
            </a:xfrm>
            <a:prstGeom prst="rect">
              <a:avLst/>
            </a:prstGeom>
          </p:spPr>
        </p:pic>
      </p:grpSp>
      <p:pic>
        <p:nvPicPr>
          <p:cNvPr id="53" name="Image 52">
            <a:extLst>
              <a:ext uri="{FF2B5EF4-FFF2-40B4-BE49-F238E27FC236}">
                <a16:creationId xmlns:a16="http://schemas.microsoft.com/office/drawing/2014/main" id="{3FF3A656-E136-70A4-5445-AA871A44294C}"/>
              </a:ext>
            </a:extLst>
          </p:cNvPr>
          <p:cNvPicPr>
            <a:picLocks noChangeAspect="1"/>
          </p:cNvPicPr>
          <p:nvPr/>
        </p:nvPicPr>
        <p:blipFill>
          <a:blip r:embed="rId5"/>
          <a:stretch>
            <a:fillRect/>
          </a:stretch>
        </p:blipFill>
        <p:spPr>
          <a:xfrm>
            <a:off x="9588600" y="1404282"/>
            <a:ext cx="468000" cy="468000"/>
          </a:xfrm>
          <a:prstGeom prst="rect">
            <a:avLst/>
          </a:prstGeom>
        </p:spPr>
      </p:pic>
      <p:sp>
        <p:nvSpPr>
          <p:cNvPr id="32" name="Rectangle : avec coins arrondis en haut 31">
            <a:extLst>
              <a:ext uri="{FF2B5EF4-FFF2-40B4-BE49-F238E27FC236}">
                <a16:creationId xmlns:a16="http://schemas.microsoft.com/office/drawing/2014/main" id="{50930B11-089A-2EBE-6721-CD2244642650}"/>
              </a:ext>
            </a:extLst>
          </p:cNvPr>
          <p:cNvSpPr/>
          <p:nvPr/>
        </p:nvSpPr>
        <p:spPr>
          <a:xfrm rot="16200000">
            <a:off x="9416360" y="3658746"/>
            <a:ext cx="2785225" cy="2766060"/>
          </a:xfrm>
          <a:prstGeom prst="round2SameRect">
            <a:avLst>
              <a:gd name="adj1" fmla="val 10809"/>
              <a:gd name="adj2" fmla="val 0"/>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C42B2"/>
              </a:solidFill>
              <a:effectLst/>
              <a:uLnTx/>
              <a:uFillTx/>
              <a:latin typeface="Calibri"/>
              <a:ea typeface="+mn-ea"/>
              <a:cs typeface="+mn-cs"/>
            </a:endParaRPr>
          </a:p>
        </p:txBody>
      </p:sp>
      <p:sp>
        <p:nvSpPr>
          <p:cNvPr id="33" name="ZoneTexte 32">
            <a:extLst>
              <a:ext uri="{FF2B5EF4-FFF2-40B4-BE49-F238E27FC236}">
                <a16:creationId xmlns:a16="http://schemas.microsoft.com/office/drawing/2014/main" id="{C941645B-7668-C39C-53DE-AE53E54EC3CB}"/>
              </a:ext>
            </a:extLst>
          </p:cNvPr>
          <p:cNvSpPr txBox="1"/>
          <p:nvPr/>
        </p:nvSpPr>
        <p:spPr>
          <a:xfrm>
            <a:off x="9425942" y="3721240"/>
            <a:ext cx="2766061" cy="338554"/>
          </a:xfrm>
          <a:prstGeom prst="rect">
            <a:avLst/>
          </a:prstGeom>
          <a:noFill/>
        </p:spPr>
        <p:txBody>
          <a:bodyPr wrap="square">
            <a:spAutoFit/>
          </a:bodyPr>
          <a:lstStyle/>
          <a:p>
            <a:pPr lvl="0" algn="ctr"/>
            <a:r>
              <a:rPr lang="fr-FR" sz="1600" b="1" u="sng" dirty="0"/>
              <a:t>Sources</a:t>
            </a:r>
          </a:p>
        </p:txBody>
      </p:sp>
      <p:pic>
        <p:nvPicPr>
          <p:cNvPr id="36" name="Image 35">
            <a:extLst>
              <a:ext uri="{FF2B5EF4-FFF2-40B4-BE49-F238E27FC236}">
                <a16:creationId xmlns:a16="http://schemas.microsoft.com/office/drawing/2014/main" id="{6CCAA9B7-7971-927D-D870-1AB3BBD72A94}"/>
              </a:ext>
            </a:extLst>
          </p:cNvPr>
          <p:cNvPicPr>
            <a:picLocks noChangeAspect="1"/>
          </p:cNvPicPr>
          <p:nvPr/>
        </p:nvPicPr>
        <p:blipFill>
          <a:blip r:embed="rId6"/>
          <a:stretch>
            <a:fillRect/>
          </a:stretch>
        </p:blipFill>
        <p:spPr>
          <a:xfrm>
            <a:off x="9769218" y="3688186"/>
            <a:ext cx="468000" cy="468000"/>
          </a:xfrm>
          <a:prstGeom prst="rect">
            <a:avLst/>
          </a:prstGeom>
        </p:spPr>
      </p:pic>
      <p:pic>
        <p:nvPicPr>
          <p:cNvPr id="38" name="Image 37" descr="Une image contenant symbole, Graphique, logo, Police&#10;&#10;Description générée automatiquement">
            <a:extLst>
              <a:ext uri="{FF2B5EF4-FFF2-40B4-BE49-F238E27FC236}">
                <a16:creationId xmlns:a16="http://schemas.microsoft.com/office/drawing/2014/main" id="{1C6858FE-3A3F-F4E0-5D37-F8A3CC94A21A}"/>
              </a:ext>
            </a:extLst>
          </p:cNvPr>
          <p:cNvPicPr>
            <a:picLocks noChangeAspect="1"/>
          </p:cNvPicPr>
          <p:nvPr/>
        </p:nvPicPr>
        <p:blipFill>
          <a:blip r:embed="rId7"/>
          <a:stretch>
            <a:fillRect/>
          </a:stretch>
        </p:blipFill>
        <p:spPr>
          <a:xfrm>
            <a:off x="364777" y="1221809"/>
            <a:ext cx="468000" cy="468000"/>
          </a:xfrm>
          <a:prstGeom prst="rect">
            <a:avLst/>
          </a:prstGeom>
        </p:spPr>
      </p:pic>
      <p:pic>
        <p:nvPicPr>
          <p:cNvPr id="55" name="Image 54" descr="Une image contenant Graphique, symbole, Police, logo&#10;&#10;Description générée automatiquement">
            <a:extLst>
              <a:ext uri="{FF2B5EF4-FFF2-40B4-BE49-F238E27FC236}">
                <a16:creationId xmlns:a16="http://schemas.microsoft.com/office/drawing/2014/main" id="{17EA36F1-9B0F-DEEA-C5FB-6486FC72BC8A}"/>
              </a:ext>
            </a:extLst>
          </p:cNvPr>
          <p:cNvPicPr>
            <a:picLocks noChangeAspect="1"/>
          </p:cNvPicPr>
          <p:nvPr/>
        </p:nvPicPr>
        <p:blipFill>
          <a:blip r:embed="rId8"/>
          <a:stretch>
            <a:fillRect/>
          </a:stretch>
        </p:blipFill>
        <p:spPr>
          <a:xfrm>
            <a:off x="351510" y="2941689"/>
            <a:ext cx="468000" cy="468000"/>
          </a:xfrm>
          <a:prstGeom prst="rect">
            <a:avLst/>
          </a:prstGeom>
        </p:spPr>
      </p:pic>
      <p:pic>
        <p:nvPicPr>
          <p:cNvPr id="60" name="Image 59" descr="Une image contenant Graphique, clipart, Police, graphisme&#10;&#10;Description générée automatiquement">
            <a:extLst>
              <a:ext uri="{FF2B5EF4-FFF2-40B4-BE49-F238E27FC236}">
                <a16:creationId xmlns:a16="http://schemas.microsoft.com/office/drawing/2014/main" id="{666E5290-4F82-5865-1865-FFAD7289EE37}"/>
              </a:ext>
            </a:extLst>
          </p:cNvPr>
          <p:cNvPicPr>
            <a:picLocks noChangeAspect="1"/>
          </p:cNvPicPr>
          <p:nvPr/>
        </p:nvPicPr>
        <p:blipFill>
          <a:blip r:embed="rId9"/>
          <a:stretch>
            <a:fillRect/>
          </a:stretch>
        </p:blipFill>
        <p:spPr>
          <a:xfrm>
            <a:off x="400795" y="4973809"/>
            <a:ext cx="468000" cy="468000"/>
          </a:xfrm>
          <a:prstGeom prst="rect">
            <a:avLst/>
          </a:prstGeom>
        </p:spPr>
      </p:pic>
      <p:cxnSp>
        <p:nvCxnSpPr>
          <p:cNvPr id="6" name="Connecteur droit 5">
            <a:extLst>
              <a:ext uri="{FF2B5EF4-FFF2-40B4-BE49-F238E27FC236}">
                <a16:creationId xmlns:a16="http://schemas.microsoft.com/office/drawing/2014/main" id="{C46DF2A0-5D16-4A60-E34F-3AC5984ED629}"/>
              </a:ext>
            </a:extLst>
          </p:cNvPr>
          <p:cNvCxnSpPr/>
          <p:nvPr/>
        </p:nvCxnSpPr>
        <p:spPr>
          <a:xfrm>
            <a:off x="0" y="771525"/>
            <a:ext cx="12192000" cy="0"/>
          </a:xfrm>
          <a:prstGeom prst="line">
            <a:avLst/>
          </a:prstGeom>
          <a:ln w="381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1E86FC7C-99FD-CBFF-BB2F-B2C759D1F16C}"/>
              </a:ext>
            </a:extLst>
          </p:cNvPr>
          <p:cNvSpPr txBox="1"/>
          <p:nvPr/>
        </p:nvSpPr>
        <p:spPr>
          <a:xfrm>
            <a:off x="218115" y="110422"/>
            <a:ext cx="9110731" cy="569387"/>
          </a:xfrm>
          <a:prstGeom prst="rect">
            <a:avLst/>
          </a:prstGeom>
          <a:noFill/>
        </p:spPr>
        <p:txBody>
          <a:bodyPr wrap="square">
            <a:spAutoFit/>
          </a:bodyPr>
          <a:lstStyle/>
          <a:p>
            <a:pPr lvl="0"/>
            <a:r>
              <a:rPr lang="fr-FR" sz="3100" b="1" dirty="0" err="1">
                <a:solidFill>
                  <a:schemeClr val="bg2">
                    <a:lumMod val="75000"/>
                  </a:schemeClr>
                </a:solidFill>
              </a:rPr>
              <a:t>Polycistonic</a:t>
            </a:r>
            <a:r>
              <a:rPr lang="fr-FR" sz="3100" b="1" dirty="0">
                <a:solidFill>
                  <a:schemeClr val="bg2">
                    <a:lumMod val="75000"/>
                  </a:schemeClr>
                </a:solidFill>
              </a:rPr>
              <a:t> Expression </a:t>
            </a:r>
            <a:r>
              <a:rPr lang="fr-FR" sz="3100" b="1" dirty="0" err="1">
                <a:solidFill>
                  <a:schemeClr val="bg2">
                    <a:lumMod val="75000"/>
                  </a:schemeClr>
                </a:solidFill>
              </a:rPr>
              <a:t>Using</a:t>
            </a:r>
            <a:r>
              <a:rPr lang="fr-FR" sz="3100" b="1" dirty="0">
                <a:solidFill>
                  <a:schemeClr val="bg2">
                    <a:lumMod val="75000"/>
                  </a:schemeClr>
                </a:solidFill>
              </a:rPr>
              <a:t> 2A Peptides</a:t>
            </a:r>
          </a:p>
        </p:txBody>
      </p:sp>
    </p:spTree>
    <p:extLst>
      <p:ext uri="{BB962C8B-B14F-4D97-AF65-F5344CB8AC3E}">
        <p14:creationId xmlns:p14="http://schemas.microsoft.com/office/powerpoint/2010/main" val="750195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1126C-5497-AC60-260F-9C8AC06AC9A3}"/>
            </a:ext>
          </a:extLst>
        </p:cNvPr>
        <p:cNvGrpSpPr/>
        <p:nvPr/>
      </p:nvGrpSpPr>
      <p:grpSpPr>
        <a:xfrm>
          <a:off x="0" y="0"/>
          <a:ext cx="0" cy="0"/>
          <a:chOff x="0" y="0"/>
          <a:chExt cx="0" cy="0"/>
        </a:xfrm>
      </p:grpSpPr>
      <p:grpSp>
        <p:nvGrpSpPr>
          <p:cNvPr id="15" name="Groupe 14">
            <a:extLst>
              <a:ext uri="{FF2B5EF4-FFF2-40B4-BE49-F238E27FC236}">
                <a16:creationId xmlns:a16="http://schemas.microsoft.com/office/drawing/2014/main" id="{9D0923E4-E1CE-C456-F1E1-C2C5F33624B0}"/>
              </a:ext>
            </a:extLst>
          </p:cNvPr>
          <p:cNvGrpSpPr/>
          <p:nvPr/>
        </p:nvGrpSpPr>
        <p:grpSpPr>
          <a:xfrm>
            <a:off x="5744210" y="1051560"/>
            <a:ext cx="335280" cy="4879536"/>
            <a:chOff x="5947410" y="711200"/>
            <a:chExt cx="335280" cy="4879536"/>
          </a:xfrm>
        </p:grpSpPr>
        <p:cxnSp>
          <p:nvCxnSpPr>
            <p:cNvPr id="14" name="Connecteur droit 13">
              <a:extLst>
                <a:ext uri="{FF2B5EF4-FFF2-40B4-BE49-F238E27FC236}">
                  <a16:creationId xmlns:a16="http://schemas.microsoft.com/office/drawing/2014/main" id="{11FE90EC-65EA-41FE-AA2E-583B97D6B7A9}"/>
                </a:ext>
              </a:extLst>
            </p:cNvPr>
            <p:cNvCxnSpPr>
              <a:cxnSpLocks/>
              <a:stCxn id="7" idx="4"/>
            </p:cNvCxnSpPr>
            <p:nvPr/>
          </p:nvCxnSpPr>
          <p:spPr>
            <a:xfrm>
              <a:off x="6115050" y="1046480"/>
              <a:ext cx="0" cy="434061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D7C56CD1-08BB-7600-3FC4-4D1FA2C6B35C}"/>
                </a:ext>
              </a:extLst>
            </p:cNvPr>
            <p:cNvSpPr/>
            <p:nvPr/>
          </p:nvSpPr>
          <p:spPr>
            <a:xfrm>
              <a:off x="5947410" y="711200"/>
              <a:ext cx="335280" cy="335280"/>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8" name="Ellipse 7">
              <a:extLst>
                <a:ext uri="{FF2B5EF4-FFF2-40B4-BE49-F238E27FC236}">
                  <a16:creationId xmlns:a16="http://schemas.microsoft.com/office/drawing/2014/main" id="{C4E9757D-8267-D598-8398-7FB0244EE517}"/>
                </a:ext>
              </a:extLst>
            </p:cNvPr>
            <p:cNvSpPr/>
            <p:nvPr/>
          </p:nvSpPr>
          <p:spPr>
            <a:xfrm>
              <a:off x="5947410" y="1847264"/>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9" name="Ellipse 8">
              <a:extLst>
                <a:ext uri="{FF2B5EF4-FFF2-40B4-BE49-F238E27FC236}">
                  <a16:creationId xmlns:a16="http://schemas.microsoft.com/office/drawing/2014/main" id="{9059CCC9-7C27-6A0B-7A4D-97867DC4C619}"/>
                </a:ext>
              </a:extLst>
            </p:cNvPr>
            <p:cNvSpPr/>
            <p:nvPr/>
          </p:nvSpPr>
          <p:spPr>
            <a:xfrm>
              <a:off x="5947410" y="2983328"/>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sp>
          <p:nvSpPr>
            <p:cNvPr id="10" name="Ellipse 9">
              <a:extLst>
                <a:ext uri="{FF2B5EF4-FFF2-40B4-BE49-F238E27FC236}">
                  <a16:creationId xmlns:a16="http://schemas.microsoft.com/office/drawing/2014/main" id="{89CE55F9-B96D-B0E0-BBC3-673890F1F580}"/>
                </a:ext>
              </a:extLst>
            </p:cNvPr>
            <p:cNvSpPr/>
            <p:nvPr/>
          </p:nvSpPr>
          <p:spPr>
            <a:xfrm>
              <a:off x="5947410" y="4119392"/>
              <a:ext cx="335280" cy="335280"/>
            </a:xfrm>
            <a:prstGeom prst="ellipse">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5"/>
                </a:solidFill>
              </a:endParaRPr>
            </a:p>
          </p:txBody>
        </p:sp>
        <p:sp>
          <p:nvSpPr>
            <p:cNvPr id="11" name="Ellipse 10">
              <a:extLst>
                <a:ext uri="{FF2B5EF4-FFF2-40B4-BE49-F238E27FC236}">
                  <a16:creationId xmlns:a16="http://schemas.microsoft.com/office/drawing/2014/main" id="{DB803EEB-5ED6-20BA-3706-00AB96FB367A}"/>
                </a:ext>
              </a:extLst>
            </p:cNvPr>
            <p:cNvSpPr/>
            <p:nvPr/>
          </p:nvSpPr>
          <p:spPr>
            <a:xfrm>
              <a:off x="5947410" y="5255456"/>
              <a:ext cx="335280" cy="335280"/>
            </a:xfrm>
            <a:prstGeom prst="ellipse">
              <a:avLst/>
            </a:prstGeom>
            <a:solidFill>
              <a:schemeClr val="accent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5"/>
                </a:solidFill>
              </a:endParaRPr>
            </a:p>
          </p:txBody>
        </p:sp>
      </p:grpSp>
      <p:sp>
        <p:nvSpPr>
          <p:cNvPr id="16" name="ZoneTexte 15">
            <a:extLst>
              <a:ext uri="{FF2B5EF4-FFF2-40B4-BE49-F238E27FC236}">
                <a16:creationId xmlns:a16="http://schemas.microsoft.com/office/drawing/2014/main" id="{F935AC06-7CC7-E7D9-3F7D-C693832E25A6}"/>
              </a:ext>
            </a:extLst>
          </p:cNvPr>
          <p:cNvSpPr txBox="1"/>
          <p:nvPr/>
        </p:nvSpPr>
        <p:spPr>
          <a:xfrm>
            <a:off x="990601" y="2183132"/>
            <a:ext cx="4753606" cy="338554"/>
          </a:xfrm>
          <a:prstGeom prst="rect">
            <a:avLst/>
          </a:prstGeom>
          <a:noFill/>
        </p:spPr>
        <p:txBody>
          <a:bodyPr wrap="square" rtlCol="0">
            <a:spAutoFit/>
          </a:bodyPr>
          <a:lstStyle/>
          <a:p>
            <a:pPr algn="r"/>
            <a:r>
              <a:rPr lang="en-US" sz="1600" b="1" dirty="0"/>
              <a:t>Engineering with Sequence-Specific Nucleases</a:t>
            </a:r>
            <a:endParaRPr lang="en-GB" sz="1600" b="1" dirty="0"/>
          </a:p>
        </p:txBody>
      </p:sp>
      <p:sp>
        <p:nvSpPr>
          <p:cNvPr id="17" name="ZoneTexte 16">
            <a:extLst>
              <a:ext uri="{FF2B5EF4-FFF2-40B4-BE49-F238E27FC236}">
                <a16:creationId xmlns:a16="http://schemas.microsoft.com/office/drawing/2014/main" id="{FBED6A33-C642-06FE-57BE-B7656C480A5F}"/>
              </a:ext>
            </a:extLst>
          </p:cNvPr>
          <p:cNvSpPr txBox="1"/>
          <p:nvPr/>
        </p:nvSpPr>
        <p:spPr>
          <a:xfrm>
            <a:off x="6079490" y="1048286"/>
            <a:ext cx="4089472" cy="338554"/>
          </a:xfrm>
          <a:prstGeom prst="rect">
            <a:avLst/>
          </a:prstGeom>
          <a:noFill/>
        </p:spPr>
        <p:txBody>
          <a:bodyPr wrap="square" rtlCol="0">
            <a:spAutoFit/>
          </a:bodyPr>
          <a:lstStyle/>
          <a:p>
            <a:r>
              <a:rPr lang="en-GB" sz="1600" b="1" dirty="0"/>
              <a:t>General introduction</a:t>
            </a:r>
          </a:p>
        </p:txBody>
      </p:sp>
      <p:sp>
        <p:nvSpPr>
          <p:cNvPr id="18" name="ZoneTexte 17">
            <a:extLst>
              <a:ext uri="{FF2B5EF4-FFF2-40B4-BE49-F238E27FC236}">
                <a16:creationId xmlns:a16="http://schemas.microsoft.com/office/drawing/2014/main" id="{2A5A255C-2E62-C311-1978-3058C591E960}"/>
              </a:ext>
            </a:extLst>
          </p:cNvPr>
          <p:cNvSpPr txBox="1"/>
          <p:nvPr/>
        </p:nvSpPr>
        <p:spPr>
          <a:xfrm>
            <a:off x="6079490" y="3320414"/>
            <a:ext cx="4089474" cy="338554"/>
          </a:xfrm>
          <a:prstGeom prst="rect">
            <a:avLst/>
          </a:prstGeom>
          <a:noFill/>
        </p:spPr>
        <p:txBody>
          <a:bodyPr wrap="square" rtlCol="0">
            <a:spAutoFit/>
          </a:bodyPr>
          <a:lstStyle/>
          <a:p>
            <a:r>
              <a:rPr lang="en-GB" sz="1600" b="1" dirty="0"/>
              <a:t>Engineering at Transcriptional Level</a:t>
            </a:r>
          </a:p>
        </p:txBody>
      </p:sp>
      <p:sp>
        <p:nvSpPr>
          <p:cNvPr id="6" name="ZoneTexte 5">
            <a:extLst>
              <a:ext uri="{FF2B5EF4-FFF2-40B4-BE49-F238E27FC236}">
                <a16:creationId xmlns:a16="http://schemas.microsoft.com/office/drawing/2014/main" id="{BE769DED-5BEF-AE62-11F9-72DBC3978821}"/>
              </a:ext>
            </a:extLst>
          </p:cNvPr>
          <p:cNvSpPr txBox="1"/>
          <p:nvPr/>
        </p:nvSpPr>
        <p:spPr>
          <a:xfrm>
            <a:off x="6079490" y="5595816"/>
            <a:ext cx="4089472" cy="338554"/>
          </a:xfrm>
          <a:prstGeom prst="rect">
            <a:avLst/>
          </a:prstGeom>
          <a:noFill/>
        </p:spPr>
        <p:txBody>
          <a:bodyPr wrap="square" rtlCol="0">
            <a:spAutoFit/>
          </a:bodyPr>
          <a:lstStyle/>
          <a:p>
            <a:pPr defTabSz="914400"/>
            <a:r>
              <a:rPr lang="en-US" sz="1600" b="1" dirty="0">
                <a:solidFill>
                  <a:schemeClr val="accent1"/>
                </a:solidFill>
                <a:ea typeface="Ebrima" pitchFamily="2" charset="0"/>
                <a:cs typeface="Arial" panose="020B0604020202020204" pitchFamily="34" charset="0"/>
              </a:rPr>
              <a:t>Comparisons &amp; conclusions</a:t>
            </a:r>
          </a:p>
        </p:txBody>
      </p:sp>
      <p:sp>
        <p:nvSpPr>
          <p:cNvPr id="19" name="ZoneTexte 18">
            <a:extLst>
              <a:ext uri="{FF2B5EF4-FFF2-40B4-BE49-F238E27FC236}">
                <a16:creationId xmlns:a16="http://schemas.microsoft.com/office/drawing/2014/main" id="{AAC07F13-40E3-3F0C-C4BB-6CDB8128BE01}"/>
              </a:ext>
            </a:extLst>
          </p:cNvPr>
          <p:cNvSpPr txBox="1"/>
          <p:nvPr/>
        </p:nvSpPr>
        <p:spPr>
          <a:xfrm>
            <a:off x="990602" y="4471894"/>
            <a:ext cx="4753608" cy="338554"/>
          </a:xfrm>
          <a:prstGeom prst="rect">
            <a:avLst/>
          </a:prstGeom>
          <a:noFill/>
        </p:spPr>
        <p:txBody>
          <a:bodyPr wrap="square" rtlCol="0">
            <a:spAutoFit/>
          </a:bodyPr>
          <a:lstStyle/>
          <a:p>
            <a:pPr algn="r" defTabSz="914400"/>
            <a:r>
              <a:rPr lang="en-US" sz="1600" b="1" dirty="0">
                <a:ea typeface="Ebrima" pitchFamily="2" charset="0"/>
                <a:cs typeface="Arial" panose="020B0604020202020204" pitchFamily="34" charset="0"/>
              </a:rPr>
              <a:t>Engineering at Translational Level</a:t>
            </a:r>
          </a:p>
        </p:txBody>
      </p:sp>
    </p:spTree>
    <p:extLst>
      <p:ext uri="{BB962C8B-B14F-4D97-AF65-F5344CB8AC3E}">
        <p14:creationId xmlns:p14="http://schemas.microsoft.com/office/powerpoint/2010/main" val="2979283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3">
            <a:extLst>
              <a:ext uri="{FF2B5EF4-FFF2-40B4-BE49-F238E27FC236}">
                <a16:creationId xmlns:a16="http://schemas.microsoft.com/office/drawing/2014/main" id="{48EB02F1-7E35-2265-5233-875B594A07D6}"/>
              </a:ext>
            </a:extLst>
          </p:cNvPr>
          <p:cNvSpPr txBox="1">
            <a:spLocks/>
          </p:cNvSpPr>
          <p:nvPr/>
        </p:nvSpPr>
        <p:spPr>
          <a:xfrm>
            <a:off x="1876425" y="3034244"/>
            <a:ext cx="10315575" cy="78951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700" b="0" i="0" kern="1200">
                <a:solidFill>
                  <a:schemeClr val="bg1"/>
                </a:solidFill>
                <a:latin typeface="Arial" panose="020B0604020202020204" pitchFamily="34" charset="0"/>
                <a:ea typeface="+mj-ea"/>
                <a:cs typeface="Arial" panose="020B0604020202020204" pitchFamily="34" charset="0"/>
              </a:defRPr>
            </a:lvl1pPr>
          </a:lstStyle>
          <a:p>
            <a:pPr algn="ctr"/>
            <a:r>
              <a:rPr lang="en-US" b="1" dirty="0"/>
              <a:t>Comparisons &amp; Conclusions</a:t>
            </a:r>
            <a:endParaRPr lang="en-GB" b="1" dirty="0"/>
          </a:p>
        </p:txBody>
      </p:sp>
    </p:spTree>
    <p:extLst>
      <p:ext uri="{BB962C8B-B14F-4D97-AF65-F5344CB8AC3E}">
        <p14:creationId xmlns:p14="http://schemas.microsoft.com/office/powerpoint/2010/main" val="34731124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276EA-5CD1-68FA-93C1-5A76A5DAE0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7D1A1A-E531-78C3-349B-E04EC3C041E5}"/>
              </a:ext>
            </a:extLst>
          </p:cNvPr>
          <p:cNvSpPr>
            <a:spLocks noGrp="1"/>
          </p:cNvSpPr>
          <p:nvPr>
            <p:ph type="title"/>
          </p:nvPr>
        </p:nvSpPr>
        <p:spPr/>
        <p:txBody>
          <a:bodyPr/>
          <a:lstStyle/>
          <a:p>
            <a:r>
              <a:rPr lang="fr-FR" dirty="0"/>
              <a:t>Global </a:t>
            </a:r>
            <a:r>
              <a:rPr lang="fr-FR" dirty="0" err="1"/>
              <a:t>overview</a:t>
            </a:r>
            <a:r>
              <a:rPr lang="fr-FR" dirty="0"/>
              <a:t> </a:t>
            </a:r>
          </a:p>
        </p:txBody>
      </p:sp>
      <p:sp>
        <p:nvSpPr>
          <p:cNvPr id="3" name="Espace réservé du contenu 2">
            <a:extLst>
              <a:ext uri="{FF2B5EF4-FFF2-40B4-BE49-F238E27FC236}">
                <a16:creationId xmlns:a16="http://schemas.microsoft.com/office/drawing/2014/main" id="{351E59B5-2CC9-BB8D-A6C0-CBDE8B0DC62F}"/>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83EEA2A5-173F-7127-936B-8F6EC55214FA}"/>
              </a:ext>
            </a:extLst>
          </p:cNvPr>
          <p:cNvSpPr>
            <a:spLocks noGrp="1"/>
          </p:cNvSpPr>
          <p:nvPr>
            <p:ph type="body" sz="quarter" idx="15"/>
          </p:nvPr>
        </p:nvSpPr>
        <p:spPr/>
        <p:txBody>
          <a:bodyPr/>
          <a:lstStyle/>
          <a:p>
            <a:r>
              <a:rPr lang="fr-FR" dirty="0"/>
              <a:t>Tableau de l’ensemble des méthodes</a:t>
            </a:r>
          </a:p>
        </p:txBody>
      </p:sp>
    </p:spTree>
    <p:extLst>
      <p:ext uri="{BB962C8B-B14F-4D97-AF65-F5344CB8AC3E}">
        <p14:creationId xmlns:p14="http://schemas.microsoft.com/office/powerpoint/2010/main" val="4205072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FE83-01A0-1EC9-F4DD-4DBDB16ABE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7E488B6-1703-F045-D9D6-D61DB80E4C8A}"/>
              </a:ext>
            </a:extLst>
          </p:cNvPr>
          <p:cNvSpPr>
            <a:spLocks noGrp="1"/>
          </p:cNvSpPr>
          <p:nvPr>
            <p:ph type="title"/>
          </p:nvPr>
        </p:nvSpPr>
        <p:spPr/>
        <p:txBody>
          <a:bodyPr/>
          <a:lstStyle/>
          <a:p>
            <a:r>
              <a:rPr lang="en-US" dirty="0"/>
              <a:t>Selection of Methods for In-Depth Analysis</a:t>
            </a:r>
            <a:endParaRPr lang="fr-FR" dirty="0"/>
          </a:p>
        </p:txBody>
      </p:sp>
      <p:sp>
        <p:nvSpPr>
          <p:cNvPr id="3" name="Espace réservé du contenu 2">
            <a:extLst>
              <a:ext uri="{FF2B5EF4-FFF2-40B4-BE49-F238E27FC236}">
                <a16:creationId xmlns:a16="http://schemas.microsoft.com/office/drawing/2014/main" id="{FB2DFF91-4BD5-C4AE-45C3-C4D4B4D4C6D9}"/>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B49B35EB-8888-AC4B-543A-A1AD6536F10A}"/>
              </a:ext>
            </a:extLst>
          </p:cNvPr>
          <p:cNvSpPr>
            <a:spLocks noGrp="1"/>
          </p:cNvSpPr>
          <p:nvPr>
            <p:ph type="body" sz="quarter" idx="15"/>
          </p:nvPr>
        </p:nvSpPr>
        <p:spPr/>
        <p:txBody>
          <a:bodyPr/>
          <a:lstStyle/>
          <a:p>
            <a:r>
              <a:rPr lang="fr-FR" dirty="0"/>
              <a:t>AND </a:t>
            </a:r>
            <a:r>
              <a:rPr lang="fr-FR" dirty="0" err="1"/>
              <a:t>Complementary</a:t>
            </a:r>
            <a:r>
              <a:rPr lang="fr-FR" dirty="0"/>
              <a:t> info</a:t>
            </a:r>
          </a:p>
        </p:txBody>
      </p:sp>
    </p:spTree>
    <p:extLst>
      <p:ext uri="{BB962C8B-B14F-4D97-AF65-F5344CB8AC3E}">
        <p14:creationId xmlns:p14="http://schemas.microsoft.com/office/powerpoint/2010/main" val="1497716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B279-7983-2482-5ACA-62892225A8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D03ACA-D70A-8352-EBB6-915443AB2A51}"/>
              </a:ext>
            </a:extLst>
          </p:cNvPr>
          <p:cNvSpPr>
            <a:spLocks noGrp="1"/>
          </p:cNvSpPr>
          <p:nvPr>
            <p:ph type="title"/>
          </p:nvPr>
        </p:nvSpPr>
        <p:spPr/>
        <p:txBody>
          <a:bodyPr/>
          <a:lstStyle/>
          <a:p>
            <a:r>
              <a:rPr lang="fr-FR" dirty="0"/>
              <a:t>Next </a:t>
            </a:r>
            <a:r>
              <a:rPr lang="fr-FR" dirty="0" err="1"/>
              <a:t>steps</a:t>
            </a:r>
            <a:r>
              <a:rPr lang="fr-FR" dirty="0"/>
              <a:t> </a:t>
            </a:r>
          </a:p>
        </p:txBody>
      </p:sp>
      <p:sp>
        <p:nvSpPr>
          <p:cNvPr id="3" name="Espace réservé du contenu 2">
            <a:extLst>
              <a:ext uri="{FF2B5EF4-FFF2-40B4-BE49-F238E27FC236}">
                <a16:creationId xmlns:a16="http://schemas.microsoft.com/office/drawing/2014/main" id="{7D01E3E1-108E-4022-B2C3-1C5EAE084AE9}"/>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BE3B11D1-CF25-3782-15B1-A9E03EFDDAD6}"/>
              </a:ext>
            </a:extLst>
          </p:cNvPr>
          <p:cNvSpPr>
            <a:spLocks noGrp="1"/>
          </p:cNvSpPr>
          <p:nvPr>
            <p:ph type="body" sz="quarter" idx="15"/>
          </p:nvPr>
        </p:nvSpPr>
        <p:spPr/>
        <p:txBody>
          <a:bodyPr/>
          <a:lstStyle/>
          <a:p>
            <a:endParaRPr lang="fr-FR"/>
          </a:p>
        </p:txBody>
      </p:sp>
    </p:spTree>
    <p:extLst>
      <p:ext uri="{BB962C8B-B14F-4D97-AF65-F5344CB8AC3E}">
        <p14:creationId xmlns:p14="http://schemas.microsoft.com/office/powerpoint/2010/main" val="344371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5F5BB-FCB5-44E3-91DE-39275DD7DB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CA0610-4E50-9179-1D42-A7A0C3DDC137}"/>
              </a:ext>
            </a:extLst>
          </p:cNvPr>
          <p:cNvSpPr>
            <a:spLocks noGrp="1"/>
          </p:cNvSpPr>
          <p:nvPr>
            <p:ph type="title"/>
          </p:nvPr>
        </p:nvSpPr>
        <p:spPr/>
        <p:txBody>
          <a:bodyPr/>
          <a:lstStyle/>
          <a:p>
            <a:r>
              <a:rPr lang="fr-FR" dirty="0" err="1"/>
              <a:t>Glossary</a:t>
            </a:r>
            <a:r>
              <a:rPr lang="fr-FR" dirty="0"/>
              <a:t> </a:t>
            </a:r>
          </a:p>
        </p:txBody>
      </p:sp>
      <p:sp>
        <p:nvSpPr>
          <p:cNvPr id="3" name="Espace réservé du contenu 2">
            <a:extLst>
              <a:ext uri="{FF2B5EF4-FFF2-40B4-BE49-F238E27FC236}">
                <a16:creationId xmlns:a16="http://schemas.microsoft.com/office/drawing/2014/main" id="{03AED75E-F177-B1AC-7DFF-69D5ED0897AE}"/>
              </a:ext>
            </a:extLst>
          </p:cNvPr>
          <p:cNvSpPr>
            <a:spLocks noGrp="1"/>
          </p:cNvSpPr>
          <p:nvPr>
            <p:ph idx="1"/>
          </p:nvPr>
        </p:nvSpPr>
        <p:spPr/>
        <p:txBody>
          <a:bodyPr/>
          <a:lstStyle/>
          <a:p>
            <a:endParaRPr lang="fr-FR" dirty="0"/>
          </a:p>
        </p:txBody>
      </p:sp>
      <p:sp>
        <p:nvSpPr>
          <p:cNvPr id="4" name="Espace réservé du texte 3">
            <a:extLst>
              <a:ext uri="{FF2B5EF4-FFF2-40B4-BE49-F238E27FC236}">
                <a16:creationId xmlns:a16="http://schemas.microsoft.com/office/drawing/2014/main" id="{0DCDCF0D-11EF-4BAB-5DCF-B95496352B19}"/>
              </a:ext>
            </a:extLst>
          </p:cNvPr>
          <p:cNvSpPr>
            <a:spLocks noGrp="1"/>
          </p:cNvSpPr>
          <p:nvPr>
            <p:ph type="body" sz="quarter" idx="15"/>
          </p:nvPr>
        </p:nvSpPr>
        <p:spPr/>
        <p:txBody>
          <a:bodyPr/>
          <a:lstStyle/>
          <a:p>
            <a:endParaRPr lang="fr-FR"/>
          </a:p>
        </p:txBody>
      </p:sp>
      <p:sp>
        <p:nvSpPr>
          <p:cNvPr id="5" name="Rectangle 4">
            <a:extLst>
              <a:ext uri="{FF2B5EF4-FFF2-40B4-BE49-F238E27FC236}">
                <a16:creationId xmlns:a16="http://schemas.microsoft.com/office/drawing/2014/main" id="{73AF1760-FA9F-B2F7-33D2-E646C6227B57}"/>
              </a:ext>
            </a:extLst>
          </p:cNvPr>
          <p:cNvSpPr/>
          <p:nvPr/>
        </p:nvSpPr>
        <p:spPr>
          <a:xfrm>
            <a:off x="1413942" y="3167743"/>
            <a:ext cx="3200399"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Glossaire général</a:t>
            </a:r>
          </a:p>
        </p:txBody>
      </p:sp>
    </p:spTree>
    <p:extLst>
      <p:ext uri="{BB962C8B-B14F-4D97-AF65-F5344CB8AC3E}">
        <p14:creationId xmlns:p14="http://schemas.microsoft.com/office/powerpoint/2010/main" val="41100708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
</p:tagLst>
</file>

<file path=ppt/theme/theme1.xml><?xml version="1.0" encoding="utf-8"?>
<a:theme xmlns:a="http://schemas.openxmlformats.org/drawingml/2006/main" name="Thème Office">
  <a:themeElements>
    <a:clrScheme name="Alcimed 1">
      <a:dk1>
        <a:srgbClr val="000000"/>
      </a:dk1>
      <a:lt1>
        <a:srgbClr val="FFFFFF"/>
      </a:lt1>
      <a:dk2>
        <a:srgbClr val="5C41B2"/>
      </a:dk2>
      <a:lt2>
        <a:srgbClr val="FFE337"/>
      </a:lt2>
      <a:accent1>
        <a:srgbClr val="FF0044"/>
      </a:accent1>
      <a:accent2>
        <a:srgbClr val="FF8732"/>
      </a:accent2>
      <a:accent3>
        <a:srgbClr val="033CAA"/>
      </a:accent3>
      <a:accent4>
        <a:srgbClr val="0096FA"/>
      </a:accent4>
      <a:accent5>
        <a:srgbClr val="03C878"/>
      </a:accent5>
      <a:accent6>
        <a:srgbClr val="AFE14B"/>
      </a:accent6>
      <a:hlink>
        <a:srgbClr val="0563C1"/>
      </a:hlink>
      <a:folHlink>
        <a:srgbClr val="FF7D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CIMED_SLIDE_LIBRARY_V3" id="{EC05658D-FD71-41D4-9BA5-102C7D0781F0}" vid="{C78C31E0-EE66-41FA-B71C-BC7F7B1BC6E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7d6c174-c077-4964-90f2-de637c7edd84">
      <Terms xmlns="http://schemas.microsoft.com/office/infopath/2007/PartnerControls"/>
    </lcf76f155ced4ddcb4097134ff3c332f>
    <TaxCatchAll xmlns="91420686-6db2-4357-9a4a-e8b879d7223d" xsi:nil="true"/>
    <Envoy_x00e9_e xmlns="f7d6c174-c077-4964-90f2-de637c7edd84">false</Envoy_x00e9_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6B38D55EF3B641A2FD1A833ECEB18A" ma:contentTypeVersion="19" ma:contentTypeDescription="Crée un document." ma:contentTypeScope="" ma:versionID="ccbe4e8dbc5632ce260322396dcb6fe2">
  <xsd:schema xmlns:xsd="http://www.w3.org/2001/XMLSchema" xmlns:xs="http://www.w3.org/2001/XMLSchema" xmlns:p="http://schemas.microsoft.com/office/2006/metadata/properties" xmlns:ns2="f7d6c174-c077-4964-90f2-de637c7edd84" xmlns:ns3="91420686-6db2-4357-9a4a-e8b879d7223d" targetNamespace="http://schemas.microsoft.com/office/2006/metadata/properties" ma:root="true" ma:fieldsID="f062b3d92e848e620f82aae069b1695d" ns2:_="" ns3:_="">
    <xsd:import namespace="f7d6c174-c077-4964-90f2-de637c7edd84"/>
    <xsd:import namespace="91420686-6db2-4357-9a4a-e8b879d7223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OCR" minOccurs="0"/>
                <xsd:element ref="ns2:lcf76f155ced4ddcb4097134ff3c332f" minOccurs="0"/>
                <xsd:element ref="ns3:TaxCatchAll" minOccurs="0"/>
                <xsd:element ref="ns3:SharedWithUsers" minOccurs="0"/>
                <xsd:element ref="ns3:SharedWithDetails" minOccurs="0"/>
                <xsd:element ref="ns2:MediaServiceSearchProperties" minOccurs="0"/>
                <xsd:element ref="ns2:Envoy_x00e9_e"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d6c174-c077-4964-90f2-de637c7edd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15e066fe-94f8-4b79-8b89-438274019a44" ma:termSetId="09814cd3-568e-fe90-9814-8d621ff8fb84" ma:anchorId="fba54fb3-c3e1-fe81-a776-ca4b69148c4d" ma:open="true" ma:isKeyword="false">
      <xsd:complexType>
        <xsd:sequence>
          <xsd:element ref="pc:Terms" minOccurs="0" maxOccurs="1"/>
        </xsd:sequence>
      </xsd:complexType>
    </xsd:element>
    <xsd:element name="MediaServiceSearchProperties" ma:index="21" nillable="true" ma:displayName="MediaServiceSearchProperties" ma:hidden="true" ma:internalName="MediaServiceSearchProperties" ma:readOnly="true">
      <xsd:simpleType>
        <xsd:restriction base="dms:Note"/>
      </xsd:simpleType>
    </xsd:element>
    <xsd:element name="Envoy_x00e9_e" ma:index="22" nillable="true" ma:displayName="Envoyée" ma:default="0" ma:description="La page a-t-elle été envoyée à l'auteur ?" ma:format="Dropdown" ma:internalName="Envoy_x00e9_e">
      <xsd:simpleType>
        <xsd:restriction base="dms:Boolean"/>
      </xsd:simple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420686-6db2-4357-9a4a-e8b879d7223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63a95d3-78b0-4041-a3e4-de93d6456c7f}" ma:internalName="TaxCatchAll" ma:showField="CatchAllData" ma:web="91420686-6db2-4357-9a4a-e8b879d7223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5E992B-8836-405C-9BCB-456043D4BC43}">
  <ds:schemaRefs>
    <ds:schemaRef ds:uri="http://purl.org/dc/dcmitype/"/>
    <ds:schemaRef ds:uri="http://schemas.openxmlformats.org/package/2006/metadata/core-properties"/>
    <ds:schemaRef ds:uri="f7d6c174-c077-4964-90f2-de637c7edd84"/>
    <ds:schemaRef ds:uri="http://schemas.microsoft.com/office/2006/documentManagement/types"/>
    <ds:schemaRef ds:uri="http://www.w3.org/XML/1998/namespace"/>
    <ds:schemaRef ds:uri="http://purl.org/dc/terms/"/>
    <ds:schemaRef ds:uri="http://schemas.microsoft.com/office/infopath/2007/PartnerControls"/>
    <ds:schemaRef ds:uri="http://purl.org/dc/elements/1.1/"/>
    <ds:schemaRef ds:uri="91420686-6db2-4357-9a4a-e8b879d7223d"/>
    <ds:schemaRef ds:uri="http://schemas.microsoft.com/office/2006/metadata/properties"/>
  </ds:schemaRefs>
</ds:datastoreItem>
</file>

<file path=customXml/itemProps2.xml><?xml version="1.0" encoding="utf-8"?>
<ds:datastoreItem xmlns:ds="http://schemas.openxmlformats.org/officeDocument/2006/customXml" ds:itemID="{AAE5248F-05D0-45EC-9A02-23DD73D041B9}">
  <ds:schemaRefs>
    <ds:schemaRef ds:uri="http://schemas.microsoft.com/sharepoint/v3/contenttype/forms"/>
  </ds:schemaRefs>
</ds:datastoreItem>
</file>

<file path=customXml/itemProps3.xml><?xml version="1.0" encoding="utf-8"?>
<ds:datastoreItem xmlns:ds="http://schemas.openxmlformats.org/officeDocument/2006/customXml" ds:itemID="{540A742B-A7E3-42D1-863C-1D9E04B14F7E}">
  <ds:schemaRefs>
    <ds:schemaRef ds:uri="91420686-6db2-4357-9a4a-e8b879d7223d"/>
    <ds:schemaRef ds:uri="f7d6c174-c077-4964-90f2-de637c7edd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Modele_PPT_3</Template>
  <TotalTime>0</TotalTime>
  <Words>5795</Words>
  <Application>Microsoft Office PowerPoint</Application>
  <PresentationFormat>Grand écran</PresentationFormat>
  <Paragraphs>595</Paragraphs>
  <Slides>51</Slides>
  <Notes>9</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51</vt:i4>
      </vt:variant>
    </vt:vector>
  </HeadingPairs>
  <TitlesOfParts>
    <vt:vector size="59" baseType="lpstr">
      <vt:lpstr>Aptos</vt:lpstr>
      <vt:lpstr>Arial</vt:lpstr>
      <vt:lpstr>Calibri</vt:lpstr>
      <vt:lpstr>Ebrima</vt:lpstr>
      <vt:lpstr>Roboto Slab</vt:lpstr>
      <vt:lpstr>Symbol</vt:lpstr>
      <vt:lpstr>Wingdings</vt:lpstr>
      <vt:lpstr>Thème Office</vt:lpstr>
      <vt:lpstr>Présentation PowerPoint</vt:lpstr>
      <vt:lpstr>Context</vt:lpstr>
      <vt:lpstr>Objectives</vt:lpstr>
      <vt:lpstr>Our approach</vt:lpstr>
      <vt:lpstr>Présentation PowerPoint</vt:lpstr>
      <vt:lpstr>General Introduction</vt:lpstr>
      <vt:lpstr>Investigation carried out</vt:lpstr>
      <vt:lpstr>Investigation result</vt:lpstr>
      <vt:lpstr>Overview of first selected methods </vt:lpstr>
      <vt:lpstr>Présentation PowerPoint</vt:lpstr>
      <vt:lpstr>Engineering with Sequence-Specific Nucleases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Sequence-Specific Nucleases summary</vt:lpstr>
      <vt:lpstr>Questionary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Global overview </vt:lpstr>
      <vt:lpstr>Selection of Methods for In-Depth Analysis</vt:lpstr>
      <vt:lpstr>Next steps </vt:lpstr>
      <vt:lpstr>Glossary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Victor LALLEMAND</dc:creator>
  <cp:lastModifiedBy>Richard GRONDIN</cp:lastModifiedBy>
  <cp:revision>395</cp:revision>
  <dcterms:created xsi:type="dcterms:W3CDTF">2023-09-20T16:18:28Z</dcterms:created>
  <dcterms:modified xsi:type="dcterms:W3CDTF">2025-01-10T15:31:25Z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0x010100876B38D55EF3B641A2FD1A833ECEB18A</vt:lpwstr>
  </property>
  <property fmtid="{D5CDD505-2E9C-101B-9397-08002B2CF9AE}" pid="3" name="MediaServiceImageTags">
    <vt:lpwstr/>
  </property>
</Properties>
</file>